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MOV" ContentType="video/quicktime"/>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4"/>
  </p:notesMasterIdLst>
  <p:handoutMasterIdLst>
    <p:handoutMasterId r:id="rId75"/>
  </p:handoutMasterIdLst>
  <p:sldIdLst>
    <p:sldId id="298" r:id="rId2"/>
    <p:sldId id="302" r:id="rId3"/>
    <p:sldId id="394" r:id="rId4"/>
    <p:sldId id="303" r:id="rId5"/>
    <p:sldId id="316" r:id="rId6"/>
    <p:sldId id="370" r:id="rId7"/>
    <p:sldId id="379" r:id="rId8"/>
    <p:sldId id="381" r:id="rId9"/>
    <p:sldId id="391" r:id="rId10"/>
    <p:sldId id="389" r:id="rId11"/>
    <p:sldId id="313" r:id="rId12"/>
    <p:sldId id="400" r:id="rId13"/>
    <p:sldId id="401" r:id="rId14"/>
    <p:sldId id="402" r:id="rId15"/>
    <p:sldId id="403" r:id="rId16"/>
    <p:sldId id="360" r:id="rId17"/>
    <p:sldId id="365" r:id="rId18"/>
    <p:sldId id="335" r:id="rId19"/>
    <p:sldId id="311" r:id="rId20"/>
    <p:sldId id="392" r:id="rId21"/>
    <p:sldId id="393" r:id="rId22"/>
    <p:sldId id="332" r:id="rId23"/>
    <p:sldId id="340" r:id="rId24"/>
    <p:sldId id="409" r:id="rId25"/>
    <p:sldId id="342" r:id="rId26"/>
    <p:sldId id="410" r:id="rId27"/>
    <p:sldId id="344" r:id="rId28"/>
    <p:sldId id="312" r:id="rId29"/>
    <p:sldId id="320" r:id="rId30"/>
    <p:sldId id="321" r:id="rId31"/>
    <p:sldId id="322" r:id="rId32"/>
    <p:sldId id="323" r:id="rId33"/>
    <p:sldId id="324" r:id="rId34"/>
    <p:sldId id="325" r:id="rId35"/>
    <p:sldId id="327" r:id="rId36"/>
    <p:sldId id="328" r:id="rId37"/>
    <p:sldId id="329" r:id="rId38"/>
    <p:sldId id="330" r:id="rId39"/>
    <p:sldId id="331" r:id="rId40"/>
    <p:sldId id="367" r:id="rId41"/>
    <p:sldId id="356" r:id="rId42"/>
    <p:sldId id="338" r:id="rId43"/>
    <p:sldId id="343" r:id="rId44"/>
    <p:sldId id="350" r:id="rId45"/>
    <p:sldId id="357" r:id="rId46"/>
    <p:sldId id="351" r:id="rId47"/>
    <p:sldId id="353" r:id="rId48"/>
    <p:sldId id="372" r:id="rId49"/>
    <p:sldId id="373" r:id="rId50"/>
    <p:sldId id="374" r:id="rId51"/>
    <p:sldId id="375" r:id="rId52"/>
    <p:sldId id="376" r:id="rId53"/>
    <p:sldId id="354" r:id="rId54"/>
    <p:sldId id="377" r:id="rId55"/>
    <p:sldId id="355" r:id="rId56"/>
    <p:sldId id="358" r:id="rId57"/>
    <p:sldId id="362" r:id="rId58"/>
    <p:sldId id="364" r:id="rId59"/>
    <p:sldId id="368" r:id="rId60"/>
    <p:sldId id="345" r:id="rId61"/>
    <p:sldId id="346" r:id="rId62"/>
    <p:sldId id="347" r:id="rId63"/>
    <p:sldId id="369" r:id="rId64"/>
    <p:sldId id="361" r:id="rId65"/>
    <p:sldId id="396" r:id="rId66"/>
    <p:sldId id="407" r:id="rId67"/>
    <p:sldId id="398" r:id="rId68"/>
    <p:sldId id="288" r:id="rId69"/>
    <p:sldId id="404" r:id="rId70"/>
    <p:sldId id="405" r:id="rId71"/>
    <p:sldId id="406" r:id="rId72"/>
    <p:sldId id="408"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a Godinho" initials="AG" lastIdx="1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50"/>
    <a:srgbClr val="14904C"/>
    <a:srgbClr val="2F2F2F"/>
    <a:srgbClr val="0033A0"/>
    <a:srgbClr val="FF0000"/>
    <a:srgbClr val="01A6E2"/>
    <a:srgbClr val="979797"/>
    <a:srgbClr val="7F7F7F"/>
    <a:srgbClr val="D6D6D6"/>
    <a:srgbClr val="CDD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EC20E35-A176-4012-BC5E-935CFFF8708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352" autoAdjust="0"/>
    <p:restoredTop sz="66361" autoAdjust="0"/>
  </p:normalViewPr>
  <p:slideViewPr>
    <p:cSldViewPr snapToGrid="0" snapToObjects="1">
      <p:cViewPr varScale="1">
        <p:scale>
          <a:sx n="84" d="100"/>
          <a:sy n="84" d="100"/>
        </p:scale>
        <p:origin x="1956" y="84"/>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145" d="100"/>
          <a:sy n="145" d="100"/>
        </p:scale>
        <p:origin x="3872" y="17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CB0CAB-A528-CD45-8F12-922B94DEC18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47AD8C8-453F-104C-B81F-526301CF402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BB72EAA-2733-D14F-950A-8F4240385864}" type="datetimeFigureOut">
              <a:rPr lang="en-US" smtClean="0"/>
              <a:t>6/21/2024</a:t>
            </a:fld>
            <a:endParaRPr lang="en-US"/>
          </a:p>
        </p:txBody>
      </p:sp>
      <p:sp>
        <p:nvSpPr>
          <p:cNvPr id="4" name="Footer Placeholder 3">
            <a:extLst>
              <a:ext uri="{FF2B5EF4-FFF2-40B4-BE49-F238E27FC236}">
                <a16:creationId xmlns:a16="http://schemas.microsoft.com/office/drawing/2014/main" id="{24EBBD38-63DF-604F-9396-6BB85612513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5D48731-E0D0-B242-9967-4E9E135D8D3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C59750F-00B8-E148-9878-D197EE9CB895}" type="slidenum">
              <a:rPr lang="en-US" smtClean="0"/>
              <a:t>‹#›</a:t>
            </a:fld>
            <a:endParaRPr lang="en-US"/>
          </a:p>
        </p:txBody>
      </p:sp>
    </p:spTree>
    <p:extLst>
      <p:ext uri="{BB962C8B-B14F-4D97-AF65-F5344CB8AC3E}">
        <p14:creationId xmlns:p14="http://schemas.microsoft.com/office/powerpoint/2010/main" val="24513004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DD062E-52F7-A14D-A443-1F3854784447}" type="datetimeFigureOut">
              <a:rPr lang="en-US" smtClean="0"/>
              <a:t>6/21/2024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B0EE9E-52B8-AA4F-8DD5-ED0FB4E5CBCC}" type="slidenum">
              <a:rPr lang="en-US" smtClean="0"/>
              <a:t>‹#›</a:t>
            </a:fld>
            <a:endParaRPr lang="en-US"/>
          </a:p>
        </p:txBody>
      </p:sp>
    </p:spTree>
    <p:extLst>
      <p:ext uri="{BB962C8B-B14F-4D97-AF65-F5344CB8AC3E}">
        <p14:creationId xmlns:p14="http://schemas.microsoft.com/office/powerpoint/2010/main" val="1864294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2</a:t>
            </a:fld>
            <a:endParaRPr lang="en-US"/>
          </a:p>
        </p:txBody>
      </p:sp>
    </p:spTree>
    <p:extLst>
      <p:ext uri="{BB962C8B-B14F-4D97-AF65-F5344CB8AC3E}">
        <p14:creationId xmlns:p14="http://schemas.microsoft.com/office/powerpoint/2010/main" val="1898018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3</a:t>
            </a:fld>
            <a:endParaRPr lang="en-US"/>
          </a:p>
        </p:txBody>
      </p:sp>
    </p:spTree>
    <p:extLst>
      <p:ext uri="{BB962C8B-B14F-4D97-AF65-F5344CB8AC3E}">
        <p14:creationId xmlns:p14="http://schemas.microsoft.com/office/powerpoint/2010/main" val="3582375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as many of you would already know, at CERN, robots play a </a:t>
            </a:r>
            <a:r>
              <a:rPr lang="en-GB" b="0" i="0" dirty="0">
                <a:solidFill>
                  <a:srgbClr val="777777"/>
                </a:solidFill>
                <a:effectLst/>
                <a:latin typeface="Roboto" panose="02000000000000000000" pitchFamily="2" charset="0"/>
              </a:rPr>
              <a:t>crucial role in performing maintenance and inspection tasks in radiation-risk environments that are unsuited for human work. </a:t>
            </a:r>
          </a:p>
          <a:p>
            <a:endParaRPr lang="en-GB" b="0" i="0" dirty="0">
              <a:solidFill>
                <a:srgbClr val="777777"/>
              </a:solidFill>
              <a:effectLst/>
              <a:latin typeface="Roboto" panose="02000000000000000000" pitchFamily="2" charset="0"/>
            </a:endParaRPr>
          </a:p>
          <a:p>
            <a:r>
              <a:rPr lang="en-GB" b="0" i="0" dirty="0">
                <a:solidFill>
                  <a:srgbClr val="777777"/>
                </a:solidFill>
                <a:effectLst/>
                <a:latin typeface="Roboto" panose="02000000000000000000" pitchFamily="2" charset="0"/>
              </a:rPr>
              <a:t>To effectively control these robots, we are developing the CERN Robotics Framework (CRF).</a:t>
            </a:r>
          </a:p>
        </p:txBody>
      </p:sp>
      <p:sp>
        <p:nvSpPr>
          <p:cNvPr id="4" name="Slide Number Placeholder 3"/>
          <p:cNvSpPr>
            <a:spLocks noGrp="1"/>
          </p:cNvSpPr>
          <p:nvPr>
            <p:ph type="sldNum" sz="quarter" idx="5"/>
          </p:nvPr>
        </p:nvSpPr>
        <p:spPr/>
        <p:txBody>
          <a:bodyPr/>
          <a:lstStyle/>
          <a:p>
            <a:fld id="{8CB0EE9E-52B8-AA4F-8DD5-ED0FB4E5CBCC}" type="slidenum">
              <a:rPr lang="en-US" smtClean="0"/>
              <a:t>4</a:t>
            </a:fld>
            <a:endParaRPr lang="en-US"/>
          </a:p>
        </p:txBody>
      </p:sp>
    </p:spTree>
    <p:extLst>
      <p:ext uri="{BB962C8B-B14F-4D97-AF65-F5344CB8AC3E}">
        <p14:creationId xmlns:p14="http://schemas.microsoft.com/office/powerpoint/2010/main" val="21944065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777777"/>
                </a:solidFill>
                <a:effectLst/>
                <a:latin typeface="Roboto" panose="02000000000000000000" pitchFamily="2" charset="0"/>
              </a:rPr>
              <a:t>The CRF is made up of various software modules that achieve different subtasks related to </a:t>
            </a:r>
            <a:r>
              <a:rPr lang="en-GB" b="0" i="0" dirty="0">
                <a:solidFill>
                  <a:srgbClr val="172B4D"/>
                </a:solidFill>
                <a:effectLst/>
                <a:latin typeface="-apple-system"/>
              </a:rPr>
              <a:t>perception, communication, actuation, and control.</a:t>
            </a:r>
            <a:r>
              <a:rPr lang="en-GB" b="0" i="0" dirty="0">
                <a:solidFill>
                  <a:srgbClr val="777777"/>
                </a:solidFill>
                <a:effectLst/>
                <a:latin typeface="Roboto" panose="02000000000000000000" pitchFamily="2" charset="0"/>
              </a:rPr>
              <a:t> </a:t>
            </a:r>
          </a:p>
          <a:p>
            <a:endParaRPr lang="en-GB" b="0" i="0" dirty="0">
              <a:solidFill>
                <a:srgbClr val="777777"/>
              </a:solidFill>
              <a:effectLst/>
              <a:latin typeface="Roboto" panose="02000000000000000000" pitchFamily="2" charset="0"/>
            </a:endParaRPr>
          </a:p>
          <a:p>
            <a:r>
              <a:rPr lang="en-GB" b="0" i="0" dirty="0">
                <a:solidFill>
                  <a:srgbClr val="777777"/>
                </a:solidFill>
                <a:effectLst/>
                <a:latin typeface="Roboto" panose="02000000000000000000" pitchFamily="2" charset="0"/>
              </a:rPr>
              <a:t>You can combine these subtask modules to achieve a specific task.</a:t>
            </a:r>
          </a:p>
          <a:p>
            <a:endParaRPr lang="en-GB" b="0" i="0" dirty="0">
              <a:solidFill>
                <a:srgbClr val="777777"/>
              </a:solidFill>
              <a:effectLst/>
              <a:latin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So let’s start with an example robotics problem and look at how the CRF modules help us achieve the task. </a:t>
            </a:r>
          </a:p>
          <a:p>
            <a:endParaRPr lang="en-GB" b="0" i="0" dirty="0">
              <a:solidFill>
                <a:srgbClr val="777777"/>
              </a:solidFill>
              <a:effectLst/>
              <a:latin typeface="Roboto" panose="02000000000000000000" pitchFamily="2" charset="0"/>
            </a:endParaRPr>
          </a:p>
        </p:txBody>
      </p:sp>
      <p:sp>
        <p:nvSpPr>
          <p:cNvPr id="4" name="Slide Number Placeholder 3"/>
          <p:cNvSpPr>
            <a:spLocks noGrp="1"/>
          </p:cNvSpPr>
          <p:nvPr>
            <p:ph type="sldNum" sz="quarter" idx="5"/>
          </p:nvPr>
        </p:nvSpPr>
        <p:spPr/>
        <p:txBody>
          <a:bodyPr/>
          <a:lstStyle/>
          <a:p>
            <a:fld id="{8CB0EE9E-52B8-AA4F-8DD5-ED0FB4E5CBCC}" type="slidenum">
              <a:rPr lang="en-US" smtClean="0"/>
              <a:t>5</a:t>
            </a:fld>
            <a:endParaRPr lang="en-US"/>
          </a:p>
        </p:txBody>
      </p:sp>
    </p:spTree>
    <p:extLst>
      <p:ext uri="{BB962C8B-B14F-4D97-AF65-F5344CB8AC3E}">
        <p14:creationId xmlns:p14="http://schemas.microsoft.com/office/powerpoint/2010/main" val="30594877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777777"/>
                </a:solidFill>
                <a:effectLst/>
                <a:latin typeface="Roboto" panose="02000000000000000000" pitchFamily="2" charset="0"/>
              </a:rPr>
              <a:t>Say you have an environment with some obstacles and a goal pose. </a:t>
            </a:r>
          </a:p>
          <a:p>
            <a:endParaRPr lang="en-AU" dirty="0"/>
          </a:p>
        </p:txBody>
      </p:sp>
      <p:sp>
        <p:nvSpPr>
          <p:cNvPr id="4" name="Slide Number Placeholder 3"/>
          <p:cNvSpPr>
            <a:spLocks noGrp="1"/>
          </p:cNvSpPr>
          <p:nvPr>
            <p:ph type="sldNum" sz="quarter" idx="5"/>
          </p:nvPr>
        </p:nvSpPr>
        <p:spPr/>
        <p:txBody>
          <a:bodyPr/>
          <a:lstStyle/>
          <a:p>
            <a:fld id="{8CB0EE9E-52B8-AA4F-8DD5-ED0FB4E5CBCC}" type="slidenum">
              <a:rPr lang="en-US" smtClean="0"/>
              <a:t>6</a:t>
            </a:fld>
            <a:endParaRPr lang="en-US"/>
          </a:p>
        </p:txBody>
      </p:sp>
    </p:spTree>
    <p:extLst>
      <p:ext uri="{BB962C8B-B14F-4D97-AF65-F5344CB8AC3E}">
        <p14:creationId xmlns:p14="http://schemas.microsoft.com/office/powerpoint/2010/main" val="27532348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777777"/>
                </a:solidFill>
                <a:effectLst/>
                <a:latin typeface="Roboto" panose="02000000000000000000" pitchFamily="2" charset="0"/>
              </a:rPr>
              <a:t>Using the path planner module in the CRF, you can get a set of points that the robot must pass through to avoid the obstacles and get to the goal.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777777"/>
              </a:solidFill>
              <a:effectLst/>
              <a:latin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777777"/>
                </a:solidFill>
                <a:effectLst/>
                <a:latin typeface="Roboto" panose="02000000000000000000" pitchFamily="2" charset="0"/>
              </a:rPr>
              <a:t>Now in order for the robot to go through these points, we need to generate a continuous function of time that describes what the robot should be doing at each time instance. This is called the trajectory.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777777"/>
              </a:solidFill>
              <a:effectLst/>
              <a:latin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777777"/>
                </a:solidFill>
                <a:effectLst/>
                <a:latin typeface="Roboto" panose="02000000000000000000" pitchFamily="2" charset="0"/>
              </a:rPr>
              <a:t>But there are two ways you can do this.</a:t>
            </a:r>
          </a:p>
          <a:p>
            <a:endParaRPr lang="en-AU" dirty="0"/>
          </a:p>
        </p:txBody>
      </p:sp>
      <p:sp>
        <p:nvSpPr>
          <p:cNvPr id="4" name="Slide Number Placeholder 3"/>
          <p:cNvSpPr>
            <a:spLocks noGrp="1"/>
          </p:cNvSpPr>
          <p:nvPr>
            <p:ph type="sldNum" sz="quarter" idx="5"/>
          </p:nvPr>
        </p:nvSpPr>
        <p:spPr/>
        <p:txBody>
          <a:bodyPr/>
          <a:lstStyle/>
          <a:p>
            <a:fld id="{8CB0EE9E-52B8-AA4F-8DD5-ED0FB4E5CBCC}" type="slidenum">
              <a:rPr lang="en-US" smtClean="0"/>
              <a:t>7</a:t>
            </a:fld>
            <a:endParaRPr lang="en-US"/>
          </a:p>
        </p:txBody>
      </p:sp>
    </p:spTree>
    <p:extLst>
      <p:ext uri="{BB962C8B-B14F-4D97-AF65-F5344CB8AC3E}">
        <p14:creationId xmlns:p14="http://schemas.microsoft.com/office/powerpoint/2010/main" val="29226221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777777"/>
                </a:solidFill>
                <a:effectLst/>
                <a:latin typeface="Roboto" panose="02000000000000000000" pitchFamily="2" charset="0"/>
              </a:rPr>
              <a:t>The first way is to define these path points in the task space - so the points are defined in the physical space where the task is being conducted.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777777"/>
              </a:solidFill>
              <a:effectLst/>
              <a:latin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777777"/>
                </a:solidFill>
                <a:effectLst/>
                <a:latin typeface="Roboto" panose="02000000000000000000" pitchFamily="2" charset="0"/>
              </a:rPr>
              <a:t>So in this example, the task space points are end-effector poses that are defined using the initial end-effector pose as the reference frame.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777777"/>
              </a:solidFill>
              <a:effectLst/>
              <a:latin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777777"/>
                </a:solidFill>
                <a:effectLst/>
                <a:latin typeface="Roboto" panose="02000000000000000000" pitchFamily="2" charset="0"/>
              </a:rPr>
              <a:t>The trajectory is then a continuous function that passes through these task space points, thus making it a Task Trajectory. </a:t>
            </a:r>
          </a:p>
          <a:p>
            <a:endParaRPr lang="en-AU" dirty="0"/>
          </a:p>
        </p:txBody>
      </p:sp>
      <p:sp>
        <p:nvSpPr>
          <p:cNvPr id="4" name="Slide Number Placeholder 3"/>
          <p:cNvSpPr>
            <a:spLocks noGrp="1"/>
          </p:cNvSpPr>
          <p:nvPr>
            <p:ph type="sldNum" sz="quarter" idx="5"/>
          </p:nvPr>
        </p:nvSpPr>
        <p:spPr/>
        <p:txBody>
          <a:bodyPr/>
          <a:lstStyle/>
          <a:p>
            <a:fld id="{8CB0EE9E-52B8-AA4F-8DD5-ED0FB4E5CBCC}" type="slidenum">
              <a:rPr lang="en-US" smtClean="0"/>
              <a:t>8</a:t>
            </a:fld>
            <a:endParaRPr lang="en-US"/>
          </a:p>
        </p:txBody>
      </p:sp>
    </p:spTree>
    <p:extLst>
      <p:ext uri="{BB962C8B-B14F-4D97-AF65-F5344CB8AC3E}">
        <p14:creationId xmlns:p14="http://schemas.microsoft.com/office/powerpoint/2010/main" val="23251344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777777"/>
                </a:solidFill>
                <a:effectLst/>
                <a:latin typeface="Roboto" panose="02000000000000000000" pitchFamily="2" charset="0"/>
              </a:rPr>
              <a:t>The second way is to define these points in the joint space.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777777"/>
              </a:solidFill>
              <a:effectLst/>
              <a:latin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777777"/>
                </a:solidFill>
                <a:effectLst/>
                <a:latin typeface="Roboto" panose="02000000000000000000" pitchFamily="2" charset="0"/>
              </a:rPr>
              <a:t>So each point is a vector describing the angle of each of the robot’s joints.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777777"/>
              </a:solidFill>
              <a:effectLst/>
              <a:latin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777777"/>
                </a:solidFill>
                <a:effectLst/>
                <a:latin typeface="Roboto" panose="02000000000000000000" pitchFamily="2" charset="0"/>
              </a:rPr>
              <a:t>In this case, since we have a 6 </a:t>
            </a:r>
            <a:r>
              <a:rPr lang="en-GB" b="0" i="0" dirty="0" err="1">
                <a:solidFill>
                  <a:srgbClr val="777777"/>
                </a:solidFill>
                <a:effectLst/>
                <a:latin typeface="Roboto" panose="02000000000000000000" pitchFamily="2" charset="0"/>
              </a:rPr>
              <a:t>dof</a:t>
            </a:r>
            <a:r>
              <a:rPr lang="en-GB" b="0" i="0" dirty="0">
                <a:solidFill>
                  <a:srgbClr val="777777"/>
                </a:solidFill>
                <a:effectLst/>
                <a:latin typeface="Roboto" panose="02000000000000000000" pitchFamily="2" charset="0"/>
              </a:rPr>
              <a:t> robot, each point is a 6-dimensional vector that describes the 6 joint angles.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777777"/>
              </a:solidFill>
              <a:effectLst/>
              <a:latin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777777"/>
                </a:solidFill>
                <a:effectLst/>
                <a:latin typeface="Roboto" panose="02000000000000000000" pitchFamily="2" charset="0"/>
              </a:rPr>
              <a:t>The trajectory is then a continuous function that passes through these joint space points, thus making it a Joints Trajectory.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777777"/>
              </a:solidFill>
              <a:effectLst/>
              <a:latin typeface="Roboto" panose="02000000000000000000" pitchFamily="2" charset="0"/>
            </a:endParaRPr>
          </a:p>
          <a:p>
            <a:endParaRPr lang="en-AU" dirty="0"/>
          </a:p>
        </p:txBody>
      </p:sp>
      <p:sp>
        <p:nvSpPr>
          <p:cNvPr id="4" name="Slide Number Placeholder 3"/>
          <p:cNvSpPr>
            <a:spLocks noGrp="1"/>
          </p:cNvSpPr>
          <p:nvPr>
            <p:ph type="sldNum" sz="quarter" idx="5"/>
          </p:nvPr>
        </p:nvSpPr>
        <p:spPr/>
        <p:txBody>
          <a:bodyPr/>
          <a:lstStyle/>
          <a:p>
            <a:fld id="{8CB0EE9E-52B8-AA4F-8DD5-ED0FB4E5CBCC}" type="slidenum">
              <a:rPr lang="en-US" smtClean="0"/>
              <a:t>9</a:t>
            </a:fld>
            <a:endParaRPr lang="en-US"/>
          </a:p>
        </p:txBody>
      </p:sp>
    </p:spTree>
    <p:extLst>
      <p:ext uri="{BB962C8B-B14F-4D97-AF65-F5344CB8AC3E}">
        <p14:creationId xmlns:p14="http://schemas.microsoft.com/office/powerpoint/2010/main" val="31408653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777777"/>
                </a:solidFill>
                <a:effectLst/>
                <a:latin typeface="Roboto" panose="02000000000000000000" pitchFamily="2" charset="0"/>
              </a:rPr>
              <a:t>Now deciding which method to use depends on the task.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777777"/>
              </a:solidFill>
              <a:effectLst/>
              <a:latin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Defining the trajectory in the task space is good for when you want to control the robot’s </a:t>
            </a:r>
            <a:r>
              <a:rPr lang="en-AU" b="1" i="1" dirty="0"/>
              <a:t>end-effector</a:t>
            </a:r>
            <a:r>
              <a:rPr lang="en-AU" i="1" dirty="0"/>
              <a:t> </a:t>
            </a:r>
            <a:r>
              <a:rPr lang="en-AU" dirty="0"/>
              <a:t>movements like if the robot was trying to draw a line or place a screw in a hole.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777777"/>
              </a:solidFill>
              <a:effectLst/>
              <a:latin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On the other hand, defining the trajectory in the joint space is useful when you want to control the movement of the </a:t>
            </a:r>
            <a:r>
              <a:rPr lang="en-AU" b="1" i="1" dirty="0"/>
              <a:t>robot’s joints</a:t>
            </a:r>
            <a:r>
              <a:rPr lang="en-AU" i="1" dirty="0"/>
              <a:t> </a:t>
            </a:r>
            <a:r>
              <a:rPr lang="en-AU" dirty="0"/>
              <a:t>which can help avoid self-collisions and over-extension, make movements more energy efficient, or directly handle joint angle constraints. </a:t>
            </a:r>
            <a:r>
              <a:rPr lang="en-GB" b="0" i="0" dirty="0">
                <a:solidFill>
                  <a:srgbClr val="777777"/>
                </a:solidFill>
                <a:effectLst/>
                <a:latin typeface="Roboto" panose="02000000000000000000" pitchFamily="2"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777777"/>
              </a:solidFill>
              <a:effectLst/>
              <a:latin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777777"/>
                </a:solidFill>
                <a:effectLst/>
                <a:latin typeface="Roboto" panose="02000000000000000000" pitchFamily="2" charset="0"/>
              </a:rPr>
              <a:t>However, for tasks like drawing a line, you can’t guarantee the position of the end-effector will make sense when it is moving between path points if you’re using a joints trajectory generator. </a:t>
            </a:r>
          </a:p>
        </p:txBody>
      </p:sp>
      <p:sp>
        <p:nvSpPr>
          <p:cNvPr id="4" name="Slide Number Placeholder 3"/>
          <p:cNvSpPr>
            <a:spLocks noGrp="1"/>
          </p:cNvSpPr>
          <p:nvPr>
            <p:ph type="sldNum" sz="quarter" idx="5"/>
          </p:nvPr>
        </p:nvSpPr>
        <p:spPr/>
        <p:txBody>
          <a:bodyPr/>
          <a:lstStyle/>
          <a:p>
            <a:fld id="{8CB0EE9E-52B8-AA4F-8DD5-ED0FB4E5CBCC}" type="slidenum">
              <a:rPr lang="en-US" smtClean="0"/>
              <a:t>10</a:t>
            </a:fld>
            <a:endParaRPr lang="en-US"/>
          </a:p>
        </p:txBody>
      </p:sp>
    </p:spTree>
    <p:extLst>
      <p:ext uri="{BB962C8B-B14F-4D97-AF65-F5344CB8AC3E}">
        <p14:creationId xmlns:p14="http://schemas.microsoft.com/office/powerpoint/2010/main" val="24700503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777777"/>
                </a:solidFill>
                <a:effectLst/>
                <a:latin typeface="Roboto" panose="02000000000000000000" pitchFamily="2" charset="0"/>
              </a:rPr>
              <a:t>That’s why in the Motion Control Loop in the CRF, we have both a Joints Trajectory Generator and a Task Trajectory Generator which output trajectory points in the respective spaces. </a:t>
            </a:r>
          </a:p>
        </p:txBody>
      </p:sp>
      <p:sp>
        <p:nvSpPr>
          <p:cNvPr id="4" name="Slide Number Placeholder 3"/>
          <p:cNvSpPr>
            <a:spLocks noGrp="1"/>
          </p:cNvSpPr>
          <p:nvPr>
            <p:ph type="sldNum" sz="quarter" idx="5"/>
          </p:nvPr>
        </p:nvSpPr>
        <p:spPr/>
        <p:txBody>
          <a:bodyPr/>
          <a:lstStyle/>
          <a:p>
            <a:fld id="{8CB0EE9E-52B8-AA4F-8DD5-ED0FB4E5CBCC}" type="slidenum">
              <a:rPr lang="en-US" smtClean="0"/>
              <a:t>11</a:t>
            </a:fld>
            <a:endParaRPr lang="en-US"/>
          </a:p>
        </p:txBody>
      </p:sp>
    </p:spTree>
    <p:extLst>
      <p:ext uri="{BB962C8B-B14F-4D97-AF65-F5344CB8AC3E}">
        <p14:creationId xmlns:p14="http://schemas.microsoft.com/office/powerpoint/2010/main" val="18647601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777777"/>
                </a:solidFill>
                <a:effectLst/>
                <a:latin typeface="Roboto" panose="02000000000000000000" pitchFamily="2" charset="0"/>
              </a:rPr>
              <a:t>If we follow this process chain, these trajectory points then go into the Controller which outputs the joint angles, velocities, and accelerations that can actuate this trajectory smoothly. </a:t>
            </a:r>
          </a:p>
          <a:p>
            <a:endParaRPr lang="en-GB" b="0" i="0" dirty="0">
              <a:solidFill>
                <a:srgbClr val="777777"/>
              </a:solidFill>
              <a:effectLst/>
              <a:latin typeface="Roboto" panose="02000000000000000000" pitchFamily="2" charset="0"/>
            </a:endParaRPr>
          </a:p>
        </p:txBody>
      </p:sp>
      <p:sp>
        <p:nvSpPr>
          <p:cNvPr id="4" name="Slide Number Placeholder 3"/>
          <p:cNvSpPr>
            <a:spLocks noGrp="1"/>
          </p:cNvSpPr>
          <p:nvPr>
            <p:ph type="sldNum" sz="quarter" idx="5"/>
          </p:nvPr>
        </p:nvSpPr>
        <p:spPr/>
        <p:txBody>
          <a:bodyPr/>
          <a:lstStyle/>
          <a:p>
            <a:fld id="{8CB0EE9E-52B8-AA4F-8DD5-ED0FB4E5CBCC}" type="slidenum">
              <a:rPr lang="en-US" smtClean="0"/>
              <a:t>12</a:t>
            </a:fld>
            <a:endParaRPr lang="en-US"/>
          </a:p>
        </p:txBody>
      </p:sp>
    </p:spTree>
    <p:extLst>
      <p:ext uri="{BB962C8B-B14F-4D97-AF65-F5344CB8AC3E}">
        <p14:creationId xmlns:p14="http://schemas.microsoft.com/office/powerpoint/2010/main" val="37105333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777777"/>
                </a:solidFill>
                <a:effectLst/>
                <a:latin typeface="Roboto" panose="02000000000000000000" pitchFamily="2" charset="0"/>
              </a:rPr>
              <a:t>After the controller, these joint commands then get sent to the robot to actuate it. </a:t>
            </a:r>
          </a:p>
          <a:p>
            <a:endParaRPr lang="en-GB" b="0" i="0" dirty="0">
              <a:solidFill>
                <a:srgbClr val="777777"/>
              </a:solidFill>
              <a:effectLst/>
              <a:latin typeface="Roboto" panose="02000000000000000000" pitchFamily="2" charset="0"/>
            </a:endParaRPr>
          </a:p>
          <a:p>
            <a:r>
              <a:rPr lang="en-GB" b="0" i="0" dirty="0">
                <a:solidFill>
                  <a:srgbClr val="777777"/>
                </a:solidFill>
                <a:effectLst/>
                <a:latin typeface="Roboto" panose="02000000000000000000" pitchFamily="2" charset="0"/>
              </a:rPr>
              <a:t>During actuation, the actual joint angles, velocities, and accelerations are measured and</a:t>
            </a:r>
          </a:p>
          <a:p>
            <a:endParaRPr lang="en-GB" b="0" i="0" dirty="0">
              <a:solidFill>
                <a:srgbClr val="777777"/>
              </a:solidFill>
              <a:effectLst/>
              <a:latin typeface="Roboto" panose="02000000000000000000" pitchFamily="2" charset="0"/>
            </a:endParaRPr>
          </a:p>
        </p:txBody>
      </p:sp>
      <p:sp>
        <p:nvSpPr>
          <p:cNvPr id="4" name="Slide Number Placeholder 3"/>
          <p:cNvSpPr>
            <a:spLocks noGrp="1"/>
          </p:cNvSpPr>
          <p:nvPr>
            <p:ph type="sldNum" sz="quarter" idx="5"/>
          </p:nvPr>
        </p:nvSpPr>
        <p:spPr/>
        <p:txBody>
          <a:bodyPr/>
          <a:lstStyle/>
          <a:p>
            <a:fld id="{8CB0EE9E-52B8-AA4F-8DD5-ED0FB4E5CBCC}" type="slidenum">
              <a:rPr lang="en-US" smtClean="0"/>
              <a:t>13</a:t>
            </a:fld>
            <a:endParaRPr lang="en-US"/>
          </a:p>
        </p:txBody>
      </p:sp>
    </p:spTree>
    <p:extLst>
      <p:ext uri="{BB962C8B-B14F-4D97-AF65-F5344CB8AC3E}">
        <p14:creationId xmlns:p14="http://schemas.microsoft.com/office/powerpoint/2010/main" val="14456623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777777"/>
                </a:solidFill>
                <a:effectLst/>
                <a:latin typeface="Roboto" panose="02000000000000000000" pitchFamily="2" charset="0"/>
              </a:rPr>
              <a:t>sent back in a feedback loop to the controller. </a:t>
            </a:r>
          </a:p>
        </p:txBody>
      </p:sp>
      <p:sp>
        <p:nvSpPr>
          <p:cNvPr id="4" name="Slide Number Placeholder 3"/>
          <p:cNvSpPr>
            <a:spLocks noGrp="1"/>
          </p:cNvSpPr>
          <p:nvPr>
            <p:ph type="sldNum" sz="quarter" idx="5"/>
          </p:nvPr>
        </p:nvSpPr>
        <p:spPr/>
        <p:txBody>
          <a:bodyPr/>
          <a:lstStyle/>
          <a:p>
            <a:fld id="{8CB0EE9E-52B8-AA4F-8DD5-ED0FB4E5CBCC}" type="slidenum">
              <a:rPr lang="en-US" smtClean="0"/>
              <a:t>14</a:t>
            </a:fld>
            <a:endParaRPr lang="en-US"/>
          </a:p>
        </p:txBody>
      </p:sp>
    </p:spTree>
    <p:extLst>
      <p:ext uri="{BB962C8B-B14F-4D97-AF65-F5344CB8AC3E}">
        <p14:creationId xmlns:p14="http://schemas.microsoft.com/office/powerpoint/2010/main" val="179602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777777"/>
                </a:solidFill>
                <a:effectLst/>
                <a:latin typeface="Roboto" panose="02000000000000000000" pitchFamily="2" charset="0"/>
              </a:rPr>
              <a:t>While a path may only be sent once, this motion control loop is happening online at every time step. </a:t>
            </a:r>
          </a:p>
          <a:p>
            <a:endParaRPr lang="en-GB" b="0" i="0" dirty="0">
              <a:solidFill>
                <a:srgbClr val="777777"/>
              </a:solidFill>
              <a:effectLst/>
              <a:latin typeface="Roboto" panose="02000000000000000000" pitchFamily="2" charset="0"/>
            </a:endParaRPr>
          </a:p>
        </p:txBody>
      </p:sp>
      <p:sp>
        <p:nvSpPr>
          <p:cNvPr id="4" name="Slide Number Placeholder 3"/>
          <p:cNvSpPr>
            <a:spLocks noGrp="1"/>
          </p:cNvSpPr>
          <p:nvPr>
            <p:ph type="sldNum" sz="quarter" idx="5"/>
          </p:nvPr>
        </p:nvSpPr>
        <p:spPr/>
        <p:txBody>
          <a:bodyPr/>
          <a:lstStyle/>
          <a:p>
            <a:fld id="{8CB0EE9E-52B8-AA4F-8DD5-ED0FB4E5CBCC}" type="slidenum">
              <a:rPr lang="en-US" smtClean="0"/>
              <a:t>15</a:t>
            </a:fld>
            <a:endParaRPr lang="en-US"/>
          </a:p>
        </p:txBody>
      </p:sp>
    </p:spTree>
    <p:extLst>
      <p:ext uri="{BB962C8B-B14F-4D97-AF65-F5344CB8AC3E}">
        <p14:creationId xmlns:p14="http://schemas.microsoft.com/office/powerpoint/2010/main" val="41199827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solidFill>
                  <a:srgbClr val="777777"/>
                </a:solidFill>
                <a:effectLst/>
                <a:latin typeface="Roboto" panose="02000000000000000000" pitchFamily="2" charset="0"/>
              </a:rPr>
              <a:t>We have already developed the Joints Trajectory Generator and the other greyed out modules so</a:t>
            </a:r>
            <a:r>
              <a:rPr lang="en-GB" b="0" i="0" dirty="0">
                <a:solidFill>
                  <a:srgbClr val="777777"/>
                </a:solidFill>
                <a:effectLst/>
                <a:latin typeface="Roboto" panose="02000000000000000000" pitchFamily="2" charset="0"/>
              </a:rPr>
              <a:t> my project was to develop this Task Trajectory Generator </a:t>
            </a:r>
          </a:p>
          <a:p>
            <a:endParaRPr lang="en-GB" b="0" i="0" dirty="0">
              <a:solidFill>
                <a:srgbClr val="777777"/>
              </a:solidFill>
              <a:effectLst/>
              <a:latin typeface="Roboto" panose="02000000000000000000" pitchFamily="2" charset="0"/>
            </a:endParaRPr>
          </a:p>
          <a:p>
            <a:r>
              <a:rPr lang="en-GB" b="0" i="0" dirty="0">
                <a:solidFill>
                  <a:srgbClr val="777777"/>
                </a:solidFill>
                <a:effectLst/>
                <a:latin typeface="Roboto" panose="02000000000000000000" pitchFamily="2" charset="0"/>
              </a:rPr>
              <a:t>so take in a set of points in the task space and use them to generate a continuous function of time </a:t>
            </a:r>
            <a:r>
              <a:rPr lang="en-GB" b="0" i="0">
                <a:solidFill>
                  <a:srgbClr val="777777"/>
                </a:solidFill>
                <a:effectLst/>
                <a:latin typeface="Roboto" panose="02000000000000000000" pitchFamily="2" charset="0"/>
              </a:rPr>
              <a:t>that satisfies </a:t>
            </a:r>
            <a:r>
              <a:rPr lang="en-GB" b="0" i="0" dirty="0">
                <a:solidFill>
                  <a:srgbClr val="777777"/>
                </a:solidFill>
                <a:effectLst/>
                <a:latin typeface="Roboto" panose="02000000000000000000" pitchFamily="2" charset="0"/>
              </a:rPr>
              <a:t>the task velocity and acceleration limits. </a:t>
            </a:r>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16</a:t>
            </a:fld>
            <a:endParaRPr lang="en-US"/>
          </a:p>
        </p:txBody>
      </p:sp>
    </p:spTree>
    <p:extLst>
      <p:ext uri="{BB962C8B-B14F-4D97-AF65-F5344CB8AC3E}">
        <p14:creationId xmlns:p14="http://schemas.microsoft.com/office/powerpoint/2010/main" val="40810790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now take a look at the design of this Task Trajectory Generator</a:t>
            </a:r>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17</a:t>
            </a:fld>
            <a:endParaRPr lang="en-US"/>
          </a:p>
        </p:txBody>
      </p:sp>
    </p:spTree>
    <p:extLst>
      <p:ext uri="{BB962C8B-B14F-4D97-AF65-F5344CB8AC3E}">
        <p14:creationId xmlns:p14="http://schemas.microsoft.com/office/powerpoint/2010/main" val="26686923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store a Task Trajectory object in the task trajectory generator class, we made this structure. </a:t>
            </a:r>
          </a:p>
          <a:p>
            <a:endParaRPr lang="en-US" dirty="0"/>
          </a:p>
          <a:p>
            <a:r>
              <a:rPr lang="en-US" dirty="0"/>
              <a:t>In this structure, a Task Trajectory is made up of 2 independent components, a linear component for the translation movement, and an angular component for the rotation movement. </a:t>
            </a:r>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18</a:t>
            </a:fld>
            <a:endParaRPr lang="en-US"/>
          </a:p>
        </p:txBody>
      </p:sp>
    </p:spTree>
    <p:extLst>
      <p:ext uri="{BB962C8B-B14F-4D97-AF65-F5344CB8AC3E}">
        <p14:creationId xmlns:p14="http://schemas.microsoft.com/office/powerpoint/2010/main" val="28453588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translation trajectory is made up of 3 independent trajectories – one for each axis in Euclidean space. </a:t>
            </a:r>
          </a:p>
          <a:p>
            <a:endParaRPr lang="en-US" dirty="0"/>
          </a:p>
          <a:p>
            <a:r>
              <a:rPr lang="en-US" dirty="0"/>
              <a:t>In the Task Trajectory Generator module, these trajectories are created using </a:t>
            </a:r>
            <a:r>
              <a:rPr lang="en-US" b="0" i="0" dirty="0"/>
              <a:t>Cubic Polynomial</a:t>
            </a:r>
            <a:r>
              <a:rPr lang="en-US" i="1" dirty="0"/>
              <a:t> </a:t>
            </a:r>
            <a:r>
              <a:rPr lang="en-US" dirty="0"/>
              <a:t>interpolation.</a:t>
            </a:r>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19</a:t>
            </a:fld>
            <a:endParaRPr lang="en-US"/>
          </a:p>
        </p:txBody>
      </p:sp>
    </p:spTree>
    <p:extLst>
      <p:ext uri="{BB962C8B-B14F-4D97-AF65-F5344CB8AC3E}">
        <p14:creationId xmlns:p14="http://schemas.microsoft.com/office/powerpoint/2010/main" val="33393198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take a look at how this Cubic Polynomial Interpolation algorithm works</a:t>
            </a:r>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20</a:t>
            </a:fld>
            <a:endParaRPr lang="en-US"/>
          </a:p>
        </p:txBody>
      </p:sp>
    </p:spTree>
    <p:extLst>
      <p:ext uri="{BB962C8B-B14F-4D97-AF65-F5344CB8AC3E}">
        <p14:creationId xmlns:p14="http://schemas.microsoft.com/office/powerpoint/2010/main" val="24195585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
            </a:r>
            <a:r>
              <a:rPr lang="en-GB" dirty="0"/>
              <a:t>EXT</a:t>
            </a:r>
          </a:p>
        </p:txBody>
      </p:sp>
      <p:sp>
        <p:nvSpPr>
          <p:cNvPr id="4" name="Slide Number Placeholder 3"/>
          <p:cNvSpPr>
            <a:spLocks noGrp="1"/>
          </p:cNvSpPr>
          <p:nvPr>
            <p:ph type="sldNum" sz="quarter" idx="5"/>
          </p:nvPr>
        </p:nvSpPr>
        <p:spPr/>
        <p:txBody>
          <a:bodyPr/>
          <a:lstStyle/>
          <a:p>
            <a:fld id="{8CB0EE9E-52B8-AA4F-8DD5-ED0FB4E5CBCC}" type="slidenum">
              <a:rPr lang="en-US" smtClean="0"/>
              <a:t>21</a:t>
            </a:fld>
            <a:endParaRPr lang="en-US"/>
          </a:p>
        </p:txBody>
      </p:sp>
    </p:spTree>
    <p:extLst>
      <p:ext uri="{BB962C8B-B14F-4D97-AF65-F5344CB8AC3E}">
        <p14:creationId xmlns:p14="http://schemas.microsoft.com/office/powerpoint/2010/main" val="17648450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generate a cubic polynomial interpolation, you need a set of points to interpolate between, these are given as capital P.</a:t>
            </a:r>
          </a:p>
          <a:p>
            <a:endParaRPr lang="en-US" dirty="0"/>
          </a:p>
          <a:p>
            <a:r>
              <a:rPr lang="en-US" dirty="0"/>
              <a:t>You also need the time instances of these points, given as capital T.</a:t>
            </a:r>
          </a:p>
          <a:p>
            <a:endParaRPr lang="en-US" dirty="0"/>
          </a:p>
          <a:p>
            <a:r>
              <a:rPr lang="en-US" dirty="0"/>
              <a:t> a start velocity, </a:t>
            </a:r>
            <a:r>
              <a:rPr lang="en-US" dirty="0" err="1"/>
              <a:t>v_initial</a:t>
            </a:r>
            <a:r>
              <a:rPr lang="en-US" dirty="0"/>
              <a:t> and an end velocity, </a:t>
            </a:r>
            <a:r>
              <a:rPr lang="en-US" dirty="0" err="1"/>
              <a:t>v_final</a:t>
            </a:r>
            <a:r>
              <a:rPr lang="en-US" dirty="0"/>
              <a: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algorithm works by creating a set of cubic polynomials defined for the segments between the input points</a:t>
            </a:r>
            <a:r>
              <a:rPr lang="en-US"/>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these are given as lowercase p in this diagram,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then you need to force continuity at these intermediate input points or change-over points.</a:t>
            </a:r>
          </a:p>
          <a:p>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22</a:t>
            </a:fld>
            <a:endParaRPr lang="en-US"/>
          </a:p>
        </p:txBody>
      </p:sp>
    </p:spTree>
    <p:extLst>
      <p:ext uri="{BB962C8B-B14F-4D97-AF65-F5344CB8AC3E}">
        <p14:creationId xmlns:p14="http://schemas.microsoft.com/office/powerpoint/2010/main" val="38502724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this means you’re forcing the velocity going into the point to be the same as the velocity going out of the point to enforce continuity in velocity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8CB0EE9E-52B8-AA4F-8DD5-ED0FB4E5CBCC}" type="slidenum">
              <a:rPr lang="en-US" smtClean="0"/>
              <a:t>23</a:t>
            </a:fld>
            <a:endParaRPr lang="en-US"/>
          </a:p>
        </p:txBody>
      </p:sp>
    </p:spTree>
    <p:extLst>
      <p:ext uri="{BB962C8B-B14F-4D97-AF65-F5344CB8AC3E}">
        <p14:creationId xmlns:p14="http://schemas.microsoft.com/office/powerpoint/2010/main" val="23954712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forcing the acceleration going into the point to be the same as the acceleration going out of the point to enforce continuity in acceleration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8CB0EE9E-52B8-AA4F-8DD5-ED0FB4E5CBCC}" type="slidenum">
              <a:rPr lang="en-US" smtClean="0"/>
              <a:t>24</a:t>
            </a:fld>
            <a:endParaRPr lang="en-US"/>
          </a:p>
        </p:txBody>
      </p:sp>
    </p:spTree>
    <p:extLst>
      <p:ext uri="{BB962C8B-B14F-4D97-AF65-F5344CB8AC3E}">
        <p14:creationId xmlns:p14="http://schemas.microsoft.com/office/powerpoint/2010/main" val="8303830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Since we define functions between input points, for N input points, you only need to define N-1 equations.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Since there are 4 coefficients per equation, you have</a:t>
            </a:r>
            <a:r>
              <a:rPr lang="en-US" b="1" dirty="0"/>
              <a:t> </a:t>
            </a:r>
            <a:r>
              <a:rPr lang="en-US" b="1" i="1" dirty="0"/>
              <a:t>4(N-1)</a:t>
            </a:r>
            <a:r>
              <a:rPr lang="en-US" dirty="0"/>
              <a:t> </a:t>
            </a:r>
            <a:r>
              <a:rPr lang="en-US" b="1" i="1" dirty="0"/>
              <a:t>unknowns</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8CB0EE9E-52B8-AA4F-8DD5-ED0FB4E5CBCC}" type="slidenum">
              <a:rPr lang="en-US" smtClean="0"/>
              <a:t>25</a:t>
            </a:fld>
            <a:endParaRPr lang="en-US"/>
          </a:p>
        </p:txBody>
      </p:sp>
    </p:spTree>
    <p:extLst>
      <p:ext uri="{BB962C8B-B14F-4D97-AF65-F5344CB8AC3E}">
        <p14:creationId xmlns:p14="http://schemas.microsoft.com/office/powerpoint/2010/main" val="12953626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we define equations specifying the boundary conditions of each segment, the endpoint velocities of the trajectory, and the continuity constraints, we obtain </a:t>
            </a:r>
            <a:r>
              <a:rPr lang="en-US" b="1" i="1" dirty="0"/>
              <a:t>4(N-1) equations </a:t>
            </a:r>
            <a:r>
              <a:rPr lang="en-US" dirty="0"/>
              <a:t>for 4(N-1) unknowns.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makes the systems of equations solvable, allowing you to find the value of these coefficients for each segment, and thus allowing you to define the function for each segment.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8CB0EE9E-52B8-AA4F-8DD5-ED0FB4E5CBCC}" type="slidenum">
              <a:rPr lang="en-US" smtClean="0"/>
              <a:t>26</a:t>
            </a:fld>
            <a:endParaRPr lang="en-US"/>
          </a:p>
        </p:txBody>
      </p:sp>
    </p:spTree>
    <p:extLst>
      <p:ext uri="{BB962C8B-B14F-4D97-AF65-F5344CB8AC3E}">
        <p14:creationId xmlns:p14="http://schemas.microsoft.com/office/powerpoint/2010/main" val="5365135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then if you want to know the value of the </a:t>
            </a:r>
            <a:r>
              <a:rPr lang="en-US" dirty="0" err="1"/>
              <a:t>CubicPolynomial</a:t>
            </a:r>
            <a:r>
              <a:rPr lang="en-US" dirty="0"/>
              <a:t> at a given time instance, you find which segment is defined for that evaluation time then evaluate the corresponding function which in this case is p_3.</a:t>
            </a:r>
          </a:p>
        </p:txBody>
      </p:sp>
      <p:sp>
        <p:nvSpPr>
          <p:cNvPr id="4" name="Slide Number Placeholder 3"/>
          <p:cNvSpPr>
            <a:spLocks noGrp="1"/>
          </p:cNvSpPr>
          <p:nvPr>
            <p:ph type="sldNum" sz="quarter" idx="5"/>
          </p:nvPr>
        </p:nvSpPr>
        <p:spPr/>
        <p:txBody>
          <a:bodyPr/>
          <a:lstStyle/>
          <a:p>
            <a:fld id="{8CB0EE9E-52B8-AA4F-8DD5-ED0FB4E5CBCC}" type="slidenum">
              <a:rPr lang="en-US" smtClean="0"/>
              <a:t>27</a:t>
            </a:fld>
            <a:endParaRPr lang="en-US"/>
          </a:p>
        </p:txBody>
      </p:sp>
    </p:spTree>
    <p:extLst>
      <p:ext uri="{BB962C8B-B14F-4D97-AF65-F5344CB8AC3E}">
        <p14:creationId xmlns:p14="http://schemas.microsoft.com/office/powerpoint/2010/main" val="20719263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Creating the angular trajectory is much more difficult due to the non-linearity of Rotation Space, SO(3). </a:t>
            </a:r>
          </a:p>
          <a:p>
            <a:endParaRPr lang="en-US" dirty="0"/>
          </a:p>
          <a:p>
            <a:r>
              <a:rPr lang="en-GB" dirty="0"/>
              <a:t>This means that standard interpolation methods used in Euclidean space such as the cubic polynomial interpolation we just looked at cannot be directly applied here. </a:t>
            </a:r>
          </a:p>
          <a:p>
            <a:endParaRPr lang="en-GB" dirty="0"/>
          </a:p>
          <a:p>
            <a:r>
              <a:rPr lang="en-GB" dirty="0"/>
              <a:t>Another complication in this design is the orientation representation. </a:t>
            </a:r>
          </a:p>
          <a:p>
            <a:endParaRPr lang="en-GB" dirty="0"/>
          </a:p>
          <a:p>
            <a:r>
              <a:rPr lang="en-GB" dirty="0"/>
              <a:t>So let’s explore that. </a:t>
            </a:r>
          </a:p>
          <a:p>
            <a:endParaRPr lang="en-GB" dirty="0"/>
          </a:p>
          <a:p>
            <a:r>
              <a:rPr lang="en-GB" dirty="0"/>
              <a:t>A common way to represent orientations is using Euler or Cardan angles. </a:t>
            </a:r>
          </a:p>
          <a:p>
            <a:endParaRPr lang="en-GB" dirty="0"/>
          </a:p>
          <a:p>
            <a:r>
              <a:rPr lang="en-GB" dirty="0"/>
              <a:t>This is where you rotate about 3 axes consecutively. </a:t>
            </a:r>
          </a:p>
        </p:txBody>
      </p:sp>
      <p:sp>
        <p:nvSpPr>
          <p:cNvPr id="4" name="Slide Number Placeholder 3"/>
          <p:cNvSpPr>
            <a:spLocks noGrp="1"/>
          </p:cNvSpPr>
          <p:nvPr>
            <p:ph type="sldNum" sz="quarter" idx="5"/>
          </p:nvPr>
        </p:nvSpPr>
        <p:spPr/>
        <p:txBody>
          <a:bodyPr/>
          <a:lstStyle/>
          <a:p>
            <a:fld id="{8CB0EE9E-52B8-AA4F-8DD5-ED0FB4E5CBCC}" type="slidenum">
              <a:rPr lang="en-US" smtClean="0"/>
              <a:t>28</a:t>
            </a:fld>
            <a:endParaRPr lang="en-US"/>
          </a:p>
        </p:txBody>
      </p:sp>
    </p:spTree>
    <p:extLst>
      <p:ext uri="{BB962C8B-B14F-4D97-AF65-F5344CB8AC3E}">
        <p14:creationId xmlns:p14="http://schemas.microsoft.com/office/powerpoint/2010/main" val="19702770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Take </a:t>
            </a:r>
            <a:r>
              <a:rPr lang="en-GB" dirty="0" err="1"/>
              <a:t>CardanXYZ</a:t>
            </a:r>
            <a:r>
              <a:rPr lang="en-GB" dirty="0"/>
              <a:t> representation for example. Here you rotate about x then y then z</a:t>
            </a:r>
          </a:p>
          <a:p>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29</a:t>
            </a:fld>
            <a:endParaRPr lang="en-US"/>
          </a:p>
        </p:txBody>
      </p:sp>
    </p:spTree>
    <p:extLst>
      <p:ext uri="{BB962C8B-B14F-4D97-AF65-F5344CB8AC3E}">
        <p14:creationId xmlns:p14="http://schemas.microsoft.com/office/powerpoint/2010/main" val="29207205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Take </a:t>
            </a:r>
            <a:r>
              <a:rPr lang="en-GB" dirty="0" err="1"/>
              <a:t>CardanXYZ</a:t>
            </a:r>
            <a:r>
              <a:rPr lang="en-GB" dirty="0"/>
              <a:t> representation for example. Here you rotate about x then y then z</a:t>
            </a:r>
          </a:p>
        </p:txBody>
      </p:sp>
      <p:sp>
        <p:nvSpPr>
          <p:cNvPr id="4" name="Slide Number Placeholder 3"/>
          <p:cNvSpPr>
            <a:spLocks noGrp="1"/>
          </p:cNvSpPr>
          <p:nvPr>
            <p:ph type="sldNum" sz="quarter" idx="5"/>
          </p:nvPr>
        </p:nvSpPr>
        <p:spPr/>
        <p:txBody>
          <a:bodyPr/>
          <a:lstStyle/>
          <a:p>
            <a:fld id="{8CB0EE9E-52B8-AA4F-8DD5-ED0FB4E5CBCC}" type="slidenum">
              <a:rPr lang="en-US" smtClean="0"/>
              <a:t>30</a:t>
            </a:fld>
            <a:endParaRPr lang="en-US"/>
          </a:p>
        </p:txBody>
      </p:sp>
    </p:spTree>
    <p:extLst>
      <p:ext uri="{BB962C8B-B14F-4D97-AF65-F5344CB8AC3E}">
        <p14:creationId xmlns:p14="http://schemas.microsoft.com/office/powerpoint/2010/main" val="33673347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you rotate about x then y then z</a:t>
            </a:r>
          </a:p>
        </p:txBody>
      </p:sp>
      <p:sp>
        <p:nvSpPr>
          <p:cNvPr id="4" name="Slide Number Placeholder 3"/>
          <p:cNvSpPr>
            <a:spLocks noGrp="1"/>
          </p:cNvSpPr>
          <p:nvPr>
            <p:ph type="sldNum" sz="quarter" idx="5"/>
          </p:nvPr>
        </p:nvSpPr>
        <p:spPr/>
        <p:txBody>
          <a:bodyPr/>
          <a:lstStyle/>
          <a:p>
            <a:fld id="{8CB0EE9E-52B8-AA4F-8DD5-ED0FB4E5CBCC}" type="slidenum">
              <a:rPr lang="en-US" smtClean="0"/>
              <a:t>31</a:t>
            </a:fld>
            <a:endParaRPr lang="en-US"/>
          </a:p>
        </p:txBody>
      </p:sp>
    </p:spTree>
    <p:extLst>
      <p:ext uri="{BB962C8B-B14F-4D97-AF65-F5344CB8AC3E}">
        <p14:creationId xmlns:p14="http://schemas.microsoft.com/office/powerpoint/2010/main" val="16119078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you rotate about x then y then z</a:t>
            </a:r>
          </a:p>
        </p:txBody>
      </p:sp>
      <p:sp>
        <p:nvSpPr>
          <p:cNvPr id="4" name="Slide Number Placeholder 3"/>
          <p:cNvSpPr>
            <a:spLocks noGrp="1"/>
          </p:cNvSpPr>
          <p:nvPr>
            <p:ph type="sldNum" sz="quarter" idx="5"/>
          </p:nvPr>
        </p:nvSpPr>
        <p:spPr/>
        <p:txBody>
          <a:bodyPr/>
          <a:lstStyle/>
          <a:p>
            <a:fld id="{8CB0EE9E-52B8-AA4F-8DD5-ED0FB4E5CBCC}" type="slidenum">
              <a:rPr lang="en-US" smtClean="0"/>
              <a:t>32</a:t>
            </a:fld>
            <a:endParaRPr lang="en-US"/>
          </a:p>
        </p:txBody>
      </p:sp>
    </p:spTree>
    <p:extLst>
      <p:ext uri="{BB962C8B-B14F-4D97-AF65-F5344CB8AC3E}">
        <p14:creationId xmlns:p14="http://schemas.microsoft.com/office/powerpoint/2010/main" val="6809214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you rotate about x then y then z</a:t>
            </a:r>
          </a:p>
        </p:txBody>
      </p:sp>
      <p:sp>
        <p:nvSpPr>
          <p:cNvPr id="4" name="Slide Number Placeholder 3"/>
          <p:cNvSpPr>
            <a:spLocks noGrp="1"/>
          </p:cNvSpPr>
          <p:nvPr>
            <p:ph type="sldNum" sz="quarter" idx="5"/>
          </p:nvPr>
        </p:nvSpPr>
        <p:spPr/>
        <p:txBody>
          <a:bodyPr/>
          <a:lstStyle/>
          <a:p>
            <a:fld id="{8CB0EE9E-52B8-AA4F-8DD5-ED0FB4E5CBCC}" type="slidenum">
              <a:rPr lang="en-US" smtClean="0"/>
              <a:t>33</a:t>
            </a:fld>
            <a:endParaRPr lang="en-US"/>
          </a:p>
        </p:txBody>
      </p:sp>
    </p:spTree>
    <p:extLst>
      <p:ext uri="{BB962C8B-B14F-4D97-AF65-F5344CB8AC3E}">
        <p14:creationId xmlns:p14="http://schemas.microsoft.com/office/powerpoint/2010/main" val="16606764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you rotate about x then y then z</a:t>
            </a:r>
          </a:p>
        </p:txBody>
      </p:sp>
      <p:sp>
        <p:nvSpPr>
          <p:cNvPr id="4" name="Slide Number Placeholder 3"/>
          <p:cNvSpPr>
            <a:spLocks noGrp="1"/>
          </p:cNvSpPr>
          <p:nvPr>
            <p:ph type="sldNum" sz="quarter" idx="5"/>
          </p:nvPr>
        </p:nvSpPr>
        <p:spPr/>
        <p:txBody>
          <a:bodyPr/>
          <a:lstStyle/>
          <a:p>
            <a:fld id="{8CB0EE9E-52B8-AA4F-8DD5-ED0FB4E5CBCC}" type="slidenum">
              <a:rPr lang="en-US" smtClean="0"/>
              <a:t>34</a:t>
            </a:fld>
            <a:endParaRPr lang="en-US"/>
          </a:p>
        </p:txBody>
      </p:sp>
    </p:spTree>
    <p:extLst>
      <p:ext uri="{BB962C8B-B14F-4D97-AF65-F5344CB8AC3E}">
        <p14:creationId xmlns:p14="http://schemas.microsoft.com/office/powerpoint/2010/main" val="354918549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you rotate about x then y then z</a:t>
            </a:r>
          </a:p>
        </p:txBody>
      </p:sp>
      <p:sp>
        <p:nvSpPr>
          <p:cNvPr id="4" name="Slide Number Placeholder 3"/>
          <p:cNvSpPr>
            <a:spLocks noGrp="1"/>
          </p:cNvSpPr>
          <p:nvPr>
            <p:ph type="sldNum" sz="quarter" idx="5"/>
          </p:nvPr>
        </p:nvSpPr>
        <p:spPr/>
        <p:txBody>
          <a:bodyPr/>
          <a:lstStyle/>
          <a:p>
            <a:fld id="{8CB0EE9E-52B8-AA4F-8DD5-ED0FB4E5CBCC}" type="slidenum">
              <a:rPr lang="en-US" smtClean="0"/>
              <a:t>35</a:t>
            </a:fld>
            <a:endParaRPr lang="en-US"/>
          </a:p>
        </p:txBody>
      </p:sp>
    </p:spTree>
    <p:extLst>
      <p:ext uri="{BB962C8B-B14F-4D97-AF65-F5344CB8AC3E}">
        <p14:creationId xmlns:p14="http://schemas.microsoft.com/office/powerpoint/2010/main" val="29706173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Note the dependent rotations where the rotation about a parent axis affects the position of the next rotation axis.</a:t>
            </a:r>
          </a:p>
        </p:txBody>
      </p:sp>
      <p:sp>
        <p:nvSpPr>
          <p:cNvPr id="4" name="Slide Number Placeholder 3"/>
          <p:cNvSpPr>
            <a:spLocks noGrp="1"/>
          </p:cNvSpPr>
          <p:nvPr>
            <p:ph type="sldNum" sz="quarter" idx="5"/>
          </p:nvPr>
        </p:nvSpPr>
        <p:spPr/>
        <p:txBody>
          <a:bodyPr/>
          <a:lstStyle/>
          <a:p>
            <a:fld id="{8CB0EE9E-52B8-AA4F-8DD5-ED0FB4E5CBCC}" type="slidenum">
              <a:rPr lang="en-US" smtClean="0"/>
              <a:t>36</a:t>
            </a:fld>
            <a:endParaRPr lang="en-US"/>
          </a:p>
        </p:txBody>
      </p:sp>
    </p:spTree>
    <p:extLst>
      <p:ext uri="{BB962C8B-B14F-4D97-AF65-F5344CB8AC3E}">
        <p14:creationId xmlns:p14="http://schemas.microsoft.com/office/powerpoint/2010/main" val="31698423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issue with this sequential rotation structure is you can reach a state, where 2 rotation frames become aligned </a:t>
            </a:r>
          </a:p>
          <a:p>
            <a:endParaRPr lang="en-GB" dirty="0"/>
          </a:p>
          <a:p>
            <a:r>
              <a:rPr lang="en-GB" dirty="0"/>
              <a:t>This is shown here where you have </a:t>
            </a:r>
            <a:r>
              <a:rPr lang="en-GB" dirty="0" err="1"/>
              <a:t>CardanYXZ</a:t>
            </a:r>
            <a:r>
              <a:rPr lang="en-GB" dirty="0"/>
              <a:t> and rotate the x 90 degrees, causing the y and z axes to become aligned. </a:t>
            </a:r>
          </a:p>
          <a:p>
            <a:endParaRPr lang="en-GB" dirty="0"/>
          </a:p>
          <a:p>
            <a:r>
              <a:rPr lang="en-GB" dirty="0"/>
              <a:t>We refer to this as gimbal lock. </a:t>
            </a:r>
          </a:p>
          <a:p>
            <a:endParaRPr lang="en-GB" dirty="0"/>
          </a:p>
          <a:p>
            <a:r>
              <a:rPr lang="en-GB" dirty="0"/>
              <a:t>When gimbal lock occurs, you lose a degree of freedom in the rotation, so you have a </a:t>
            </a:r>
            <a:r>
              <a:rPr lang="en-GB" b="0" i="0" u="none" dirty="0"/>
              <a:t>representation</a:t>
            </a:r>
            <a:r>
              <a:rPr lang="en-GB" dirty="0"/>
              <a:t> singularity. </a:t>
            </a:r>
          </a:p>
        </p:txBody>
      </p:sp>
      <p:sp>
        <p:nvSpPr>
          <p:cNvPr id="4" name="Slide Number Placeholder 3"/>
          <p:cNvSpPr>
            <a:spLocks noGrp="1"/>
          </p:cNvSpPr>
          <p:nvPr>
            <p:ph type="sldNum" sz="quarter" idx="5"/>
          </p:nvPr>
        </p:nvSpPr>
        <p:spPr/>
        <p:txBody>
          <a:bodyPr/>
          <a:lstStyle/>
          <a:p>
            <a:fld id="{8CB0EE9E-52B8-AA4F-8DD5-ED0FB4E5CBCC}" type="slidenum">
              <a:rPr lang="en-US" smtClean="0"/>
              <a:t>37</a:t>
            </a:fld>
            <a:endParaRPr lang="en-US"/>
          </a:p>
        </p:txBody>
      </p:sp>
    </p:spTree>
    <p:extLst>
      <p:ext uri="{BB962C8B-B14F-4D97-AF65-F5344CB8AC3E}">
        <p14:creationId xmlns:p14="http://schemas.microsoft.com/office/powerpoint/2010/main" val="3204289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Due to the loss of one rotational axis, trying to achieve a desired rotation after gimbal lock has occurred results in </a:t>
            </a:r>
            <a:r>
              <a:rPr lang="en-GB" b="0" dirty="0"/>
              <a:t>unexpected</a:t>
            </a:r>
            <a:r>
              <a:rPr lang="en-GB" dirty="0"/>
              <a:t> movements between rotations. </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Thus, we choose to represent orientations and rotations as quaternions to avoid singularity issues and achieve smooth rotations. </a:t>
            </a:r>
          </a:p>
          <a:p>
            <a:endParaRPr lang="en-GB" dirty="0"/>
          </a:p>
          <a:p>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38</a:t>
            </a:fld>
            <a:endParaRPr lang="en-US"/>
          </a:p>
        </p:txBody>
      </p:sp>
    </p:spTree>
    <p:extLst>
      <p:ext uri="{BB962C8B-B14F-4D97-AF65-F5344CB8AC3E}">
        <p14:creationId xmlns:p14="http://schemas.microsoft.com/office/powerpoint/2010/main" val="17412229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quaternion is a four-dimensional complex number, where in a unit quaternion, the w corresponds to the angle of rotation and the imaginary components correspond to a scaled axis about which we rotate. </a:t>
            </a:r>
          </a:p>
          <a:p>
            <a:endParaRPr lang="en-GB" dirty="0"/>
          </a:p>
          <a:p>
            <a:r>
              <a:rPr lang="en-GB" dirty="0"/>
              <a:t>This 4-parameter representation provides us with an added degree of flexibility and eliminates the issue of sequential axis alignment that leads to gimbal lock. </a:t>
            </a:r>
          </a:p>
          <a:p>
            <a:endParaRPr lang="en-GB" dirty="0"/>
          </a:p>
          <a:p>
            <a:r>
              <a:rPr lang="en-GB" dirty="0"/>
              <a:t>To represent orientations, we use unit quaternions which lie on a 3D unit sphere. </a:t>
            </a:r>
          </a:p>
          <a:p>
            <a:r>
              <a:rPr lang="en-GB" dirty="0"/>
              <a:t>This allows any rotation trajectory to be smoothly represented as a continuous path on this hypersphere.</a:t>
            </a:r>
          </a:p>
          <a:p>
            <a:endParaRPr lang="en-GB" dirty="0"/>
          </a:p>
          <a:p>
            <a:r>
              <a:rPr lang="en-GB" dirty="0"/>
              <a:t>Although sequential axis rotation is no longer an issue with quaternions, their components are still dependent on each other as they must satisfy the unit quaternion constraint at all times in order to represent a valid rotation. </a:t>
            </a:r>
          </a:p>
          <a:p>
            <a:r>
              <a:rPr lang="en-GB" dirty="0"/>
              <a:t>Since the quaternion space is non-linear, it is impossible to apply the linear trajectory approach of independently interpolating each component. </a:t>
            </a:r>
          </a:p>
          <a:p>
            <a:endParaRPr lang="en-GB" dirty="0"/>
          </a:p>
          <a:p>
            <a:r>
              <a:rPr lang="en-GB" dirty="0"/>
              <a:t>So instead we use an approach that extends the logic of Cubic Polynomial interpolation to work with quaternions. </a:t>
            </a:r>
          </a:p>
          <a:p>
            <a:endParaRPr lang="en-GB" dirty="0"/>
          </a:p>
          <a:p>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39</a:t>
            </a:fld>
            <a:endParaRPr lang="en-US"/>
          </a:p>
        </p:txBody>
      </p:sp>
    </p:spTree>
    <p:extLst>
      <p:ext uri="{BB962C8B-B14F-4D97-AF65-F5344CB8AC3E}">
        <p14:creationId xmlns:p14="http://schemas.microsoft.com/office/powerpoint/2010/main" val="28786372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This is what the Cubic Orientation Spline algorithm does so let’s now look at how it works.</a:t>
            </a:r>
            <a:endParaRPr lang="en-US" dirty="0"/>
          </a:p>
        </p:txBody>
      </p:sp>
      <p:sp>
        <p:nvSpPr>
          <p:cNvPr id="4" name="Slide Number Placeholder 3"/>
          <p:cNvSpPr>
            <a:spLocks noGrp="1"/>
          </p:cNvSpPr>
          <p:nvPr>
            <p:ph type="sldNum" sz="quarter" idx="5"/>
          </p:nvPr>
        </p:nvSpPr>
        <p:spPr/>
        <p:txBody>
          <a:bodyPr/>
          <a:lstStyle/>
          <a:p>
            <a:fld id="{8CB0EE9E-52B8-AA4F-8DD5-ED0FB4E5CBCC}" type="slidenum">
              <a:rPr lang="en-US" smtClean="0"/>
              <a:t>40</a:t>
            </a:fld>
            <a:endParaRPr lang="en-US"/>
          </a:p>
        </p:txBody>
      </p:sp>
    </p:spTree>
    <p:extLst>
      <p:ext uri="{BB962C8B-B14F-4D97-AF65-F5344CB8AC3E}">
        <p14:creationId xmlns:p14="http://schemas.microsoft.com/office/powerpoint/2010/main" val="27400153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a:t>
            </a:r>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41</a:t>
            </a:fld>
            <a:endParaRPr lang="en-US"/>
          </a:p>
        </p:txBody>
      </p:sp>
    </p:spTree>
    <p:extLst>
      <p:ext uri="{BB962C8B-B14F-4D97-AF65-F5344CB8AC3E}">
        <p14:creationId xmlns:p14="http://schemas.microsoft.com/office/powerpoint/2010/main" val="18241074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Like in the Cubic Polynomial algorithm, to generate a cubic orientation spline, you still need a set of points to interpolate between, capital Q,  the time instances of these points, capital T, a start velocity, </a:t>
            </a:r>
            <a:r>
              <a:rPr lang="en-US" dirty="0" err="1"/>
              <a:t>omega_initial</a:t>
            </a:r>
            <a:r>
              <a:rPr lang="en-US" dirty="0"/>
              <a:t>, and an end velocity, omega final.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are still defining a function for each segment between input points and applying continuity constraints to ensure smooth spline interpolation.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difference is that the points are now quaternions and the Cubic Polynomial is defined for the rotation vector rather than the quaternion function itself.</a:t>
            </a:r>
          </a:p>
          <a:p>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42</a:t>
            </a:fld>
            <a:endParaRPr lang="en-US"/>
          </a:p>
        </p:txBody>
      </p:sp>
    </p:spTree>
    <p:extLst>
      <p:ext uri="{BB962C8B-B14F-4D97-AF65-F5344CB8AC3E}">
        <p14:creationId xmlns:p14="http://schemas.microsoft.com/office/powerpoint/2010/main" val="421588151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let’s look at how this works.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function defining the quaternions over time for a given segment is given as q which is equal to the initial orientation, qi, multiplied by the relative quaternion, delta q, which represents rotation from the start orientation to the orientation at this 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43</a:t>
            </a:fld>
            <a:endParaRPr lang="en-US"/>
          </a:p>
        </p:txBody>
      </p:sp>
    </p:spTree>
    <p:extLst>
      <p:ext uri="{BB962C8B-B14F-4D97-AF65-F5344CB8AC3E}">
        <p14:creationId xmlns:p14="http://schemas.microsoft.com/office/powerpoint/2010/main" val="139915910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relative quaternion is a function of a unit vector u and an angle theta which corresponds to the rotation axis and angle between the start orientation and the current orientation.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vector and angle are both defined by the </a:t>
            </a:r>
            <a:r>
              <a:rPr lang="en-US" b="1" i="1" dirty="0"/>
              <a:t>rotation vector,</a:t>
            </a:r>
            <a:r>
              <a:rPr lang="en-US" i="1" dirty="0"/>
              <a:t> </a:t>
            </a:r>
            <a:r>
              <a:rPr lang="en-US" b="1" i="1" dirty="0"/>
              <a:t>R</a:t>
            </a:r>
            <a:r>
              <a:rPr lang="en-US" dirty="0"/>
              <a:t> which can be any vector-valued function of 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8CB0EE9E-52B8-AA4F-8DD5-ED0FB4E5CBCC}" type="slidenum">
              <a:rPr lang="en-US" smtClean="0"/>
              <a:t>44</a:t>
            </a:fld>
            <a:endParaRPr lang="en-US"/>
          </a:p>
        </p:txBody>
      </p:sp>
    </p:spTree>
    <p:extLst>
      <p:ext uri="{BB962C8B-B14F-4D97-AF65-F5344CB8AC3E}">
        <p14:creationId xmlns:p14="http://schemas.microsoft.com/office/powerpoint/2010/main" val="22174441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relative quaternion is a function of a unit vector u and an angle theta which corresponds to the rotation axis and angle between the start orientation and the current orientation.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vector and angle are both defined by the </a:t>
            </a:r>
            <a:r>
              <a:rPr lang="en-US" b="1" i="1" dirty="0"/>
              <a:t>rotation vector,</a:t>
            </a:r>
            <a:r>
              <a:rPr lang="en-US" i="1" dirty="0"/>
              <a:t> </a:t>
            </a:r>
            <a:r>
              <a:rPr lang="en-US" b="1" i="1" dirty="0"/>
              <a:t>R</a:t>
            </a:r>
            <a:r>
              <a:rPr lang="en-US" dirty="0"/>
              <a:t> which can be any vector-valued function of 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8CB0EE9E-52B8-AA4F-8DD5-ED0FB4E5CBCC}" type="slidenum">
              <a:rPr lang="en-US" smtClean="0"/>
              <a:t>45</a:t>
            </a:fld>
            <a:endParaRPr lang="en-US"/>
          </a:p>
        </p:txBody>
      </p:sp>
    </p:spTree>
    <p:extLst>
      <p:ext uri="{BB962C8B-B14F-4D97-AF65-F5344CB8AC3E}">
        <p14:creationId xmlns:p14="http://schemas.microsoft.com/office/powerpoint/2010/main" val="192795965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Since we have chosen to do Cubic Interpolation, we define this rotation vector as a cubic polynomial function of x which is just the normalized time. This polynomial is written this way for convenient analysis.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46</a:t>
            </a:fld>
            <a:endParaRPr lang="en-US"/>
          </a:p>
        </p:txBody>
      </p:sp>
    </p:spTree>
    <p:extLst>
      <p:ext uri="{BB962C8B-B14F-4D97-AF65-F5344CB8AC3E}">
        <p14:creationId xmlns:p14="http://schemas.microsoft.com/office/powerpoint/2010/main" val="316393424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By imposing the boundary conditions on this equation, you can obtain the value of these coefficients as functions of</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47</a:t>
            </a:fld>
            <a:endParaRPr lang="en-US"/>
          </a:p>
        </p:txBody>
      </p:sp>
    </p:spTree>
    <p:extLst>
      <p:ext uri="{BB962C8B-B14F-4D97-AF65-F5344CB8AC3E}">
        <p14:creationId xmlns:p14="http://schemas.microsoft.com/office/powerpoint/2010/main" val="401170447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change in 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48</a:t>
            </a:fld>
            <a:endParaRPr lang="en-US"/>
          </a:p>
        </p:txBody>
      </p:sp>
    </p:spTree>
    <p:extLst>
      <p:ext uri="{BB962C8B-B14F-4D97-AF65-F5344CB8AC3E}">
        <p14:creationId xmlns:p14="http://schemas.microsoft.com/office/powerpoint/2010/main" val="136715204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rotation axis between the initial and final orientation.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49</a:t>
            </a:fld>
            <a:endParaRPr lang="en-US"/>
          </a:p>
        </p:txBody>
      </p:sp>
    </p:spTree>
    <p:extLst>
      <p:ext uri="{BB962C8B-B14F-4D97-AF65-F5344CB8AC3E}">
        <p14:creationId xmlns:p14="http://schemas.microsoft.com/office/powerpoint/2010/main" val="194031433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rotation angle between the initial and final orientation.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50</a:t>
            </a:fld>
            <a:endParaRPr lang="en-US"/>
          </a:p>
        </p:txBody>
      </p:sp>
    </p:spTree>
    <p:extLst>
      <p:ext uri="{BB962C8B-B14F-4D97-AF65-F5344CB8AC3E}">
        <p14:creationId xmlns:p14="http://schemas.microsoft.com/office/powerpoint/2010/main" val="22533666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initial angular rate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51</a:t>
            </a:fld>
            <a:endParaRPr lang="en-US"/>
          </a:p>
        </p:txBody>
      </p:sp>
    </p:spTree>
    <p:extLst>
      <p:ext uri="{BB962C8B-B14F-4D97-AF65-F5344CB8AC3E}">
        <p14:creationId xmlns:p14="http://schemas.microsoft.com/office/powerpoint/2010/main" val="60644593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the final angular rate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52</a:t>
            </a:fld>
            <a:endParaRPr lang="en-US"/>
          </a:p>
        </p:txBody>
      </p:sp>
    </p:spTree>
    <p:extLst>
      <p:ext uri="{BB962C8B-B14F-4D97-AF65-F5344CB8AC3E}">
        <p14:creationId xmlns:p14="http://schemas.microsoft.com/office/powerpoint/2010/main" val="682566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all of these variables are known except for the initial and final angular rate for each segment since the angular rate at the intermediate input points are not directly given.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like in the Cubic Polynomial algorithm, these intermediate angular rates can be found by imposing the continuity constraints on the velocity and acceleration at these intermediate input points.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However, due to the non-linearity of the relationships, these velocities must be found using an </a:t>
            </a:r>
            <a:r>
              <a:rPr lang="en-US" b="1" i="1" dirty="0"/>
              <a:t>iterative algorithm.</a:t>
            </a:r>
            <a:r>
              <a:rPr lang="en-US" i="1"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53</a:t>
            </a:fld>
            <a:endParaRPr lang="en-US"/>
          </a:p>
        </p:txBody>
      </p:sp>
    </p:spTree>
    <p:extLst>
      <p:ext uri="{BB962C8B-B14F-4D97-AF65-F5344CB8AC3E}">
        <p14:creationId xmlns:p14="http://schemas.microsoft.com/office/powerpoint/2010/main" val="61927803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Since we know the initial and final velocity of the trajectory,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once all the intermediate velocities have been found,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coefficients can be calculated and the rotation vector equation can be defined for each segment.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54</a:t>
            </a:fld>
            <a:endParaRPr lang="en-US"/>
          </a:p>
        </p:txBody>
      </p:sp>
    </p:spTree>
    <p:extLst>
      <p:ext uri="{BB962C8B-B14F-4D97-AF65-F5344CB8AC3E}">
        <p14:creationId xmlns:p14="http://schemas.microsoft.com/office/powerpoint/2010/main" val="429362400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Then, like the Cubic Polynomial algorithm, when you want to find the value of the </a:t>
            </a:r>
            <a:r>
              <a:rPr lang="en-US" dirty="0" err="1"/>
              <a:t>CubicOrientationSpline</a:t>
            </a:r>
            <a:r>
              <a:rPr lang="en-US" dirty="0"/>
              <a:t> at a specific time,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find which segment is defined for that evaluation time then evaluate the corresponding function and use it to find the orientation at that point.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55</a:t>
            </a:fld>
            <a:endParaRPr lang="en-US"/>
          </a:p>
        </p:txBody>
      </p:sp>
    </p:spTree>
    <p:extLst>
      <p:ext uri="{BB962C8B-B14F-4D97-AF65-F5344CB8AC3E}">
        <p14:creationId xmlns:p14="http://schemas.microsoft.com/office/powerpoint/2010/main" val="204097039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now that we know how to define the 3 </a:t>
            </a:r>
            <a:r>
              <a:rPr lang="en-US" dirty="0" err="1"/>
              <a:t>CubicPolynomial</a:t>
            </a:r>
            <a:r>
              <a:rPr lang="en-US" dirty="0"/>
              <a:t> translation trajectories and the </a:t>
            </a:r>
            <a:r>
              <a:rPr lang="en-US" dirty="0" err="1"/>
              <a:t>CubicOrientationSpline</a:t>
            </a:r>
            <a:r>
              <a:rPr lang="en-US" dirty="0"/>
              <a:t> rotation trajectory, let’s look at how these modules fit within the task Trajectory Generator.</a:t>
            </a:r>
          </a:p>
          <a:p>
            <a:endParaRPr lang="en-US" dirty="0"/>
          </a:p>
        </p:txBody>
      </p:sp>
      <p:sp>
        <p:nvSpPr>
          <p:cNvPr id="4" name="Slide Number Placeholder 3"/>
          <p:cNvSpPr>
            <a:spLocks noGrp="1"/>
          </p:cNvSpPr>
          <p:nvPr>
            <p:ph type="sldNum" sz="quarter" idx="5"/>
          </p:nvPr>
        </p:nvSpPr>
        <p:spPr/>
        <p:txBody>
          <a:bodyPr/>
          <a:lstStyle/>
          <a:p>
            <a:fld id="{8CB0EE9E-52B8-AA4F-8DD5-ED0FB4E5CBCC}" type="slidenum">
              <a:rPr lang="en-US" smtClean="0"/>
              <a:t>56</a:t>
            </a:fld>
            <a:endParaRPr lang="en-US"/>
          </a:p>
        </p:txBody>
      </p:sp>
    </p:spTree>
    <p:extLst>
      <p:ext uri="{BB962C8B-B14F-4D97-AF65-F5344CB8AC3E}">
        <p14:creationId xmlns:p14="http://schemas.microsoft.com/office/powerpoint/2010/main" val="186726410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take our input task path and split it into a position path that goes into the respective Cubic Polynomial modules and an orientation path that goes into the Cubic Orientation Spline module.</a:t>
            </a:r>
          </a:p>
          <a:p>
            <a:endParaRPr lang="en-US" dirty="0"/>
          </a:p>
          <a:p>
            <a:r>
              <a:rPr lang="en-US" dirty="0"/>
              <a:t>If this is the first path we are adding to our trajectory, we also set the initial and final velocities to be 0 so that the robot starts and ends stationary.</a:t>
            </a:r>
          </a:p>
          <a:p>
            <a:endParaRPr lang="en-US" dirty="0"/>
          </a:p>
          <a:p>
            <a:r>
              <a:rPr lang="en-US" dirty="0"/>
              <a:t>We need to make sure that the time instances of the input points in each component module are the same so that the resultant trajectory hits each pose at the same time. </a:t>
            </a:r>
          </a:p>
          <a:p>
            <a:endParaRPr lang="en-US" dirty="0"/>
          </a:p>
          <a:p>
            <a:r>
              <a:rPr lang="en-US" dirty="0"/>
              <a:t>You wouldn’t want the robot to reach the correct orientation before it reaches the correct position. </a:t>
            </a:r>
            <a:endParaRPr lang="en-US" b="1" dirty="0"/>
          </a:p>
          <a:p>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do this, we determine how long each component movement would take if the task velocity and acceleration limits were satisfied.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then take the longest of these times and use this as the time instance for that pose in all component trajectories.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THEN, once we’ve made all our interpolation objects, we just have to evaluate the first, second, and third derivatives of each of the component objects to get the output trajectory </a:t>
            </a:r>
            <a:r>
              <a:rPr lang="en-US"/>
              <a:t>point.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US"/>
          </a:p>
          <a:p>
            <a:endParaRPr lang="en-US"/>
          </a:p>
          <a:p>
            <a:endParaRPr lang="en-US"/>
          </a:p>
          <a:p>
            <a:r>
              <a:rPr lang="en-US"/>
              <a:t>DRAFT:</a:t>
            </a:r>
          </a:p>
          <a:p>
            <a:r>
              <a:rPr lang="en-US"/>
              <a:t>So now that we have our 3 linear translation trajectories made from Cubic Polynomials and our angular rotation trajectory made from the CubicOreintationSpline, we have a Task Trajectory object. </a:t>
            </a:r>
          </a:p>
          <a:p>
            <a:endParaRPr lang="en-US"/>
          </a:p>
          <a:p>
            <a:r>
              <a:rPr lang="en-US"/>
              <a:t>However, it is important that these all these components hit each desired point at the same time so that the resultant trajectory hits each pose at the same time. </a:t>
            </a:r>
          </a:p>
          <a:p>
            <a:endParaRPr lang="en-US"/>
          </a:p>
          <a:p>
            <a:r>
              <a:rPr lang="en-US"/>
              <a:t>To do this, we use the maximum task velocity and task acceleration and for each movement, we determine how long the component movement would take if these limits were satisfied. We then take the longest time and use this as the time instance for that pose in all of these component trajectories. </a:t>
            </a:r>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57</a:t>
            </a:fld>
            <a:endParaRPr lang="en-US"/>
          </a:p>
        </p:txBody>
      </p:sp>
    </p:spTree>
    <p:extLst>
      <p:ext uri="{BB962C8B-B14F-4D97-AF65-F5344CB8AC3E}">
        <p14:creationId xmlns:p14="http://schemas.microsoft.com/office/powerpoint/2010/main" val="268783280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process gets slightly more complicated if we want to add more points to the task path while the trajectory is being evaluated and running.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achieve this, we define Task Trajectory objects for certain time ranges.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if you have already defined a trajectory, when you want to add more points, you just make a new Task Trajectory object and use the last points of the previous trajectory to start the new trajectory smoothly.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this way, you set the start velocity to be the velocity of the end point of the previous trajectory.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Then, to find the trajectory point at a specific time, you find which Task Trajectory structure is defined for that evaluation time and evaluate the corresponding linear and angular components.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8CB0EE9E-52B8-AA4F-8DD5-ED0FB4E5CBCC}" type="slidenum">
              <a:rPr lang="en-US" smtClean="0"/>
              <a:t>58</a:t>
            </a:fld>
            <a:endParaRPr lang="en-US"/>
          </a:p>
        </p:txBody>
      </p:sp>
    </p:spTree>
    <p:extLst>
      <p:ext uri="{BB962C8B-B14F-4D97-AF65-F5344CB8AC3E}">
        <p14:creationId xmlns:p14="http://schemas.microsoft.com/office/powerpoint/2010/main" val="389643532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let’s take a look at how this module behaves on the physical robots.</a:t>
            </a:r>
          </a:p>
        </p:txBody>
      </p:sp>
      <p:sp>
        <p:nvSpPr>
          <p:cNvPr id="4" name="Slide Number Placeholder 3"/>
          <p:cNvSpPr>
            <a:spLocks noGrp="1"/>
          </p:cNvSpPr>
          <p:nvPr>
            <p:ph type="sldNum" sz="quarter" idx="5"/>
          </p:nvPr>
        </p:nvSpPr>
        <p:spPr/>
        <p:txBody>
          <a:bodyPr/>
          <a:lstStyle/>
          <a:p>
            <a:fld id="{8CB0EE9E-52B8-AA4F-8DD5-ED0FB4E5CBCC}" type="slidenum">
              <a:rPr lang="en-US" smtClean="0"/>
              <a:t>59</a:t>
            </a:fld>
            <a:endParaRPr lang="en-US"/>
          </a:p>
        </p:txBody>
      </p:sp>
    </p:spTree>
    <p:extLst>
      <p:ext uri="{BB962C8B-B14F-4D97-AF65-F5344CB8AC3E}">
        <p14:creationId xmlns:p14="http://schemas.microsoft.com/office/powerpoint/2010/main" val="272851253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when we test it on the SPS robot, we can see that it can do translation and rotation separately.</a:t>
            </a:r>
          </a:p>
          <a:p>
            <a:endParaRPr lang="en-US" dirty="0"/>
          </a:p>
          <a:p>
            <a:r>
              <a:rPr lang="en-US" dirty="0"/>
              <a:t>On the left we have inputted the corners of a square and we can see that it passes through these points with some velocity, making a curved trajectory at these edges.</a:t>
            </a:r>
          </a:p>
          <a:p>
            <a:endParaRPr lang="en-US" dirty="0"/>
          </a:p>
          <a:p>
            <a:r>
              <a:rPr lang="en-US" dirty="0"/>
              <a:t>And on the right, we are just doing a negative roll rotation so we can see that the last joint stays in the same position but it’s orientation is changing.</a:t>
            </a:r>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60</a:t>
            </a:fld>
            <a:endParaRPr lang="en-US"/>
          </a:p>
        </p:txBody>
      </p:sp>
    </p:spTree>
    <p:extLst>
      <p:ext uri="{BB962C8B-B14F-4D97-AF65-F5344CB8AC3E}">
        <p14:creationId xmlns:p14="http://schemas.microsoft.com/office/powerpoint/2010/main" val="244520593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also see that we can combine translation and rotation movement. </a:t>
            </a:r>
          </a:p>
          <a:p>
            <a:endParaRPr lang="en-US" dirty="0"/>
          </a:p>
          <a:p>
            <a:r>
              <a:rPr lang="en-US" dirty="0"/>
              <a:t>So on the left, we have the same square path as before, but we have just added a roll rotation to two of the points.</a:t>
            </a:r>
          </a:p>
          <a:p>
            <a:endParaRPr lang="en-US" dirty="0"/>
          </a:p>
          <a:p>
            <a:r>
              <a:rPr lang="en-US" dirty="0"/>
              <a:t>And on the right, we are just getting the robot to move from an initial pose to a pose that is different in every component . </a:t>
            </a:r>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61</a:t>
            </a:fld>
            <a:endParaRPr lang="en-US"/>
          </a:p>
        </p:txBody>
      </p:sp>
    </p:spTree>
    <p:extLst>
      <p:ext uri="{BB962C8B-B14F-4D97-AF65-F5344CB8AC3E}">
        <p14:creationId xmlns:p14="http://schemas.microsoft.com/office/powerpoint/2010/main" val="75981089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see this clear combination of translation and rotation in this screw example where the robot’s end effector is travelling along the z axis while rotating about this axis. </a:t>
            </a:r>
          </a:p>
          <a:p>
            <a:endParaRPr lang="en-US" dirty="0"/>
          </a:p>
          <a:p>
            <a:r>
              <a:rPr lang="en-US" dirty="0"/>
              <a:t>So as we can see from these demonstrations, the algorithm worked as expected on the hardware and was able to achieve smooth translation and rotation movements in the task space.</a:t>
            </a:r>
          </a:p>
          <a:p>
            <a:endParaRPr lang="en-US" dirty="0"/>
          </a:p>
          <a:p>
            <a:r>
              <a:rPr lang="en-US" dirty="0"/>
              <a:t>While the algorithm performed well in these experiments, there is still room for improvement. </a:t>
            </a:r>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62</a:t>
            </a:fld>
            <a:endParaRPr lang="en-US"/>
          </a:p>
        </p:txBody>
      </p:sp>
    </p:spTree>
    <p:extLst>
      <p:ext uri="{BB962C8B-B14F-4D97-AF65-F5344CB8AC3E}">
        <p14:creationId xmlns:p14="http://schemas.microsoft.com/office/powerpoint/2010/main" val="209204354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brings me to my recommendations for future work.</a:t>
            </a:r>
          </a:p>
          <a:p>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63</a:t>
            </a:fld>
            <a:endParaRPr lang="en-US"/>
          </a:p>
        </p:txBody>
      </p:sp>
    </p:spTree>
    <p:extLst>
      <p:ext uri="{BB962C8B-B14F-4D97-AF65-F5344CB8AC3E}">
        <p14:creationId xmlns:p14="http://schemas.microsoft.com/office/powerpoint/2010/main" val="32659953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first recommendation would be to explore the possibility of changing the interpolation functions to be Quintic instead of Cubic so that you can ensure the acceleration profile is continuous for the final task trajectory. </a:t>
            </a:r>
          </a:p>
          <a:p>
            <a:endParaRPr lang="en-US" dirty="0"/>
          </a:p>
          <a:p>
            <a:r>
              <a:rPr lang="en-US" dirty="0"/>
              <a:t>If we recall how we add new path points to an existing trajectory, we define trajectories over certain time ranges so that we can make a new trajectory for the new points and smoothly combine it with the existing trajectory. </a:t>
            </a:r>
          </a:p>
          <a:p>
            <a:endParaRPr lang="en-US" dirty="0"/>
          </a:p>
          <a:p>
            <a:r>
              <a:rPr lang="en-US" dirty="0"/>
              <a:t>However, since we are using Cubic Polynomial interpolation, we can only set the endpoint poses, and velocities, but not the accelerations. </a:t>
            </a:r>
          </a:p>
          <a:p>
            <a:endParaRPr lang="en-US" dirty="0"/>
          </a:p>
          <a:p>
            <a:r>
              <a:rPr lang="en-US" dirty="0"/>
              <a:t>This means that the position, orientation, and velocity profiles are smooth at the points where the trajectories change over, but the acceleration profile has sudden jumps that cannot be physically actuated. </a:t>
            </a:r>
          </a:p>
          <a:p>
            <a:endParaRPr lang="en-US" dirty="0"/>
          </a:p>
          <a:p>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64</a:t>
            </a:fld>
            <a:endParaRPr lang="en-US"/>
          </a:p>
        </p:txBody>
      </p:sp>
    </p:spTree>
    <p:extLst>
      <p:ext uri="{BB962C8B-B14F-4D97-AF65-F5344CB8AC3E}">
        <p14:creationId xmlns:p14="http://schemas.microsoft.com/office/powerpoint/2010/main" val="115754550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can be seen in this linear example on the right here where the dots represent the instances of the input points. </a:t>
            </a:r>
          </a:p>
          <a:p>
            <a:endParaRPr lang="en-US" dirty="0"/>
          </a:p>
          <a:p>
            <a:r>
              <a:rPr lang="en-US" dirty="0"/>
              <a:t>As you can see, the position and linear velocity profiles are continuous but at time </a:t>
            </a:r>
            <a:r>
              <a:rPr lang="en-US" b="1" i="1" dirty="0"/>
              <a:t>10s and 28s</a:t>
            </a:r>
            <a:r>
              <a:rPr lang="en-US" dirty="0"/>
              <a:t> where the trajectories change over, there are jumps in the acceleration. </a:t>
            </a:r>
          </a:p>
          <a:p>
            <a:endParaRPr lang="en-US" dirty="0"/>
          </a:p>
          <a:p>
            <a:r>
              <a:rPr lang="en-US" dirty="0"/>
              <a:t>If we increased the order of the interpolation function to quintic, we would have the ability to set the endpoint accelerations and could therefore make the acceleration profile continuous.</a:t>
            </a:r>
          </a:p>
          <a:p>
            <a:endParaRPr lang="en-US" dirty="0"/>
          </a:p>
          <a:p>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65</a:t>
            </a:fld>
            <a:endParaRPr lang="en-US"/>
          </a:p>
        </p:txBody>
      </p:sp>
    </p:spTree>
    <p:extLst>
      <p:ext uri="{BB962C8B-B14F-4D97-AF65-F5344CB8AC3E}">
        <p14:creationId xmlns:p14="http://schemas.microsoft.com/office/powerpoint/2010/main" val="205841069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recommendation would be to check for convergence issues analytically.</a:t>
            </a:r>
          </a:p>
          <a:p>
            <a:endParaRPr lang="en-US" dirty="0"/>
          </a:p>
          <a:p>
            <a:r>
              <a:rPr lang="en-US" dirty="0"/>
              <a:t>Recall the iterative algorithm that finds the intermediate angular velocities in the Cubic Orientation Spline by enforcing the continuity constraints.</a:t>
            </a:r>
          </a:p>
          <a:p>
            <a:endParaRPr lang="en-US" dirty="0"/>
          </a:p>
          <a:p>
            <a:r>
              <a:rPr lang="en-US" dirty="0"/>
              <a:t>This iterative algorithm can fail to converge if the input conditions are unreasonable.</a:t>
            </a:r>
          </a:p>
          <a:p>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66</a:t>
            </a:fld>
            <a:endParaRPr lang="en-US"/>
          </a:p>
        </p:txBody>
      </p:sp>
    </p:spTree>
    <p:extLst>
      <p:ext uri="{BB962C8B-B14F-4D97-AF65-F5344CB8AC3E}">
        <p14:creationId xmlns:p14="http://schemas.microsoft.com/office/powerpoint/2010/main" val="265559613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time instances are too close together, no solution may be found. </a:t>
            </a:r>
          </a:p>
          <a:p>
            <a:endParaRPr lang="en-US" dirty="0"/>
          </a:p>
          <a:p>
            <a:r>
              <a:rPr lang="en-US" dirty="0"/>
              <a:t>If they are too far apart, the algorithm can induce oscillations to try and maintain the energy required to achieve the endpoint velocities. </a:t>
            </a:r>
          </a:p>
          <a:p>
            <a:endParaRPr lang="en-US" dirty="0"/>
          </a:p>
          <a:p>
            <a:r>
              <a:rPr lang="en-US" dirty="0"/>
              <a:t>This can be seen here where the final velocity is set to 70 degrees/s, causing oscillations to be induced towards the end of the trajectory. </a:t>
            </a:r>
          </a:p>
          <a:p>
            <a:endParaRPr lang="en-US" dirty="0"/>
          </a:p>
          <a:p>
            <a:r>
              <a:rPr lang="en-US" dirty="0"/>
              <a:t>In severe cases, these oscillations can become unstable, causing the velocity and acceleration values to surge.</a:t>
            </a:r>
          </a:p>
          <a:p>
            <a:endParaRPr lang="en-US" dirty="0"/>
          </a:p>
          <a:p>
            <a:r>
              <a:rPr lang="en-US" dirty="0"/>
              <a:t>Currently, we have put a check on the number of iterations and forced it to below a reasonable value so if it hasn’t converged before this, we inform the user that the inputs are invalid. </a:t>
            </a:r>
            <a:br>
              <a:rPr lang="en-US" dirty="0"/>
            </a:br>
            <a:br>
              <a:rPr lang="en-US" dirty="0"/>
            </a:br>
            <a:r>
              <a:rPr lang="en-US" dirty="0"/>
              <a:t>While this ensures the output response is reasonable, it is a heuristic approach and requires a full run of the iterative algorithm before failing. </a:t>
            </a:r>
          </a:p>
          <a:p>
            <a:endParaRPr lang="en-US" dirty="0"/>
          </a:p>
          <a:p>
            <a:r>
              <a:rPr lang="en-US" dirty="0"/>
              <a:t>A better approach would be to determine the exact relationship that leads to these convergence issues so that the inputs can be checked at the initialization of the Cubic Orientation Spline object.</a:t>
            </a:r>
          </a:p>
          <a:p>
            <a:endParaRPr lang="en-US" dirty="0"/>
          </a:p>
          <a:p>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67</a:t>
            </a:fld>
            <a:endParaRPr lang="en-US"/>
          </a:p>
        </p:txBody>
      </p:sp>
    </p:spTree>
    <p:extLst>
      <p:ext uri="{BB962C8B-B14F-4D97-AF65-F5344CB8AC3E}">
        <p14:creationId xmlns:p14="http://schemas.microsoft.com/office/powerpoint/2010/main" val="373824675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brings me to the end of my presentation. Thank you for listening, are there any questions?</a:t>
            </a:r>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68</a:t>
            </a:fld>
            <a:endParaRPr lang="en-US"/>
          </a:p>
        </p:txBody>
      </p:sp>
    </p:spTree>
    <p:extLst>
      <p:ext uri="{BB962C8B-B14F-4D97-AF65-F5344CB8AC3E}">
        <p14:creationId xmlns:p14="http://schemas.microsoft.com/office/powerpoint/2010/main" val="282991214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69</a:t>
            </a:fld>
            <a:endParaRPr lang="en-US"/>
          </a:p>
        </p:txBody>
      </p:sp>
    </p:spTree>
    <p:extLst>
      <p:ext uri="{BB962C8B-B14F-4D97-AF65-F5344CB8AC3E}">
        <p14:creationId xmlns:p14="http://schemas.microsoft.com/office/powerpoint/2010/main" val="401133696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GB" dirty="0"/>
          </a:p>
        </p:txBody>
      </p:sp>
      <p:sp>
        <p:nvSpPr>
          <p:cNvPr id="4" name="Slide Number Placeholder 3"/>
          <p:cNvSpPr>
            <a:spLocks noGrp="1"/>
          </p:cNvSpPr>
          <p:nvPr>
            <p:ph type="sldNum" sz="quarter" idx="5"/>
          </p:nvPr>
        </p:nvSpPr>
        <p:spPr/>
        <p:txBody>
          <a:bodyPr/>
          <a:lstStyle/>
          <a:p>
            <a:fld id="{8CB0EE9E-52B8-AA4F-8DD5-ED0FB4E5CBCC}" type="slidenum">
              <a:rPr lang="en-US" smtClean="0"/>
              <a:t>70</a:t>
            </a:fld>
            <a:endParaRPr lang="en-US"/>
          </a:p>
        </p:txBody>
      </p:sp>
    </p:spTree>
    <p:extLst>
      <p:ext uri="{BB962C8B-B14F-4D97-AF65-F5344CB8AC3E}">
        <p14:creationId xmlns:p14="http://schemas.microsoft.com/office/powerpoint/2010/main" val="412483969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
            </a:r>
            <a:r>
              <a:rPr lang="en-GB" dirty="0" err="1"/>
              <a:t>oticed</a:t>
            </a:r>
            <a:r>
              <a:rPr lang="en-GB" dirty="0"/>
              <a:t> a phenomena that if the error rate at each iteration was reducing logarithmically, it tended to be stable. </a:t>
            </a:r>
          </a:p>
          <a:p>
            <a:endParaRPr lang="en-GB" dirty="0"/>
          </a:p>
          <a:p>
            <a:r>
              <a:rPr lang="en-GB" dirty="0"/>
              <a:t>Couldn’t figure out how to quantify this relationship.</a:t>
            </a:r>
            <a:endParaRPr lang="en-US" dirty="0"/>
          </a:p>
        </p:txBody>
      </p:sp>
      <p:sp>
        <p:nvSpPr>
          <p:cNvPr id="4" name="Slide Number Placeholder 3"/>
          <p:cNvSpPr>
            <a:spLocks noGrp="1"/>
          </p:cNvSpPr>
          <p:nvPr>
            <p:ph type="sldNum" sz="quarter" idx="5"/>
          </p:nvPr>
        </p:nvSpPr>
        <p:spPr/>
        <p:txBody>
          <a:bodyPr/>
          <a:lstStyle/>
          <a:p>
            <a:fld id="{8CB0EE9E-52B8-AA4F-8DD5-ED0FB4E5CBCC}" type="slidenum">
              <a:rPr lang="en-US" smtClean="0"/>
              <a:t>71</a:t>
            </a:fld>
            <a:endParaRPr lang="en-US"/>
          </a:p>
        </p:txBody>
      </p:sp>
    </p:spTree>
    <p:extLst>
      <p:ext uri="{BB962C8B-B14F-4D97-AF65-F5344CB8AC3E}">
        <p14:creationId xmlns:p14="http://schemas.microsoft.com/office/powerpoint/2010/main" val="331305736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B0EE9E-52B8-AA4F-8DD5-ED0FB4E5CBCC}" type="slidenum">
              <a:rPr lang="en-US" smtClean="0"/>
              <a:t>72</a:t>
            </a:fld>
            <a:endParaRPr lang="en-US"/>
          </a:p>
        </p:txBody>
      </p:sp>
    </p:spTree>
    <p:extLst>
      <p:ext uri="{BB962C8B-B14F-4D97-AF65-F5344CB8AC3E}">
        <p14:creationId xmlns:p14="http://schemas.microsoft.com/office/powerpoint/2010/main" val="5735287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emf"/><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Logo Slide">
    <p:bg>
      <p:bgPr>
        <a:solidFill>
          <a:schemeClr val="tx1"/>
        </a:solidFill>
        <a:effectLst/>
      </p:bgPr>
    </p:bg>
    <p:spTree>
      <p:nvGrpSpPr>
        <p:cNvPr id="1" name=""/>
        <p:cNvGrpSpPr/>
        <p:nvPr/>
      </p:nvGrpSpPr>
      <p:grpSpPr>
        <a:xfrm>
          <a:off x="0" y="0"/>
          <a:ext cx="0" cy="0"/>
          <a:chOff x="0" y="0"/>
          <a:chExt cx="0" cy="0"/>
        </a:xfrm>
      </p:grpSpPr>
      <p:pic>
        <p:nvPicPr>
          <p:cNvPr id="4" name="Image 2" descr="logooutline.eps">
            <a:extLst>
              <a:ext uri="{FF2B5EF4-FFF2-40B4-BE49-F238E27FC236}">
                <a16:creationId xmlns:a16="http://schemas.microsoft.com/office/drawing/2014/main" id="{ED75A508-7D60-F841-B3C4-7CB2A400A84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36403" y="2169047"/>
            <a:ext cx="2520000" cy="2494674"/>
          </a:xfrm>
          <a:prstGeom prst="rect">
            <a:avLst/>
          </a:prstGeom>
        </p:spPr>
      </p:pic>
      <p:pic>
        <p:nvPicPr>
          <p:cNvPr id="3" name="Picture 2" descr="Logo&#10;&#10;Description automatically generated">
            <a:extLst>
              <a:ext uri="{FF2B5EF4-FFF2-40B4-BE49-F238E27FC236}">
                <a16:creationId xmlns:a16="http://schemas.microsoft.com/office/drawing/2014/main" id="{CB3BCDC0-8C70-417B-A705-ABC62FEDB472}"/>
              </a:ext>
            </a:extLst>
          </p:cNvPr>
          <p:cNvPicPr>
            <a:picLocks noChangeAspect="1"/>
          </p:cNvPicPr>
          <p:nvPr userDrawn="1"/>
        </p:nvPicPr>
        <p:blipFill>
          <a:blip r:embed="rId3"/>
          <a:stretch>
            <a:fillRect/>
          </a:stretch>
        </p:blipFill>
        <p:spPr>
          <a:xfrm>
            <a:off x="11080559" y="145645"/>
            <a:ext cx="1208870" cy="960142"/>
          </a:xfrm>
          <a:prstGeom prst="rect">
            <a:avLst/>
          </a:prstGeom>
        </p:spPr>
      </p:pic>
    </p:spTree>
    <p:extLst>
      <p:ext uri="{BB962C8B-B14F-4D97-AF65-F5344CB8AC3E}">
        <p14:creationId xmlns:p14="http://schemas.microsoft.com/office/powerpoint/2010/main" val="1295105382"/>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0461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7" name="Date Placeholder 6">
            <a:extLst>
              <a:ext uri="{FF2B5EF4-FFF2-40B4-BE49-F238E27FC236}">
                <a16:creationId xmlns:a16="http://schemas.microsoft.com/office/drawing/2014/main" id="{119B3E2A-0B0F-434E-B8B5-23D05F72C797}"/>
              </a:ext>
            </a:extLst>
          </p:cNvPr>
          <p:cNvSpPr>
            <a:spLocks noGrp="1"/>
          </p:cNvSpPr>
          <p:nvPr>
            <p:ph type="dt" sz="half" idx="10"/>
          </p:nvPr>
        </p:nvSpPr>
        <p:spPr/>
        <p:txBody>
          <a:bodyPr/>
          <a:lstStyle/>
          <a:p>
            <a:fld id="{EEB07182-1834-42B7-ADB9-737F74D1BA68}" type="datetime1">
              <a:rPr lang="en-GB" smtClean="0"/>
              <a:t>21/06/2024</a:t>
            </a:fld>
            <a:endParaRPr lang="en-US" dirty="0"/>
          </a:p>
        </p:txBody>
      </p:sp>
      <p:sp>
        <p:nvSpPr>
          <p:cNvPr id="8" name="Footer Placeholder 7">
            <a:extLst>
              <a:ext uri="{FF2B5EF4-FFF2-40B4-BE49-F238E27FC236}">
                <a16:creationId xmlns:a16="http://schemas.microsoft.com/office/drawing/2014/main" id="{33CECA80-B569-3D47-B163-138B2BA81B8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FD8CA65-7C13-A442-AF74-D3BBDBCB28BF}"/>
              </a:ext>
            </a:extLst>
          </p:cNvPr>
          <p:cNvSpPr>
            <a:spLocks noGrp="1"/>
          </p:cNvSpPr>
          <p:nvPr>
            <p:ph type="sldNum" sz="quarter" idx="12"/>
          </p:nvPr>
        </p:nvSpPr>
        <p:spPr/>
        <p:txBody>
          <a:bodyPr/>
          <a:lstStyle/>
          <a:p>
            <a:fld id="{36B5EA5A-BC32-A742-B11B-8E7414D5B535}" type="slidenum">
              <a:rPr lang="en-US" smtClean="0"/>
              <a:pPr/>
              <a:t>‹#›</a:t>
            </a:fld>
            <a:endParaRPr lang="en-US" dirty="0"/>
          </a:p>
        </p:txBody>
      </p:sp>
    </p:spTree>
    <p:extLst>
      <p:ext uri="{BB962C8B-B14F-4D97-AF65-F5344CB8AC3E}">
        <p14:creationId xmlns:p14="http://schemas.microsoft.com/office/powerpoint/2010/main" val="744425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with logo">
    <p:bg>
      <p:bgPr>
        <a:solidFill>
          <a:schemeClr val="tx1"/>
        </a:solidFill>
        <a:effectLst/>
      </p:bgPr>
    </p:bg>
    <p:spTree>
      <p:nvGrpSpPr>
        <p:cNvPr id="1" name=""/>
        <p:cNvGrpSpPr/>
        <p:nvPr/>
      </p:nvGrpSpPr>
      <p:grpSpPr>
        <a:xfrm>
          <a:off x="0" y="0"/>
          <a:ext cx="0" cy="0"/>
          <a:chOff x="0" y="0"/>
          <a:chExt cx="0" cy="0"/>
        </a:xfrm>
      </p:grpSpPr>
      <p:pic>
        <p:nvPicPr>
          <p:cNvPr id="4" name="Image 2" descr="logooutline.eps">
            <a:extLst>
              <a:ext uri="{FF2B5EF4-FFF2-40B4-BE49-F238E27FC236}">
                <a16:creationId xmlns:a16="http://schemas.microsoft.com/office/drawing/2014/main" id="{ED75A508-7D60-F841-B3C4-7CB2A400A84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06130" y="710117"/>
            <a:ext cx="1990424" cy="1970420"/>
          </a:xfrm>
          <a:prstGeom prst="rect">
            <a:avLst/>
          </a:prstGeom>
        </p:spPr>
      </p:pic>
      <p:sp>
        <p:nvSpPr>
          <p:cNvPr id="3" name="Title 1">
            <a:extLst>
              <a:ext uri="{FF2B5EF4-FFF2-40B4-BE49-F238E27FC236}">
                <a16:creationId xmlns:a16="http://schemas.microsoft.com/office/drawing/2014/main" id="{56F8ADC9-30DB-1243-8F69-09A7AAEA849D}"/>
              </a:ext>
            </a:extLst>
          </p:cNvPr>
          <p:cNvSpPr>
            <a:spLocks noGrp="1"/>
          </p:cNvSpPr>
          <p:nvPr>
            <p:ph type="ctrTitle" hasCustomPrompt="1"/>
          </p:nvPr>
        </p:nvSpPr>
        <p:spPr>
          <a:xfrm>
            <a:off x="407987" y="3429000"/>
            <a:ext cx="11376025" cy="2153265"/>
          </a:xfrm>
        </p:spPr>
        <p:txBody>
          <a:bodyPr anchor="t" anchorCtr="0"/>
          <a:lstStyle>
            <a:lvl1pPr algn="l">
              <a:defRPr sz="5000">
                <a:solidFill>
                  <a:schemeClr val="bg1"/>
                </a:solidFill>
              </a:defRPr>
            </a:lvl1pPr>
          </a:lstStyle>
          <a:p>
            <a:r>
              <a:rPr lang="en-US" dirty="0"/>
              <a:t>Click to edit Master title style</a:t>
            </a:r>
            <a:br>
              <a:rPr lang="en-US" dirty="0"/>
            </a:br>
            <a:endParaRPr lang="en-US" dirty="0"/>
          </a:p>
        </p:txBody>
      </p:sp>
      <p:sp>
        <p:nvSpPr>
          <p:cNvPr id="5" name="Subtitle 2">
            <a:extLst>
              <a:ext uri="{FF2B5EF4-FFF2-40B4-BE49-F238E27FC236}">
                <a16:creationId xmlns:a16="http://schemas.microsoft.com/office/drawing/2014/main" id="{D56D6D28-7860-E045-9091-E722B9476DB3}"/>
              </a:ext>
            </a:extLst>
          </p:cNvPr>
          <p:cNvSpPr>
            <a:spLocks noGrp="1"/>
          </p:cNvSpPr>
          <p:nvPr>
            <p:ph type="subTitle" idx="1"/>
          </p:nvPr>
        </p:nvSpPr>
        <p:spPr>
          <a:xfrm>
            <a:off x="407988" y="5700252"/>
            <a:ext cx="11376026" cy="803787"/>
          </a:xfrm>
        </p:spPr>
        <p:txBody>
          <a:bodyPr>
            <a:noAutofit/>
          </a:bodyPr>
          <a:lstStyle>
            <a:lvl1pPr marL="0" indent="0" algn="l">
              <a:buNone/>
              <a:defRPr sz="20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pic>
        <p:nvPicPr>
          <p:cNvPr id="8" name="Picture 7" descr="Logo&#10;&#10;Description automatically generated">
            <a:extLst>
              <a:ext uri="{FF2B5EF4-FFF2-40B4-BE49-F238E27FC236}">
                <a16:creationId xmlns:a16="http://schemas.microsoft.com/office/drawing/2014/main" id="{6859780D-4C69-49E3-8F6F-D32F7FC652A5}"/>
              </a:ext>
            </a:extLst>
          </p:cNvPr>
          <p:cNvPicPr>
            <a:picLocks noChangeAspect="1"/>
          </p:cNvPicPr>
          <p:nvPr userDrawn="1"/>
        </p:nvPicPr>
        <p:blipFill>
          <a:blip r:embed="rId3"/>
          <a:stretch>
            <a:fillRect/>
          </a:stretch>
        </p:blipFill>
        <p:spPr>
          <a:xfrm>
            <a:off x="11080559" y="145645"/>
            <a:ext cx="1208870" cy="960142"/>
          </a:xfrm>
          <a:prstGeom prst="rect">
            <a:avLst/>
          </a:prstGeom>
        </p:spPr>
      </p:pic>
      <p:pic>
        <p:nvPicPr>
          <p:cNvPr id="2" name="Picture 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70920" y="186630"/>
            <a:ext cx="2601987" cy="960142"/>
          </a:xfrm>
          <a:prstGeom prst="rect">
            <a:avLst/>
          </a:prstGeom>
        </p:spPr>
      </p:pic>
    </p:spTree>
    <p:extLst>
      <p:ext uri="{BB962C8B-B14F-4D97-AF65-F5344CB8AC3E}">
        <p14:creationId xmlns:p14="http://schemas.microsoft.com/office/powerpoint/2010/main" val="3351894295"/>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ullete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marL="342900" indent="-342900">
              <a:buFont typeface="Arial" panose="020B0604020202020204" pitchFamily="34" charset="0"/>
              <a:buChar char="•"/>
              <a:defRPr>
                <a:solidFill>
                  <a:schemeClr val="tx2">
                    <a:lumMod val="50000"/>
                  </a:schemeClr>
                </a:solidFill>
              </a:defRPr>
            </a:lvl1pPr>
            <a:lvl2pPr marL="628650" indent="-261938">
              <a:buFont typeface="Arial" panose="020B0604020202020204" pitchFamily="34" charset="0"/>
              <a:buChar char="•"/>
              <a:tabLst/>
              <a:defRPr sz="1800">
                <a:solidFill>
                  <a:schemeClr val="tx2">
                    <a:lumMod val="50000"/>
                  </a:schemeClr>
                </a:solidFill>
              </a:defRPr>
            </a:lvl2pPr>
            <a:lvl3pPr marL="889000" indent="-260350">
              <a:buSzPct val="100000"/>
              <a:buFont typeface="Arial" panose="020B0604020202020204" pitchFamily="34" charset="0"/>
              <a:buChar char="•"/>
              <a:tabLst/>
              <a:defRPr sz="1800">
                <a:solidFill>
                  <a:schemeClr val="tx2">
                    <a:lumMod val="50000"/>
                  </a:schemeClr>
                </a:solidFill>
              </a:defRPr>
            </a:lvl3pPr>
            <a:lvl4pPr marL="1209675" indent="-269875">
              <a:buSzPct val="100000"/>
              <a:buFont typeface="Arial" panose="020B0604020202020204" pitchFamily="34" charset="0"/>
              <a:buChar char="•"/>
              <a:tabLst/>
              <a:defRPr sz="1600">
                <a:solidFill>
                  <a:schemeClr val="tx2">
                    <a:lumMod val="50000"/>
                  </a:schemeClr>
                </a:solidFill>
              </a:defRPr>
            </a:lvl4pPr>
            <a:lvl5pPr marL="2057400" indent="-228600">
              <a:buSzPct val="100000"/>
              <a:buFont typeface="Arial" charset="0"/>
              <a:buChar char="•"/>
              <a:defRPr>
                <a:solidFill>
                  <a:schemeClr val="tx2">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endParaRPr lang="en-US" dirty="0"/>
          </a:p>
        </p:txBody>
      </p:sp>
      <p:sp>
        <p:nvSpPr>
          <p:cNvPr id="7" name="Title 6">
            <a:extLst>
              <a:ext uri="{FF2B5EF4-FFF2-40B4-BE49-F238E27FC236}">
                <a16:creationId xmlns:a16="http://schemas.microsoft.com/office/drawing/2014/main" id="{2ED6D585-D452-F44C-919B-4BD50B663172}"/>
              </a:ext>
            </a:extLst>
          </p:cNvPr>
          <p:cNvSpPr>
            <a:spLocks noGrp="1"/>
          </p:cNvSpPr>
          <p:nvPr>
            <p:ph type="title"/>
          </p:nvPr>
        </p:nvSpPr>
        <p:spPr/>
        <p:txBody>
          <a:bodyPr/>
          <a:lstStyle/>
          <a:p>
            <a:r>
              <a:rPr lang="en-GB"/>
              <a:t>Click to edit Master title style</a:t>
            </a:r>
            <a:endParaRPr lang="en-US" dirty="0"/>
          </a:p>
        </p:txBody>
      </p:sp>
      <p:sp>
        <p:nvSpPr>
          <p:cNvPr id="11" name="Date Placeholder 10">
            <a:extLst>
              <a:ext uri="{FF2B5EF4-FFF2-40B4-BE49-F238E27FC236}">
                <a16:creationId xmlns:a16="http://schemas.microsoft.com/office/drawing/2014/main" id="{1B478EFE-6141-4244-92ED-79EEE9222B1A}"/>
              </a:ext>
            </a:extLst>
          </p:cNvPr>
          <p:cNvSpPr>
            <a:spLocks noGrp="1"/>
          </p:cNvSpPr>
          <p:nvPr>
            <p:ph type="dt" sz="half" idx="10"/>
          </p:nvPr>
        </p:nvSpPr>
        <p:spPr/>
        <p:txBody>
          <a:bodyPr/>
          <a:lstStyle/>
          <a:p>
            <a:fld id="{998DC11B-ED3C-428C-988F-4CE043AADB0C}" type="datetime1">
              <a:rPr lang="en-GB" smtClean="0"/>
              <a:t>21/06/2024</a:t>
            </a:fld>
            <a:endParaRPr lang="en-US" dirty="0"/>
          </a:p>
        </p:txBody>
      </p:sp>
      <p:sp>
        <p:nvSpPr>
          <p:cNvPr id="12" name="Footer Placeholder 11">
            <a:extLst>
              <a:ext uri="{FF2B5EF4-FFF2-40B4-BE49-F238E27FC236}">
                <a16:creationId xmlns:a16="http://schemas.microsoft.com/office/drawing/2014/main" id="{8FF044A7-6055-B744-AD25-E9D675BBE602}"/>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372E3875-F7E3-A247-8E75-A4EC4E79429B}"/>
              </a:ext>
            </a:extLst>
          </p:cNvPr>
          <p:cNvSpPr>
            <a:spLocks noGrp="1"/>
          </p:cNvSpPr>
          <p:nvPr>
            <p:ph type="sldNum" sz="quarter" idx="12"/>
          </p:nvPr>
        </p:nvSpPr>
        <p:spPr/>
        <p:txBody>
          <a:bodyPr/>
          <a:lstStyle/>
          <a:p>
            <a:fld id="{36B5EA5A-BC32-A742-B11B-8E7414D5B535}" type="slidenum">
              <a:rPr lang="en-US" smtClean="0"/>
              <a:pPr/>
              <a:t>‹#›</a:t>
            </a:fld>
            <a:endParaRPr lang="en-US" dirty="0"/>
          </a:p>
        </p:txBody>
      </p:sp>
    </p:spTree>
    <p:extLst>
      <p:ext uri="{BB962C8B-B14F-4D97-AF65-F5344CB8AC3E}">
        <p14:creationId xmlns:p14="http://schemas.microsoft.com/office/powerpoint/2010/main" val="865512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07987" y="1592264"/>
            <a:ext cx="5616575" cy="4608512"/>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Content Placeholder 3"/>
          <p:cNvSpPr>
            <a:spLocks noGrp="1"/>
          </p:cNvSpPr>
          <p:nvPr>
            <p:ph sz="half" idx="2"/>
          </p:nvPr>
        </p:nvSpPr>
        <p:spPr>
          <a:xfrm>
            <a:off x="6172199" y="1592264"/>
            <a:ext cx="5611813" cy="4608511"/>
          </a:xfrm>
        </p:spPr>
        <p:txBody>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Date Placeholder 7">
            <a:extLst>
              <a:ext uri="{FF2B5EF4-FFF2-40B4-BE49-F238E27FC236}">
                <a16:creationId xmlns:a16="http://schemas.microsoft.com/office/drawing/2014/main" id="{E3A8A69A-7619-C44B-A930-6AC38A3F8BC7}"/>
              </a:ext>
            </a:extLst>
          </p:cNvPr>
          <p:cNvSpPr>
            <a:spLocks noGrp="1"/>
          </p:cNvSpPr>
          <p:nvPr>
            <p:ph type="dt" sz="half" idx="10"/>
          </p:nvPr>
        </p:nvSpPr>
        <p:spPr/>
        <p:txBody>
          <a:bodyPr/>
          <a:lstStyle/>
          <a:p>
            <a:fld id="{B7217107-BF60-4CCA-9650-F62A98D7BD90}" type="datetime1">
              <a:rPr lang="en-GB" smtClean="0"/>
              <a:t>21/06/2024</a:t>
            </a:fld>
            <a:endParaRPr lang="en-US" dirty="0"/>
          </a:p>
        </p:txBody>
      </p:sp>
      <p:sp>
        <p:nvSpPr>
          <p:cNvPr id="9" name="Footer Placeholder 8">
            <a:extLst>
              <a:ext uri="{FF2B5EF4-FFF2-40B4-BE49-F238E27FC236}">
                <a16:creationId xmlns:a16="http://schemas.microsoft.com/office/drawing/2014/main" id="{9B55D6E3-4871-704B-B795-99BD30EABFEE}"/>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BEE4B464-E744-A34F-B223-6B554979B8EC}"/>
              </a:ext>
            </a:extLst>
          </p:cNvPr>
          <p:cNvSpPr>
            <a:spLocks noGrp="1"/>
          </p:cNvSpPr>
          <p:nvPr>
            <p:ph type="sldNum" sz="quarter" idx="12"/>
          </p:nvPr>
        </p:nvSpPr>
        <p:spPr/>
        <p:txBody>
          <a:bodyPr/>
          <a:lstStyle/>
          <a:p>
            <a:fld id="{36B5EA5A-BC32-A742-B11B-8E7414D5B535}" type="slidenum">
              <a:rPr lang="en-US" smtClean="0"/>
              <a:pPr/>
              <a:t>‹#›</a:t>
            </a:fld>
            <a:endParaRPr lang="en-US" dirty="0"/>
          </a:p>
        </p:txBody>
      </p:sp>
    </p:spTree>
    <p:extLst>
      <p:ext uri="{BB962C8B-B14F-4D97-AF65-F5344CB8AC3E}">
        <p14:creationId xmlns:p14="http://schemas.microsoft.com/office/powerpoint/2010/main" val="20472220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Last slide">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3059AC4-96B9-704B-82C7-32D5BEFF3254}"/>
              </a:ext>
            </a:extLst>
          </p:cNvPr>
          <p:cNvSpPr txBox="1"/>
          <p:nvPr userDrawn="1"/>
        </p:nvSpPr>
        <p:spPr>
          <a:xfrm>
            <a:off x="407988" y="6196406"/>
            <a:ext cx="11376025" cy="369332"/>
          </a:xfrm>
          <a:prstGeom prst="rect">
            <a:avLst/>
          </a:prstGeom>
          <a:noFill/>
        </p:spPr>
        <p:txBody>
          <a:bodyPr wrap="square" rtlCol="0">
            <a:spAutoFit/>
          </a:bodyPr>
          <a:lstStyle/>
          <a:p>
            <a:pPr algn="ctr"/>
            <a:r>
              <a:rPr kumimoji="0" lang="fr-CH" dirty="0" err="1"/>
              <a:t>beams.cern</a:t>
            </a:r>
            <a:endParaRPr lang="en-US" dirty="0"/>
          </a:p>
        </p:txBody>
      </p:sp>
      <p:pic>
        <p:nvPicPr>
          <p:cNvPr id="5" name="Picture 4">
            <a:extLst>
              <a:ext uri="{FF2B5EF4-FFF2-40B4-BE49-F238E27FC236}">
                <a16:creationId xmlns:a16="http://schemas.microsoft.com/office/drawing/2014/main" id="{155196E8-CA32-8449-8B2F-F83D475BC17D}"/>
              </a:ext>
            </a:extLst>
          </p:cNvPr>
          <p:cNvPicPr>
            <a:picLocks noChangeAspect="1"/>
          </p:cNvPicPr>
          <p:nvPr userDrawn="1"/>
        </p:nvPicPr>
        <p:blipFill>
          <a:blip r:embed="rId2"/>
          <a:stretch>
            <a:fillRect/>
          </a:stretch>
        </p:blipFill>
        <p:spPr>
          <a:xfrm>
            <a:off x="5231904" y="2244864"/>
            <a:ext cx="1728192" cy="1728192"/>
          </a:xfrm>
          <a:prstGeom prst="rect">
            <a:avLst/>
          </a:prstGeom>
        </p:spPr>
      </p:pic>
      <p:pic>
        <p:nvPicPr>
          <p:cNvPr id="10" name="Picture 9">
            <a:extLst>
              <a:ext uri="{FF2B5EF4-FFF2-40B4-BE49-F238E27FC236}">
                <a16:creationId xmlns:a16="http://schemas.microsoft.com/office/drawing/2014/main" id="{9ED4B852-3DEA-496D-8E63-98B1574381D4}"/>
              </a:ext>
            </a:extLst>
          </p:cNvPr>
          <p:cNvPicPr>
            <a:picLocks noChangeAspect="1"/>
          </p:cNvPicPr>
          <p:nvPr userDrawn="1"/>
        </p:nvPicPr>
        <p:blipFill>
          <a:blip r:embed="rId3"/>
          <a:stretch>
            <a:fillRect/>
          </a:stretch>
        </p:blipFill>
        <p:spPr>
          <a:xfrm>
            <a:off x="11330911" y="159548"/>
            <a:ext cx="748359" cy="748359"/>
          </a:xfrm>
          <a:prstGeom prst="rect">
            <a:avLst/>
          </a:prstGeom>
        </p:spPr>
      </p:pic>
    </p:spTree>
    <p:extLst>
      <p:ext uri="{BB962C8B-B14F-4D97-AF65-F5344CB8AC3E}">
        <p14:creationId xmlns:p14="http://schemas.microsoft.com/office/powerpoint/2010/main" val="1015873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07988" y="373593"/>
            <a:ext cx="11376025" cy="1065742"/>
          </a:xfrm>
          <a:prstGeom prst="rect">
            <a:avLst/>
          </a:prstGeom>
        </p:spPr>
        <p:txBody>
          <a:bodyPr vert="horz" lIns="0" tIns="0" rIns="0" bIns="0" rtlCol="0" anchor="t" anchorCtr="0">
            <a:noAutofit/>
          </a:bodyPr>
          <a:lstStyle/>
          <a:p>
            <a:r>
              <a:rPr lang="en-GB"/>
              <a:t>Click to edit Master title style</a:t>
            </a:r>
            <a:endParaRPr lang="en-US" dirty="0"/>
          </a:p>
        </p:txBody>
      </p:sp>
      <p:sp>
        <p:nvSpPr>
          <p:cNvPr id="3" name="Text Placeholder 2"/>
          <p:cNvSpPr>
            <a:spLocks noGrp="1"/>
          </p:cNvSpPr>
          <p:nvPr>
            <p:ph type="body" idx="1"/>
          </p:nvPr>
        </p:nvSpPr>
        <p:spPr>
          <a:xfrm>
            <a:off x="412776" y="1563413"/>
            <a:ext cx="11376024" cy="4608512"/>
          </a:xfrm>
          <a:prstGeom prst="rect">
            <a:avLst/>
          </a:prstGeom>
        </p:spPr>
        <p:txBody>
          <a:bodyPr vert="horz" lIns="0" tIns="0" rIns="0" bIns="0" rtlCol="0">
            <a:noAutofit/>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p:txBody>
      </p:sp>
      <p:sp>
        <p:nvSpPr>
          <p:cNvPr id="4" name="Date Placeholder 3"/>
          <p:cNvSpPr>
            <a:spLocks noGrp="1"/>
          </p:cNvSpPr>
          <p:nvPr>
            <p:ph type="dt" sz="half" idx="2"/>
          </p:nvPr>
        </p:nvSpPr>
        <p:spPr>
          <a:xfrm>
            <a:off x="3485228" y="6378349"/>
            <a:ext cx="631160" cy="365125"/>
          </a:xfrm>
          <a:prstGeom prst="rect">
            <a:avLst/>
          </a:prstGeom>
        </p:spPr>
        <p:txBody>
          <a:bodyPr vert="horz" lIns="0" tIns="0" rIns="0" bIns="0" rtlCol="0" anchor="ctr"/>
          <a:lstStyle>
            <a:lvl1pPr algn="r">
              <a:defRPr sz="1000">
                <a:solidFill>
                  <a:schemeClr val="tx1"/>
                </a:solidFill>
              </a:defRPr>
            </a:lvl1pPr>
          </a:lstStyle>
          <a:p>
            <a:fld id="{D7CE4416-2568-46D9-83B4-02DFDBFB7B92}" type="datetime1">
              <a:rPr lang="en-GB" smtClean="0"/>
              <a:t>21/06/2024</a:t>
            </a:fld>
            <a:endParaRPr lang="en-US" dirty="0"/>
          </a:p>
        </p:txBody>
      </p:sp>
      <p:sp>
        <p:nvSpPr>
          <p:cNvPr id="6" name="Slide Number Placeholder 5"/>
          <p:cNvSpPr>
            <a:spLocks noGrp="1"/>
          </p:cNvSpPr>
          <p:nvPr>
            <p:ph type="sldNum" sz="quarter" idx="4"/>
          </p:nvPr>
        </p:nvSpPr>
        <p:spPr>
          <a:xfrm>
            <a:off x="11107546" y="6383848"/>
            <a:ext cx="681254" cy="365125"/>
          </a:xfrm>
          <a:prstGeom prst="rect">
            <a:avLst/>
          </a:prstGeom>
        </p:spPr>
        <p:txBody>
          <a:bodyPr vert="horz" lIns="0" tIns="0" rIns="0" bIns="0" rtlCol="0" anchor="ctr"/>
          <a:lstStyle>
            <a:lvl1pPr algn="r">
              <a:defRPr sz="1000">
                <a:solidFill>
                  <a:schemeClr val="tx1"/>
                </a:solidFill>
              </a:defRPr>
            </a:lvl1pPr>
          </a:lstStyle>
          <a:p>
            <a:fld id="{36B5EA5A-BC32-A742-B11B-8E7414D5B535}" type="slidenum">
              <a:rPr lang="en-US" smtClean="0"/>
              <a:pPr/>
              <a:t>‹#›</a:t>
            </a:fld>
            <a:endParaRPr lang="en-US" dirty="0"/>
          </a:p>
        </p:txBody>
      </p:sp>
      <p:sp>
        <p:nvSpPr>
          <p:cNvPr id="7" name="Footer Placeholder 6">
            <a:extLst>
              <a:ext uri="{FF2B5EF4-FFF2-40B4-BE49-F238E27FC236}">
                <a16:creationId xmlns:a16="http://schemas.microsoft.com/office/drawing/2014/main" id="{7AB22024-69B4-1F4F-8860-CB954517F654}"/>
              </a:ext>
            </a:extLst>
          </p:cNvPr>
          <p:cNvSpPr>
            <a:spLocks noGrp="1"/>
          </p:cNvSpPr>
          <p:nvPr>
            <p:ph type="ftr" sz="quarter" idx="3"/>
          </p:nvPr>
        </p:nvSpPr>
        <p:spPr>
          <a:xfrm>
            <a:off x="4259262" y="6383848"/>
            <a:ext cx="6572221" cy="365125"/>
          </a:xfrm>
          <a:prstGeom prst="rect">
            <a:avLst/>
          </a:prstGeom>
        </p:spPr>
        <p:txBody>
          <a:bodyPr vert="horz" lIns="91440" tIns="45720" rIns="91440" bIns="45720" rtlCol="0" anchor="ctr"/>
          <a:lstStyle>
            <a:lvl1pPr algn="ctr">
              <a:defRPr sz="1200">
                <a:solidFill>
                  <a:schemeClr val="tx1"/>
                </a:solidFill>
              </a:defRPr>
            </a:lvl1pPr>
          </a:lstStyle>
          <a:p>
            <a:endParaRPr lang="en-US" dirty="0"/>
          </a:p>
        </p:txBody>
      </p:sp>
      <p:cxnSp>
        <p:nvCxnSpPr>
          <p:cNvPr id="14" name="Straight Connector 13">
            <a:extLst>
              <a:ext uri="{FF2B5EF4-FFF2-40B4-BE49-F238E27FC236}">
                <a16:creationId xmlns:a16="http://schemas.microsoft.com/office/drawing/2014/main" id="{BD9C6532-AEDE-354E-83AD-7F67D706DF38}"/>
              </a:ext>
            </a:extLst>
          </p:cNvPr>
          <p:cNvCxnSpPr/>
          <p:nvPr userDrawn="1"/>
        </p:nvCxnSpPr>
        <p:spPr>
          <a:xfrm>
            <a:off x="407987" y="6266608"/>
            <a:ext cx="11376025" cy="0"/>
          </a:xfrm>
          <a:prstGeom prst="line">
            <a:avLst/>
          </a:prstGeom>
          <a:ln w="9525"/>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426E9AC2-DB3F-3043-BAF1-FDB172EA2CD8}"/>
              </a:ext>
            </a:extLst>
          </p:cNvPr>
          <p:cNvPicPr>
            <a:picLocks noChangeAspect="1"/>
          </p:cNvPicPr>
          <p:nvPr userDrawn="1"/>
        </p:nvPicPr>
        <p:blipFill>
          <a:blip r:embed="rId8"/>
          <a:stretch>
            <a:fillRect/>
          </a:stretch>
        </p:blipFill>
        <p:spPr>
          <a:xfrm>
            <a:off x="407988" y="6364599"/>
            <a:ext cx="495300" cy="393700"/>
          </a:xfrm>
          <a:prstGeom prst="rect">
            <a:avLst/>
          </a:prstGeom>
        </p:spPr>
      </p:pic>
      <p:pic>
        <p:nvPicPr>
          <p:cNvPr id="12" name="Picture 11" descr="A picture containing venn diagram&#10;&#10;Description automatically generated">
            <a:extLst>
              <a:ext uri="{FF2B5EF4-FFF2-40B4-BE49-F238E27FC236}">
                <a16:creationId xmlns:a16="http://schemas.microsoft.com/office/drawing/2014/main" id="{601E8028-4D05-4287-A43C-BB893015EDDE}"/>
              </a:ext>
            </a:extLst>
          </p:cNvPr>
          <p:cNvPicPr>
            <a:picLocks noChangeAspect="1"/>
          </p:cNvPicPr>
          <p:nvPr userDrawn="1"/>
        </p:nvPicPr>
        <p:blipFill>
          <a:blip r:embed="rId9"/>
          <a:stretch>
            <a:fillRect/>
          </a:stretch>
        </p:blipFill>
        <p:spPr>
          <a:xfrm>
            <a:off x="11172524" y="307760"/>
            <a:ext cx="898889" cy="713941"/>
          </a:xfrm>
          <a:prstGeom prst="rect">
            <a:avLst/>
          </a:prstGeom>
        </p:spPr>
      </p:pic>
      <p:pic>
        <p:nvPicPr>
          <p:cNvPr id="5" name="Picture 4">
            <a:extLst>
              <a:ext uri="{FF2B5EF4-FFF2-40B4-BE49-F238E27FC236}">
                <a16:creationId xmlns:a16="http://schemas.microsoft.com/office/drawing/2014/main" id="{299A5FCA-3145-4637-9A27-A42F112E029D}"/>
              </a:ext>
            </a:extLst>
          </p:cNvPr>
          <p:cNvPicPr>
            <a:picLocks noChangeAspect="1"/>
          </p:cNvPicPr>
          <p:nvPr userDrawn="1"/>
        </p:nvPicPr>
        <p:blipFill>
          <a:blip r:embed="rId10"/>
          <a:stretch>
            <a:fillRect/>
          </a:stretch>
        </p:blipFill>
        <p:spPr>
          <a:xfrm>
            <a:off x="941226" y="6357407"/>
            <a:ext cx="476250" cy="442913"/>
          </a:xfrm>
          <a:prstGeom prst="rect">
            <a:avLst/>
          </a:prstGeom>
        </p:spPr>
      </p:pic>
    </p:spTree>
    <p:extLst>
      <p:ext uri="{BB962C8B-B14F-4D97-AF65-F5344CB8AC3E}">
        <p14:creationId xmlns:p14="http://schemas.microsoft.com/office/powerpoint/2010/main" val="1598869953"/>
      </p:ext>
    </p:extLst>
  </p:cSld>
  <p:clrMap bg1="lt1" tx1="dk1" bg2="lt2" tx2="dk2" accent1="accent1" accent2="accent2" accent3="accent3" accent4="accent4" accent5="accent5" accent6="accent6" hlink="hlink" folHlink="folHlink"/>
  <p:sldLayoutIdLst>
    <p:sldLayoutId id="2147483657" r:id="rId1"/>
    <p:sldLayoutId id="2147483649" r:id="rId2"/>
    <p:sldLayoutId id="2147483662" r:id="rId3"/>
    <p:sldLayoutId id="2147483665" r:id="rId4"/>
    <p:sldLayoutId id="2147483652" r:id="rId5"/>
    <p:sldLayoutId id="2147483655" r:id="rId6"/>
  </p:sldLayoutIdLst>
  <p:hf hdr="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0" indent="0" algn="l" defTabSz="914400" rtl="0" eaLnBrk="1" latinLnBrk="0" hangingPunct="1">
        <a:lnSpc>
          <a:spcPct val="90000"/>
        </a:lnSpc>
        <a:spcBef>
          <a:spcPts val="1800"/>
        </a:spcBef>
        <a:spcAft>
          <a:spcPts val="400"/>
        </a:spcAft>
        <a:buFont typeface="Arial"/>
        <a:buNone/>
        <a:tabLst/>
        <a:defRPr sz="2100" b="1" kern="1200">
          <a:solidFill>
            <a:schemeClr val="tx2">
              <a:lumMod val="50000"/>
            </a:schemeClr>
          </a:solidFill>
          <a:latin typeface="+mn-lt"/>
          <a:ea typeface="+mn-ea"/>
          <a:cs typeface="+mn-cs"/>
        </a:defRPr>
      </a:lvl1pPr>
      <a:lvl2pPr marL="323850" indent="-324000" algn="l" defTabSz="914400" rtl="0" eaLnBrk="1" latinLnBrk="0" hangingPunct="1">
        <a:lnSpc>
          <a:spcPct val="100000"/>
        </a:lnSpc>
        <a:spcBef>
          <a:spcPts val="500"/>
        </a:spcBef>
        <a:spcAft>
          <a:spcPts val="300"/>
        </a:spcAft>
        <a:buFont typeface="Arial" charset="0"/>
        <a:buChar char="•"/>
        <a:tabLst/>
        <a:defRPr sz="1800" kern="1200">
          <a:solidFill>
            <a:schemeClr val="tx2">
              <a:lumMod val="50000"/>
            </a:schemeClr>
          </a:solidFill>
          <a:latin typeface="+mn-lt"/>
          <a:ea typeface="+mn-ea"/>
          <a:cs typeface="+mn-cs"/>
        </a:defRPr>
      </a:lvl2pPr>
      <a:lvl3pPr marL="648000" indent="-324000" algn="l" defTabSz="914400" rtl="0" eaLnBrk="1" latinLnBrk="0" hangingPunct="1">
        <a:lnSpc>
          <a:spcPct val="100000"/>
        </a:lnSpc>
        <a:spcBef>
          <a:spcPts val="500"/>
        </a:spcBef>
        <a:spcAft>
          <a:spcPts val="300"/>
        </a:spcAft>
        <a:buFont typeface="Arial" panose="020B0604020202020204" pitchFamily="34" charset="0"/>
        <a:buChar char="•"/>
        <a:tabLst/>
        <a:defRPr sz="1700" kern="1200">
          <a:solidFill>
            <a:schemeClr val="tx2">
              <a:lumMod val="50000"/>
            </a:schemeClr>
          </a:solidFill>
          <a:latin typeface="+mn-lt"/>
          <a:ea typeface="+mn-ea"/>
          <a:cs typeface="+mn-cs"/>
        </a:defRPr>
      </a:lvl3pPr>
      <a:lvl4pPr marL="972000" indent="-324000" algn="l" defTabSz="914400" rtl="0" eaLnBrk="1" latinLnBrk="0" hangingPunct="1">
        <a:lnSpc>
          <a:spcPct val="100000"/>
        </a:lnSpc>
        <a:spcBef>
          <a:spcPts val="500"/>
        </a:spcBef>
        <a:spcAft>
          <a:spcPts val="300"/>
        </a:spcAft>
        <a:buFont typeface="Arial" panose="020B0604020202020204" pitchFamily="34" charset="0"/>
        <a:buChar char="•"/>
        <a:tabLst/>
        <a:defRPr sz="1600" kern="1200">
          <a:solidFill>
            <a:schemeClr val="tx2">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6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userDrawn="1">
          <p15:clr>
            <a:srgbClr val="F26B43"/>
          </p15:clr>
        </p15:guide>
        <p15:guide id="2" pos="3840" userDrawn="1">
          <p15:clr>
            <a:srgbClr val="F26B43"/>
          </p15:clr>
        </p15:guide>
        <p15:guide id="3" pos="7423" userDrawn="1">
          <p15:clr>
            <a:srgbClr val="F26B43"/>
          </p15:clr>
        </p15:guide>
        <p15:guide id="4" pos="257" userDrawn="1">
          <p15:clr>
            <a:srgbClr val="F26B43"/>
          </p15:clr>
        </p15:guide>
        <p15:guide id="6" pos="3795" userDrawn="1">
          <p15:clr>
            <a:srgbClr val="F26B43"/>
          </p15:clr>
        </p15:guide>
        <p15:guide id="7" pos="3885" userDrawn="1">
          <p15:clr>
            <a:srgbClr val="F26B43"/>
          </p15:clr>
        </p15:guide>
        <p15:guide id="8" pos="5087" userDrawn="1">
          <p15:clr>
            <a:srgbClr val="F26B43"/>
          </p15:clr>
        </p15:guide>
        <p15:guide id="9" pos="4997" userDrawn="1">
          <p15:clr>
            <a:srgbClr val="F26B43"/>
          </p15:clr>
        </p15:guide>
        <p15:guide id="10" pos="2683" userDrawn="1">
          <p15:clr>
            <a:srgbClr val="F26B43"/>
          </p15:clr>
        </p15:guide>
        <p15:guide id="11" pos="2593" userDrawn="1">
          <p15:clr>
            <a:srgbClr val="F26B43"/>
          </p15:clr>
        </p15:guide>
        <p15:guide id="12" orient="horz" pos="3906" userDrawn="1">
          <p15:clr>
            <a:srgbClr val="F26B43"/>
          </p15:clr>
        </p15:guide>
        <p15:guide id="13" orient="horz" pos="2409" userDrawn="1">
          <p15:clr>
            <a:srgbClr val="F26B43"/>
          </p15:clr>
        </p15:guide>
        <p15:guide id="14" orient="horz" pos="913" userDrawn="1">
          <p15:clr>
            <a:srgbClr val="F26B43"/>
          </p15:clr>
        </p15:guide>
        <p15:guide id="15" orient="horz" pos="1003" userDrawn="1">
          <p15:clr>
            <a:srgbClr val="F26B43"/>
          </p15:clr>
        </p15:guide>
        <p15:guide id="16" orient="horz" pos="2500" userDrawn="1">
          <p15:clr>
            <a:srgbClr val="F26B43"/>
          </p15:clr>
        </p15:guide>
        <p15:guide id="17" pos="6312" userDrawn="1">
          <p15:clr>
            <a:srgbClr val="F26B43"/>
          </p15:clr>
        </p15:guide>
        <p15:guide id="18" pos="622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microsoft.com/office/2007/relationships/media" Target="../media/media2.mp4"/><Relationship Id="rId7" Type="http://schemas.openxmlformats.org/officeDocument/2006/relationships/image" Target="../media/image9.jpeg"/><Relationship Id="rId2" Type="http://schemas.microsoft.com/office/2007/relationships/media" Target="../media/media1.MOV"/><Relationship Id="rId1" Type="http://schemas.openxmlformats.org/officeDocument/2006/relationships/video" Target="NULL" TargetMode="External"/><Relationship Id="rId6" Type="http://schemas.openxmlformats.org/officeDocument/2006/relationships/notesSlide" Target="../notesSlides/notesSlide3.xml"/><Relationship Id="rId5" Type="http://schemas.openxmlformats.org/officeDocument/2006/relationships/slideLayout" Target="../slideLayouts/slideLayout4.xml"/><Relationship Id="rId10" Type="http://schemas.openxmlformats.org/officeDocument/2006/relationships/image" Target="../media/image12.png"/><Relationship Id="rId4" Type="http://schemas.openxmlformats.org/officeDocument/2006/relationships/video" Target="../media/media2.mp4"/><Relationship Id="rId9" Type="http://schemas.openxmlformats.org/officeDocument/2006/relationships/image" Target="../media/image11.jpeg"/></Relationships>
</file>

<file path=ppt/slides/_rels/slide5.xml.rels><?xml version="1.0" encoding="UTF-8" standalone="yes"?>
<Relationships xmlns="http://schemas.openxmlformats.org/package/2006/relationships"><Relationship Id="rId8" Type="http://schemas.openxmlformats.org/officeDocument/2006/relationships/image" Target="../media/image9.jpeg"/><Relationship Id="rId3" Type="http://schemas.microsoft.com/office/2007/relationships/media" Target="../media/media2.mp4"/><Relationship Id="rId7" Type="http://schemas.openxmlformats.org/officeDocument/2006/relationships/image" Target="../media/image13.png"/><Relationship Id="rId2" Type="http://schemas.microsoft.com/office/2007/relationships/media" Target="../media/media1.MOV"/><Relationship Id="rId1" Type="http://schemas.openxmlformats.org/officeDocument/2006/relationships/video" Target="NULL" TargetMode="External"/><Relationship Id="rId6" Type="http://schemas.openxmlformats.org/officeDocument/2006/relationships/notesSlide" Target="../notesSlides/notesSlide4.xml"/><Relationship Id="rId11" Type="http://schemas.openxmlformats.org/officeDocument/2006/relationships/image" Target="../media/image12.png"/><Relationship Id="rId5" Type="http://schemas.openxmlformats.org/officeDocument/2006/relationships/slideLayout" Target="../slideLayouts/slideLayout4.xml"/><Relationship Id="rId10" Type="http://schemas.openxmlformats.org/officeDocument/2006/relationships/image" Target="../media/image11.jpeg"/><Relationship Id="rId4" Type="http://schemas.openxmlformats.org/officeDocument/2006/relationships/video" Target="../media/media2.mp4"/><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sv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sv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13" Type="http://schemas.openxmlformats.org/officeDocument/2006/relationships/image" Target="../media/image28.png"/><Relationship Id="rId18" Type="http://schemas.openxmlformats.org/officeDocument/2006/relationships/image" Target="../media/image24.png"/><Relationship Id="rId3" Type="http://schemas.openxmlformats.org/officeDocument/2006/relationships/image" Target="../media/image14.png"/><Relationship Id="rId21" Type="http://schemas.openxmlformats.org/officeDocument/2006/relationships/image" Target="../media/image26.png"/><Relationship Id="rId7" Type="http://schemas.openxmlformats.org/officeDocument/2006/relationships/image" Target="../media/image18.sv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8.xml"/><Relationship Id="rId16" Type="http://schemas.openxmlformats.org/officeDocument/2006/relationships/image" Target="../media/image22.png"/><Relationship Id="rId20" Type="http://schemas.openxmlformats.org/officeDocument/2006/relationships/image" Target="../media/image25.png"/><Relationship Id="rId1" Type="http://schemas.openxmlformats.org/officeDocument/2006/relationships/slideLayout" Target="../slideLayouts/slideLayout4.xml"/><Relationship Id="rId6"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6.svg"/><Relationship Id="rId15" Type="http://schemas.openxmlformats.org/officeDocument/2006/relationships/image" Target="../media/image21.png"/><Relationship Id="rId23" Type="http://schemas.openxmlformats.org/officeDocument/2006/relationships/image" Target="../media/image29.png"/><Relationship Id="rId19" Type="http://schemas.microsoft.com/office/2007/relationships/hdphoto" Target="../media/hdphoto1.wdp"/><Relationship Id="rId4"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7.png"/></Relationships>
</file>

<file path=ppt/slides/_rels/slide10.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0.png"/><Relationship Id="rId3" Type="http://schemas.openxmlformats.org/officeDocument/2006/relationships/image" Target="../media/image14.png"/><Relationship Id="rId7" Type="http://schemas.openxmlformats.org/officeDocument/2006/relationships/image" Target="../media/image18.svg"/><Relationship Id="rId12" Type="http://schemas.microsoft.com/office/2007/relationships/hdphoto" Target="../media/hdphoto1.wdp"/><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7.png"/><Relationship Id="rId11" Type="http://schemas.openxmlformats.org/officeDocument/2006/relationships/image" Target="../media/image24.png"/><Relationship Id="rId5" Type="http://schemas.openxmlformats.org/officeDocument/2006/relationships/image" Target="../media/image16.svg"/><Relationship Id="rId10" Type="http://schemas.openxmlformats.org/officeDocument/2006/relationships/image" Target="../media/image23.png"/><Relationship Id="rId4" Type="http://schemas.openxmlformats.org/officeDocument/2006/relationships/image" Target="../media/image15.png"/><Relationship Id="rId9" Type="http://schemas.openxmlformats.org/officeDocument/2006/relationships/image" Target="../media/image22.png"/><Relationship Id="rId14" Type="http://schemas.openxmlformats.org/officeDocument/2006/relationships/image" Target="../media/image19.png"/></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sv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18" Type="http://schemas.openxmlformats.org/officeDocument/2006/relationships/image" Target="../media/image50.png"/><Relationship Id="rId3" Type="http://schemas.openxmlformats.org/officeDocument/2006/relationships/image" Target="../media/image35.png"/><Relationship Id="rId21" Type="http://schemas.openxmlformats.org/officeDocument/2006/relationships/image" Target="../media/image53.png"/><Relationship Id="rId7" Type="http://schemas.openxmlformats.org/officeDocument/2006/relationships/image" Target="../media/image39.png"/><Relationship Id="rId12" Type="http://schemas.openxmlformats.org/officeDocument/2006/relationships/image" Target="../media/image44.png"/><Relationship Id="rId17" Type="http://schemas.openxmlformats.org/officeDocument/2006/relationships/image" Target="../media/image49.png"/><Relationship Id="rId2" Type="http://schemas.openxmlformats.org/officeDocument/2006/relationships/notesSlide" Target="../notesSlides/notesSlide21.xml"/><Relationship Id="rId16" Type="http://schemas.openxmlformats.org/officeDocument/2006/relationships/image" Target="../media/image48.png"/><Relationship Id="rId20" Type="http://schemas.openxmlformats.org/officeDocument/2006/relationships/image" Target="../media/image52.png"/><Relationship Id="rId1" Type="http://schemas.openxmlformats.org/officeDocument/2006/relationships/slideLayout" Target="../slideLayouts/slideLayout4.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5" Type="http://schemas.openxmlformats.org/officeDocument/2006/relationships/image" Target="../media/image47.png"/><Relationship Id="rId10" Type="http://schemas.openxmlformats.org/officeDocument/2006/relationships/image" Target="../media/image42.png"/><Relationship Id="rId19" Type="http://schemas.openxmlformats.org/officeDocument/2006/relationships/image" Target="../media/image51.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 Id="rId22" Type="http://schemas.openxmlformats.org/officeDocument/2006/relationships/image" Target="../media/image54.png"/></Relationships>
</file>

<file path=ppt/slides/_rels/slide23.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6.png"/><Relationship Id="rId18" Type="http://schemas.openxmlformats.org/officeDocument/2006/relationships/image" Target="../media/image51.png"/><Relationship Id="rId3" Type="http://schemas.openxmlformats.org/officeDocument/2006/relationships/image" Target="../media/image35.png"/><Relationship Id="rId21" Type="http://schemas.openxmlformats.org/officeDocument/2006/relationships/image" Target="../media/image57.png"/><Relationship Id="rId7" Type="http://schemas.openxmlformats.org/officeDocument/2006/relationships/image" Target="../media/image39.png"/><Relationship Id="rId12" Type="http://schemas.openxmlformats.org/officeDocument/2006/relationships/image" Target="../media/image45.png"/><Relationship Id="rId17" Type="http://schemas.openxmlformats.org/officeDocument/2006/relationships/image" Target="../media/image50.png"/><Relationship Id="rId2" Type="http://schemas.openxmlformats.org/officeDocument/2006/relationships/notesSlide" Target="../notesSlides/notesSlide22.xml"/><Relationship Id="rId16" Type="http://schemas.openxmlformats.org/officeDocument/2006/relationships/image" Target="../media/image49.png"/><Relationship Id="rId20" Type="http://schemas.openxmlformats.org/officeDocument/2006/relationships/image" Target="../media/image53.png"/><Relationship Id="rId1" Type="http://schemas.openxmlformats.org/officeDocument/2006/relationships/slideLayout" Target="../slideLayouts/slideLayout4.xml"/><Relationship Id="rId6" Type="http://schemas.openxmlformats.org/officeDocument/2006/relationships/image" Target="../media/image38.png"/><Relationship Id="rId11" Type="http://schemas.openxmlformats.org/officeDocument/2006/relationships/image" Target="../media/image44.png"/><Relationship Id="rId5" Type="http://schemas.openxmlformats.org/officeDocument/2006/relationships/image" Target="../media/image37.png"/><Relationship Id="rId15" Type="http://schemas.openxmlformats.org/officeDocument/2006/relationships/image" Target="../media/image48.png"/><Relationship Id="rId23" Type="http://schemas.openxmlformats.org/officeDocument/2006/relationships/image" Target="../media/image54.png"/><Relationship Id="rId10" Type="http://schemas.openxmlformats.org/officeDocument/2006/relationships/image" Target="../media/image43.png"/><Relationship Id="rId19" Type="http://schemas.openxmlformats.org/officeDocument/2006/relationships/image" Target="../media/image52.png"/><Relationship Id="rId4" Type="http://schemas.openxmlformats.org/officeDocument/2006/relationships/image" Target="../media/image36.png"/><Relationship Id="rId9" Type="http://schemas.openxmlformats.org/officeDocument/2006/relationships/image" Target="../media/image42.png"/><Relationship Id="rId14" Type="http://schemas.openxmlformats.org/officeDocument/2006/relationships/image" Target="../media/image47.png"/><Relationship Id="rId22" Type="http://schemas.openxmlformats.org/officeDocument/2006/relationships/image" Target="../media/image41.png"/></Relationships>
</file>

<file path=ppt/slides/_rels/slide24.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png"/><Relationship Id="rId18" Type="http://schemas.openxmlformats.org/officeDocument/2006/relationships/image" Target="../media/image70.png"/><Relationship Id="rId3" Type="http://schemas.openxmlformats.org/officeDocument/2006/relationships/image" Target="../media/image35.png"/><Relationship Id="rId21" Type="http://schemas.openxmlformats.org/officeDocument/2006/relationships/image" Target="../media/image73.png"/><Relationship Id="rId7" Type="http://schemas.openxmlformats.org/officeDocument/2006/relationships/image" Target="../media/image59.png"/><Relationship Id="rId12" Type="http://schemas.openxmlformats.org/officeDocument/2006/relationships/image" Target="../media/image64.png"/><Relationship Id="rId17" Type="http://schemas.openxmlformats.org/officeDocument/2006/relationships/image" Target="../media/image69.png"/><Relationship Id="rId2" Type="http://schemas.openxmlformats.org/officeDocument/2006/relationships/notesSlide" Target="../notesSlides/notesSlide23.xml"/><Relationship Id="rId16" Type="http://schemas.openxmlformats.org/officeDocument/2006/relationships/image" Target="../media/image68.png"/><Relationship Id="rId20" Type="http://schemas.openxmlformats.org/officeDocument/2006/relationships/image" Target="../media/image72.png"/><Relationship Id="rId1" Type="http://schemas.openxmlformats.org/officeDocument/2006/relationships/slideLayout" Target="../slideLayouts/slideLayout4.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6.png"/><Relationship Id="rId15" Type="http://schemas.openxmlformats.org/officeDocument/2006/relationships/image" Target="../media/image67.png"/><Relationship Id="rId23" Type="http://schemas.openxmlformats.org/officeDocument/2006/relationships/image" Target="../media/image75.png"/><Relationship Id="rId10" Type="http://schemas.openxmlformats.org/officeDocument/2006/relationships/image" Target="../media/image62.png"/><Relationship Id="rId19" Type="http://schemas.openxmlformats.org/officeDocument/2006/relationships/image" Target="../media/image71.png"/><Relationship Id="rId4" Type="http://schemas.openxmlformats.org/officeDocument/2006/relationships/image" Target="../media/image55.png"/><Relationship Id="rId9" Type="http://schemas.openxmlformats.org/officeDocument/2006/relationships/image" Target="../media/image61.png"/><Relationship Id="rId14" Type="http://schemas.openxmlformats.org/officeDocument/2006/relationships/image" Target="../media/image66.png"/><Relationship Id="rId22" Type="http://schemas.openxmlformats.org/officeDocument/2006/relationships/image" Target="../media/image74.png"/></Relationships>
</file>

<file path=ppt/slides/_rels/slide25.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6.png"/><Relationship Id="rId18" Type="http://schemas.openxmlformats.org/officeDocument/2006/relationships/image" Target="../media/image51.png"/><Relationship Id="rId3" Type="http://schemas.openxmlformats.org/officeDocument/2006/relationships/image" Target="../media/image35.png"/><Relationship Id="rId21" Type="http://schemas.openxmlformats.org/officeDocument/2006/relationships/image" Target="../media/image41.png"/><Relationship Id="rId7" Type="http://schemas.openxmlformats.org/officeDocument/2006/relationships/image" Target="../media/image39.png"/><Relationship Id="rId12" Type="http://schemas.openxmlformats.org/officeDocument/2006/relationships/image" Target="../media/image45.png"/><Relationship Id="rId17" Type="http://schemas.openxmlformats.org/officeDocument/2006/relationships/image" Target="../media/image50.png"/><Relationship Id="rId2" Type="http://schemas.openxmlformats.org/officeDocument/2006/relationships/notesSlide" Target="../notesSlides/notesSlide24.xml"/><Relationship Id="rId16" Type="http://schemas.openxmlformats.org/officeDocument/2006/relationships/image" Target="../media/image49.png"/><Relationship Id="rId20" Type="http://schemas.openxmlformats.org/officeDocument/2006/relationships/image" Target="../media/image53.png"/><Relationship Id="rId1" Type="http://schemas.openxmlformats.org/officeDocument/2006/relationships/slideLayout" Target="../slideLayouts/slideLayout4.xml"/><Relationship Id="rId6" Type="http://schemas.openxmlformats.org/officeDocument/2006/relationships/image" Target="../media/image38.png"/><Relationship Id="rId11" Type="http://schemas.openxmlformats.org/officeDocument/2006/relationships/image" Target="../media/image44.png"/><Relationship Id="rId5" Type="http://schemas.openxmlformats.org/officeDocument/2006/relationships/image" Target="../media/image37.png"/><Relationship Id="rId15" Type="http://schemas.openxmlformats.org/officeDocument/2006/relationships/image" Target="../media/image48.png"/><Relationship Id="rId10" Type="http://schemas.openxmlformats.org/officeDocument/2006/relationships/image" Target="../media/image43.png"/><Relationship Id="rId19" Type="http://schemas.openxmlformats.org/officeDocument/2006/relationships/image" Target="../media/image52.png"/><Relationship Id="rId4" Type="http://schemas.openxmlformats.org/officeDocument/2006/relationships/image" Target="../media/image36.png"/><Relationship Id="rId9" Type="http://schemas.openxmlformats.org/officeDocument/2006/relationships/image" Target="../media/image42.png"/><Relationship Id="rId14" Type="http://schemas.openxmlformats.org/officeDocument/2006/relationships/image" Target="../media/image47.png"/><Relationship Id="rId22" Type="http://schemas.openxmlformats.org/officeDocument/2006/relationships/image" Target="../media/image580.png"/></Relationships>
</file>

<file path=ppt/slides/_rels/slide26.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png"/><Relationship Id="rId18" Type="http://schemas.openxmlformats.org/officeDocument/2006/relationships/image" Target="../media/image70.png"/><Relationship Id="rId3" Type="http://schemas.openxmlformats.org/officeDocument/2006/relationships/image" Target="../media/image35.png"/><Relationship Id="rId21" Type="http://schemas.openxmlformats.org/officeDocument/2006/relationships/image" Target="../media/image75.png"/><Relationship Id="rId7" Type="http://schemas.openxmlformats.org/officeDocument/2006/relationships/image" Target="../media/image59.png"/><Relationship Id="rId12" Type="http://schemas.openxmlformats.org/officeDocument/2006/relationships/image" Target="../media/image64.png"/><Relationship Id="rId17" Type="http://schemas.openxmlformats.org/officeDocument/2006/relationships/image" Target="../media/image69.png"/><Relationship Id="rId2" Type="http://schemas.openxmlformats.org/officeDocument/2006/relationships/notesSlide" Target="../notesSlides/notesSlide25.xml"/><Relationship Id="rId16" Type="http://schemas.openxmlformats.org/officeDocument/2006/relationships/image" Target="../media/image68.png"/><Relationship Id="rId20" Type="http://schemas.openxmlformats.org/officeDocument/2006/relationships/image" Target="../media/image72.png"/><Relationship Id="rId1" Type="http://schemas.openxmlformats.org/officeDocument/2006/relationships/slideLayout" Target="../slideLayouts/slideLayout4.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6.png"/><Relationship Id="rId15" Type="http://schemas.openxmlformats.org/officeDocument/2006/relationships/image" Target="../media/image67.png"/><Relationship Id="rId10" Type="http://schemas.openxmlformats.org/officeDocument/2006/relationships/image" Target="../media/image62.png"/><Relationship Id="rId19" Type="http://schemas.openxmlformats.org/officeDocument/2006/relationships/image" Target="../media/image71.png"/><Relationship Id="rId4" Type="http://schemas.openxmlformats.org/officeDocument/2006/relationships/image" Target="../media/image55.png"/><Relationship Id="rId9" Type="http://schemas.openxmlformats.org/officeDocument/2006/relationships/image" Target="../media/image61.png"/><Relationship Id="rId14" Type="http://schemas.openxmlformats.org/officeDocument/2006/relationships/image" Target="../media/image66.png"/><Relationship Id="rId22" Type="http://schemas.openxmlformats.org/officeDocument/2006/relationships/image" Target="../media/image76.png"/></Relationships>
</file>

<file path=ppt/slides/_rels/slide27.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6.png"/><Relationship Id="rId18" Type="http://schemas.openxmlformats.org/officeDocument/2006/relationships/image" Target="../media/image600.png"/><Relationship Id="rId3" Type="http://schemas.openxmlformats.org/officeDocument/2006/relationships/image" Target="../media/image35.png"/><Relationship Id="rId21" Type="http://schemas.openxmlformats.org/officeDocument/2006/relationships/image" Target="../media/image53.png"/><Relationship Id="rId7" Type="http://schemas.openxmlformats.org/officeDocument/2006/relationships/image" Target="../media/image39.png"/><Relationship Id="rId12" Type="http://schemas.openxmlformats.org/officeDocument/2006/relationships/image" Target="../media/image45.png"/><Relationship Id="rId17" Type="http://schemas.openxmlformats.org/officeDocument/2006/relationships/image" Target="../media/image50.png"/><Relationship Id="rId25" Type="http://schemas.openxmlformats.org/officeDocument/2006/relationships/image" Target="../media/image630.png"/><Relationship Id="rId2" Type="http://schemas.openxmlformats.org/officeDocument/2006/relationships/notesSlide" Target="../notesSlides/notesSlide26.xml"/><Relationship Id="rId16" Type="http://schemas.openxmlformats.org/officeDocument/2006/relationships/image" Target="../media/image49.png"/><Relationship Id="rId20" Type="http://schemas.openxmlformats.org/officeDocument/2006/relationships/image" Target="../media/image52.png"/><Relationship Id="rId1" Type="http://schemas.openxmlformats.org/officeDocument/2006/relationships/slideLayout" Target="../slideLayouts/slideLayout4.xml"/><Relationship Id="rId6" Type="http://schemas.openxmlformats.org/officeDocument/2006/relationships/image" Target="../media/image38.png"/><Relationship Id="rId11" Type="http://schemas.openxmlformats.org/officeDocument/2006/relationships/image" Target="../media/image44.png"/><Relationship Id="rId24" Type="http://schemas.openxmlformats.org/officeDocument/2006/relationships/image" Target="../media/image620.png"/><Relationship Id="rId5" Type="http://schemas.openxmlformats.org/officeDocument/2006/relationships/image" Target="../media/image37.png"/><Relationship Id="rId15" Type="http://schemas.openxmlformats.org/officeDocument/2006/relationships/image" Target="../media/image48.png"/><Relationship Id="rId23" Type="http://schemas.openxmlformats.org/officeDocument/2006/relationships/image" Target="../media/image610.png"/><Relationship Id="rId10" Type="http://schemas.openxmlformats.org/officeDocument/2006/relationships/image" Target="../media/image43.png"/><Relationship Id="rId19" Type="http://schemas.openxmlformats.org/officeDocument/2006/relationships/image" Target="../media/image51.png"/><Relationship Id="rId4" Type="http://schemas.openxmlformats.org/officeDocument/2006/relationships/image" Target="../media/image36.png"/><Relationship Id="rId9" Type="http://schemas.openxmlformats.org/officeDocument/2006/relationships/image" Target="../media/image42.png"/><Relationship Id="rId14" Type="http://schemas.openxmlformats.org/officeDocument/2006/relationships/image" Target="../media/image590.png"/><Relationship Id="rId22" Type="http://schemas.openxmlformats.org/officeDocument/2006/relationships/image" Target="../media/image41.png"/></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38.xml.rels><?xml version="1.0" encoding="UTF-8" standalone="yes"?>
<Relationships xmlns="http://schemas.openxmlformats.org/package/2006/relationships"><Relationship Id="rId3" Type="http://schemas.openxmlformats.org/officeDocument/2006/relationships/image" Target="../media/image37.gif"/><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39.xml.rels><?xml version="1.0" encoding="UTF-8" standalone="yes"?>
<Relationships xmlns="http://schemas.openxmlformats.org/package/2006/relationships"><Relationship Id="rId8" Type="http://schemas.openxmlformats.org/officeDocument/2006/relationships/image" Target="../media/image290.png"/><Relationship Id="rId7" Type="http://schemas.openxmlformats.org/officeDocument/2006/relationships/image" Target="../media/image280.png"/><Relationship Id="rId2" Type="http://schemas.openxmlformats.org/officeDocument/2006/relationships/notesSlide" Target="../notesSlides/notesSlide38.xml"/><Relationship Id="rId1" Type="http://schemas.openxmlformats.org/officeDocument/2006/relationships/slideLayout" Target="../slideLayouts/slideLayout4.xml"/><Relationship Id="rId6" Type="http://schemas.openxmlformats.org/officeDocument/2006/relationships/image" Target="../media/image270.png"/><Relationship Id="rId5" Type="http://schemas.openxmlformats.org/officeDocument/2006/relationships/image" Target="../media/image260.png"/><Relationship Id="rId4" Type="http://schemas.openxmlformats.org/officeDocument/2006/relationships/image" Target="../media/image250.png"/><Relationship Id="rId9" Type="http://schemas.openxmlformats.org/officeDocument/2006/relationships/image" Target="../media/image14.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8" Type="http://schemas.openxmlformats.org/officeDocument/2006/relationships/image" Target="../media/image340.png"/><Relationship Id="rId7" Type="http://schemas.openxmlformats.org/officeDocument/2006/relationships/image" Target="../media/image330.png"/><Relationship Id="rId2" Type="http://schemas.openxmlformats.org/officeDocument/2006/relationships/notesSlide" Target="../notesSlides/notesSlide40.xml"/><Relationship Id="rId1" Type="http://schemas.openxmlformats.org/officeDocument/2006/relationships/slideLayout" Target="../slideLayouts/slideLayout4.xml"/><Relationship Id="rId6" Type="http://schemas.openxmlformats.org/officeDocument/2006/relationships/image" Target="../media/image320.png"/><Relationship Id="rId5" Type="http://schemas.openxmlformats.org/officeDocument/2006/relationships/image" Target="../media/image310.png"/><Relationship Id="rId4" Type="http://schemas.openxmlformats.org/officeDocument/2006/relationships/image" Target="../media/image300.png"/><Relationship Id="rId9" Type="http://schemas.openxmlformats.org/officeDocument/2006/relationships/image" Target="../media/image14.png"/></Relationships>
</file>

<file path=ppt/slides/_rels/slide42.xml.rels><?xml version="1.0" encoding="UTF-8" standalone="yes"?>
<Relationships xmlns="http://schemas.openxmlformats.org/package/2006/relationships"><Relationship Id="rId3" Type="http://schemas.openxmlformats.org/officeDocument/2006/relationships/image" Target="../media/image77.png"/><Relationship Id="rId7" Type="http://schemas.openxmlformats.org/officeDocument/2006/relationships/image" Target="../media/image81.png"/><Relationship Id="rId2" Type="http://schemas.openxmlformats.org/officeDocument/2006/relationships/notesSlide" Target="../notesSlides/notesSlide41.xml"/><Relationship Id="rId1" Type="http://schemas.openxmlformats.org/officeDocument/2006/relationships/slideLayout" Target="../slideLayouts/slideLayout4.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43.xml.rels><?xml version="1.0" encoding="UTF-8" standalone="yes"?>
<Relationships xmlns="http://schemas.openxmlformats.org/package/2006/relationships"><Relationship Id="rId3" Type="http://schemas.openxmlformats.org/officeDocument/2006/relationships/image" Target="../media/image650.png"/><Relationship Id="rId2" Type="http://schemas.openxmlformats.org/officeDocument/2006/relationships/notesSlide" Target="../notesSlides/notesSlide42.xml"/><Relationship Id="rId1" Type="http://schemas.openxmlformats.org/officeDocument/2006/relationships/slideLayout" Target="../slideLayouts/slideLayout4.xml"/><Relationship Id="rId6" Type="http://schemas.openxmlformats.org/officeDocument/2006/relationships/image" Target="../media/image680.png"/><Relationship Id="rId5" Type="http://schemas.openxmlformats.org/officeDocument/2006/relationships/image" Target="../media/image670.png"/><Relationship Id="rId4" Type="http://schemas.openxmlformats.org/officeDocument/2006/relationships/image" Target="../media/image660.png"/></Relationships>
</file>

<file path=ppt/slides/_rels/slide44.xml.rels><?xml version="1.0" encoding="UTF-8" standalone="yes"?>
<Relationships xmlns="http://schemas.openxmlformats.org/package/2006/relationships"><Relationship Id="rId8" Type="http://schemas.openxmlformats.org/officeDocument/2006/relationships/image" Target="../media/image670.png"/><Relationship Id="rId3" Type="http://schemas.openxmlformats.org/officeDocument/2006/relationships/image" Target="../media/image690.png"/><Relationship Id="rId7" Type="http://schemas.openxmlformats.org/officeDocument/2006/relationships/image" Target="../media/image660.png"/><Relationship Id="rId2" Type="http://schemas.openxmlformats.org/officeDocument/2006/relationships/notesSlide" Target="../notesSlides/notesSlide43.xml"/><Relationship Id="rId1" Type="http://schemas.openxmlformats.org/officeDocument/2006/relationships/slideLayout" Target="../slideLayouts/slideLayout4.xml"/><Relationship Id="rId6" Type="http://schemas.openxmlformats.org/officeDocument/2006/relationships/image" Target="../media/image720.png"/><Relationship Id="rId11" Type="http://schemas.openxmlformats.org/officeDocument/2006/relationships/image" Target="../media/image740.png"/><Relationship Id="rId5" Type="http://schemas.openxmlformats.org/officeDocument/2006/relationships/image" Target="../media/image710.png"/><Relationship Id="rId10" Type="http://schemas.openxmlformats.org/officeDocument/2006/relationships/image" Target="../media/image730.png"/><Relationship Id="rId4" Type="http://schemas.openxmlformats.org/officeDocument/2006/relationships/image" Target="../media/image700.png"/><Relationship Id="rId9" Type="http://schemas.openxmlformats.org/officeDocument/2006/relationships/image" Target="../media/image680.png"/></Relationships>
</file>

<file path=ppt/slides/_rels/slide45.xml.rels><?xml version="1.0" encoding="UTF-8" standalone="yes"?>
<Relationships xmlns="http://schemas.openxmlformats.org/package/2006/relationships"><Relationship Id="rId8" Type="http://schemas.openxmlformats.org/officeDocument/2006/relationships/image" Target="../media/image670.png"/><Relationship Id="rId3" Type="http://schemas.openxmlformats.org/officeDocument/2006/relationships/image" Target="../media/image690.png"/><Relationship Id="rId7" Type="http://schemas.openxmlformats.org/officeDocument/2006/relationships/image" Target="../media/image660.png"/><Relationship Id="rId2" Type="http://schemas.openxmlformats.org/officeDocument/2006/relationships/notesSlide" Target="../notesSlides/notesSlide44.xml"/><Relationship Id="rId1" Type="http://schemas.openxmlformats.org/officeDocument/2006/relationships/slideLayout" Target="../slideLayouts/slideLayout4.xml"/><Relationship Id="rId6" Type="http://schemas.openxmlformats.org/officeDocument/2006/relationships/image" Target="../media/image770.png"/><Relationship Id="rId11" Type="http://schemas.openxmlformats.org/officeDocument/2006/relationships/image" Target="../media/image740.png"/><Relationship Id="rId5" Type="http://schemas.openxmlformats.org/officeDocument/2006/relationships/image" Target="../media/image760.png"/><Relationship Id="rId10" Type="http://schemas.openxmlformats.org/officeDocument/2006/relationships/image" Target="../media/image730.png"/><Relationship Id="rId4" Type="http://schemas.openxmlformats.org/officeDocument/2006/relationships/image" Target="../media/image750.png"/><Relationship Id="rId9" Type="http://schemas.openxmlformats.org/officeDocument/2006/relationships/image" Target="../media/image680.png"/></Relationships>
</file>

<file path=ppt/slides/_rels/slide46.xml.rels><?xml version="1.0" encoding="UTF-8" standalone="yes"?>
<Relationships xmlns="http://schemas.openxmlformats.org/package/2006/relationships"><Relationship Id="rId8" Type="http://schemas.openxmlformats.org/officeDocument/2006/relationships/image" Target="../media/image810.png"/><Relationship Id="rId13" Type="http://schemas.openxmlformats.org/officeDocument/2006/relationships/image" Target="../media/image740.png"/><Relationship Id="rId3" Type="http://schemas.openxmlformats.org/officeDocument/2006/relationships/image" Target="../media/image82.png"/><Relationship Id="rId7" Type="http://schemas.openxmlformats.org/officeDocument/2006/relationships/image" Target="../media/image800.png"/><Relationship Id="rId12" Type="http://schemas.openxmlformats.org/officeDocument/2006/relationships/image" Target="../media/image730.png"/><Relationship Id="rId2" Type="http://schemas.openxmlformats.org/officeDocument/2006/relationships/notesSlide" Target="../notesSlides/notesSlide45.xml"/><Relationship Id="rId1" Type="http://schemas.openxmlformats.org/officeDocument/2006/relationships/slideLayout" Target="../slideLayouts/slideLayout4.xml"/><Relationship Id="rId6" Type="http://schemas.openxmlformats.org/officeDocument/2006/relationships/image" Target="../media/image790.png"/><Relationship Id="rId11" Type="http://schemas.openxmlformats.org/officeDocument/2006/relationships/image" Target="../media/image680.png"/><Relationship Id="rId5" Type="http://schemas.openxmlformats.org/officeDocument/2006/relationships/image" Target="../media/image750.png"/><Relationship Id="rId10" Type="http://schemas.openxmlformats.org/officeDocument/2006/relationships/image" Target="../media/image670.png"/><Relationship Id="rId4" Type="http://schemas.openxmlformats.org/officeDocument/2006/relationships/image" Target="../media/image690.png"/><Relationship Id="rId9" Type="http://schemas.openxmlformats.org/officeDocument/2006/relationships/image" Target="../media/image660.png"/></Relationships>
</file>

<file path=ppt/slides/_rels/slide47.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83.png"/><Relationship Id="rId7" Type="http://schemas.openxmlformats.org/officeDocument/2006/relationships/image" Target="../media/image670.png"/><Relationship Id="rId2" Type="http://schemas.openxmlformats.org/officeDocument/2006/relationships/notesSlide" Target="../notesSlides/notesSlide46.xml"/><Relationship Id="rId1" Type="http://schemas.openxmlformats.org/officeDocument/2006/relationships/slideLayout" Target="../slideLayouts/slideLayout4.xml"/><Relationship Id="rId6" Type="http://schemas.openxmlformats.org/officeDocument/2006/relationships/image" Target="../media/image830.png"/><Relationship Id="rId5" Type="http://schemas.openxmlformats.org/officeDocument/2006/relationships/image" Target="../media/image820.png"/><Relationship Id="rId10" Type="http://schemas.openxmlformats.org/officeDocument/2006/relationships/image" Target="../media/image87.png"/><Relationship Id="rId4" Type="http://schemas.microsoft.com/office/2007/relationships/hdphoto" Target="../media/hdphoto2.wdp"/><Relationship Id="rId9" Type="http://schemas.openxmlformats.org/officeDocument/2006/relationships/image" Target="../media/image86.png"/></Relationships>
</file>

<file path=ppt/slides/_rels/slide48.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88.png"/><Relationship Id="rId7" Type="http://schemas.openxmlformats.org/officeDocument/2006/relationships/image" Target="../media/image92.png"/><Relationship Id="rId2" Type="http://schemas.openxmlformats.org/officeDocument/2006/relationships/notesSlide" Target="../notesSlides/notesSlide47.xml"/><Relationship Id="rId1" Type="http://schemas.openxmlformats.org/officeDocument/2006/relationships/slideLayout" Target="../slideLayouts/slideLayout4.xml"/><Relationship Id="rId6" Type="http://schemas.openxmlformats.org/officeDocument/2006/relationships/image" Target="../media/image91.png"/><Relationship Id="rId11" Type="http://schemas.microsoft.com/office/2007/relationships/hdphoto" Target="../media/hdphoto2.wdp"/><Relationship Id="rId10" Type="http://schemas.openxmlformats.org/officeDocument/2006/relationships/image" Target="../media/image83.png"/><Relationship Id="rId4" Type="http://schemas.openxmlformats.org/officeDocument/2006/relationships/image" Target="../media/image84.png"/><Relationship Id="rId9" Type="http://schemas.openxmlformats.org/officeDocument/2006/relationships/image" Target="../media/image94.png"/></Relationships>
</file>

<file path=ppt/slides/_rels/slide49.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image" Target="../media/image88.png"/><Relationship Id="rId7" Type="http://schemas.openxmlformats.org/officeDocument/2006/relationships/image" Target="../media/image92.png"/><Relationship Id="rId2" Type="http://schemas.openxmlformats.org/officeDocument/2006/relationships/notesSlide" Target="../notesSlides/notesSlide48.xml"/><Relationship Id="rId1" Type="http://schemas.openxmlformats.org/officeDocument/2006/relationships/slideLayout" Target="../slideLayouts/slideLayout4.xml"/><Relationship Id="rId6" Type="http://schemas.openxmlformats.org/officeDocument/2006/relationships/image" Target="../media/image91.png"/><Relationship Id="rId11" Type="http://schemas.microsoft.com/office/2007/relationships/hdphoto" Target="../media/hdphoto2.wdp"/><Relationship Id="rId10" Type="http://schemas.openxmlformats.org/officeDocument/2006/relationships/image" Target="../media/image83.png"/><Relationship Id="rId4" Type="http://schemas.openxmlformats.org/officeDocument/2006/relationships/image" Target="../media/image89.png"/><Relationship Id="rId9" Type="http://schemas.openxmlformats.org/officeDocument/2006/relationships/image" Target="../media/image94.png"/></Relationships>
</file>

<file path=ppt/slides/_rels/slide50.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88.png"/><Relationship Id="rId7" Type="http://schemas.openxmlformats.org/officeDocument/2006/relationships/image" Target="../media/image98.png"/><Relationship Id="rId2" Type="http://schemas.openxmlformats.org/officeDocument/2006/relationships/notesSlide" Target="../notesSlides/notesSlide49.xml"/><Relationship Id="rId1" Type="http://schemas.openxmlformats.org/officeDocument/2006/relationships/slideLayout" Target="../slideLayouts/slideLayout4.xml"/><Relationship Id="rId6" Type="http://schemas.openxmlformats.org/officeDocument/2006/relationships/image" Target="../media/image91.png"/><Relationship Id="rId11" Type="http://schemas.microsoft.com/office/2007/relationships/hdphoto" Target="../media/hdphoto2.wdp"/><Relationship Id="rId10" Type="http://schemas.openxmlformats.org/officeDocument/2006/relationships/image" Target="../media/image83.png"/><Relationship Id="rId4" Type="http://schemas.openxmlformats.org/officeDocument/2006/relationships/image" Target="../media/image90.png"/><Relationship Id="rId9" Type="http://schemas.openxmlformats.org/officeDocument/2006/relationships/image" Target="../media/image94.png"/></Relationships>
</file>

<file path=ppt/slides/_rels/slide51.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88.png"/><Relationship Id="rId7" Type="http://schemas.openxmlformats.org/officeDocument/2006/relationships/image" Target="../media/image92.png"/><Relationship Id="rId2" Type="http://schemas.openxmlformats.org/officeDocument/2006/relationships/notesSlide" Target="../notesSlides/notesSlide50.xml"/><Relationship Id="rId1" Type="http://schemas.openxmlformats.org/officeDocument/2006/relationships/slideLayout" Target="../slideLayouts/slideLayout4.xml"/><Relationship Id="rId6" Type="http://schemas.openxmlformats.org/officeDocument/2006/relationships/image" Target="../media/image91.png"/><Relationship Id="rId11" Type="http://schemas.microsoft.com/office/2007/relationships/hdphoto" Target="../media/hdphoto2.wdp"/><Relationship Id="rId10" Type="http://schemas.openxmlformats.org/officeDocument/2006/relationships/image" Target="../media/image83.png"/><Relationship Id="rId4" Type="http://schemas.openxmlformats.org/officeDocument/2006/relationships/image" Target="../media/image95.png"/><Relationship Id="rId9" Type="http://schemas.openxmlformats.org/officeDocument/2006/relationships/image" Target="../media/image94.png"/></Relationships>
</file>

<file path=ppt/slides/_rels/slide52.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88.png"/><Relationship Id="rId7" Type="http://schemas.openxmlformats.org/officeDocument/2006/relationships/image" Target="../media/image92.png"/><Relationship Id="rId2" Type="http://schemas.openxmlformats.org/officeDocument/2006/relationships/notesSlide" Target="../notesSlides/notesSlide51.xml"/><Relationship Id="rId1" Type="http://schemas.openxmlformats.org/officeDocument/2006/relationships/slideLayout" Target="../slideLayouts/slideLayout4.xml"/><Relationship Id="rId6" Type="http://schemas.openxmlformats.org/officeDocument/2006/relationships/image" Target="../media/image91.png"/><Relationship Id="rId11" Type="http://schemas.microsoft.com/office/2007/relationships/hdphoto" Target="../media/hdphoto2.wdp"/><Relationship Id="rId10" Type="http://schemas.openxmlformats.org/officeDocument/2006/relationships/image" Target="../media/image83.png"/><Relationship Id="rId4" Type="http://schemas.openxmlformats.org/officeDocument/2006/relationships/image" Target="../media/image97.png"/><Relationship Id="rId9" Type="http://schemas.openxmlformats.org/officeDocument/2006/relationships/image" Target="../media/image94.png"/></Relationships>
</file>

<file path=ppt/slides/_rels/slide53.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77.png"/><Relationship Id="rId7" Type="http://schemas.openxmlformats.org/officeDocument/2006/relationships/image" Target="../media/image83.png"/><Relationship Id="rId12" Type="http://schemas.openxmlformats.org/officeDocument/2006/relationships/image" Target="../media/image105.png"/><Relationship Id="rId2" Type="http://schemas.openxmlformats.org/officeDocument/2006/relationships/notesSlide" Target="../notesSlides/notesSlide52.xml"/><Relationship Id="rId1" Type="http://schemas.openxmlformats.org/officeDocument/2006/relationships/slideLayout" Target="../slideLayouts/slideLayout4.xml"/><Relationship Id="rId6" Type="http://schemas.openxmlformats.org/officeDocument/2006/relationships/image" Target="../media/image101.png"/><Relationship Id="rId11" Type="http://schemas.openxmlformats.org/officeDocument/2006/relationships/image" Target="../media/image104.png"/><Relationship Id="rId5" Type="http://schemas.openxmlformats.org/officeDocument/2006/relationships/image" Target="../media/image100.png"/><Relationship Id="rId10" Type="http://schemas.openxmlformats.org/officeDocument/2006/relationships/image" Target="../media/image103.png"/><Relationship Id="rId4" Type="http://schemas.openxmlformats.org/officeDocument/2006/relationships/image" Target="../media/image99.png"/><Relationship Id="rId9" Type="http://schemas.openxmlformats.org/officeDocument/2006/relationships/image" Target="../media/image102.png"/></Relationships>
</file>

<file path=ppt/slides/_rels/slide54.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1020.png"/><Relationship Id="rId7" Type="http://schemas.openxmlformats.org/officeDocument/2006/relationships/image" Target="../media/image100.png"/><Relationship Id="rId2" Type="http://schemas.openxmlformats.org/officeDocument/2006/relationships/notesSlide" Target="../notesSlides/notesSlide53.xml"/><Relationship Id="rId1" Type="http://schemas.openxmlformats.org/officeDocument/2006/relationships/slideLayout" Target="../slideLayouts/slideLayout4.xml"/><Relationship Id="rId6" Type="http://schemas.openxmlformats.org/officeDocument/2006/relationships/image" Target="../media/image99.png"/><Relationship Id="rId5" Type="http://schemas.openxmlformats.org/officeDocument/2006/relationships/image" Target="../media/image77.png"/><Relationship Id="rId4" Type="http://schemas.openxmlformats.org/officeDocument/2006/relationships/image" Target="../media/image1030.png"/><Relationship Id="rId9" Type="http://schemas.openxmlformats.org/officeDocument/2006/relationships/image" Target="../media/image105.png"/></Relationships>
</file>

<file path=ppt/slides/_rels/slide55.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image" Target="../media/image106.png"/><Relationship Id="rId7" Type="http://schemas.openxmlformats.org/officeDocument/2006/relationships/image" Target="../media/image1060.png"/><Relationship Id="rId2" Type="http://schemas.openxmlformats.org/officeDocument/2006/relationships/notesSlide" Target="../notesSlides/notesSlide54.xml"/><Relationship Id="rId1" Type="http://schemas.openxmlformats.org/officeDocument/2006/relationships/slideLayout" Target="../slideLayouts/slideLayout4.xml"/><Relationship Id="rId6" Type="http://schemas.openxmlformats.org/officeDocument/2006/relationships/image" Target="../media/image1050.png"/><Relationship Id="rId5" Type="http://schemas.openxmlformats.org/officeDocument/2006/relationships/image" Target="../media/image940.png"/><Relationship Id="rId10" Type="http://schemas.openxmlformats.org/officeDocument/2006/relationships/image" Target="../media/image107.png"/><Relationship Id="rId4" Type="http://schemas.openxmlformats.org/officeDocument/2006/relationships/image" Target="../media/image930.png"/><Relationship Id="rId9" Type="http://schemas.openxmlformats.org/officeDocument/2006/relationships/image" Target="../media/image103.png"/></Relationships>
</file>

<file path=ppt/slides/_rels/slide5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5.xml"/><Relationship Id="rId1" Type="http://schemas.openxmlformats.org/officeDocument/2006/relationships/slideLayout" Target="../slideLayouts/slideLayout4.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1.png"/></Relationships>
</file>

<file path=ppt/slides/_rels/slide57.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1031.png"/><Relationship Id="rId3" Type="http://schemas.openxmlformats.org/officeDocument/2006/relationships/image" Target="../media/image14.png"/><Relationship Id="rId7" Type="http://schemas.openxmlformats.org/officeDocument/2006/relationships/image" Target="../media/image17.png"/><Relationship Id="rId12" Type="http://schemas.openxmlformats.org/officeDocument/2006/relationships/image" Target="../media/image1021.png"/><Relationship Id="rId2" Type="http://schemas.openxmlformats.org/officeDocument/2006/relationships/notesSlide" Target="../notesSlides/notesSlide56.xml"/><Relationship Id="rId1" Type="http://schemas.openxmlformats.org/officeDocument/2006/relationships/slideLayout" Target="../slideLayouts/slideLayout4.xml"/><Relationship Id="rId6" Type="http://schemas.openxmlformats.org/officeDocument/2006/relationships/image" Target="../media/image16.svg"/><Relationship Id="rId11" Type="http://schemas.openxmlformats.org/officeDocument/2006/relationships/image" Target="../media/image1011.png"/><Relationship Id="rId5" Type="http://schemas.openxmlformats.org/officeDocument/2006/relationships/image" Target="../media/image15.png"/><Relationship Id="rId10" Type="http://schemas.openxmlformats.org/officeDocument/2006/relationships/image" Target="../media/image1001.png"/><Relationship Id="rId4" Type="http://schemas.openxmlformats.org/officeDocument/2006/relationships/image" Target="../media/image19.png"/><Relationship Id="rId9" Type="http://schemas.openxmlformats.org/officeDocument/2006/relationships/image" Target="../media/image991.png"/></Relationships>
</file>

<file path=ppt/slides/_rels/slide58.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4.png"/><Relationship Id="rId7" Type="http://schemas.openxmlformats.org/officeDocument/2006/relationships/image" Target="../media/image17.png"/><Relationship Id="rId12" Type="http://schemas.openxmlformats.org/officeDocument/2006/relationships/image" Target="../media/image1070.png"/><Relationship Id="rId2" Type="http://schemas.openxmlformats.org/officeDocument/2006/relationships/notesSlide" Target="../notesSlides/notesSlide57.xml"/><Relationship Id="rId1" Type="http://schemas.openxmlformats.org/officeDocument/2006/relationships/slideLayout" Target="../slideLayouts/slideLayout4.xml"/><Relationship Id="rId6" Type="http://schemas.openxmlformats.org/officeDocument/2006/relationships/image" Target="../media/image16.svg"/><Relationship Id="rId11" Type="http://schemas.openxmlformats.org/officeDocument/2006/relationships/image" Target="../media/image1061.png"/><Relationship Id="rId5" Type="http://schemas.openxmlformats.org/officeDocument/2006/relationships/image" Target="../media/image15.png"/><Relationship Id="rId10" Type="http://schemas.openxmlformats.org/officeDocument/2006/relationships/image" Target="../media/image1051.png"/><Relationship Id="rId4" Type="http://schemas.openxmlformats.org/officeDocument/2006/relationships/image" Target="../media/image19.png"/><Relationship Id="rId9" Type="http://schemas.openxmlformats.org/officeDocument/2006/relationships/image" Target="../media/image1041.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microsoft.com/office/2007/relationships/media" Target="../media/media4.mp4"/><Relationship Id="rId7" Type="http://schemas.openxmlformats.org/officeDocument/2006/relationships/image" Target="../media/image111.png"/><Relationship Id="rId2" Type="http://schemas.microsoft.com/office/2007/relationships/media" Target="../media/media3.mp4"/><Relationship Id="rId1" Type="http://schemas.openxmlformats.org/officeDocument/2006/relationships/video" Target="NULL" TargetMode="External"/><Relationship Id="rId6" Type="http://schemas.openxmlformats.org/officeDocument/2006/relationships/image" Target="../media/image110.png"/><Relationship Id="rId5" Type="http://schemas.openxmlformats.org/officeDocument/2006/relationships/notesSlide" Target="../notesSlides/notesSlide59.xml"/><Relationship Id="rId4"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8" Type="http://schemas.openxmlformats.org/officeDocument/2006/relationships/image" Target="../media/image113.png"/><Relationship Id="rId3" Type="http://schemas.microsoft.com/office/2007/relationships/media" Target="../media/media6.mp4"/><Relationship Id="rId7" Type="http://schemas.openxmlformats.org/officeDocument/2006/relationships/image" Target="../media/image112.png"/><Relationship Id="rId2" Type="http://schemas.microsoft.com/office/2007/relationships/media" Target="../media/media5.mp4"/><Relationship Id="rId1" Type="http://schemas.openxmlformats.org/officeDocument/2006/relationships/video" Target="NULL" TargetMode="External"/><Relationship Id="rId6" Type="http://schemas.openxmlformats.org/officeDocument/2006/relationships/notesSlide" Target="../notesSlides/notesSlide60.xml"/><Relationship Id="rId5" Type="http://schemas.openxmlformats.org/officeDocument/2006/relationships/slideLayout" Target="../slideLayouts/slideLayout4.xml"/><Relationship Id="rId10" Type="http://schemas.openxmlformats.org/officeDocument/2006/relationships/image" Target="../media/image115.svg"/><Relationship Id="rId4" Type="http://schemas.openxmlformats.org/officeDocument/2006/relationships/video" Target="../media/media6.mp4"/><Relationship Id="rId9" Type="http://schemas.openxmlformats.org/officeDocument/2006/relationships/image" Target="../media/image114.png"/></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118.svg"/><Relationship Id="rId2" Type="http://schemas.openxmlformats.org/officeDocument/2006/relationships/video" Target="../media/media7.mp4"/><Relationship Id="rId1" Type="http://schemas.microsoft.com/office/2007/relationships/media" Target="../media/media7.mp4"/><Relationship Id="rId6" Type="http://schemas.openxmlformats.org/officeDocument/2006/relationships/image" Target="../media/image117.png"/><Relationship Id="rId5" Type="http://schemas.openxmlformats.org/officeDocument/2006/relationships/image" Target="../media/image116.png"/><Relationship Id="rId4" Type="http://schemas.openxmlformats.org/officeDocument/2006/relationships/notesSlide" Target="../notesSlides/notesSlide6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63.xml"/><Relationship Id="rId1" Type="http://schemas.openxmlformats.org/officeDocument/2006/relationships/slideLayout" Target="../slideLayouts/slideLayout4.xml"/><Relationship Id="rId6" Type="http://schemas.openxmlformats.org/officeDocument/2006/relationships/image" Target="../media/image122.png"/><Relationship Id="rId5" Type="http://schemas.openxmlformats.org/officeDocument/2006/relationships/image" Target="../media/image121.png"/><Relationship Id="rId4" Type="http://schemas.openxmlformats.org/officeDocument/2006/relationships/image" Target="../media/image120.png"/></Relationships>
</file>

<file path=ppt/slides/_rels/slide65.xml.rels><?xml version="1.0" encoding="UTF-8" standalone="yes"?>
<Relationships xmlns="http://schemas.openxmlformats.org/package/2006/relationships"><Relationship Id="rId8" Type="http://schemas.openxmlformats.org/officeDocument/2006/relationships/image" Target="../media/image122.png"/><Relationship Id="rId13" Type="http://schemas.openxmlformats.org/officeDocument/2006/relationships/image" Target="../media/image129.png"/><Relationship Id="rId3" Type="http://schemas.openxmlformats.org/officeDocument/2006/relationships/image" Target="../media/image123.png"/><Relationship Id="rId7" Type="http://schemas.openxmlformats.org/officeDocument/2006/relationships/image" Target="../media/image121.png"/><Relationship Id="rId12" Type="http://schemas.openxmlformats.org/officeDocument/2006/relationships/image" Target="../media/image128.png"/><Relationship Id="rId2" Type="http://schemas.openxmlformats.org/officeDocument/2006/relationships/notesSlide" Target="../notesSlides/notesSlide64.xml"/><Relationship Id="rId1" Type="http://schemas.openxmlformats.org/officeDocument/2006/relationships/slideLayout" Target="../slideLayouts/slideLayout4.xml"/><Relationship Id="rId6" Type="http://schemas.openxmlformats.org/officeDocument/2006/relationships/image" Target="../media/image120.png"/><Relationship Id="rId11" Type="http://schemas.openxmlformats.org/officeDocument/2006/relationships/image" Target="../media/image127.png"/><Relationship Id="rId5" Type="http://schemas.openxmlformats.org/officeDocument/2006/relationships/image" Target="../media/image119.png"/><Relationship Id="rId15" Type="http://schemas.openxmlformats.org/officeDocument/2006/relationships/image" Target="../media/image131.png"/><Relationship Id="rId10" Type="http://schemas.openxmlformats.org/officeDocument/2006/relationships/image" Target="../media/image126.png"/><Relationship Id="rId4" Type="http://schemas.openxmlformats.org/officeDocument/2006/relationships/image" Target="../media/image124.png"/><Relationship Id="rId9" Type="http://schemas.openxmlformats.org/officeDocument/2006/relationships/image" Target="../media/image125.png"/><Relationship Id="rId14" Type="http://schemas.openxmlformats.org/officeDocument/2006/relationships/image" Target="../media/image130.png"/></Relationships>
</file>

<file path=ppt/slides/_rels/slide66.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66.xml"/><Relationship Id="rId1" Type="http://schemas.openxmlformats.org/officeDocument/2006/relationships/slideLayout" Target="../slideLayouts/slideLayout4.xml"/><Relationship Id="rId4" Type="http://schemas.openxmlformats.org/officeDocument/2006/relationships/image" Target="../media/image132.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3" Type="http://schemas.openxmlformats.org/officeDocument/2006/relationships/image" Target="../media/image1320.png"/><Relationship Id="rId2" Type="http://schemas.openxmlformats.org/officeDocument/2006/relationships/notesSlide" Target="../notesSlides/notesSlide68.xml"/><Relationship Id="rId1" Type="http://schemas.openxmlformats.org/officeDocument/2006/relationships/slideLayout" Target="../slideLayouts/slideLayout4.xml"/><Relationship Id="rId4" Type="http://schemas.openxmlformats.org/officeDocument/2006/relationships/image" Target="../media/image134.png"/></Relationships>
</file>

<file path=ppt/slides/_rels/slide70.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70.xml"/><Relationship Id="rId1" Type="http://schemas.openxmlformats.org/officeDocument/2006/relationships/slideLayout" Target="../slideLayouts/slideLayout4.xml"/><Relationship Id="rId5" Type="http://schemas.openxmlformats.org/officeDocument/2006/relationships/image" Target="../media/image137.png"/><Relationship Id="rId4" Type="http://schemas.openxmlformats.org/officeDocument/2006/relationships/image" Target="../media/image136.png"/></Relationships>
</file>

<file path=ppt/slides/_rels/slide72.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3C2E162-B81A-3008-C27B-E8238D62A622}"/>
              </a:ext>
            </a:extLst>
          </p:cNvPr>
          <p:cNvSpPr>
            <a:spLocks noGrp="1"/>
          </p:cNvSpPr>
          <p:nvPr>
            <p:ph type="ctrTitle"/>
          </p:nvPr>
        </p:nvSpPr>
        <p:spPr>
          <a:xfrm>
            <a:off x="407987" y="3429000"/>
            <a:ext cx="11376025" cy="2153265"/>
          </a:xfrm>
        </p:spPr>
        <p:txBody>
          <a:bodyPr/>
          <a:lstStyle/>
          <a:p>
            <a:pPr algn="ctr"/>
            <a:r>
              <a:rPr lang="en-GB" sz="3600" b="1" i="0" dirty="0">
                <a:effectLst/>
              </a:rPr>
              <a:t>Singularity-free Robotic Task Trajectory Generator based on Cubic Quaternion Splines</a:t>
            </a:r>
            <a:endParaRPr lang="en-GB" sz="3600" b="0" dirty="0"/>
          </a:p>
        </p:txBody>
      </p:sp>
      <p:sp>
        <p:nvSpPr>
          <p:cNvPr id="7" name="Subtitle 2">
            <a:extLst>
              <a:ext uri="{FF2B5EF4-FFF2-40B4-BE49-F238E27FC236}">
                <a16:creationId xmlns:a16="http://schemas.microsoft.com/office/drawing/2014/main" id="{E0B7700C-63AD-40BD-236A-DF250BDDBF99}"/>
              </a:ext>
            </a:extLst>
          </p:cNvPr>
          <p:cNvSpPr>
            <a:spLocks noGrp="1"/>
          </p:cNvSpPr>
          <p:nvPr>
            <p:ph type="subTitle" idx="1"/>
          </p:nvPr>
        </p:nvSpPr>
        <p:spPr>
          <a:xfrm>
            <a:off x="407985" y="5156404"/>
            <a:ext cx="11376026" cy="283907"/>
          </a:xfrm>
        </p:spPr>
        <p:txBody>
          <a:bodyPr/>
          <a:lstStyle/>
          <a:p>
            <a:pPr algn="ctr"/>
            <a:r>
              <a:rPr lang="en-US" dirty="0"/>
              <a:t>26</a:t>
            </a:r>
            <a:r>
              <a:rPr lang="en-US" baseline="30000" dirty="0"/>
              <a:t>th</a:t>
            </a:r>
            <a:r>
              <a:rPr lang="en-US" dirty="0"/>
              <a:t> BE-CEM Students’ Coffee</a:t>
            </a:r>
          </a:p>
        </p:txBody>
      </p:sp>
      <p:sp>
        <p:nvSpPr>
          <p:cNvPr id="8" name="TextBox 3">
            <a:extLst>
              <a:ext uri="{FF2B5EF4-FFF2-40B4-BE49-F238E27FC236}">
                <a16:creationId xmlns:a16="http://schemas.microsoft.com/office/drawing/2014/main" id="{C88B3C1B-7083-9E49-60AB-AB0D7F5A1F06}"/>
              </a:ext>
            </a:extLst>
          </p:cNvPr>
          <p:cNvSpPr txBox="1"/>
          <p:nvPr/>
        </p:nvSpPr>
        <p:spPr>
          <a:xfrm>
            <a:off x="4990727" y="5725368"/>
            <a:ext cx="2210542" cy="861774"/>
          </a:xfrm>
          <a:prstGeom prst="rect">
            <a:avLst/>
          </a:prstGeom>
          <a:noFill/>
        </p:spPr>
        <p:txBody>
          <a:bodyPr wrap="none" lIns="0" tIns="0" rIns="0" bIns="0" rtlCol="0">
            <a:spAutoFit/>
          </a:bodyPr>
          <a:lstStyle/>
          <a:p>
            <a:pPr algn="ctr"/>
            <a:r>
              <a:rPr lang="en-US" sz="2000" b="1" dirty="0">
                <a:solidFill>
                  <a:srgbClr val="F2F2F2"/>
                </a:solidFill>
              </a:rPr>
              <a:t>Chelsea Davidson</a:t>
            </a:r>
          </a:p>
          <a:p>
            <a:pPr algn="ctr"/>
            <a:r>
              <a:rPr lang="en-US" dirty="0">
                <a:solidFill>
                  <a:srgbClr val="F2F2F2"/>
                </a:solidFill>
              </a:rPr>
              <a:t>BE-CEM-MRO</a:t>
            </a:r>
            <a:endParaRPr lang="en-GB" dirty="0">
              <a:solidFill>
                <a:srgbClr val="F2F2F2"/>
              </a:solidFill>
            </a:endParaRPr>
          </a:p>
          <a:p>
            <a:pPr algn="l"/>
            <a:endParaRPr lang="en-GB" dirty="0"/>
          </a:p>
        </p:txBody>
      </p:sp>
    </p:spTree>
    <p:extLst>
      <p:ext uri="{BB962C8B-B14F-4D97-AF65-F5344CB8AC3E}">
        <p14:creationId xmlns:p14="http://schemas.microsoft.com/office/powerpoint/2010/main" val="2685220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AEE1D7-E615-7BD8-14E6-5F4C23A7142C}"/>
              </a:ext>
            </a:extLst>
          </p:cNvPr>
          <p:cNvSpPr>
            <a:spLocks noGrp="1"/>
          </p:cNvSpPr>
          <p:nvPr>
            <p:ph idx="1"/>
          </p:nvPr>
        </p:nvSpPr>
        <p:spPr/>
        <p:txBody>
          <a:bodyPr/>
          <a:lstStyle/>
          <a:p>
            <a:pPr marL="457200" indent="-457200">
              <a:buFont typeface="+mj-lt"/>
              <a:buAutoNum type="arabicPeriod"/>
            </a:pPr>
            <a:r>
              <a:rPr lang="en-US" b="0" dirty="0"/>
              <a:t>Problem context – CERN Robotics Framework</a:t>
            </a:r>
          </a:p>
          <a:p>
            <a:pPr marL="457200" indent="-457200">
              <a:buFont typeface="+mj-lt"/>
              <a:buAutoNum type="arabicPeriod"/>
            </a:pPr>
            <a:r>
              <a:rPr lang="en-US" b="0" dirty="0"/>
              <a:t>Task Trajectory Generator design</a:t>
            </a:r>
          </a:p>
          <a:p>
            <a:pPr marL="742950" lvl="1" indent="-457200">
              <a:buFont typeface="+mj-lt"/>
              <a:buAutoNum type="arabicPeriod"/>
            </a:pPr>
            <a:r>
              <a:rPr lang="en-US" b="0" dirty="0"/>
              <a:t>Cubic Polynomial algorithm</a:t>
            </a:r>
          </a:p>
          <a:p>
            <a:pPr marL="742950" lvl="1" indent="-457200">
              <a:buFont typeface="+mj-lt"/>
              <a:buAutoNum type="arabicPeriod"/>
            </a:pPr>
            <a:r>
              <a:rPr lang="en-US" b="0" dirty="0"/>
              <a:t>Cubic Orientation Spline algorithm</a:t>
            </a:r>
          </a:p>
          <a:p>
            <a:pPr marL="457200" indent="-457200">
              <a:buFont typeface="+mj-lt"/>
              <a:buAutoNum type="arabicPeriod"/>
            </a:pPr>
            <a:r>
              <a:rPr lang="en-US" b="0" dirty="0"/>
              <a:t>Demonstration</a:t>
            </a:r>
          </a:p>
          <a:p>
            <a:pPr marL="457200" indent="-457200">
              <a:buFont typeface="+mj-lt"/>
              <a:buAutoNum type="arabicPeriod"/>
            </a:pPr>
            <a:r>
              <a:rPr lang="en-US" b="0" dirty="0"/>
              <a:t>Future work</a:t>
            </a:r>
          </a:p>
          <a:p>
            <a:pPr marL="457200" indent="-457200">
              <a:buFont typeface="+mj-lt"/>
              <a:buAutoNum type="arabicPeriod"/>
            </a:pPr>
            <a:endParaRPr lang="en-GB" b="0" dirty="0"/>
          </a:p>
        </p:txBody>
      </p:sp>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Content</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2</a:t>
            </a:fld>
            <a:endParaRPr lang="en-US" dirty="0"/>
          </a:p>
        </p:txBody>
      </p:sp>
    </p:spTree>
    <p:extLst>
      <p:ext uri="{BB962C8B-B14F-4D97-AF65-F5344CB8AC3E}">
        <p14:creationId xmlns:p14="http://schemas.microsoft.com/office/powerpoint/2010/main" val="2250232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AEE1D7-E615-7BD8-14E6-5F4C23A7142C}"/>
              </a:ext>
            </a:extLst>
          </p:cNvPr>
          <p:cNvSpPr>
            <a:spLocks noGrp="1"/>
          </p:cNvSpPr>
          <p:nvPr>
            <p:ph idx="1"/>
          </p:nvPr>
        </p:nvSpPr>
        <p:spPr/>
        <p:txBody>
          <a:bodyPr/>
          <a:lstStyle/>
          <a:p>
            <a:pPr marL="457200" indent="-457200">
              <a:buFont typeface="+mj-lt"/>
              <a:buAutoNum type="arabicPeriod"/>
            </a:pPr>
            <a:r>
              <a:rPr lang="en-US" dirty="0"/>
              <a:t>Problem context – CERN Robotics Framework</a:t>
            </a:r>
          </a:p>
          <a:p>
            <a:pPr marL="457200" indent="-457200">
              <a:buFont typeface="+mj-lt"/>
              <a:buAutoNum type="arabicPeriod"/>
            </a:pPr>
            <a:r>
              <a:rPr lang="en-US" b="0" dirty="0"/>
              <a:t>Task Trajectory Generator design</a:t>
            </a:r>
          </a:p>
          <a:p>
            <a:pPr marL="742950" lvl="1" indent="-457200">
              <a:buFont typeface="+mj-lt"/>
              <a:buAutoNum type="arabicPeriod"/>
            </a:pPr>
            <a:r>
              <a:rPr lang="en-US" b="0" dirty="0"/>
              <a:t>Cubic Polynomial algorithm</a:t>
            </a:r>
          </a:p>
          <a:p>
            <a:pPr marL="742950" lvl="1" indent="-457200">
              <a:buFont typeface="+mj-lt"/>
              <a:buAutoNum type="arabicPeriod"/>
            </a:pPr>
            <a:r>
              <a:rPr lang="en-US" b="0" dirty="0"/>
              <a:t>Cubic Orientation Spline algorithm</a:t>
            </a:r>
          </a:p>
          <a:p>
            <a:pPr marL="457200" indent="-457200">
              <a:buFont typeface="+mj-lt"/>
              <a:buAutoNum type="arabicPeriod"/>
            </a:pPr>
            <a:r>
              <a:rPr lang="en-US" b="0" dirty="0"/>
              <a:t>Demonstration</a:t>
            </a:r>
          </a:p>
          <a:p>
            <a:pPr marL="457200" indent="-457200">
              <a:buFont typeface="+mj-lt"/>
              <a:buAutoNum type="arabicPeriod"/>
            </a:pPr>
            <a:r>
              <a:rPr lang="en-US" b="0" dirty="0"/>
              <a:t>Future work</a:t>
            </a:r>
          </a:p>
          <a:p>
            <a:pPr marL="457200" indent="-457200">
              <a:buFont typeface="+mj-lt"/>
              <a:buAutoNum type="arabicPeriod"/>
            </a:pPr>
            <a:endParaRPr lang="en-GB" b="0" dirty="0"/>
          </a:p>
        </p:txBody>
      </p:sp>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Content</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3</a:t>
            </a:fld>
            <a:endParaRPr lang="en-US" dirty="0"/>
          </a:p>
        </p:txBody>
      </p:sp>
    </p:spTree>
    <p:extLst>
      <p:ext uri="{BB962C8B-B14F-4D97-AF65-F5344CB8AC3E}">
        <p14:creationId xmlns:p14="http://schemas.microsoft.com/office/powerpoint/2010/main" val="22178645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4</a:t>
            </a:fld>
            <a:endParaRPr lang="en-US" dirty="0"/>
          </a:p>
        </p:txBody>
      </p:sp>
      <p:sp>
        <p:nvSpPr>
          <p:cNvPr id="51" name="Rectangle 1">
            <a:extLst>
              <a:ext uri="{FF2B5EF4-FFF2-40B4-BE49-F238E27FC236}">
                <a16:creationId xmlns:a16="http://schemas.microsoft.com/office/drawing/2014/main" id="{EC653236-F2AD-1FAC-CDF8-81887320998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2" name="Rectangle 2">
            <a:extLst>
              <a:ext uri="{FF2B5EF4-FFF2-40B4-BE49-F238E27FC236}">
                <a16:creationId xmlns:a16="http://schemas.microsoft.com/office/drawing/2014/main" id="{EE60B068-47B7-E64E-8545-8D38BBDEC69D}"/>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pic>
        <p:nvPicPr>
          <p:cNvPr id="205" name="Picture 12">
            <a:extLst>
              <a:ext uri="{FF2B5EF4-FFF2-40B4-BE49-F238E27FC236}">
                <a16:creationId xmlns:a16="http://schemas.microsoft.com/office/drawing/2014/main" id="{C0D0E1FA-E4C6-9895-E741-548377DC67E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91243" y="4430749"/>
            <a:ext cx="1794017" cy="1196945"/>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8" name="IMG_2426">
            <a:hlinkClick r:id="" action="ppaction://media"/>
            <a:extLst>
              <a:ext uri="{FF2B5EF4-FFF2-40B4-BE49-F238E27FC236}">
                <a16:creationId xmlns:a16="http://schemas.microsoft.com/office/drawing/2014/main" id="{EA685E37-4E3A-E2C1-B041-D375A20AD8A5}"/>
              </a:ext>
            </a:extLst>
          </p:cNvPr>
          <p:cNvPicPr>
            <a:picLocks noChangeAspect="1"/>
          </p:cNvPicPr>
          <p:nvPr>
            <a:videoFile r:link="rId1"/>
            <p:extLst>
              <p:ext uri="{DAA4B4D4-6D71-4841-9C94-3DE7FCFB9230}">
                <p14:media xmlns:p14="http://schemas.microsoft.com/office/powerpoint/2010/main" r:embed="rId2">
                  <p14:trim end="10701.6666"/>
                </p14:media>
              </p:ext>
            </p:extLst>
          </p:nvPr>
        </p:nvPicPr>
        <p:blipFill rotWithShape="1">
          <a:blip r:embed="rId8"/>
          <a:srcRect l="17508" t="5650" r="8894" b="28312"/>
          <a:stretch/>
        </p:blipFill>
        <p:spPr>
          <a:xfrm>
            <a:off x="4034179" y="3094764"/>
            <a:ext cx="1585840" cy="2529750"/>
          </a:xfrm>
          <a:prstGeom prst="rect">
            <a:avLst/>
          </a:prstGeom>
        </p:spPr>
      </p:pic>
      <p:pic>
        <p:nvPicPr>
          <p:cNvPr id="9" name="Picture 22">
            <a:extLst>
              <a:ext uri="{FF2B5EF4-FFF2-40B4-BE49-F238E27FC236}">
                <a16:creationId xmlns:a16="http://schemas.microsoft.com/office/drawing/2014/main" id="{0CDD475E-EBA6-046A-CEA5-1621C9710AB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791243" y="3094763"/>
            <a:ext cx="1795419" cy="1196945"/>
          </a:xfrm>
          <a:prstGeom prst="rect">
            <a:avLst/>
          </a:prstGeom>
          <a:ln>
            <a:noFill/>
          </a:ln>
          <a:effectLst/>
        </p:spPr>
      </p:pic>
      <p:pic>
        <p:nvPicPr>
          <p:cNvPr id="10" name="TIMVideo">
            <a:hlinkClick r:id="" action="ppaction://media"/>
            <a:extLst>
              <a:ext uri="{FF2B5EF4-FFF2-40B4-BE49-F238E27FC236}">
                <a16:creationId xmlns:a16="http://schemas.microsoft.com/office/drawing/2014/main" id="{6810DFFC-A3DC-FCD3-ECE1-A5CE5CEB5C75}"/>
              </a:ext>
            </a:extLst>
          </p:cNvPr>
          <p:cNvPicPr>
            <a:picLocks noChangeAspect="1"/>
          </p:cNvPicPr>
          <p:nvPr>
            <a:videoFile r:link="rId4"/>
            <p:extLst>
              <p:ext uri="{DAA4B4D4-6D71-4841-9C94-3DE7FCFB9230}">
                <p14:media xmlns:p14="http://schemas.microsoft.com/office/powerpoint/2010/main" r:embed="rId3"/>
              </p:ext>
            </p:extLst>
          </p:nvPr>
        </p:nvPicPr>
        <p:blipFill rotWithShape="1">
          <a:blip r:embed="rId10"/>
          <a:srcRect t="42121" r="13897" b="36175"/>
          <a:stretch/>
        </p:blipFill>
        <p:spPr>
          <a:xfrm>
            <a:off x="4047627" y="1380385"/>
            <a:ext cx="3537634" cy="1585280"/>
          </a:xfrm>
          <a:prstGeom prst="rect">
            <a:avLst/>
          </a:prstGeom>
        </p:spPr>
      </p:pic>
      <p:sp>
        <p:nvSpPr>
          <p:cNvPr id="11" name="Titel 2">
            <a:extLst>
              <a:ext uri="{FF2B5EF4-FFF2-40B4-BE49-F238E27FC236}">
                <a16:creationId xmlns:a16="http://schemas.microsoft.com/office/drawing/2014/main" id="{9A1B3577-FE0E-E3D4-5454-7D1AD465F1A6}"/>
              </a:ext>
            </a:extLst>
          </p:cNvPr>
          <p:cNvSpPr>
            <a:spLocks noGrp="1"/>
          </p:cNvSpPr>
          <p:nvPr>
            <p:ph type="title"/>
          </p:nvPr>
        </p:nvSpPr>
        <p:spPr>
          <a:xfrm>
            <a:off x="407988" y="373593"/>
            <a:ext cx="11376025" cy="1065742"/>
          </a:xfrm>
        </p:spPr>
        <p:txBody>
          <a:bodyPr/>
          <a:lstStyle/>
          <a:p>
            <a:r>
              <a:rPr lang="de-AT" dirty="0"/>
              <a:t>Problem Context – CERN Robotics Framework</a:t>
            </a:r>
          </a:p>
        </p:txBody>
      </p:sp>
    </p:spTree>
    <p:extLst>
      <p:ext uri="{BB962C8B-B14F-4D97-AF65-F5344CB8AC3E}">
        <p14:creationId xmlns:p14="http://schemas.microsoft.com/office/powerpoint/2010/main" val="1109496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500" fill="hold"/>
                                        <p:tgtEl>
                                          <p:spTgt spid="8"/>
                                        </p:tgtEl>
                                      </p:cBhvr>
                                    </p:cmd>
                                  </p:childTnLst>
                                </p:cTn>
                              </p:par>
                              <p:par>
                                <p:cTn id="7" presetID="1" presetClass="mediacall" presetSubtype="0" fill="hold" nodeType="withEffect">
                                  <p:stCondLst>
                                    <p:cond delay="0"/>
                                  </p:stCondLst>
                                  <p:childTnLst>
                                    <p:cmd type="call" cmd="playFrom(0.0)">
                                      <p:cBhvr>
                                        <p:cTn id="8" dur="5567"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9" repeatCount="indefinite" fill="hold" display="0">
                  <p:stCondLst>
                    <p:cond delay="indefinite"/>
                  </p:stCondLst>
                </p:cTn>
                <p:tgtEl>
                  <p:spTgt spid="8"/>
                </p:tgtEl>
              </p:cMediaNode>
            </p:video>
            <p:video>
              <p:cMediaNode vol="80000">
                <p:cTn id="10" repeatCount="indefinite" fill="hold" display="0">
                  <p:stCondLst>
                    <p:cond delay="indefinite"/>
                  </p:stCondLst>
                </p:cTn>
                <p:tgtEl>
                  <p:spTgt spid="10"/>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5</a:t>
            </a:fld>
            <a:endParaRPr lang="en-US" dirty="0"/>
          </a:p>
        </p:txBody>
      </p:sp>
      <p:sp>
        <p:nvSpPr>
          <p:cNvPr id="51" name="Rectangle 1">
            <a:extLst>
              <a:ext uri="{FF2B5EF4-FFF2-40B4-BE49-F238E27FC236}">
                <a16:creationId xmlns:a16="http://schemas.microsoft.com/office/drawing/2014/main" id="{EC653236-F2AD-1FAC-CDF8-81887320998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2" name="Rectangle 2">
            <a:extLst>
              <a:ext uri="{FF2B5EF4-FFF2-40B4-BE49-F238E27FC236}">
                <a16:creationId xmlns:a16="http://schemas.microsoft.com/office/drawing/2014/main" id="{EE60B068-47B7-E64E-8545-8D38BBDEC69D}"/>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pic>
        <p:nvPicPr>
          <p:cNvPr id="13" name="Picture 12">
            <a:extLst>
              <a:ext uri="{FF2B5EF4-FFF2-40B4-BE49-F238E27FC236}">
                <a16:creationId xmlns:a16="http://schemas.microsoft.com/office/drawing/2014/main" id="{3C4B85FD-23AD-359A-7D51-6FE9E56CA686}"/>
              </a:ext>
            </a:extLst>
          </p:cNvPr>
          <p:cNvPicPr>
            <a:picLocks noChangeAspect="1"/>
          </p:cNvPicPr>
          <p:nvPr/>
        </p:nvPicPr>
        <p:blipFill>
          <a:blip r:embed="rId7"/>
          <a:stretch>
            <a:fillRect/>
          </a:stretch>
        </p:blipFill>
        <p:spPr>
          <a:xfrm>
            <a:off x="6096000" y="1330220"/>
            <a:ext cx="5134612" cy="4794991"/>
          </a:xfrm>
          <a:prstGeom prst="rect">
            <a:avLst/>
          </a:prstGeom>
        </p:spPr>
      </p:pic>
      <p:pic>
        <p:nvPicPr>
          <p:cNvPr id="10" name="Picture 12">
            <a:extLst>
              <a:ext uri="{FF2B5EF4-FFF2-40B4-BE49-F238E27FC236}">
                <a16:creationId xmlns:a16="http://schemas.microsoft.com/office/drawing/2014/main" id="{BE07A122-939B-EFCF-DFC3-8D6A0EA26CA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76618" y="4430749"/>
            <a:ext cx="1794017" cy="1196945"/>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11" name="IMG_2426">
            <a:hlinkClick r:id="" action="ppaction://media"/>
            <a:extLst>
              <a:ext uri="{FF2B5EF4-FFF2-40B4-BE49-F238E27FC236}">
                <a16:creationId xmlns:a16="http://schemas.microsoft.com/office/drawing/2014/main" id="{9942E3A7-FA86-E45A-A034-B81E08231D38}"/>
              </a:ext>
            </a:extLst>
          </p:cNvPr>
          <p:cNvPicPr>
            <a:picLocks noChangeAspect="1"/>
          </p:cNvPicPr>
          <p:nvPr>
            <a:videoFile r:link="rId1"/>
            <p:extLst>
              <p:ext uri="{DAA4B4D4-6D71-4841-9C94-3DE7FCFB9230}">
                <p14:media xmlns:p14="http://schemas.microsoft.com/office/powerpoint/2010/main" r:embed="rId2">
                  <p14:trim end="10701.6666"/>
                </p14:media>
              </p:ext>
            </p:extLst>
          </p:nvPr>
        </p:nvPicPr>
        <p:blipFill rotWithShape="1">
          <a:blip r:embed="rId9"/>
          <a:srcRect l="17508" t="5650" r="8894" b="28312"/>
          <a:stretch/>
        </p:blipFill>
        <p:spPr>
          <a:xfrm>
            <a:off x="1319554" y="3094764"/>
            <a:ext cx="1585840" cy="2529750"/>
          </a:xfrm>
          <a:prstGeom prst="rect">
            <a:avLst/>
          </a:prstGeom>
        </p:spPr>
      </p:pic>
      <p:pic>
        <p:nvPicPr>
          <p:cNvPr id="12" name="Picture 22">
            <a:extLst>
              <a:ext uri="{FF2B5EF4-FFF2-40B4-BE49-F238E27FC236}">
                <a16:creationId xmlns:a16="http://schemas.microsoft.com/office/drawing/2014/main" id="{139C15B5-28A5-1479-878F-22B1460CC09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076618" y="3094763"/>
            <a:ext cx="1795419" cy="1196945"/>
          </a:xfrm>
          <a:prstGeom prst="rect">
            <a:avLst/>
          </a:prstGeom>
          <a:ln>
            <a:noFill/>
          </a:ln>
          <a:effectLst/>
        </p:spPr>
      </p:pic>
      <p:pic>
        <p:nvPicPr>
          <p:cNvPr id="14" name="TIMVideo">
            <a:hlinkClick r:id="" action="ppaction://media"/>
            <a:extLst>
              <a:ext uri="{FF2B5EF4-FFF2-40B4-BE49-F238E27FC236}">
                <a16:creationId xmlns:a16="http://schemas.microsoft.com/office/drawing/2014/main" id="{66616980-20A1-FC04-9449-F76B62081574}"/>
              </a:ext>
            </a:extLst>
          </p:cNvPr>
          <p:cNvPicPr>
            <a:picLocks noChangeAspect="1"/>
          </p:cNvPicPr>
          <p:nvPr>
            <a:videoFile r:link="rId4"/>
            <p:extLst>
              <p:ext uri="{DAA4B4D4-6D71-4841-9C94-3DE7FCFB9230}">
                <p14:media xmlns:p14="http://schemas.microsoft.com/office/powerpoint/2010/main" r:embed="rId3"/>
              </p:ext>
            </p:extLst>
          </p:nvPr>
        </p:nvPicPr>
        <p:blipFill rotWithShape="1">
          <a:blip r:embed="rId11"/>
          <a:srcRect t="42121" r="13897" b="36175"/>
          <a:stretch/>
        </p:blipFill>
        <p:spPr>
          <a:xfrm>
            <a:off x="1333002" y="1380385"/>
            <a:ext cx="3537634" cy="1585280"/>
          </a:xfrm>
          <a:prstGeom prst="rect">
            <a:avLst/>
          </a:prstGeom>
        </p:spPr>
      </p:pic>
      <p:sp>
        <p:nvSpPr>
          <p:cNvPr id="8" name="Titel 2">
            <a:extLst>
              <a:ext uri="{FF2B5EF4-FFF2-40B4-BE49-F238E27FC236}">
                <a16:creationId xmlns:a16="http://schemas.microsoft.com/office/drawing/2014/main" id="{A1DA74DA-02BA-2222-A815-81794ABF38C0}"/>
              </a:ext>
            </a:extLst>
          </p:cNvPr>
          <p:cNvSpPr>
            <a:spLocks noGrp="1"/>
          </p:cNvSpPr>
          <p:nvPr>
            <p:ph type="title"/>
          </p:nvPr>
        </p:nvSpPr>
        <p:spPr>
          <a:xfrm>
            <a:off x="407988" y="373593"/>
            <a:ext cx="11376025" cy="1065742"/>
          </a:xfrm>
        </p:spPr>
        <p:txBody>
          <a:bodyPr/>
          <a:lstStyle/>
          <a:p>
            <a:r>
              <a:rPr lang="de-AT" dirty="0"/>
              <a:t>Problem Context – CERN Robotics Framework</a:t>
            </a:r>
          </a:p>
        </p:txBody>
      </p:sp>
    </p:spTree>
    <p:extLst>
      <p:ext uri="{BB962C8B-B14F-4D97-AF65-F5344CB8AC3E}">
        <p14:creationId xmlns:p14="http://schemas.microsoft.com/office/powerpoint/2010/main" val="166904031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500" fill="hold"/>
                                        <p:tgtEl>
                                          <p:spTgt spid="11"/>
                                        </p:tgtEl>
                                      </p:cBhvr>
                                    </p:cmd>
                                  </p:childTnLst>
                                </p:cTn>
                              </p:par>
                              <p:par>
                                <p:cTn id="7" presetID="1" presetClass="mediacall" presetSubtype="0" fill="hold" nodeType="withEffect">
                                  <p:stCondLst>
                                    <p:cond delay="0"/>
                                  </p:stCondLst>
                                  <p:childTnLst>
                                    <p:cmd type="call" cmd="playFrom(0.0)">
                                      <p:cBhvr>
                                        <p:cTn id="8" dur="5567"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9" repeatCount="indefinite" fill="hold" display="0">
                  <p:stCondLst>
                    <p:cond delay="indefinite"/>
                  </p:stCondLst>
                </p:cTn>
                <p:tgtEl>
                  <p:spTgt spid="11"/>
                </p:tgtEl>
              </p:cMediaNode>
            </p:video>
            <p:video>
              <p:cMediaNode vol="80000">
                <p:cTn id="10" repeatCount="indefinite" fill="hold" display="0">
                  <p:stCondLst>
                    <p:cond delay="indefinite"/>
                  </p:stCondLst>
                </p:cTn>
                <p:tgtEl>
                  <p:spTgt spid="14"/>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354194D8-AD87-3CF8-D379-B81682310AD7}"/>
              </a:ext>
            </a:extLst>
          </p:cNvPr>
          <p:cNvSpPr>
            <a:spLocks noGrp="1"/>
          </p:cNvSpPr>
          <p:nvPr>
            <p:ph type="title"/>
          </p:nvPr>
        </p:nvSpPr>
        <p:spPr/>
        <p:txBody>
          <a:bodyPr/>
          <a:lstStyle/>
          <a:p>
            <a:r>
              <a:rPr lang="de-AT" dirty="0"/>
              <a:t>Problem Context – Motion Control</a:t>
            </a:r>
          </a:p>
        </p:txBody>
      </p:sp>
      <p:sp>
        <p:nvSpPr>
          <p:cNvPr id="4" name="Datumsplatzhalter 3">
            <a:extLst>
              <a:ext uri="{FF2B5EF4-FFF2-40B4-BE49-F238E27FC236}">
                <a16:creationId xmlns:a16="http://schemas.microsoft.com/office/drawing/2014/main" id="{DFE882F5-57B0-DCA4-8E6F-FC5C5615B2F1}"/>
              </a:ext>
            </a:extLst>
          </p:cNvPr>
          <p:cNvSpPr>
            <a:spLocks noGrp="1"/>
          </p:cNvSpPr>
          <p:nvPr>
            <p:ph type="dt" sz="half" idx="10"/>
          </p:nvPr>
        </p:nvSpPr>
        <p:spPr/>
        <p:txBody>
          <a:bodyPr/>
          <a:lstStyle/>
          <a:p>
            <a:r>
              <a:rPr lang="en-GB" dirty="0"/>
              <a:t>18/06/2024</a:t>
            </a:r>
            <a:endParaRPr lang="en-US" dirty="0"/>
          </a:p>
        </p:txBody>
      </p:sp>
      <p:sp>
        <p:nvSpPr>
          <p:cNvPr id="5" name="Fußzeilenplatzhalter 4">
            <a:extLst>
              <a:ext uri="{FF2B5EF4-FFF2-40B4-BE49-F238E27FC236}">
                <a16:creationId xmlns:a16="http://schemas.microsoft.com/office/drawing/2014/main" id="{FBA2383E-9028-886C-AC53-4C54E5BCF1CA}"/>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Foliennummernplatzhalter 5">
            <a:extLst>
              <a:ext uri="{FF2B5EF4-FFF2-40B4-BE49-F238E27FC236}">
                <a16:creationId xmlns:a16="http://schemas.microsoft.com/office/drawing/2014/main" id="{9B705BA5-7072-D541-067F-CD2BC42A3EAD}"/>
              </a:ext>
            </a:extLst>
          </p:cNvPr>
          <p:cNvSpPr>
            <a:spLocks noGrp="1"/>
          </p:cNvSpPr>
          <p:nvPr>
            <p:ph type="sldNum" sz="quarter" idx="12"/>
          </p:nvPr>
        </p:nvSpPr>
        <p:spPr/>
        <p:txBody>
          <a:bodyPr/>
          <a:lstStyle/>
          <a:p>
            <a:fld id="{36B5EA5A-BC32-A742-B11B-8E7414D5B535}" type="slidenum">
              <a:rPr lang="en-US" smtClean="0"/>
              <a:pPr/>
              <a:t>6</a:t>
            </a:fld>
            <a:endParaRPr lang="en-US" dirty="0"/>
          </a:p>
        </p:txBody>
      </p:sp>
      <p:grpSp>
        <p:nvGrpSpPr>
          <p:cNvPr id="35" name="Group 34">
            <a:extLst>
              <a:ext uri="{FF2B5EF4-FFF2-40B4-BE49-F238E27FC236}">
                <a16:creationId xmlns:a16="http://schemas.microsoft.com/office/drawing/2014/main" id="{AB2CD2C6-0FDE-270E-7D1D-5971A60C8885}"/>
              </a:ext>
            </a:extLst>
          </p:cNvPr>
          <p:cNvGrpSpPr/>
          <p:nvPr/>
        </p:nvGrpSpPr>
        <p:grpSpPr>
          <a:xfrm>
            <a:off x="2575549" y="1211270"/>
            <a:ext cx="7040901" cy="3970518"/>
            <a:chOff x="1279822" y="2270598"/>
            <a:chExt cx="6050258" cy="3411874"/>
          </a:xfrm>
        </p:grpSpPr>
        <p:sp>
          <p:nvSpPr>
            <p:cNvPr id="41" name="Freeform 13">
              <a:extLst>
                <a:ext uri="{FF2B5EF4-FFF2-40B4-BE49-F238E27FC236}">
                  <a16:creationId xmlns:a16="http://schemas.microsoft.com/office/drawing/2014/main" id="{083A0718-AC73-DFCA-FB60-BEE3CC8CA548}"/>
                </a:ext>
              </a:extLst>
            </p:cNvPr>
            <p:cNvSpPr/>
            <p:nvPr/>
          </p:nvSpPr>
          <p:spPr>
            <a:xfrm>
              <a:off x="3907305" y="2270598"/>
              <a:ext cx="3422775" cy="3411874"/>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a:p>
          </p:txBody>
        </p:sp>
        <p:sp>
          <p:nvSpPr>
            <p:cNvPr id="42" name="Freeform 15">
              <a:extLst>
                <a:ext uri="{FF2B5EF4-FFF2-40B4-BE49-F238E27FC236}">
                  <a16:creationId xmlns:a16="http://schemas.microsoft.com/office/drawing/2014/main" id="{BC31043F-8A94-56CA-8B68-CC2131D48798}"/>
                </a:ext>
              </a:extLst>
            </p:cNvPr>
            <p:cNvSpPr/>
            <p:nvPr/>
          </p:nvSpPr>
          <p:spPr>
            <a:xfrm>
              <a:off x="2722572" y="4644763"/>
              <a:ext cx="613182" cy="613182"/>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3" name="Freeform 16">
              <a:extLst>
                <a:ext uri="{FF2B5EF4-FFF2-40B4-BE49-F238E27FC236}">
                  <a16:creationId xmlns:a16="http://schemas.microsoft.com/office/drawing/2014/main" id="{37BB65B3-5BF7-37FD-3CAB-38A16A378506}"/>
                </a:ext>
              </a:extLst>
            </p:cNvPr>
            <p:cNvSpPr/>
            <p:nvPr/>
          </p:nvSpPr>
          <p:spPr>
            <a:xfrm>
              <a:off x="1279822" y="4260259"/>
              <a:ext cx="871200" cy="871200"/>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4" name="Freeform 17">
              <a:extLst>
                <a:ext uri="{FF2B5EF4-FFF2-40B4-BE49-F238E27FC236}">
                  <a16:creationId xmlns:a16="http://schemas.microsoft.com/office/drawing/2014/main" id="{D8C7E461-4DC4-A3FD-BF9D-690858A037BC}"/>
                </a:ext>
              </a:extLst>
            </p:cNvPr>
            <p:cNvSpPr/>
            <p:nvPr/>
          </p:nvSpPr>
          <p:spPr>
            <a:xfrm>
              <a:off x="1537428" y="2951690"/>
              <a:ext cx="1041177" cy="1188065"/>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grpSp>
    </p:spTree>
    <p:extLst>
      <p:ext uri="{BB962C8B-B14F-4D97-AF65-F5344CB8AC3E}">
        <p14:creationId xmlns:p14="http://schemas.microsoft.com/office/powerpoint/2010/main" val="1071954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354194D8-AD87-3CF8-D379-B81682310AD7}"/>
              </a:ext>
            </a:extLst>
          </p:cNvPr>
          <p:cNvSpPr>
            <a:spLocks noGrp="1"/>
          </p:cNvSpPr>
          <p:nvPr>
            <p:ph type="title"/>
          </p:nvPr>
        </p:nvSpPr>
        <p:spPr/>
        <p:txBody>
          <a:bodyPr/>
          <a:lstStyle/>
          <a:p>
            <a:r>
              <a:rPr lang="de-AT" dirty="0"/>
              <a:t>Problem Context – Motion Control</a:t>
            </a:r>
          </a:p>
        </p:txBody>
      </p:sp>
      <p:sp>
        <p:nvSpPr>
          <p:cNvPr id="4" name="Datumsplatzhalter 3">
            <a:extLst>
              <a:ext uri="{FF2B5EF4-FFF2-40B4-BE49-F238E27FC236}">
                <a16:creationId xmlns:a16="http://schemas.microsoft.com/office/drawing/2014/main" id="{DFE882F5-57B0-DCA4-8E6F-FC5C5615B2F1}"/>
              </a:ext>
            </a:extLst>
          </p:cNvPr>
          <p:cNvSpPr>
            <a:spLocks noGrp="1"/>
          </p:cNvSpPr>
          <p:nvPr>
            <p:ph type="dt" sz="half" idx="10"/>
          </p:nvPr>
        </p:nvSpPr>
        <p:spPr/>
        <p:txBody>
          <a:bodyPr/>
          <a:lstStyle/>
          <a:p>
            <a:r>
              <a:rPr lang="en-GB" dirty="0"/>
              <a:t>18/06/2024</a:t>
            </a:r>
            <a:endParaRPr lang="en-US" dirty="0"/>
          </a:p>
        </p:txBody>
      </p:sp>
      <p:sp>
        <p:nvSpPr>
          <p:cNvPr id="5" name="Fußzeilenplatzhalter 4">
            <a:extLst>
              <a:ext uri="{FF2B5EF4-FFF2-40B4-BE49-F238E27FC236}">
                <a16:creationId xmlns:a16="http://schemas.microsoft.com/office/drawing/2014/main" id="{FBA2383E-9028-886C-AC53-4C54E5BCF1CA}"/>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Foliennummernplatzhalter 5">
            <a:extLst>
              <a:ext uri="{FF2B5EF4-FFF2-40B4-BE49-F238E27FC236}">
                <a16:creationId xmlns:a16="http://schemas.microsoft.com/office/drawing/2014/main" id="{9B705BA5-7072-D541-067F-CD2BC42A3EAD}"/>
              </a:ext>
            </a:extLst>
          </p:cNvPr>
          <p:cNvSpPr>
            <a:spLocks noGrp="1"/>
          </p:cNvSpPr>
          <p:nvPr>
            <p:ph type="sldNum" sz="quarter" idx="12"/>
          </p:nvPr>
        </p:nvSpPr>
        <p:spPr/>
        <p:txBody>
          <a:bodyPr/>
          <a:lstStyle/>
          <a:p>
            <a:fld id="{36B5EA5A-BC32-A742-B11B-8E7414D5B535}" type="slidenum">
              <a:rPr lang="en-US" smtClean="0"/>
              <a:pPr/>
              <a:t>7</a:t>
            </a:fld>
            <a:endParaRPr lang="en-US" dirty="0"/>
          </a:p>
        </p:txBody>
      </p:sp>
      <p:grpSp>
        <p:nvGrpSpPr>
          <p:cNvPr id="20" name="Group 19">
            <a:extLst>
              <a:ext uri="{FF2B5EF4-FFF2-40B4-BE49-F238E27FC236}">
                <a16:creationId xmlns:a16="http://schemas.microsoft.com/office/drawing/2014/main" id="{087D4B15-975B-CF4E-F86B-8124BDDDACCD}"/>
              </a:ext>
            </a:extLst>
          </p:cNvPr>
          <p:cNvGrpSpPr/>
          <p:nvPr/>
        </p:nvGrpSpPr>
        <p:grpSpPr>
          <a:xfrm>
            <a:off x="2575549" y="1211270"/>
            <a:ext cx="7040901" cy="3970518"/>
            <a:chOff x="2764634" y="4139767"/>
            <a:chExt cx="1766536" cy="996188"/>
          </a:xfrm>
        </p:grpSpPr>
        <p:grpSp>
          <p:nvGrpSpPr>
            <p:cNvPr id="25" name="Group 24">
              <a:extLst>
                <a:ext uri="{FF2B5EF4-FFF2-40B4-BE49-F238E27FC236}">
                  <a16:creationId xmlns:a16="http://schemas.microsoft.com/office/drawing/2014/main" id="{E7D7E13A-98F1-8E10-833B-6677EEA62802}"/>
                </a:ext>
              </a:extLst>
            </p:cNvPr>
            <p:cNvGrpSpPr/>
            <p:nvPr/>
          </p:nvGrpSpPr>
          <p:grpSpPr>
            <a:xfrm>
              <a:off x="2764634" y="4139767"/>
              <a:ext cx="1766536" cy="996188"/>
              <a:chOff x="1279822" y="2270598"/>
              <a:chExt cx="6050258" cy="3411874"/>
            </a:xfrm>
          </p:grpSpPr>
          <p:sp>
            <p:nvSpPr>
              <p:cNvPr id="31" name="Freeform 13">
                <a:extLst>
                  <a:ext uri="{FF2B5EF4-FFF2-40B4-BE49-F238E27FC236}">
                    <a16:creationId xmlns:a16="http://schemas.microsoft.com/office/drawing/2014/main" id="{2300E3D1-3978-B6F4-DDA6-097977912F43}"/>
                  </a:ext>
                </a:extLst>
              </p:cNvPr>
              <p:cNvSpPr/>
              <p:nvPr/>
            </p:nvSpPr>
            <p:spPr>
              <a:xfrm>
                <a:off x="3907305" y="2270598"/>
                <a:ext cx="3422775" cy="3411874"/>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a:p>
            </p:txBody>
          </p:sp>
          <p:sp>
            <p:nvSpPr>
              <p:cNvPr id="33" name="Freeform 15">
                <a:extLst>
                  <a:ext uri="{FF2B5EF4-FFF2-40B4-BE49-F238E27FC236}">
                    <a16:creationId xmlns:a16="http://schemas.microsoft.com/office/drawing/2014/main" id="{8AD84D52-AD33-9AFD-49E5-82516F6B8407}"/>
                  </a:ext>
                </a:extLst>
              </p:cNvPr>
              <p:cNvSpPr/>
              <p:nvPr/>
            </p:nvSpPr>
            <p:spPr>
              <a:xfrm>
                <a:off x="2722572" y="4644763"/>
                <a:ext cx="613182" cy="613182"/>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34" name="Freeform 16">
                <a:extLst>
                  <a:ext uri="{FF2B5EF4-FFF2-40B4-BE49-F238E27FC236}">
                    <a16:creationId xmlns:a16="http://schemas.microsoft.com/office/drawing/2014/main" id="{716D0166-B6EB-2953-7F6C-F0A7FF0EBCF4}"/>
                  </a:ext>
                </a:extLst>
              </p:cNvPr>
              <p:cNvSpPr/>
              <p:nvPr/>
            </p:nvSpPr>
            <p:spPr>
              <a:xfrm>
                <a:off x="1279822" y="4260259"/>
                <a:ext cx="871200" cy="871200"/>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35" name="Freeform 17">
                <a:extLst>
                  <a:ext uri="{FF2B5EF4-FFF2-40B4-BE49-F238E27FC236}">
                    <a16:creationId xmlns:a16="http://schemas.microsoft.com/office/drawing/2014/main" id="{F6076D37-56F4-7543-2C19-E29D4D637BA2}"/>
                  </a:ext>
                </a:extLst>
              </p:cNvPr>
              <p:cNvSpPr/>
              <p:nvPr/>
            </p:nvSpPr>
            <p:spPr>
              <a:xfrm>
                <a:off x="1537428" y="2951690"/>
                <a:ext cx="1041177" cy="1188065"/>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grpSp>
        <p:sp>
          <p:nvSpPr>
            <p:cNvPr id="26" name="Oval 25">
              <a:extLst>
                <a:ext uri="{FF2B5EF4-FFF2-40B4-BE49-F238E27FC236}">
                  <a16:creationId xmlns:a16="http://schemas.microsoft.com/office/drawing/2014/main" id="{31C75393-D250-85D0-CD46-FDCC01F5DAF3}"/>
                </a:ext>
              </a:extLst>
            </p:cNvPr>
            <p:cNvSpPr/>
            <p:nvPr/>
          </p:nvSpPr>
          <p:spPr>
            <a:xfrm>
              <a:off x="3084737" y="4750848"/>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a:extLst>
                <a:ext uri="{FF2B5EF4-FFF2-40B4-BE49-F238E27FC236}">
                  <a16:creationId xmlns:a16="http://schemas.microsoft.com/office/drawing/2014/main" id="{9732D890-7FE6-E5D4-6B0A-BB5F79C2B089}"/>
                </a:ext>
              </a:extLst>
            </p:cNvPr>
            <p:cNvSpPr/>
            <p:nvPr/>
          </p:nvSpPr>
          <p:spPr>
            <a:xfrm>
              <a:off x="3065857" y="5012949"/>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27">
              <a:extLst>
                <a:ext uri="{FF2B5EF4-FFF2-40B4-BE49-F238E27FC236}">
                  <a16:creationId xmlns:a16="http://schemas.microsoft.com/office/drawing/2014/main" id="{D73D868A-AD64-272A-0B1D-CE6FE6AD771C}"/>
                </a:ext>
              </a:extLst>
            </p:cNvPr>
            <p:cNvSpPr/>
            <p:nvPr/>
          </p:nvSpPr>
          <p:spPr>
            <a:xfrm>
              <a:off x="3404320" y="4999695"/>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Oval 28">
              <a:extLst>
                <a:ext uri="{FF2B5EF4-FFF2-40B4-BE49-F238E27FC236}">
                  <a16:creationId xmlns:a16="http://schemas.microsoft.com/office/drawing/2014/main" id="{17560C55-9FDF-CA2D-FC6E-7109CE650BC6}"/>
                </a:ext>
              </a:extLst>
            </p:cNvPr>
            <p:cNvSpPr/>
            <p:nvPr/>
          </p:nvSpPr>
          <p:spPr>
            <a:xfrm>
              <a:off x="3669353" y="4991789"/>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a:extLst>
                <a:ext uri="{FF2B5EF4-FFF2-40B4-BE49-F238E27FC236}">
                  <a16:creationId xmlns:a16="http://schemas.microsoft.com/office/drawing/2014/main" id="{F5904818-4716-A71E-4011-248344199C25}"/>
                </a:ext>
              </a:extLst>
            </p:cNvPr>
            <p:cNvSpPr/>
            <p:nvPr/>
          </p:nvSpPr>
          <p:spPr>
            <a:xfrm>
              <a:off x="3019004" y="4585416"/>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Rectangle: Rounded Corners 1">
            <a:extLst>
              <a:ext uri="{FF2B5EF4-FFF2-40B4-BE49-F238E27FC236}">
                <a16:creationId xmlns:a16="http://schemas.microsoft.com/office/drawing/2014/main" id="{78B1CE93-7F1A-3E3C-75A2-D82A90A3A5F5}"/>
              </a:ext>
            </a:extLst>
          </p:cNvPr>
          <p:cNvSpPr/>
          <p:nvPr/>
        </p:nvSpPr>
        <p:spPr>
          <a:xfrm>
            <a:off x="4463063" y="1617907"/>
            <a:ext cx="2340363" cy="321843"/>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PathPlanner</a:t>
            </a:r>
            <a:endParaRPr lang="en-GB" sz="1400" dirty="0">
              <a:solidFill>
                <a:srgbClr val="003399"/>
              </a:solidFill>
            </a:endParaRPr>
          </a:p>
        </p:txBody>
      </p:sp>
    </p:spTree>
    <p:extLst>
      <p:ext uri="{BB962C8B-B14F-4D97-AF65-F5344CB8AC3E}">
        <p14:creationId xmlns:p14="http://schemas.microsoft.com/office/powerpoint/2010/main" val="2427371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354194D8-AD87-3CF8-D379-B81682310AD7}"/>
              </a:ext>
            </a:extLst>
          </p:cNvPr>
          <p:cNvSpPr>
            <a:spLocks noGrp="1"/>
          </p:cNvSpPr>
          <p:nvPr>
            <p:ph type="title"/>
          </p:nvPr>
        </p:nvSpPr>
        <p:spPr/>
        <p:txBody>
          <a:bodyPr/>
          <a:lstStyle/>
          <a:p>
            <a:r>
              <a:rPr lang="de-AT" dirty="0"/>
              <a:t>Problem Context – Motion Control</a:t>
            </a:r>
          </a:p>
        </p:txBody>
      </p:sp>
      <p:sp>
        <p:nvSpPr>
          <p:cNvPr id="4" name="Datumsplatzhalter 3">
            <a:extLst>
              <a:ext uri="{FF2B5EF4-FFF2-40B4-BE49-F238E27FC236}">
                <a16:creationId xmlns:a16="http://schemas.microsoft.com/office/drawing/2014/main" id="{DFE882F5-57B0-DCA4-8E6F-FC5C5615B2F1}"/>
              </a:ext>
            </a:extLst>
          </p:cNvPr>
          <p:cNvSpPr>
            <a:spLocks noGrp="1"/>
          </p:cNvSpPr>
          <p:nvPr>
            <p:ph type="dt" sz="half" idx="10"/>
          </p:nvPr>
        </p:nvSpPr>
        <p:spPr/>
        <p:txBody>
          <a:bodyPr/>
          <a:lstStyle/>
          <a:p>
            <a:r>
              <a:rPr lang="en-GB" dirty="0"/>
              <a:t>18/06/2024</a:t>
            </a:r>
            <a:endParaRPr lang="en-US" dirty="0"/>
          </a:p>
        </p:txBody>
      </p:sp>
      <p:sp>
        <p:nvSpPr>
          <p:cNvPr id="5" name="Fußzeilenplatzhalter 4">
            <a:extLst>
              <a:ext uri="{FF2B5EF4-FFF2-40B4-BE49-F238E27FC236}">
                <a16:creationId xmlns:a16="http://schemas.microsoft.com/office/drawing/2014/main" id="{FBA2383E-9028-886C-AC53-4C54E5BCF1CA}"/>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Foliennummernplatzhalter 5">
            <a:extLst>
              <a:ext uri="{FF2B5EF4-FFF2-40B4-BE49-F238E27FC236}">
                <a16:creationId xmlns:a16="http://schemas.microsoft.com/office/drawing/2014/main" id="{9B705BA5-7072-D541-067F-CD2BC42A3EAD}"/>
              </a:ext>
            </a:extLst>
          </p:cNvPr>
          <p:cNvSpPr>
            <a:spLocks noGrp="1"/>
          </p:cNvSpPr>
          <p:nvPr>
            <p:ph type="sldNum" sz="quarter" idx="12"/>
          </p:nvPr>
        </p:nvSpPr>
        <p:spPr/>
        <p:txBody>
          <a:bodyPr/>
          <a:lstStyle/>
          <a:p>
            <a:fld id="{36B5EA5A-BC32-A742-B11B-8E7414D5B535}" type="slidenum">
              <a:rPr lang="en-US" smtClean="0"/>
              <a:pPr/>
              <a:t>8</a:t>
            </a:fld>
            <a:endParaRPr lang="en-US" dirty="0"/>
          </a:p>
        </p:txBody>
      </p:sp>
      <p:grpSp>
        <p:nvGrpSpPr>
          <p:cNvPr id="73" name="Group 72">
            <a:extLst>
              <a:ext uri="{FF2B5EF4-FFF2-40B4-BE49-F238E27FC236}">
                <a16:creationId xmlns:a16="http://schemas.microsoft.com/office/drawing/2014/main" id="{6C899ACA-D40C-C58E-212A-392EC5739D6D}"/>
              </a:ext>
            </a:extLst>
          </p:cNvPr>
          <p:cNvGrpSpPr/>
          <p:nvPr/>
        </p:nvGrpSpPr>
        <p:grpSpPr>
          <a:xfrm>
            <a:off x="2575551" y="1211271"/>
            <a:ext cx="7040902" cy="4435459"/>
            <a:chOff x="2764634" y="4139767"/>
            <a:chExt cx="1766536" cy="1112840"/>
          </a:xfrm>
        </p:grpSpPr>
        <p:grpSp>
          <p:nvGrpSpPr>
            <p:cNvPr id="93" name="Group 92">
              <a:extLst>
                <a:ext uri="{FF2B5EF4-FFF2-40B4-BE49-F238E27FC236}">
                  <a16:creationId xmlns:a16="http://schemas.microsoft.com/office/drawing/2014/main" id="{B3EA26E8-2863-7E0C-3A40-82C28CF77362}"/>
                </a:ext>
              </a:extLst>
            </p:cNvPr>
            <p:cNvGrpSpPr/>
            <p:nvPr/>
          </p:nvGrpSpPr>
          <p:grpSpPr>
            <a:xfrm>
              <a:off x="2764634" y="4139767"/>
              <a:ext cx="1766536" cy="1112840"/>
              <a:chOff x="1279822" y="2270598"/>
              <a:chExt cx="6050258" cy="3811399"/>
            </a:xfrm>
          </p:grpSpPr>
          <p:sp>
            <p:nvSpPr>
              <p:cNvPr id="99" name="Freeform 13">
                <a:extLst>
                  <a:ext uri="{FF2B5EF4-FFF2-40B4-BE49-F238E27FC236}">
                    <a16:creationId xmlns:a16="http://schemas.microsoft.com/office/drawing/2014/main" id="{BEC5BDF7-396A-CB33-5C5D-1167E7855693}"/>
                  </a:ext>
                </a:extLst>
              </p:cNvPr>
              <p:cNvSpPr/>
              <p:nvPr/>
            </p:nvSpPr>
            <p:spPr>
              <a:xfrm>
                <a:off x="3907305" y="2270598"/>
                <a:ext cx="3422775" cy="3411874"/>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a:p>
            </p:txBody>
          </p:sp>
          <p:sp>
            <p:nvSpPr>
              <p:cNvPr id="100" name="Freeform 14">
                <a:extLst>
                  <a:ext uri="{FF2B5EF4-FFF2-40B4-BE49-F238E27FC236}">
                    <a16:creationId xmlns:a16="http://schemas.microsoft.com/office/drawing/2014/main" id="{4FF11122-3C85-8BEF-1FF0-0562C9F8B88D}"/>
                  </a:ext>
                </a:extLst>
              </p:cNvPr>
              <p:cNvSpPr/>
              <p:nvPr/>
            </p:nvSpPr>
            <p:spPr>
              <a:xfrm>
                <a:off x="2048828" y="3976535"/>
                <a:ext cx="2388253" cy="2105462"/>
              </a:xfrm>
              <a:custGeom>
                <a:avLst/>
                <a:gdLst/>
                <a:ahLst/>
                <a:cxnLst/>
                <a:rect l="l" t="t" r="r" b="b"/>
                <a:pathLst>
                  <a:path w="2388253" h="2105462">
                    <a:moveTo>
                      <a:pt x="0" y="0"/>
                    </a:moveTo>
                    <a:lnTo>
                      <a:pt x="2388253" y="0"/>
                    </a:lnTo>
                    <a:lnTo>
                      <a:pt x="2388253" y="2105462"/>
                    </a:lnTo>
                    <a:lnTo>
                      <a:pt x="0" y="2105462"/>
                    </a:lnTo>
                    <a:lnTo>
                      <a:pt x="0" y="0"/>
                    </a:lnTo>
                    <a:close/>
                  </a:path>
                </a:pathLst>
              </a:custGeom>
              <a:blipFill>
                <a:blip r:embed="rId4"/>
                <a:stretch>
                  <a:fillRect l="-16072" t="-8057"/>
                </a:stretch>
              </a:blipFill>
            </p:spPr>
            <p:txBody>
              <a:bodyPr/>
              <a:lstStyle/>
              <a:p>
                <a:endParaRPr lang="en-GB"/>
              </a:p>
            </p:txBody>
          </p:sp>
          <p:sp>
            <p:nvSpPr>
              <p:cNvPr id="101" name="Freeform 15">
                <a:extLst>
                  <a:ext uri="{FF2B5EF4-FFF2-40B4-BE49-F238E27FC236}">
                    <a16:creationId xmlns:a16="http://schemas.microsoft.com/office/drawing/2014/main" id="{DA65C54A-F791-0AB4-E0EC-5BBA85540221}"/>
                  </a:ext>
                </a:extLst>
              </p:cNvPr>
              <p:cNvSpPr/>
              <p:nvPr/>
            </p:nvSpPr>
            <p:spPr>
              <a:xfrm>
                <a:off x="2722572" y="4644763"/>
                <a:ext cx="613182" cy="613182"/>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102" name="Freeform 16">
                <a:extLst>
                  <a:ext uri="{FF2B5EF4-FFF2-40B4-BE49-F238E27FC236}">
                    <a16:creationId xmlns:a16="http://schemas.microsoft.com/office/drawing/2014/main" id="{A43C81CF-2FC8-09BB-627D-B2FCB6BAF9BC}"/>
                  </a:ext>
                </a:extLst>
              </p:cNvPr>
              <p:cNvSpPr/>
              <p:nvPr/>
            </p:nvSpPr>
            <p:spPr>
              <a:xfrm>
                <a:off x="1279822" y="4260259"/>
                <a:ext cx="871200" cy="871200"/>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103" name="Freeform 17">
                <a:extLst>
                  <a:ext uri="{FF2B5EF4-FFF2-40B4-BE49-F238E27FC236}">
                    <a16:creationId xmlns:a16="http://schemas.microsoft.com/office/drawing/2014/main" id="{5ADA51E5-B9C7-01E8-EB60-3FCE0F866FA1}"/>
                  </a:ext>
                </a:extLst>
              </p:cNvPr>
              <p:cNvSpPr/>
              <p:nvPr/>
            </p:nvSpPr>
            <p:spPr>
              <a:xfrm>
                <a:off x="1537428" y="2951690"/>
                <a:ext cx="1041177" cy="1188065"/>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grpSp>
        <p:sp>
          <p:nvSpPr>
            <p:cNvPr id="94" name="Oval 93">
              <a:extLst>
                <a:ext uri="{FF2B5EF4-FFF2-40B4-BE49-F238E27FC236}">
                  <a16:creationId xmlns:a16="http://schemas.microsoft.com/office/drawing/2014/main" id="{0F819998-183F-65D2-030C-83C05046223C}"/>
                </a:ext>
              </a:extLst>
            </p:cNvPr>
            <p:cNvSpPr/>
            <p:nvPr/>
          </p:nvSpPr>
          <p:spPr>
            <a:xfrm>
              <a:off x="3084737" y="4750848"/>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Oval 94">
              <a:extLst>
                <a:ext uri="{FF2B5EF4-FFF2-40B4-BE49-F238E27FC236}">
                  <a16:creationId xmlns:a16="http://schemas.microsoft.com/office/drawing/2014/main" id="{FD96636E-53E5-FB7B-0132-79501D241AC9}"/>
                </a:ext>
              </a:extLst>
            </p:cNvPr>
            <p:cNvSpPr/>
            <p:nvPr/>
          </p:nvSpPr>
          <p:spPr>
            <a:xfrm>
              <a:off x="3065857" y="5012950"/>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Oval 95">
              <a:extLst>
                <a:ext uri="{FF2B5EF4-FFF2-40B4-BE49-F238E27FC236}">
                  <a16:creationId xmlns:a16="http://schemas.microsoft.com/office/drawing/2014/main" id="{DEEA2AF5-F88C-2F85-38F0-8C318DDDFD82}"/>
                </a:ext>
              </a:extLst>
            </p:cNvPr>
            <p:cNvSpPr/>
            <p:nvPr/>
          </p:nvSpPr>
          <p:spPr>
            <a:xfrm>
              <a:off x="3404319" y="4999696"/>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Oval 97">
              <a:extLst>
                <a:ext uri="{FF2B5EF4-FFF2-40B4-BE49-F238E27FC236}">
                  <a16:creationId xmlns:a16="http://schemas.microsoft.com/office/drawing/2014/main" id="{664347F2-025A-A412-16E5-80395F4DCF77}"/>
                </a:ext>
              </a:extLst>
            </p:cNvPr>
            <p:cNvSpPr/>
            <p:nvPr/>
          </p:nvSpPr>
          <p:spPr>
            <a:xfrm>
              <a:off x="3019003" y="4585416"/>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Oval 96">
              <a:extLst>
                <a:ext uri="{FF2B5EF4-FFF2-40B4-BE49-F238E27FC236}">
                  <a16:creationId xmlns:a16="http://schemas.microsoft.com/office/drawing/2014/main" id="{FB9D116B-969C-FFFF-18D8-4CE269E0958D}"/>
                </a:ext>
              </a:extLst>
            </p:cNvPr>
            <p:cNvSpPr/>
            <p:nvPr/>
          </p:nvSpPr>
          <p:spPr>
            <a:xfrm>
              <a:off x="3669353" y="4991789"/>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89" name="Straight Arrow Connector 88">
            <a:extLst>
              <a:ext uri="{FF2B5EF4-FFF2-40B4-BE49-F238E27FC236}">
                <a16:creationId xmlns:a16="http://schemas.microsoft.com/office/drawing/2014/main" id="{4F80A5F2-D085-4AE1-00EE-10A0C762DF34}"/>
              </a:ext>
            </a:extLst>
          </p:cNvPr>
          <p:cNvCxnSpPr>
            <a:cxnSpLocks/>
          </p:cNvCxnSpPr>
          <p:nvPr/>
        </p:nvCxnSpPr>
        <p:spPr>
          <a:xfrm flipH="1">
            <a:off x="6106816" y="4735941"/>
            <a:ext cx="244775" cy="27537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2172C1C5-1B17-80F6-F573-3F3AF701EC97}"/>
              </a:ext>
            </a:extLst>
          </p:cNvPr>
          <p:cNvCxnSpPr/>
          <p:nvPr/>
        </p:nvCxnSpPr>
        <p:spPr>
          <a:xfrm flipV="1">
            <a:off x="6349252" y="4215156"/>
            <a:ext cx="0" cy="538658"/>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F89298DE-185B-B4B2-F551-49A1CE118A43}"/>
              </a:ext>
            </a:extLst>
          </p:cNvPr>
          <p:cNvCxnSpPr>
            <a:cxnSpLocks/>
          </p:cNvCxnSpPr>
          <p:nvPr/>
        </p:nvCxnSpPr>
        <p:spPr>
          <a:xfrm flipH="1">
            <a:off x="5808930" y="4735941"/>
            <a:ext cx="56083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D6463CAA-4341-EF16-8602-24AEE5BAD47E}"/>
              </a:ext>
            </a:extLst>
          </p:cNvPr>
          <p:cNvSpPr/>
          <p:nvPr/>
        </p:nvSpPr>
        <p:spPr>
          <a:xfrm>
            <a:off x="4463063" y="1617907"/>
            <a:ext cx="2340363" cy="321843"/>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TaskTrajectoryGenerator</a:t>
            </a:r>
            <a:endParaRPr lang="en-GB" sz="1400" dirty="0">
              <a:solidFill>
                <a:srgbClr val="003399"/>
              </a:solidFill>
            </a:endParaRPr>
          </a:p>
        </p:txBody>
      </p:sp>
    </p:spTree>
    <p:extLst>
      <p:ext uri="{BB962C8B-B14F-4D97-AF65-F5344CB8AC3E}">
        <p14:creationId xmlns:p14="http://schemas.microsoft.com/office/powerpoint/2010/main" val="4281203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Freeform 13">
            <a:extLst>
              <a:ext uri="{FF2B5EF4-FFF2-40B4-BE49-F238E27FC236}">
                <a16:creationId xmlns:a16="http://schemas.microsoft.com/office/drawing/2014/main" id="{BEC5BDF7-396A-CB33-5C5D-1167E7855693}"/>
              </a:ext>
            </a:extLst>
          </p:cNvPr>
          <p:cNvSpPr/>
          <p:nvPr/>
        </p:nvSpPr>
        <p:spPr>
          <a:xfrm>
            <a:off x="5633245" y="1211271"/>
            <a:ext cx="3983205" cy="3970518"/>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a:p>
        </p:txBody>
      </p:sp>
      <p:sp>
        <p:nvSpPr>
          <p:cNvPr id="51" name="Freeform: Shape 50">
            <a:extLst>
              <a:ext uri="{FF2B5EF4-FFF2-40B4-BE49-F238E27FC236}">
                <a16:creationId xmlns:a16="http://schemas.microsoft.com/office/drawing/2014/main" id="{501F3C3C-8361-560E-8903-844FBBC83AF0}"/>
              </a:ext>
            </a:extLst>
          </p:cNvPr>
          <p:cNvSpPr/>
          <p:nvPr/>
        </p:nvSpPr>
        <p:spPr>
          <a:xfrm>
            <a:off x="3825840" y="3196530"/>
            <a:ext cx="2396196" cy="1915660"/>
          </a:xfrm>
          <a:custGeom>
            <a:avLst/>
            <a:gdLst>
              <a:gd name="connsiteX0" fmla="*/ 0 w 819150"/>
              <a:gd name="connsiteY0" fmla="*/ 0 h 505609"/>
              <a:gd name="connsiteX1" fmla="*/ 88900 w 819150"/>
              <a:gd name="connsiteY1" fmla="*/ 79375 h 505609"/>
              <a:gd name="connsiteX2" fmla="*/ 66675 w 819150"/>
              <a:gd name="connsiteY2" fmla="*/ 193675 h 505609"/>
              <a:gd name="connsiteX3" fmla="*/ 12700 w 819150"/>
              <a:gd name="connsiteY3" fmla="*/ 339725 h 505609"/>
              <a:gd name="connsiteX4" fmla="*/ 53975 w 819150"/>
              <a:gd name="connsiteY4" fmla="*/ 460375 h 505609"/>
              <a:gd name="connsiteX5" fmla="*/ 196850 w 819150"/>
              <a:gd name="connsiteY5" fmla="*/ 504825 h 505609"/>
              <a:gd name="connsiteX6" fmla="*/ 403225 w 819150"/>
              <a:gd name="connsiteY6" fmla="*/ 428625 h 505609"/>
              <a:gd name="connsiteX7" fmla="*/ 571500 w 819150"/>
              <a:gd name="connsiteY7" fmla="*/ 377825 h 505609"/>
              <a:gd name="connsiteX8" fmla="*/ 819150 w 819150"/>
              <a:gd name="connsiteY8" fmla="*/ 450850 h 505609"/>
              <a:gd name="connsiteX0" fmla="*/ 0 w 692150"/>
              <a:gd name="connsiteY0" fmla="*/ 0 h 505609"/>
              <a:gd name="connsiteX1" fmla="*/ 88900 w 692150"/>
              <a:gd name="connsiteY1" fmla="*/ 79375 h 505609"/>
              <a:gd name="connsiteX2" fmla="*/ 66675 w 692150"/>
              <a:gd name="connsiteY2" fmla="*/ 193675 h 505609"/>
              <a:gd name="connsiteX3" fmla="*/ 12700 w 692150"/>
              <a:gd name="connsiteY3" fmla="*/ 339725 h 505609"/>
              <a:gd name="connsiteX4" fmla="*/ 53975 w 692150"/>
              <a:gd name="connsiteY4" fmla="*/ 460375 h 505609"/>
              <a:gd name="connsiteX5" fmla="*/ 196850 w 692150"/>
              <a:gd name="connsiteY5" fmla="*/ 504825 h 505609"/>
              <a:gd name="connsiteX6" fmla="*/ 403225 w 692150"/>
              <a:gd name="connsiteY6" fmla="*/ 428625 h 505609"/>
              <a:gd name="connsiteX7" fmla="*/ 571500 w 692150"/>
              <a:gd name="connsiteY7" fmla="*/ 377825 h 505609"/>
              <a:gd name="connsiteX8" fmla="*/ 692150 w 692150"/>
              <a:gd name="connsiteY8" fmla="*/ 403225 h 505609"/>
              <a:gd name="connsiteX0" fmla="*/ 0 w 692150"/>
              <a:gd name="connsiteY0" fmla="*/ 0 h 505609"/>
              <a:gd name="connsiteX1" fmla="*/ 88900 w 692150"/>
              <a:gd name="connsiteY1" fmla="*/ 79375 h 505609"/>
              <a:gd name="connsiteX2" fmla="*/ 66675 w 692150"/>
              <a:gd name="connsiteY2" fmla="*/ 193675 h 505609"/>
              <a:gd name="connsiteX3" fmla="*/ 12700 w 692150"/>
              <a:gd name="connsiteY3" fmla="*/ 339725 h 505609"/>
              <a:gd name="connsiteX4" fmla="*/ 53975 w 692150"/>
              <a:gd name="connsiteY4" fmla="*/ 460375 h 505609"/>
              <a:gd name="connsiteX5" fmla="*/ 196850 w 692150"/>
              <a:gd name="connsiteY5" fmla="*/ 504825 h 505609"/>
              <a:gd name="connsiteX6" fmla="*/ 403225 w 692150"/>
              <a:gd name="connsiteY6" fmla="*/ 428625 h 505609"/>
              <a:gd name="connsiteX7" fmla="*/ 571500 w 692150"/>
              <a:gd name="connsiteY7" fmla="*/ 377825 h 505609"/>
              <a:gd name="connsiteX8" fmla="*/ 692150 w 692150"/>
              <a:gd name="connsiteY8" fmla="*/ 403225 h 505609"/>
              <a:gd name="connsiteX0" fmla="*/ 0 w 692150"/>
              <a:gd name="connsiteY0" fmla="*/ 0 h 506323"/>
              <a:gd name="connsiteX1" fmla="*/ 88900 w 692150"/>
              <a:gd name="connsiteY1" fmla="*/ 79375 h 506323"/>
              <a:gd name="connsiteX2" fmla="*/ 66675 w 692150"/>
              <a:gd name="connsiteY2" fmla="*/ 193675 h 506323"/>
              <a:gd name="connsiteX3" fmla="*/ 12700 w 692150"/>
              <a:gd name="connsiteY3" fmla="*/ 339725 h 506323"/>
              <a:gd name="connsiteX4" fmla="*/ 53975 w 692150"/>
              <a:gd name="connsiteY4" fmla="*/ 460375 h 506323"/>
              <a:gd name="connsiteX5" fmla="*/ 196850 w 692150"/>
              <a:gd name="connsiteY5" fmla="*/ 504825 h 506323"/>
              <a:gd name="connsiteX6" fmla="*/ 425450 w 692150"/>
              <a:gd name="connsiteY6" fmla="*/ 412750 h 506323"/>
              <a:gd name="connsiteX7" fmla="*/ 571500 w 692150"/>
              <a:gd name="connsiteY7" fmla="*/ 377825 h 506323"/>
              <a:gd name="connsiteX8" fmla="*/ 692150 w 692150"/>
              <a:gd name="connsiteY8" fmla="*/ 403225 h 506323"/>
              <a:gd name="connsiteX0" fmla="*/ 0 w 692150"/>
              <a:gd name="connsiteY0" fmla="*/ 0 h 519023"/>
              <a:gd name="connsiteX1" fmla="*/ 88900 w 692150"/>
              <a:gd name="connsiteY1" fmla="*/ 92075 h 519023"/>
              <a:gd name="connsiteX2" fmla="*/ 66675 w 692150"/>
              <a:gd name="connsiteY2" fmla="*/ 206375 h 519023"/>
              <a:gd name="connsiteX3" fmla="*/ 12700 w 692150"/>
              <a:gd name="connsiteY3" fmla="*/ 352425 h 519023"/>
              <a:gd name="connsiteX4" fmla="*/ 53975 w 692150"/>
              <a:gd name="connsiteY4" fmla="*/ 473075 h 519023"/>
              <a:gd name="connsiteX5" fmla="*/ 196850 w 692150"/>
              <a:gd name="connsiteY5" fmla="*/ 517525 h 519023"/>
              <a:gd name="connsiteX6" fmla="*/ 425450 w 692150"/>
              <a:gd name="connsiteY6" fmla="*/ 425450 h 519023"/>
              <a:gd name="connsiteX7" fmla="*/ 571500 w 692150"/>
              <a:gd name="connsiteY7" fmla="*/ 390525 h 519023"/>
              <a:gd name="connsiteX8" fmla="*/ 692150 w 692150"/>
              <a:gd name="connsiteY8" fmla="*/ 415925 h 519023"/>
              <a:gd name="connsiteX0" fmla="*/ 0 w 692150"/>
              <a:gd name="connsiteY0" fmla="*/ 0 h 519023"/>
              <a:gd name="connsiteX1" fmla="*/ 104775 w 692150"/>
              <a:gd name="connsiteY1" fmla="*/ 92075 h 519023"/>
              <a:gd name="connsiteX2" fmla="*/ 66675 w 692150"/>
              <a:gd name="connsiteY2" fmla="*/ 206375 h 519023"/>
              <a:gd name="connsiteX3" fmla="*/ 12700 w 692150"/>
              <a:gd name="connsiteY3" fmla="*/ 352425 h 519023"/>
              <a:gd name="connsiteX4" fmla="*/ 53975 w 692150"/>
              <a:gd name="connsiteY4" fmla="*/ 473075 h 519023"/>
              <a:gd name="connsiteX5" fmla="*/ 196850 w 692150"/>
              <a:gd name="connsiteY5" fmla="*/ 517525 h 519023"/>
              <a:gd name="connsiteX6" fmla="*/ 425450 w 692150"/>
              <a:gd name="connsiteY6" fmla="*/ 425450 h 519023"/>
              <a:gd name="connsiteX7" fmla="*/ 571500 w 692150"/>
              <a:gd name="connsiteY7" fmla="*/ 390525 h 519023"/>
              <a:gd name="connsiteX8" fmla="*/ 692150 w 692150"/>
              <a:gd name="connsiteY8" fmla="*/ 415925 h 519023"/>
              <a:gd name="connsiteX0" fmla="*/ 16101 w 679676"/>
              <a:gd name="connsiteY0" fmla="*/ 0 h 538073"/>
              <a:gd name="connsiteX1" fmla="*/ 92301 w 679676"/>
              <a:gd name="connsiteY1" fmla="*/ 111125 h 538073"/>
              <a:gd name="connsiteX2" fmla="*/ 54201 w 679676"/>
              <a:gd name="connsiteY2" fmla="*/ 225425 h 538073"/>
              <a:gd name="connsiteX3" fmla="*/ 226 w 679676"/>
              <a:gd name="connsiteY3" fmla="*/ 371475 h 538073"/>
              <a:gd name="connsiteX4" fmla="*/ 41501 w 679676"/>
              <a:gd name="connsiteY4" fmla="*/ 492125 h 538073"/>
              <a:gd name="connsiteX5" fmla="*/ 184376 w 679676"/>
              <a:gd name="connsiteY5" fmla="*/ 536575 h 538073"/>
              <a:gd name="connsiteX6" fmla="*/ 412976 w 679676"/>
              <a:gd name="connsiteY6" fmla="*/ 444500 h 538073"/>
              <a:gd name="connsiteX7" fmla="*/ 559026 w 679676"/>
              <a:gd name="connsiteY7" fmla="*/ 409575 h 538073"/>
              <a:gd name="connsiteX8" fmla="*/ 679676 w 679676"/>
              <a:gd name="connsiteY8" fmla="*/ 434975 h 538073"/>
              <a:gd name="connsiteX0" fmla="*/ 16204 w 679779"/>
              <a:gd name="connsiteY0" fmla="*/ 0 h 538073"/>
              <a:gd name="connsiteX1" fmla="*/ 92404 w 679779"/>
              <a:gd name="connsiteY1" fmla="*/ 111125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6204 w 679779"/>
              <a:gd name="connsiteY0" fmla="*/ 0 h 538073"/>
              <a:gd name="connsiteX1" fmla="*/ 98754 w 679779"/>
              <a:gd name="connsiteY1" fmla="*/ 88900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6204 w 679779"/>
              <a:gd name="connsiteY0" fmla="*/ 0 h 538073"/>
              <a:gd name="connsiteX1" fmla="*/ 79704 w 679779"/>
              <a:gd name="connsiteY1" fmla="*/ 79375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5880 w 679455"/>
              <a:gd name="connsiteY0" fmla="*/ 0 h 538073"/>
              <a:gd name="connsiteX1" fmla="*/ 79380 w 679455"/>
              <a:gd name="connsiteY1" fmla="*/ 79375 h 538073"/>
              <a:gd name="connsiteX2" fmla="*/ 42868 w 679455"/>
              <a:gd name="connsiteY2" fmla="*/ 219869 h 538073"/>
              <a:gd name="connsiteX3" fmla="*/ 5 w 679455"/>
              <a:gd name="connsiteY3" fmla="*/ 371475 h 538073"/>
              <a:gd name="connsiteX4" fmla="*/ 41280 w 679455"/>
              <a:gd name="connsiteY4" fmla="*/ 492125 h 538073"/>
              <a:gd name="connsiteX5" fmla="*/ 184155 w 679455"/>
              <a:gd name="connsiteY5" fmla="*/ 536575 h 538073"/>
              <a:gd name="connsiteX6" fmla="*/ 412755 w 679455"/>
              <a:gd name="connsiteY6" fmla="*/ 444500 h 538073"/>
              <a:gd name="connsiteX7" fmla="*/ 558805 w 679455"/>
              <a:gd name="connsiteY7" fmla="*/ 409575 h 538073"/>
              <a:gd name="connsiteX8" fmla="*/ 679455 w 679455"/>
              <a:gd name="connsiteY8" fmla="*/ 434975 h 538073"/>
              <a:gd name="connsiteX0" fmla="*/ 15880 w 679455"/>
              <a:gd name="connsiteY0" fmla="*/ 0 h 538073"/>
              <a:gd name="connsiteX1" fmla="*/ 79380 w 679455"/>
              <a:gd name="connsiteY1" fmla="*/ 79375 h 538073"/>
              <a:gd name="connsiteX2" fmla="*/ 42868 w 679455"/>
              <a:gd name="connsiteY2" fmla="*/ 219869 h 538073"/>
              <a:gd name="connsiteX3" fmla="*/ 5 w 679455"/>
              <a:gd name="connsiteY3" fmla="*/ 371475 h 538073"/>
              <a:gd name="connsiteX4" fmla="*/ 41280 w 679455"/>
              <a:gd name="connsiteY4" fmla="*/ 492125 h 538073"/>
              <a:gd name="connsiteX5" fmla="*/ 184155 w 679455"/>
              <a:gd name="connsiteY5" fmla="*/ 536575 h 538073"/>
              <a:gd name="connsiteX6" fmla="*/ 412755 w 679455"/>
              <a:gd name="connsiteY6" fmla="*/ 444500 h 538073"/>
              <a:gd name="connsiteX7" fmla="*/ 558805 w 679455"/>
              <a:gd name="connsiteY7" fmla="*/ 409575 h 538073"/>
              <a:gd name="connsiteX8" fmla="*/ 679455 w 679455"/>
              <a:gd name="connsiteY8" fmla="*/ 434975 h 538073"/>
              <a:gd name="connsiteX0" fmla="*/ 6366 w 669941"/>
              <a:gd name="connsiteY0" fmla="*/ 0 h 538090"/>
              <a:gd name="connsiteX1" fmla="*/ 69866 w 669941"/>
              <a:gd name="connsiteY1" fmla="*/ 79375 h 538090"/>
              <a:gd name="connsiteX2" fmla="*/ 33354 w 669941"/>
              <a:gd name="connsiteY2" fmla="*/ 219869 h 538090"/>
              <a:gd name="connsiteX3" fmla="*/ 16 w 669941"/>
              <a:gd name="connsiteY3" fmla="*/ 369093 h 538090"/>
              <a:gd name="connsiteX4" fmla="*/ 31766 w 669941"/>
              <a:gd name="connsiteY4" fmla="*/ 492125 h 538090"/>
              <a:gd name="connsiteX5" fmla="*/ 174641 w 669941"/>
              <a:gd name="connsiteY5" fmla="*/ 536575 h 538090"/>
              <a:gd name="connsiteX6" fmla="*/ 403241 w 669941"/>
              <a:gd name="connsiteY6" fmla="*/ 444500 h 538090"/>
              <a:gd name="connsiteX7" fmla="*/ 549291 w 669941"/>
              <a:gd name="connsiteY7" fmla="*/ 409575 h 538090"/>
              <a:gd name="connsiteX8" fmla="*/ 669941 w 669941"/>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9018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6952 w 670527"/>
              <a:gd name="connsiteY0" fmla="*/ 0 h 538090"/>
              <a:gd name="connsiteX1" fmla="*/ 89502 w 670527"/>
              <a:gd name="connsiteY1" fmla="*/ 79375 h 538090"/>
              <a:gd name="connsiteX2" fmla="*/ 48228 w 670527"/>
              <a:gd name="connsiteY2" fmla="*/ 207962 h 538090"/>
              <a:gd name="connsiteX3" fmla="*/ 602 w 670527"/>
              <a:gd name="connsiteY3" fmla="*/ 369093 h 538090"/>
              <a:gd name="connsiteX4" fmla="*/ 32352 w 670527"/>
              <a:gd name="connsiteY4" fmla="*/ 492125 h 538090"/>
              <a:gd name="connsiteX5" fmla="*/ 175227 w 670527"/>
              <a:gd name="connsiteY5" fmla="*/ 536575 h 538090"/>
              <a:gd name="connsiteX6" fmla="*/ 403827 w 670527"/>
              <a:gd name="connsiteY6" fmla="*/ 444500 h 538090"/>
              <a:gd name="connsiteX7" fmla="*/ 549877 w 670527"/>
              <a:gd name="connsiteY7" fmla="*/ 409575 h 538090"/>
              <a:gd name="connsiteX8" fmla="*/ 670527 w 670527"/>
              <a:gd name="connsiteY8" fmla="*/ 434975 h 538090"/>
              <a:gd name="connsiteX0" fmla="*/ 6952 w 670527"/>
              <a:gd name="connsiteY0" fmla="*/ 0 h 538090"/>
              <a:gd name="connsiteX1" fmla="*/ 72834 w 670527"/>
              <a:gd name="connsiteY1" fmla="*/ 79375 h 538090"/>
              <a:gd name="connsiteX2" fmla="*/ 48228 w 670527"/>
              <a:gd name="connsiteY2" fmla="*/ 207962 h 538090"/>
              <a:gd name="connsiteX3" fmla="*/ 602 w 670527"/>
              <a:gd name="connsiteY3" fmla="*/ 369093 h 538090"/>
              <a:gd name="connsiteX4" fmla="*/ 32352 w 670527"/>
              <a:gd name="connsiteY4" fmla="*/ 492125 h 538090"/>
              <a:gd name="connsiteX5" fmla="*/ 175227 w 670527"/>
              <a:gd name="connsiteY5" fmla="*/ 536575 h 538090"/>
              <a:gd name="connsiteX6" fmla="*/ 403827 w 670527"/>
              <a:gd name="connsiteY6" fmla="*/ 444500 h 538090"/>
              <a:gd name="connsiteX7" fmla="*/ 549877 w 670527"/>
              <a:gd name="connsiteY7" fmla="*/ 409575 h 538090"/>
              <a:gd name="connsiteX8" fmla="*/ 670527 w 670527"/>
              <a:gd name="connsiteY8" fmla="*/ 434975 h 538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0527" h="538090">
                <a:moveTo>
                  <a:pt x="6952" y="0"/>
                </a:moveTo>
                <a:cubicBezTo>
                  <a:pt x="45846" y="23548"/>
                  <a:pt x="65955" y="44715"/>
                  <a:pt x="72834" y="79375"/>
                </a:cubicBezTo>
                <a:cubicBezTo>
                  <a:pt x="79713" y="114035"/>
                  <a:pt x="60267" y="159676"/>
                  <a:pt x="48228" y="207962"/>
                </a:cubicBezTo>
                <a:cubicBezTo>
                  <a:pt x="36189" y="256248"/>
                  <a:pt x="3248" y="321732"/>
                  <a:pt x="602" y="369093"/>
                </a:cubicBezTo>
                <a:cubicBezTo>
                  <a:pt x="-2044" y="416454"/>
                  <a:pt x="3248" y="464211"/>
                  <a:pt x="32352" y="492125"/>
                </a:cubicBezTo>
                <a:cubicBezTo>
                  <a:pt x="61456" y="520039"/>
                  <a:pt x="113315" y="544512"/>
                  <a:pt x="175227" y="536575"/>
                </a:cubicBezTo>
                <a:cubicBezTo>
                  <a:pt x="237139" y="528638"/>
                  <a:pt x="341385" y="465667"/>
                  <a:pt x="403827" y="444500"/>
                </a:cubicBezTo>
                <a:cubicBezTo>
                  <a:pt x="466269" y="423333"/>
                  <a:pt x="480556" y="405871"/>
                  <a:pt x="549877" y="409575"/>
                </a:cubicBezTo>
                <a:cubicBezTo>
                  <a:pt x="619198" y="413279"/>
                  <a:pt x="600412" y="409839"/>
                  <a:pt x="670527" y="434975"/>
                </a:cubicBezTo>
              </a:path>
            </a:pathLst>
          </a:cu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itel 2">
            <a:extLst>
              <a:ext uri="{FF2B5EF4-FFF2-40B4-BE49-F238E27FC236}">
                <a16:creationId xmlns:a16="http://schemas.microsoft.com/office/drawing/2014/main" id="{354194D8-AD87-3CF8-D379-B81682310AD7}"/>
              </a:ext>
            </a:extLst>
          </p:cNvPr>
          <p:cNvSpPr>
            <a:spLocks noGrp="1"/>
          </p:cNvSpPr>
          <p:nvPr>
            <p:ph type="title"/>
          </p:nvPr>
        </p:nvSpPr>
        <p:spPr/>
        <p:txBody>
          <a:bodyPr/>
          <a:lstStyle/>
          <a:p>
            <a:r>
              <a:rPr lang="de-AT" dirty="0"/>
              <a:t>Problem Context – Motion Control</a:t>
            </a:r>
          </a:p>
        </p:txBody>
      </p:sp>
      <p:sp>
        <p:nvSpPr>
          <p:cNvPr id="4" name="Datumsplatzhalter 3">
            <a:extLst>
              <a:ext uri="{FF2B5EF4-FFF2-40B4-BE49-F238E27FC236}">
                <a16:creationId xmlns:a16="http://schemas.microsoft.com/office/drawing/2014/main" id="{DFE882F5-57B0-DCA4-8E6F-FC5C5615B2F1}"/>
              </a:ext>
            </a:extLst>
          </p:cNvPr>
          <p:cNvSpPr>
            <a:spLocks noGrp="1"/>
          </p:cNvSpPr>
          <p:nvPr>
            <p:ph type="dt" sz="half" idx="10"/>
          </p:nvPr>
        </p:nvSpPr>
        <p:spPr/>
        <p:txBody>
          <a:bodyPr/>
          <a:lstStyle/>
          <a:p>
            <a:r>
              <a:rPr lang="en-GB" dirty="0"/>
              <a:t>18/06/2024</a:t>
            </a:r>
            <a:endParaRPr lang="en-US" dirty="0"/>
          </a:p>
        </p:txBody>
      </p:sp>
      <p:sp>
        <p:nvSpPr>
          <p:cNvPr id="5" name="Fußzeilenplatzhalter 4">
            <a:extLst>
              <a:ext uri="{FF2B5EF4-FFF2-40B4-BE49-F238E27FC236}">
                <a16:creationId xmlns:a16="http://schemas.microsoft.com/office/drawing/2014/main" id="{FBA2383E-9028-886C-AC53-4C54E5BCF1CA}"/>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Foliennummernplatzhalter 5">
            <a:extLst>
              <a:ext uri="{FF2B5EF4-FFF2-40B4-BE49-F238E27FC236}">
                <a16:creationId xmlns:a16="http://schemas.microsoft.com/office/drawing/2014/main" id="{9B705BA5-7072-D541-067F-CD2BC42A3EAD}"/>
              </a:ext>
            </a:extLst>
          </p:cNvPr>
          <p:cNvSpPr>
            <a:spLocks noGrp="1"/>
          </p:cNvSpPr>
          <p:nvPr>
            <p:ph type="sldNum" sz="quarter" idx="12"/>
          </p:nvPr>
        </p:nvSpPr>
        <p:spPr/>
        <p:txBody>
          <a:bodyPr/>
          <a:lstStyle/>
          <a:p>
            <a:fld id="{36B5EA5A-BC32-A742-B11B-8E7414D5B535}" type="slidenum">
              <a:rPr lang="en-US" smtClean="0"/>
              <a:pPr/>
              <a:t>9</a:t>
            </a:fld>
            <a:endParaRPr lang="en-US" dirty="0"/>
          </a:p>
        </p:txBody>
      </p:sp>
      <p:grpSp>
        <p:nvGrpSpPr>
          <p:cNvPr id="2" name="Group 1">
            <a:extLst>
              <a:ext uri="{FF2B5EF4-FFF2-40B4-BE49-F238E27FC236}">
                <a16:creationId xmlns:a16="http://schemas.microsoft.com/office/drawing/2014/main" id="{016DE929-4BAA-C54D-9F89-52A5188158D2}"/>
              </a:ext>
            </a:extLst>
          </p:cNvPr>
          <p:cNvGrpSpPr/>
          <p:nvPr/>
        </p:nvGrpSpPr>
        <p:grpSpPr>
          <a:xfrm>
            <a:off x="2575549" y="2003882"/>
            <a:ext cx="2392562" cy="2683870"/>
            <a:chOff x="2575549" y="2003882"/>
            <a:chExt cx="2392562" cy="2683870"/>
          </a:xfrm>
        </p:grpSpPr>
        <p:sp>
          <p:nvSpPr>
            <p:cNvPr id="101" name="Freeform 15">
              <a:extLst>
                <a:ext uri="{FF2B5EF4-FFF2-40B4-BE49-F238E27FC236}">
                  <a16:creationId xmlns:a16="http://schemas.microsoft.com/office/drawing/2014/main" id="{DA65C54A-F791-0AB4-E0EC-5BBA85540221}"/>
                </a:ext>
              </a:extLst>
            </p:cNvPr>
            <p:cNvSpPr/>
            <p:nvPr/>
          </p:nvSpPr>
          <p:spPr>
            <a:xfrm>
              <a:off x="4254529" y="3974170"/>
              <a:ext cx="713582" cy="713582"/>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102" name="Freeform 16">
              <a:extLst>
                <a:ext uri="{FF2B5EF4-FFF2-40B4-BE49-F238E27FC236}">
                  <a16:creationId xmlns:a16="http://schemas.microsoft.com/office/drawing/2014/main" id="{A43C81CF-2FC8-09BB-627D-B2FCB6BAF9BC}"/>
                </a:ext>
              </a:extLst>
            </p:cNvPr>
            <p:cNvSpPr/>
            <p:nvPr/>
          </p:nvSpPr>
          <p:spPr>
            <a:xfrm>
              <a:off x="2575549" y="3526710"/>
              <a:ext cx="1013847" cy="1013846"/>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103" name="Freeform 17">
              <a:extLst>
                <a:ext uri="{FF2B5EF4-FFF2-40B4-BE49-F238E27FC236}">
                  <a16:creationId xmlns:a16="http://schemas.microsoft.com/office/drawing/2014/main" id="{5ADA51E5-B9C7-01E8-EB60-3FCE0F866FA1}"/>
                </a:ext>
              </a:extLst>
            </p:cNvPr>
            <p:cNvSpPr/>
            <p:nvPr/>
          </p:nvSpPr>
          <p:spPr>
            <a:xfrm>
              <a:off x="2875334" y="2003882"/>
              <a:ext cx="1211655" cy="1382593"/>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grpSp>
      <p:sp>
        <p:nvSpPr>
          <p:cNvPr id="94" name="Oval 93">
            <a:extLst>
              <a:ext uri="{FF2B5EF4-FFF2-40B4-BE49-F238E27FC236}">
                <a16:creationId xmlns:a16="http://schemas.microsoft.com/office/drawing/2014/main" id="{0F819998-183F-65D2-030C-83C05046223C}"/>
              </a:ext>
            </a:extLst>
          </p:cNvPr>
          <p:cNvSpPr/>
          <p:nvPr/>
        </p:nvSpPr>
        <p:spPr>
          <a:xfrm>
            <a:off x="3851387" y="3646864"/>
            <a:ext cx="309343" cy="309343"/>
          </a:xfrm>
          <a:prstGeom prst="ellipse">
            <a:avLst/>
          </a:prstGeom>
          <a:solidFill>
            <a:srgbClr val="FF0000"/>
          </a:solid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Oval 94">
            <a:extLst>
              <a:ext uri="{FF2B5EF4-FFF2-40B4-BE49-F238E27FC236}">
                <a16:creationId xmlns:a16="http://schemas.microsoft.com/office/drawing/2014/main" id="{FD96636E-53E5-FB7B-0132-79501D241AC9}"/>
              </a:ext>
            </a:extLst>
          </p:cNvPr>
          <p:cNvSpPr/>
          <p:nvPr/>
        </p:nvSpPr>
        <p:spPr>
          <a:xfrm>
            <a:off x="3776137" y="4691523"/>
            <a:ext cx="309343" cy="309343"/>
          </a:xfrm>
          <a:prstGeom prst="ellipse">
            <a:avLst/>
          </a:prstGeom>
          <a:solidFill>
            <a:srgbClr val="FF0000"/>
          </a:solid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Oval 95">
            <a:extLst>
              <a:ext uri="{FF2B5EF4-FFF2-40B4-BE49-F238E27FC236}">
                <a16:creationId xmlns:a16="http://schemas.microsoft.com/office/drawing/2014/main" id="{DEEA2AF5-F88C-2F85-38F0-8C318DDDFD82}"/>
              </a:ext>
            </a:extLst>
          </p:cNvPr>
          <p:cNvSpPr/>
          <p:nvPr/>
        </p:nvSpPr>
        <p:spPr>
          <a:xfrm>
            <a:off x="5125152" y="4638696"/>
            <a:ext cx="309343" cy="309343"/>
          </a:xfrm>
          <a:prstGeom prst="ellipse">
            <a:avLst/>
          </a:prstGeom>
          <a:solidFill>
            <a:srgbClr val="FF0000"/>
          </a:solid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Oval 96">
            <a:extLst>
              <a:ext uri="{FF2B5EF4-FFF2-40B4-BE49-F238E27FC236}">
                <a16:creationId xmlns:a16="http://schemas.microsoft.com/office/drawing/2014/main" id="{FB9D116B-969C-FFFF-18D8-4CE269E0958D}"/>
              </a:ext>
            </a:extLst>
          </p:cNvPr>
          <p:cNvSpPr/>
          <p:nvPr/>
        </p:nvSpPr>
        <p:spPr>
          <a:xfrm>
            <a:off x="6181497" y="4607185"/>
            <a:ext cx="309343" cy="309343"/>
          </a:xfrm>
          <a:prstGeom prst="ellipse">
            <a:avLst/>
          </a:prstGeom>
          <a:solidFill>
            <a:srgbClr val="FF0000"/>
          </a:solid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Oval 97">
            <a:extLst>
              <a:ext uri="{FF2B5EF4-FFF2-40B4-BE49-F238E27FC236}">
                <a16:creationId xmlns:a16="http://schemas.microsoft.com/office/drawing/2014/main" id="{664347F2-025A-A412-16E5-80395F4DCF77}"/>
              </a:ext>
            </a:extLst>
          </p:cNvPr>
          <p:cNvSpPr/>
          <p:nvPr/>
        </p:nvSpPr>
        <p:spPr>
          <a:xfrm>
            <a:off x="3589394" y="2987499"/>
            <a:ext cx="309343" cy="309343"/>
          </a:xfrm>
          <a:prstGeom prst="ellipse">
            <a:avLst/>
          </a:prstGeom>
          <a:solidFill>
            <a:srgbClr val="FF0000"/>
          </a:solid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FC4237A8-8F9A-F528-B68C-F1640724691D}"/>
                  </a:ext>
                </a:extLst>
              </p:cNvPr>
              <p:cNvSpPr txBox="1"/>
              <p:nvPr/>
            </p:nvSpPr>
            <p:spPr>
              <a:xfrm>
                <a:off x="8916246" y="1640017"/>
                <a:ext cx="2327851" cy="163743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AU" i="1" smtClean="0">
                              <a:solidFill>
                                <a:srgbClr val="FF0000"/>
                              </a:solidFill>
                              <a:latin typeface="Cambria Math" panose="02040503050406030204" pitchFamily="18" charset="0"/>
                            </a:rPr>
                          </m:ctrlPr>
                        </m:accPr>
                        <m:e>
                          <m:r>
                            <a:rPr lang="en-AU" b="0" i="1" smtClean="0">
                              <a:solidFill>
                                <a:srgbClr val="FF0000"/>
                              </a:solidFill>
                              <a:latin typeface="Cambria Math" panose="02040503050406030204" pitchFamily="18" charset="0"/>
                            </a:rPr>
                            <m:t>𝐽</m:t>
                          </m:r>
                        </m:e>
                      </m:acc>
                      <m:r>
                        <a:rPr lang="en-AU" b="0" i="1" smtClean="0">
                          <a:solidFill>
                            <a:srgbClr val="FF0000"/>
                          </a:solidFill>
                          <a:latin typeface="Cambria Math" panose="02040503050406030204" pitchFamily="18" charset="0"/>
                        </a:rPr>
                        <m:t>=</m:t>
                      </m:r>
                      <m:d>
                        <m:dPr>
                          <m:begChr m:val="["/>
                          <m:endChr m:val="]"/>
                          <m:ctrlPr>
                            <a:rPr lang="en-AU" b="0" i="1" smtClean="0">
                              <a:solidFill>
                                <a:srgbClr val="FF0000"/>
                              </a:solidFill>
                              <a:latin typeface="Cambria Math" panose="02040503050406030204" pitchFamily="18" charset="0"/>
                            </a:rPr>
                          </m:ctrlPr>
                        </m:dPr>
                        <m:e>
                          <m:m>
                            <m:mPr>
                              <m:mcs>
                                <m:mc>
                                  <m:mcPr>
                                    <m:count m:val="1"/>
                                    <m:mcJc m:val="center"/>
                                  </m:mcPr>
                                </m:mc>
                              </m:mcs>
                              <m:ctrlPr>
                                <a:rPr lang="en-AU" b="0" i="1" smtClean="0">
                                  <a:solidFill>
                                    <a:srgbClr val="FF0000"/>
                                  </a:solidFill>
                                  <a:latin typeface="Cambria Math" panose="02040503050406030204" pitchFamily="18" charset="0"/>
                                </a:rPr>
                              </m:ctrlPr>
                            </m:mPr>
                            <m:mr>
                              <m:e>
                                <m:sSub>
                                  <m:sSubPr>
                                    <m:ctrlPr>
                                      <a:rPr lang="en-AU" b="0" i="1" smtClean="0">
                                        <a:solidFill>
                                          <a:srgbClr val="FF0000"/>
                                        </a:solidFill>
                                        <a:latin typeface="Cambria Math" panose="02040503050406030204" pitchFamily="18" charset="0"/>
                                      </a:rPr>
                                    </m:ctrlPr>
                                  </m:sSubPr>
                                  <m:e>
                                    <m:r>
                                      <a:rPr lang="en-AU" b="0" i="1" smtClean="0">
                                        <a:solidFill>
                                          <a:srgbClr val="FF0000"/>
                                        </a:solidFill>
                                        <a:latin typeface="Cambria Math" panose="02040503050406030204" pitchFamily="18" charset="0"/>
                                      </a:rPr>
                                      <m:t>𝜃</m:t>
                                    </m:r>
                                  </m:e>
                                  <m:sub>
                                    <m:r>
                                      <a:rPr lang="en-AU" b="0" i="1" smtClean="0">
                                        <a:solidFill>
                                          <a:srgbClr val="FF0000"/>
                                        </a:solidFill>
                                        <a:latin typeface="Cambria Math" panose="02040503050406030204" pitchFamily="18" charset="0"/>
                                      </a:rPr>
                                      <m:t>1</m:t>
                                    </m:r>
                                  </m:sub>
                                </m:sSub>
                              </m:e>
                            </m:mr>
                            <m:mr>
                              <m:e>
                                <m:eqArr>
                                  <m:eqArrPr>
                                    <m:ctrlPr>
                                      <a:rPr lang="en-AU" b="0" i="1" smtClean="0">
                                        <a:solidFill>
                                          <a:srgbClr val="FF0000"/>
                                        </a:solidFill>
                                        <a:latin typeface="Cambria Math" panose="02040503050406030204" pitchFamily="18" charset="0"/>
                                      </a:rPr>
                                    </m:ctrlPr>
                                  </m:eqArrPr>
                                  <m:e>
                                    <m:sSub>
                                      <m:sSubPr>
                                        <m:ctrlPr>
                                          <a:rPr lang="en-AU" i="1">
                                            <a:solidFill>
                                              <a:srgbClr val="FF0000"/>
                                            </a:solidFill>
                                            <a:latin typeface="Cambria Math" panose="02040503050406030204" pitchFamily="18" charset="0"/>
                                          </a:rPr>
                                        </m:ctrlPr>
                                      </m:sSubPr>
                                      <m:e>
                                        <m:r>
                                          <a:rPr lang="en-AU" i="1">
                                            <a:solidFill>
                                              <a:srgbClr val="FF0000"/>
                                            </a:solidFill>
                                            <a:latin typeface="Cambria Math" panose="02040503050406030204" pitchFamily="18" charset="0"/>
                                          </a:rPr>
                                          <m:t>𝜃</m:t>
                                        </m:r>
                                      </m:e>
                                      <m:sub>
                                        <m:r>
                                          <a:rPr lang="en-AU" b="0" i="1" smtClean="0">
                                            <a:solidFill>
                                              <a:srgbClr val="FF0000"/>
                                            </a:solidFill>
                                            <a:latin typeface="Cambria Math" panose="02040503050406030204" pitchFamily="18" charset="0"/>
                                          </a:rPr>
                                          <m:t>2</m:t>
                                        </m:r>
                                      </m:sub>
                                    </m:sSub>
                                  </m:e>
                                  <m:e>
                                    <m:sSub>
                                      <m:sSubPr>
                                        <m:ctrlPr>
                                          <a:rPr lang="en-AU" i="1">
                                            <a:solidFill>
                                              <a:srgbClr val="FF0000"/>
                                            </a:solidFill>
                                            <a:latin typeface="Cambria Math" panose="02040503050406030204" pitchFamily="18" charset="0"/>
                                          </a:rPr>
                                        </m:ctrlPr>
                                      </m:sSubPr>
                                      <m:e>
                                        <m:r>
                                          <a:rPr lang="en-AU" i="1">
                                            <a:solidFill>
                                              <a:srgbClr val="FF0000"/>
                                            </a:solidFill>
                                            <a:latin typeface="Cambria Math" panose="02040503050406030204" pitchFamily="18" charset="0"/>
                                          </a:rPr>
                                          <m:t>𝜃</m:t>
                                        </m:r>
                                      </m:e>
                                      <m:sub>
                                        <m:r>
                                          <a:rPr lang="en-AU" b="0" i="1" smtClean="0">
                                            <a:solidFill>
                                              <a:srgbClr val="FF0000"/>
                                            </a:solidFill>
                                            <a:latin typeface="Cambria Math" panose="02040503050406030204" pitchFamily="18" charset="0"/>
                                          </a:rPr>
                                          <m:t>3</m:t>
                                        </m:r>
                                      </m:sub>
                                    </m:sSub>
                                  </m:e>
                                  <m:e>
                                    <m:sSub>
                                      <m:sSubPr>
                                        <m:ctrlPr>
                                          <a:rPr lang="en-AU" i="1">
                                            <a:solidFill>
                                              <a:srgbClr val="FF0000"/>
                                            </a:solidFill>
                                            <a:latin typeface="Cambria Math" panose="02040503050406030204" pitchFamily="18" charset="0"/>
                                          </a:rPr>
                                        </m:ctrlPr>
                                      </m:sSubPr>
                                      <m:e>
                                        <m:r>
                                          <a:rPr lang="en-AU" i="1">
                                            <a:solidFill>
                                              <a:srgbClr val="FF0000"/>
                                            </a:solidFill>
                                            <a:latin typeface="Cambria Math" panose="02040503050406030204" pitchFamily="18" charset="0"/>
                                          </a:rPr>
                                          <m:t>𝜃</m:t>
                                        </m:r>
                                      </m:e>
                                      <m:sub>
                                        <m:r>
                                          <a:rPr lang="en-AU" b="0" i="1" smtClean="0">
                                            <a:solidFill>
                                              <a:srgbClr val="FF0000"/>
                                            </a:solidFill>
                                            <a:latin typeface="Cambria Math" panose="02040503050406030204" pitchFamily="18" charset="0"/>
                                          </a:rPr>
                                          <m:t>4</m:t>
                                        </m:r>
                                      </m:sub>
                                    </m:sSub>
                                  </m:e>
                                  <m:e>
                                    <m:sSub>
                                      <m:sSubPr>
                                        <m:ctrlPr>
                                          <a:rPr lang="en-AU" i="1">
                                            <a:solidFill>
                                              <a:srgbClr val="FF0000"/>
                                            </a:solidFill>
                                            <a:latin typeface="Cambria Math" panose="02040503050406030204" pitchFamily="18" charset="0"/>
                                          </a:rPr>
                                        </m:ctrlPr>
                                      </m:sSubPr>
                                      <m:e>
                                        <m:r>
                                          <a:rPr lang="en-AU" i="1">
                                            <a:solidFill>
                                              <a:srgbClr val="FF0000"/>
                                            </a:solidFill>
                                            <a:latin typeface="Cambria Math" panose="02040503050406030204" pitchFamily="18" charset="0"/>
                                          </a:rPr>
                                          <m:t>𝜃</m:t>
                                        </m:r>
                                      </m:e>
                                      <m:sub>
                                        <m:r>
                                          <a:rPr lang="en-AU" b="0" i="1" smtClean="0">
                                            <a:solidFill>
                                              <a:srgbClr val="FF0000"/>
                                            </a:solidFill>
                                            <a:latin typeface="Cambria Math" panose="02040503050406030204" pitchFamily="18" charset="0"/>
                                          </a:rPr>
                                          <m:t>5</m:t>
                                        </m:r>
                                      </m:sub>
                                    </m:sSub>
                                  </m:e>
                                </m:eqArr>
                              </m:e>
                            </m:mr>
                            <m:mr>
                              <m:e>
                                <m:sSub>
                                  <m:sSubPr>
                                    <m:ctrlPr>
                                      <a:rPr lang="en-AU" i="1">
                                        <a:solidFill>
                                          <a:srgbClr val="FF0000"/>
                                        </a:solidFill>
                                        <a:latin typeface="Cambria Math" panose="02040503050406030204" pitchFamily="18" charset="0"/>
                                      </a:rPr>
                                    </m:ctrlPr>
                                  </m:sSubPr>
                                  <m:e>
                                    <m:r>
                                      <a:rPr lang="en-AU" i="1">
                                        <a:solidFill>
                                          <a:srgbClr val="FF0000"/>
                                        </a:solidFill>
                                        <a:latin typeface="Cambria Math" panose="02040503050406030204" pitchFamily="18" charset="0"/>
                                      </a:rPr>
                                      <m:t>𝜃</m:t>
                                    </m:r>
                                  </m:e>
                                  <m:sub>
                                    <m:r>
                                      <a:rPr lang="en-AU" b="0" i="1" smtClean="0">
                                        <a:solidFill>
                                          <a:srgbClr val="FF0000"/>
                                        </a:solidFill>
                                        <a:latin typeface="Cambria Math" panose="02040503050406030204" pitchFamily="18" charset="0"/>
                                      </a:rPr>
                                      <m:t>6</m:t>
                                    </m:r>
                                  </m:sub>
                                </m:sSub>
                              </m:e>
                            </m:mr>
                          </m:m>
                        </m:e>
                      </m:d>
                    </m:oMath>
                  </m:oMathPara>
                </a14:m>
                <a:endParaRPr lang="en-AU" dirty="0">
                  <a:solidFill>
                    <a:srgbClr val="FF0000"/>
                  </a:solidFill>
                </a:endParaRPr>
              </a:p>
            </p:txBody>
          </p:sp>
        </mc:Choice>
        <mc:Fallback xmlns="">
          <p:sp>
            <p:nvSpPr>
              <p:cNvPr id="83" name="TextBox 82">
                <a:extLst>
                  <a:ext uri="{FF2B5EF4-FFF2-40B4-BE49-F238E27FC236}">
                    <a16:creationId xmlns:a16="http://schemas.microsoft.com/office/drawing/2014/main" id="{FC4237A8-8F9A-F528-B68C-F1640724691D}"/>
                  </a:ext>
                </a:extLst>
              </p:cNvPr>
              <p:cNvSpPr txBox="1">
                <a:spLocks noRot="1" noChangeAspect="1" noMove="1" noResize="1" noEditPoints="1" noAdjustHandles="1" noChangeArrowheads="1" noChangeShapeType="1" noTextEdit="1"/>
              </p:cNvSpPr>
              <p:nvPr/>
            </p:nvSpPr>
            <p:spPr>
              <a:xfrm>
                <a:off x="8916246" y="1640017"/>
                <a:ext cx="2327851" cy="1637436"/>
              </a:xfrm>
              <a:prstGeom prst="rect">
                <a:avLst/>
              </a:prstGeom>
              <a:blipFill>
                <a:blip r:embed="rId13"/>
                <a:stretch>
                  <a:fillRect/>
                </a:stretch>
              </a:blipFill>
            </p:spPr>
            <p:txBody>
              <a:bodyPr/>
              <a:lstStyle/>
              <a:p>
                <a:r>
                  <a:rPr lang="en-AU">
                    <a:noFill/>
                  </a:rPr>
                  <a:t> </a:t>
                </a:r>
              </a:p>
            </p:txBody>
          </p:sp>
        </mc:Fallback>
      </mc:AlternateContent>
      <p:cxnSp>
        <p:nvCxnSpPr>
          <p:cNvPr id="113" name="Straight Connector 112">
            <a:extLst>
              <a:ext uri="{FF2B5EF4-FFF2-40B4-BE49-F238E27FC236}">
                <a16:creationId xmlns:a16="http://schemas.microsoft.com/office/drawing/2014/main" id="{D9F6444D-02F0-D413-89DE-4E50A55BC68C}"/>
              </a:ext>
            </a:extLst>
          </p:cNvPr>
          <p:cNvCxnSpPr>
            <a:cxnSpLocks/>
          </p:cNvCxnSpPr>
          <p:nvPr/>
        </p:nvCxnSpPr>
        <p:spPr>
          <a:xfrm flipH="1">
            <a:off x="6401424" y="3242899"/>
            <a:ext cx="34105" cy="547690"/>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2A8EAADB-EAD9-1F55-487E-0968EA07DDB0}"/>
              </a:ext>
            </a:extLst>
          </p:cNvPr>
          <p:cNvCxnSpPr>
            <a:cxnSpLocks/>
          </p:cNvCxnSpPr>
          <p:nvPr/>
        </p:nvCxnSpPr>
        <p:spPr>
          <a:xfrm>
            <a:off x="6454550" y="3276443"/>
            <a:ext cx="278301" cy="53346"/>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4FDC6566-CCD9-A471-D57D-2D22845A9C1B}"/>
              </a:ext>
            </a:extLst>
          </p:cNvPr>
          <p:cNvCxnSpPr>
            <a:cxnSpLocks/>
          </p:cNvCxnSpPr>
          <p:nvPr/>
        </p:nvCxnSpPr>
        <p:spPr>
          <a:xfrm flipH="1">
            <a:off x="7098172" y="3462815"/>
            <a:ext cx="237294" cy="545751"/>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69BA7A86-5ED5-787B-9E2C-5A8C5171A47A}"/>
              </a:ext>
            </a:extLst>
          </p:cNvPr>
          <p:cNvCxnSpPr>
            <a:cxnSpLocks/>
          </p:cNvCxnSpPr>
          <p:nvPr/>
        </p:nvCxnSpPr>
        <p:spPr>
          <a:xfrm>
            <a:off x="6919953" y="3364541"/>
            <a:ext cx="470063" cy="79644"/>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626775EA-67FC-84E2-73A4-9BE3E0F21297}"/>
              </a:ext>
            </a:extLst>
          </p:cNvPr>
          <p:cNvCxnSpPr>
            <a:cxnSpLocks/>
          </p:cNvCxnSpPr>
          <p:nvPr/>
        </p:nvCxnSpPr>
        <p:spPr>
          <a:xfrm>
            <a:off x="7424121" y="2192578"/>
            <a:ext cx="338932" cy="155453"/>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1D8062B1-B086-D7E5-73DA-F1C0A1C64433}"/>
              </a:ext>
            </a:extLst>
          </p:cNvPr>
          <p:cNvCxnSpPr>
            <a:cxnSpLocks/>
          </p:cNvCxnSpPr>
          <p:nvPr/>
        </p:nvCxnSpPr>
        <p:spPr>
          <a:xfrm flipV="1">
            <a:off x="7256253" y="2208200"/>
            <a:ext cx="199855" cy="279662"/>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119" name="Oval 118">
            <a:extLst>
              <a:ext uri="{FF2B5EF4-FFF2-40B4-BE49-F238E27FC236}">
                <a16:creationId xmlns:a16="http://schemas.microsoft.com/office/drawing/2014/main" id="{D53D94A3-001C-AEE2-E988-D8A1DFC921E7}"/>
              </a:ext>
            </a:extLst>
          </p:cNvPr>
          <p:cNvSpPr/>
          <p:nvPr/>
        </p:nvSpPr>
        <p:spPr>
          <a:xfrm>
            <a:off x="6342383" y="3183295"/>
            <a:ext cx="186290" cy="18629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20" name="Straight Connector 119">
            <a:extLst>
              <a:ext uri="{FF2B5EF4-FFF2-40B4-BE49-F238E27FC236}">
                <a16:creationId xmlns:a16="http://schemas.microsoft.com/office/drawing/2014/main" id="{71C8CBBD-FDC5-419B-4A3A-044F72648AD5}"/>
              </a:ext>
            </a:extLst>
          </p:cNvPr>
          <p:cNvCxnSpPr>
            <a:cxnSpLocks/>
          </p:cNvCxnSpPr>
          <p:nvPr/>
        </p:nvCxnSpPr>
        <p:spPr>
          <a:xfrm flipV="1">
            <a:off x="8282095" y="2889433"/>
            <a:ext cx="487014" cy="12220"/>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AA50253D-6536-72CB-A35D-A29D2B0E468D}"/>
              </a:ext>
            </a:extLst>
          </p:cNvPr>
          <p:cNvCxnSpPr>
            <a:cxnSpLocks/>
          </p:cNvCxnSpPr>
          <p:nvPr/>
        </p:nvCxnSpPr>
        <p:spPr>
          <a:xfrm>
            <a:off x="8572440" y="2516987"/>
            <a:ext cx="246229" cy="430890"/>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04A5E653-7822-7748-3A37-5FF20D9EECF4}"/>
              </a:ext>
            </a:extLst>
          </p:cNvPr>
          <p:cNvCxnSpPr>
            <a:cxnSpLocks/>
          </p:cNvCxnSpPr>
          <p:nvPr/>
        </p:nvCxnSpPr>
        <p:spPr>
          <a:xfrm>
            <a:off x="7763053" y="1778475"/>
            <a:ext cx="453675" cy="162018"/>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0AA02921-CE50-2934-24C6-EF58456A0C87}"/>
              </a:ext>
            </a:extLst>
          </p:cNvPr>
          <p:cNvCxnSpPr>
            <a:cxnSpLocks/>
          </p:cNvCxnSpPr>
          <p:nvPr/>
        </p:nvCxnSpPr>
        <p:spPr>
          <a:xfrm>
            <a:off x="8230712" y="1954620"/>
            <a:ext cx="175822" cy="403055"/>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30315D8-60EF-041B-8C82-AAB6ECCF85FC}"/>
              </a:ext>
            </a:extLst>
          </p:cNvPr>
          <p:cNvCxnSpPr>
            <a:cxnSpLocks/>
          </p:cNvCxnSpPr>
          <p:nvPr/>
        </p:nvCxnSpPr>
        <p:spPr>
          <a:xfrm flipV="1">
            <a:off x="8174967" y="4055309"/>
            <a:ext cx="341728" cy="307822"/>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D98584C4-59AE-68AE-DF84-44A987D88744}"/>
              </a:ext>
            </a:extLst>
          </p:cNvPr>
          <p:cNvCxnSpPr>
            <a:cxnSpLocks/>
          </p:cNvCxnSpPr>
          <p:nvPr/>
        </p:nvCxnSpPr>
        <p:spPr>
          <a:xfrm>
            <a:off x="7908491" y="3987975"/>
            <a:ext cx="553929" cy="55518"/>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126" name="Arc 125">
            <a:extLst>
              <a:ext uri="{FF2B5EF4-FFF2-40B4-BE49-F238E27FC236}">
                <a16:creationId xmlns:a16="http://schemas.microsoft.com/office/drawing/2014/main" id="{093381E1-6F1D-50F4-1F3E-659E7D75D866}"/>
              </a:ext>
            </a:extLst>
          </p:cNvPr>
          <p:cNvSpPr/>
          <p:nvPr/>
        </p:nvSpPr>
        <p:spPr>
          <a:xfrm rot="5400000">
            <a:off x="6307316" y="3199284"/>
            <a:ext cx="311656" cy="312658"/>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27" name="Arc 126">
            <a:extLst>
              <a:ext uri="{FF2B5EF4-FFF2-40B4-BE49-F238E27FC236}">
                <a16:creationId xmlns:a16="http://schemas.microsoft.com/office/drawing/2014/main" id="{6F5AE11D-62F7-2552-8213-1C2506F33DE7}"/>
              </a:ext>
            </a:extLst>
          </p:cNvPr>
          <p:cNvSpPr/>
          <p:nvPr/>
        </p:nvSpPr>
        <p:spPr>
          <a:xfrm rot="11909153">
            <a:off x="7084977" y="3326569"/>
            <a:ext cx="311656" cy="312658"/>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28" name="Arc 127">
            <a:extLst>
              <a:ext uri="{FF2B5EF4-FFF2-40B4-BE49-F238E27FC236}">
                <a16:creationId xmlns:a16="http://schemas.microsoft.com/office/drawing/2014/main" id="{322EAB9B-946A-8BBF-6F5E-1BD2BA70D620}"/>
              </a:ext>
            </a:extLst>
          </p:cNvPr>
          <p:cNvSpPr/>
          <p:nvPr/>
        </p:nvSpPr>
        <p:spPr>
          <a:xfrm rot="7436529">
            <a:off x="7317125" y="2083915"/>
            <a:ext cx="311656" cy="312658"/>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29" name="Arc 128">
            <a:extLst>
              <a:ext uri="{FF2B5EF4-FFF2-40B4-BE49-F238E27FC236}">
                <a16:creationId xmlns:a16="http://schemas.microsoft.com/office/drawing/2014/main" id="{07CCEDFB-D505-7D64-0A54-6B13C2654820}"/>
              </a:ext>
            </a:extLst>
          </p:cNvPr>
          <p:cNvSpPr/>
          <p:nvPr/>
        </p:nvSpPr>
        <p:spPr>
          <a:xfrm rot="13139162">
            <a:off x="8127358" y="3991129"/>
            <a:ext cx="311656" cy="312658"/>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30" name="Arc 129">
            <a:extLst>
              <a:ext uri="{FF2B5EF4-FFF2-40B4-BE49-F238E27FC236}">
                <a16:creationId xmlns:a16="http://schemas.microsoft.com/office/drawing/2014/main" id="{BB88FC20-9D8B-9E46-3CBB-C19F79A2301D}"/>
              </a:ext>
            </a:extLst>
          </p:cNvPr>
          <p:cNvSpPr/>
          <p:nvPr/>
        </p:nvSpPr>
        <p:spPr>
          <a:xfrm rot="16200000">
            <a:off x="8503167" y="2687634"/>
            <a:ext cx="311656" cy="312658"/>
          </a:xfrm>
          <a:prstGeom prst="arc">
            <a:avLst>
              <a:gd name="adj1" fmla="val 15100244"/>
              <a:gd name="adj2" fmla="val 21570069"/>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31" name="Arc 130">
            <a:extLst>
              <a:ext uri="{FF2B5EF4-FFF2-40B4-BE49-F238E27FC236}">
                <a16:creationId xmlns:a16="http://schemas.microsoft.com/office/drawing/2014/main" id="{0FCFCF02-FB9D-6133-BA1C-991BD4D80300}"/>
              </a:ext>
            </a:extLst>
          </p:cNvPr>
          <p:cNvSpPr/>
          <p:nvPr/>
        </p:nvSpPr>
        <p:spPr>
          <a:xfrm rot="10373393">
            <a:off x="7989083" y="1765003"/>
            <a:ext cx="452127" cy="411865"/>
          </a:xfrm>
          <a:prstGeom prst="arc">
            <a:avLst>
              <a:gd name="adj1" fmla="val 15100244"/>
              <a:gd name="adj2" fmla="val 1999273"/>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32" name="Oval 131">
            <a:extLst>
              <a:ext uri="{FF2B5EF4-FFF2-40B4-BE49-F238E27FC236}">
                <a16:creationId xmlns:a16="http://schemas.microsoft.com/office/drawing/2014/main" id="{DA6746C1-D6AD-9B66-27B1-BA824A971583}"/>
              </a:ext>
            </a:extLst>
          </p:cNvPr>
          <p:cNvSpPr/>
          <p:nvPr/>
        </p:nvSpPr>
        <p:spPr>
          <a:xfrm>
            <a:off x="7244823" y="3368074"/>
            <a:ext cx="186290" cy="18629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3" name="Oval 132">
            <a:extLst>
              <a:ext uri="{FF2B5EF4-FFF2-40B4-BE49-F238E27FC236}">
                <a16:creationId xmlns:a16="http://schemas.microsoft.com/office/drawing/2014/main" id="{1A6FF659-12BD-ED40-C285-DB9921218666}"/>
              </a:ext>
            </a:extLst>
          </p:cNvPr>
          <p:cNvSpPr/>
          <p:nvPr/>
        </p:nvSpPr>
        <p:spPr>
          <a:xfrm>
            <a:off x="7330974" y="2133637"/>
            <a:ext cx="186290" cy="18629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4" name="Oval 133">
            <a:extLst>
              <a:ext uri="{FF2B5EF4-FFF2-40B4-BE49-F238E27FC236}">
                <a16:creationId xmlns:a16="http://schemas.microsoft.com/office/drawing/2014/main" id="{55F8D238-9D99-3094-9224-6A938AD13E37}"/>
              </a:ext>
            </a:extLst>
          </p:cNvPr>
          <p:cNvSpPr/>
          <p:nvPr/>
        </p:nvSpPr>
        <p:spPr>
          <a:xfrm>
            <a:off x="8092308" y="1864822"/>
            <a:ext cx="186290" cy="18629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5" name="Oval 134">
            <a:extLst>
              <a:ext uri="{FF2B5EF4-FFF2-40B4-BE49-F238E27FC236}">
                <a16:creationId xmlns:a16="http://schemas.microsoft.com/office/drawing/2014/main" id="{357BAD8D-A762-0253-7D24-35361D5A4E4B}"/>
              </a:ext>
            </a:extLst>
          </p:cNvPr>
          <p:cNvSpPr/>
          <p:nvPr/>
        </p:nvSpPr>
        <p:spPr>
          <a:xfrm>
            <a:off x="8344176" y="3987975"/>
            <a:ext cx="186290" cy="18629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Oval 135">
            <a:extLst>
              <a:ext uri="{FF2B5EF4-FFF2-40B4-BE49-F238E27FC236}">
                <a16:creationId xmlns:a16="http://schemas.microsoft.com/office/drawing/2014/main" id="{575AE8B0-4BBD-572F-6019-CBDB190B9296}"/>
              </a:ext>
            </a:extLst>
          </p:cNvPr>
          <p:cNvSpPr/>
          <p:nvPr/>
        </p:nvSpPr>
        <p:spPr>
          <a:xfrm>
            <a:off x="8722177" y="2808506"/>
            <a:ext cx="186290" cy="18629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4A989F50-9D82-CFDF-63CB-D7E9F32A0F31}"/>
              </a:ext>
            </a:extLst>
          </p:cNvPr>
          <p:cNvPicPr>
            <a:picLocks noChangeAspect="1"/>
          </p:cNvPicPr>
          <p:nvPr/>
        </p:nvPicPr>
        <p:blipFill>
          <a:blip r:embed="rId14"/>
          <a:stretch>
            <a:fillRect/>
          </a:stretch>
        </p:blipFill>
        <p:spPr>
          <a:xfrm>
            <a:off x="3999461" y="2908925"/>
            <a:ext cx="246192" cy="352443"/>
          </a:xfrm>
          <a:prstGeom prst="rect">
            <a:avLst/>
          </a:prstGeom>
        </p:spPr>
      </p:pic>
      <p:pic>
        <p:nvPicPr>
          <p:cNvPr id="14" name="Picture 13">
            <a:extLst>
              <a:ext uri="{FF2B5EF4-FFF2-40B4-BE49-F238E27FC236}">
                <a16:creationId xmlns:a16="http://schemas.microsoft.com/office/drawing/2014/main" id="{A0C5B55B-551F-D7FB-CA3D-67A09A66E5E3}"/>
              </a:ext>
            </a:extLst>
          </p:cNvPr>
          <p:cNvPicPr>
            <a:picLocks noChangeAspect="1"/>
          </p:cNvPicPr>
          <p:nvPr/>
        </p:nvPicPr>
        <p:blipFill>
          <a:blip r:embed="rId15"/>
          <a:stretch>
            <a:fillRect/>
          </a:stretch>
        </p:blipFill>
        <p:spPr>
          <a:xfrm>
            <a:off x="4214703" y="3608436"/>
            <a:ext cx="241108" cy="330591"/>
          </a:xfrm>
          <a:prstGeom prst="rect">
            <a:avLst/>
          </a:prstGeom>
        </p:spPr>
      </p:pic>
      <p:pic>
        <p:nvPicPr>
          <p:cNvPr id="16" name="Picture 15">
            <a:extLst>
              <a:ext uri="{FF2B5EF4-FFF2-40B4-BE49-F238E27FC236}">
                <a16:creationId xmlns:a16="http://schemas.microsoft.com/office/drawing/2014/main" id="{6E08A119-AF06-B891-D353-B3B8B583BBDE}"/>
              </a:ext>
            </a:extLst>
          </p:cNvPr>
          <p:cNvPicPr>
            <a:picLocks noChangeAspect="1"/>
          </p:cNvPicPr>
          <p:nvPr/>
        </p:nvPicPr>
        <p:blipFill>
          <a:blip r:embed="rId16"/>
          <a:stretch>
            <a:fillRect/>
          </a:stretch>
        </p:blipFill>
        <p:spPr>
          <a:xfrm>
            <a:off x="3546161" y="4931510"/>
            <a:ext cx="251271" cy="327127"/>
          </a:xfrm>
          <a:prstGeom prst="rect">
            <a:avLst/>
          </a:prstGeom>
        </p:spPr>
      </p:pic>
      <p:pic>
        <p:nvPicPr>
          <p:cNvPr id="18" name="Picture 17">
            <a:extLst>
              <a:ext uri="{FF2B5EF4-FFF2-40B4-BE49-F238E27FC236}">
                <a16:creationId xmlns:a16="http://schemas.microsoft.com/office/drawing/2014/main" id="{5BC37B32-83A2-E615-ACA9-976716A9AA24}"/>
              </a:ext>
            </a:extLst>
          </p:cNvPr>
          <p:cNvPicPr>
            <a:picLocks noChangeAspect="1"/>
          </p:cNvPicPr>
          <p:nvPr/>
        </p:nvPicPr>
        <p:blipFill>
          <a:blip r:embed="rId17"/>
          <a:stretch>
            <a:fillRect/>
          </a:stretch>
        </p:blipFill>
        <p:spPr>
          <a:xfrm>
            <a:off x="5156964" y="4986722"/>
            <a:ext cx="251271" cy="325906"/>
          </a:xfrm>
          <a:prstGeom prst="rect">
            <a:avLst/>
          </a:prstGeom>
        </p:spPr>
      </p:pic>
      <p:pic>
        <p:nvPicPr>
          <p:cNvPr id="20" name="Picture 19">
            <a:extLst>
              <a:ext uri="{FF2B5EF4-FFF2-40B4-BE49-F238E27FC236}">
                <a16:creationId xmlns:a16="http://schemas.microsoft.com/office/drawing/2014/main" id="{4B11B2FD-1E87-42FF-C099-A679205ED1C9}"/>
              </a:ext>
            </a:extLst>
          </p:cNvPr>
          <p:cNvPicPr>
            <a:picLocks noChangeAspect="1"/>
          </p:cNvPicPr>
          <p:nvPr/>
        </p:nvPicPr>
        <p:blipFill>
          <a:blip r:embed="rId18">
            <a:extLst>
              <a:ext uri="{BEBA8EAE-BF5A-486C-A8C5-ECC9F3942E4B}">
                <a14:imgProps xmlns:a14="http://schemas.microsoft.com/office/drawing/2010/main">
                  <a14:imgLayer r:embed="rId19">
                    <a14:imgEffect>
                      <a14:backgroundRemoval t="9701" b="89552" l="9615" r="91346">
                        <a14:foregroundMark x1="23077" y1="14925" x2="91346" y2="12687"/>
                        <a14:foregroundMark x1="65385" y1="61194" x2="68269" y2="86567"/>
                      </a14:backgroundRemoval>
                    </a14:imgEffect>
                  </a14:imgLayer>
                </a14:imgProps>
              </a:ext>
            </a:extLst>
          </a:blip>
          <a:stretch>
            <a:fillRect/>
          </a:stretch>
        </p:blipFill>
        <p:spPr>
          <a:xfrm>
            <a:off x="6193629" y="4983731"/>
            <a:ext cx="253417" cy="326518"/>
          </a:xfrm>
          <a:prstGeom prst="rect">
            <a:avLst/>
          </a:prstGeom>
        </p:spPr>
      </p:pic>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939C899-A899-500D-B838-EB2A332352E2}"/>
                  </a:ext>
                </a:extLst>
              </p:cNvPr>
              <p:cNvSpPr txBox="1"/>
              <p:nvPr/>
            </p:nvSpPr>
            <p:spPr>
              <a:xfrm>
                <a:off x="7916010" y="4081120"/>
                <a:ext cx="311499"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rgbClr val="FF0000"/>
                              </a:solidFill>
                              <a:latin typeface="Cambria Math" panose="02040503050406030204" pitchFamily="18" charset="0"/>
                            </a:rPr>
                          </m:ctrlPr>
                        </m:sSubPr>
                        <m:e>
                          <m:r>
                            <a:rPr lang="en-US" sz="1400" b="0" i="1" smtClean="0">
                              <a:solidFill>
                                <a:srgbClr val="FF0000"/>
                              </a:solidFill>
                              <a:latin typeface="Cambria Math" panose="02040503050406030204" pitchFamily="18" charset="0"/>
                            </a:rPr>
                            <m:t>𝜃</m:t>
                          </m:r>
                        </m:e>
                        <m:sub>
                          <m:r>
                            <a:rPr lang="en-US" sz="1400" b="0" i="1" smtClean="0">
                              <a:solidFill>
                                <a:srgbClr val="FF0000"/>
                              </a:solidFill>
                              <a:latin typeface="Cambria Math" panose="02040503050406030204" pitchFamily="18" charset="0"/>
                            </a:rPr>
                            <m:t>1</m:t>
                          </m:r>
                        </m:sub>
                      </m:sSub>
                    </m:oMath>
                  </m:oMathPara>
                </a14:m>
                <a:endParaRPr lang="en-GB" dirty="0">
                  <a:solidFill>
                    <a:srgbClr val="FF0000"/>
                  </a:solidFill>
                </a:endParaRPr>
              </a:p>
            </p:txBody>
          </p:sp>
        </mc:Choice>
        <mc:Fallback xmlns="">
          <p:sp>
            <p:nvSpPr>
              <p:cNvPr id="21" name="TextBox 20">
                <a:extLst>
                  <a:ext uri="{FF2B5EF4-FFF2-40B4-BE49-F238E27FC236}">
                    <a16:creationId xmlns:a16="http://schemas.microsoft.com/office/drawing/2014/main" id="{E939C899-A899-500D-B838-EB2A332352E2}"/>
                  </a:ext>
                </a:extLst>
              </p:cNvPr>
              <p:cNvSpPr txBox="1">
                <a:spLocks noRot="1" noChangeAspect="1" noMove="1" noResize="1" noEditPoints="1" noAdjustHandles="1" noChangeArrowheads="1" noChangeShapeType="1" noTextEdit="1"/>
              </p:cNvSpPr>
              <p:nvPr/>
            </p:nvSpPr>
            <p:spPr>
              <a:xfrm>
                <a:off x="7916010" y="4081120"/>
                <a:ext cx="311499" cy="215444"/>
              </a:xfrm>
              <a:prstGeom prst="rect">
                <a:avLst/>
              </a:prstGeom>
              <a:blipFill>
                <a:blip r:embed="rId20"/>
                <a:stretch>
                  <a:fillRect b="-1388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F89E0D01-F512-AA07-92A7-89F99EA89931}"/>
                  </a:ext>
                </a:extLst>
              </p:cNvPr>
              <p:cNvSpPr txBox="1"/>
              <p:nvPr/>
            </p:nvSpPr>
            <p:spPr>
              <a:xfrm>
                <a:off x="8283417" y="2544419"/>
                <a:ext cx="311499"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rgbClr val="FF0000"/>
                              </a:solidFill>
                              <a:latin typeface="Cambria Math" panose="02040503050406030204" pitchFamily="18" charset="0"/>
                            </a:rPr>
                          </m:ctrlPr>
                        </m:sSubPr>
                        <m:e>
                          <m:r>
                            <a:rPr lang="en-US" sz="1400" b="0" i="1" smtClean="0">
                              <a:solidFill>
                                <a:srgbClr val="FF0000"/>
                              </a:solidFill>
                              <a:latin typeface="Cambria Math" panose="02040503050406030204" pitchFamily="18" charset="0"/>
                            </a:rPr>
                            <m:t>𝜃</m:t>
                          </m:r>
                        </m:e>
                        <m:sub>
                          <m:r>
                            <a:rPr lang="en-US" sz="1400" b="0" i="1" smtClean="0">
                              <a:solidFill>
                                <a:srgbClr val="FF0000"/>
                              </a:solidFill>
                              <a:latin typeface="Cambria Math" panose="02040503050406030204" pitchFamily="18" charset="0"/>
                            </a:rPr>
                            <m:t>2</m:t>
                          </m:r>
                        </m:sub>
                      </m:sSub>
                    </m:oMath>
                  </m:oMathPara>
                </a14:m>
                <a:endParaRPr lang="en-GB" dirty="0">
                  <a:solidFill>
                    <a:srgbClr val="FF0000"/>
                  </a:solidFill>
                </a:endParaRPr>
              </a:p>
            </p:txBody>
          </p:sp>
        </mc:Choice>
        <mc:Fallback xmlns="">
          <p:sp>
            <p:nvSpPr>
              <p:cNvPr id="22" name="TextBox 21">
                <a:extLst>
                  <a:ext uri="{FF2B5EF4-FFF2-40B4-BE49-F238E27FC236}">
                    <a16:creationId xmlns:a16="http://schemas.microsoft.com/office/drawing/2014/main" id="{F89E0D01-F512-AA07-92A7-89F99EA89931}"/>
                  </a:ext>
                </a:extLst>
              </p:cNvPr>
              <p:cNvSpPr txBox="1">
                <a:spLocks noRot="1" noChangeAspect="1" noMove="1" noResize="1" noEditPoints="1" noAdjustHandles="1" noChangeArrowheads="1" noChangeShapeType="1" noTextEdit="1"/>
              </p:cNvSpPr>
              <p:nvPr/>
            </p:nvSpPr>
            <p:spPr>
              <a:xfrm>
                <a:off x="8283417" y="2544419"/>
                <a:ext cx="311499" cy="215444"/>
              </a:xfrm>
              <a:prstGeom prst="rect">
                <a:avLst/>
              </a:prstGeom>
              <a:blipFill>
                <a:blip r:embed="rId21"/>
                <a:stretch>
                  <a:fillRect b="-1388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2CC0CAB-1DEB-274C-8BC4-35531442E4B6}"/>
                  </a:ext>
                </a:extLst>
              </p:cNvPr>
              <p:cNvSpPr txBox="1"/>
              <p:nvPr/>
            </p:nvSpPr>
            <p:spPr>
              <a:xfrm>
                <a:off x="7709561" y="1851425"/>
                <a:ext cx="311499"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rgbClr val="FF0000"/>
                              </a:solidFill>
                              <a:latin typeface="Cambria Math" panose="02040503050406030204" pitchFamily="18" charset="0"/>
                            </a:rPr>
                          </m:ctrlPr>
                        </m:sSubPr>
                        <m:e>
                          <m:r>
                            <a:rPr lang="en-US" sz="1400" b="0" i="1" smtClean="0">
                              <a:solidFill>
                                <a:srgbClr val="FF0000"/>
                              </a:solidFill>
                              <a:latin typeface="Cambria Math" panose="02040503050406030204" pitchFamily="18" charset="0"/>
                            </a:rPr>
                            <m:t>𝜃</m:t>
                          </m:r>
                        </m:e>
                        <m:sub>
                          <m:r>
                            <a:rPr lang="en-US" sz="1400" b="0" i="1" smtClean="0">
                              <a:solidFill>
                                <a:srgbClr val="FF0000"/>
                              </a:solidFill>
                              <a:latin typeface="Cambria Math" panose="02040503050406030204" pitchFamily="18" charset="0"/>
                            </a:rPr>
                            <m:t>3</m:t>
                          </m:r>
                        </m:sub>
                      </m:sSub>
                    </m:oMath>
                  </m:oMathPara>
                </a14:m>
                <a:endParaRPr lang="en-GB" dirty="0">
                  <a:solidFill>
                    <a:srgbClr val="FF0000"/>
                  </a:solidFill>
                </a:endParaRPr>
              </a:p>
            </p:txBody>
          </p:sp>
        </mc:Choice>
        <mc:Fallback xmlns="">
          <p:sp>
            <p:nvSpPr>
              <p:cNvPr id="23" name="TextBox 22">
                <a:extLst>
                  <a:ext uri="{FF2B5EF4-FFF2-40B4-BE49-F238E27FC236}">
                    <a16:creationId xmlns:a16="http://schemas.microsoft.com/office/drawing/2014/main" id="{02CC0CAB-1DEB-274C-8BC4-35531442E4B6}"/>
                  </a:ext>
                </a:extLst>
              </p:cNvPr>
              <p:cNvSpPr txBox="1">
                <a:spLocks noRot="1" noChangeAspect="1" noMove="1" noResize="1" noEditPoints="1" noAdjustHandles="1" noChangeArrowheads="1" noChangeShapeType="1" noTextEdit="1"/>
              </p:cNvSpPr>
              <p:nvPr/>
            </p:nvSpPr>
            <p:spPr>
              <a:xfrm>
                <a:off x="7709561" y="1851425"/>
                <a:ext cx="311499" cy="215444"/>
              </a:xfrm>
              <a:prstGeom prst="rect">
                <a:avLst/>
              </a:prstGeom>
              <a:blipFill>
                <a:blip r:embed="rId22"/>
                <a:stretch>
                  <a:fillRect b="-1714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8479CF12-7ADE-E527-D4A9-8E285306D8F2}"/>
                  </a:ext>
                </a:extLst>
              </p:cNvPr>
              <p:cNvSpPr txBox="1"/>
              <p:nvPr/>
            </p:nvSpPr>
            <p:spPr>
              <a:xfrm>
                <a:off x="7249499" y="2369413"/>
                <a:ext cx="311499"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rgbClr val="FF0000"/>
                              </a:solidFill>
                              <a:latin typeface="Cambria Math" panose="02040503050406030204" pitchFamily="18" charset="0"/>
                            </a:rPr>
                          </m:ctrlPr>
                        </m:sSubPr>
                        <m:e>
                          <m:r>
                            <a:rPr lang="en-US" sz="1400" b="0" i="1" smtClean="0">
                              <a:solidFill>
                                <a:srgbClr val="FF0000"/>
                              </a:solidFill>
                              <a:latin typeface="Cambria Math" panose="02040503050406030204" pitchFamily="18" charset="0"/>
                            </a:rPr>
                            <m:t>𝜃</m:t>
                          </m:r>
                        </m:e>
                        <m:sub>
                          <m:r>
                            <a:rPr lang="en-US" sz="1400" b="0" i="1" smtClean="0">
                              <a:solidFill>
                                <a:srgbClr val="FF0000"/>
                              </a:solidFill>
                              <a:latin typeface="Cambria Math" panose="02040503050406030204" pitchFamily="18" charset="0"/>
                            </a:rPr>
                            <m:t>4</m:t>
                          </m:r>
                        </m:sub>
                      </m:sSub>
                    </m:oMath>
                  </m:oMathPara>
                </a14:m>
                <a:endParaRPr lang="en-GB" dirty="0">
                  <a:solidFill>
                    <a:srgbClr val="FF0000"/>
                  </a:solidFill>
                </a:endParaRPr>
              </a:p>
            </p:txBody>
          </p:sp>
        </mc:Choice>
        <mc:Fallback xmlns="">
          <p:sp>
            <p:nvSpPr>
              <p:cNvPr id="24" name="TextBox 23">
                <a:extLst>
                  <a:ext uri="{FF2B5EF4-FFF2-40B4-BE49-F238E27FC236}">
                    <a16:creationId xmlns:a16="http://schemas.microsoft.com/office/drawing/2014/main" id="{8479CF12-7ADE-E527-D4A9-8E285306D8F2}"/>
                  </a:ext>
                </a:extLst>
              </p:cNvPr>
              <p:cNvSpPr txBox="1">
                <a:spLocks noRot="1" noChangeAspect="1" noMove="1" noResize="1" noEditPoints="1" noAdjustHandles="1" noChangeArrowheads="1" noChangeShapeType="1" noTextEdit="1"/>
              </p:cNvSpPr>
              <p:nvPr/>
            </p:nvSpPr>
            <p:spPr>
              <a:xfrm>
                <a:off x="7249499" y="2369413"/>
                <a:ext cx="311499" cy="215444"/>
              </a:xfrm>
              <a:prstGeom prst="rect">
                <a:avLst/>
              </a:prstGeom>
              <a:blipFill>
                <a:blip r:embed="rId23"/>
                <a:stretch>
                  <a:fillRect b="-1714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59105C80-FB55-6127-FA62-ED10A8ED67CB}"/>
                  </a:ext>
                </a:extLst>
              </p:cNvPr>
              <p:cNvSpPr txBox="1"/>
              <p:nvPr/>
            </p:nvSpPr>
            <p:spPr>
              <a:xfrm>
                <a:off x="6884679" y="3468677"/>
                <a:ext cx="311499"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rgbClr val="FF0000"/>
                              </a:solidFill>
                              <a:latin typeface="Cambria Math" panose="02040503050406030204" pitchFamily="18" charset="0"/>
                            </a:rPr>
                          </m:ctrlPr>
                        </m:sSubPr>
                        <m:e>
                          <m:r>
                            <a:rPr lang="en-US" sz="1400" b="0" i="1" smtClean="0">
                              <a:solidFill>
                                <a:srgbClr val="FF0000"/>
                              </a:solidFill>
                              <a:latin typeface="Cambria Math" panose="02040503050406030204" pitchFamily="18" charset="0"/>
                            </a:rPr>
                            <m:t>𝜃</m:t>
                          </m:r>
                        </m:e>
                        <m:sub>
                          <m:r>
                            <a:rPr lang="en-US" sz="1400" b="0" i="1" smtClean="0">
                              <a:solidFill>
                                <a:srgbClr val="FF0000"/>
                              </a:solidFill>
                              <a:latin typeface="Cambria Math" panose="02040503050406030204" pitchFamily="18" charset="0"/>
                            </a:rPr>
                            <m:t>5</m:t>
                          </m:r>
                        </m:sub>
                      </m:sSub>
                    </m:oMath>
                  </m:oMathPara>
                </a14:m>
                <a:endParaRPr lang="en-GB" sz="1200" dirty="0">
                  <a:solidFill>
                    <a:srgbClr val="FF0000"/>
                  </a:solidFill>
                </a:endParaRPr>
              </a:p>
            </p:txBody>
          </p:sp>
        </mc:Choice>
        <mc:Fallback xmlns="">
          <p:sp>
            <p:nvSpPr>
              <p:cNvPr id="25" name="TextBox 24">
                <a:extLst>
                  <a:ext uri="{FF2B5EF4-FFF2-40B4-BE49-F238E27FC236}">
                    <a16:creationId xmlns:a16="http://schemas.microsoft.com/office/drawing/2014/main" id="{59105C80-FB55-6127-FA62-ED10A8ED67CB}"/>
                  </a:ext>
                </a:extLst>
              </p:cNvPr>
              <p:cNvSpPr txBox="1">
                <a:spLocks noRot="1" noChangeAspect="1" noMove="1" noResize="1" noEditPoints="1" noAdjustHandles="1" noChangeArrowheads="1" noChangeShapeType="1" noTextEdit="1"/>
              </p:cNvSpPr>
              <p:nvPr/>
            </p:nvSpPr>
            <p:spPr>
              <a:xfrm>
                <a:off x="6884679" y="3468677"/>
                <a:ext cx="311499" cy="215444"/>
              </a:xfrm>
              <a:prstGeom prst="rect">
                <a:avLst/>
              </a:prstGeom>
              <a:blipFill>
                <a:blip r:embed="rId24"/>
                <a:stretch>
                  <a:fillRect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5A03C78-DCF5-815D-E530-B7CAC61D52E0}"/>
                  </a:ext>
                </a:extLst>
              </p:cNvPr>
              <p:cNvSpPr txBox="1"/>
              <p:nvPr/>
            </p:nvSpPr>
            <p:spPr>
              <a:xfrm>
                <a:off x="6394377" y="3473738"/>
                <a:ext cx="311499"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rgbClr val="FF0000"/>
                              </a:solidFill>
                              <a:latin typeface="Cambria Math" panose="02040503050406030204" pitchFamily="18" charset="0"/>
                            </a:rPr>
                          </m:ctrlPr>
                        </m:sSubPr>
                        <m:e>
                          <m:r>
                            <a:rPr lang="en-US" sz="1400" b="0" i="1" smtClean="0">
                              <a:solidFill>
                                <a:srgbClr val="FF0000"/>
                              </a:solidFill>
                              <a:latin typeface="Cambria Math" panose="02040503050406030204" pitchFamily="18" charset="0"/>
                            </a:rPr>
                            <m:t>𝜃</m:t>
                          </m:r>
                        </m:e>
                        <m:sub>
                          <m:r>
                            <a:rPr lang="en-US" sz="1400" b="0" i="1" smtClean="0">
                              <a:solidFill>
                                <a:srgbClr val="FF0000"/>
                              </a:solidFill>
                              <a:latin typeface="Cambria Math" panose="02040503050406030204" pitchFamily="18" charset="0"/>
                            </a:rPr>
                            <m:t>6</m:t>
                          </m:r>
                        </m:sub>
                      </m:sSub>
                    </m:oMath>
                  </m:oMathPara>
                </a14:m>
                <a:endParaRPr lang="en-GB" sz="1400" dirty="0">
                  <a:solidFill>
                    <a:srgbClr val="FF0000"/>
                  </a:solidFill>
                </a:endParaRPr>
              </a:p>
            </p:txBody>
          </p:sp>
        </mc:Choice>
        <mc:Fallback xmlns="">
          <p:sp>
            <p:nvSpPr>
              <p:cNvPr id="26" name="TextBox 25">
                <a:extLst>
                  <a:ext uri="{FF2B5EF4-FFF2-40B4-BE49-F238E27FC236}">
                    <a16:creationId xmlns:a16="http://schemas.microsoft.com/office/drawing/2014/main" id="{25A03C78-DCF5-815D-E530-B7CAC61D52E0}"/>
                  </a:ext>
                </a:extLst>
              </p:cNvPr>
              <p:cNvSpPr txBox="1">
                <a:spLocks noRot="1" noChangeAspect="1" noMove="1" noResize="1" noEditPoints="1" noAdjustHandles="1" noChangeArrowheads="1" noChangeShapeType="1" noTextEdit="1"/>
              </p:cNvSpPr>
              <p:nvPr/>
            </p:nvSpPr>
            <p:spPr>
              <a:xfrm>
                <a:off x="6394377" y="3473738"/>
                <a:ext cx="311499" cy="215444"/>
              </a:xfrm>
              <a:prstGeom prst="rect">
                <a:avLst/>
              </a:prstGeom>
              <a:blipFill>
                <a:blip r:embed="rId25"/>
                <a:stretch>
                  <a:fillRect b="-17143"/>
                </a:stretch>
              </a:blipFill>
            </p:spPr>
            <p:txBody>
              <a:bodyPr/>
              <a:lstStyle/>
              <a:p>
                <a:r>
                  <a:rPr lang="en-GB">
                    <a:noFill/>
                  </a:rPr>
                  <a:t> </a:t>
                </a:r>
              </a:p>
            </p:txBody>
          </p:sp>
        </mc:Fallback>
      </mc:AlternateContent>
      <p:sp>
        <p:nvSpPr>
          <p:cNvPr id="28" name="Rectangle: Rounded Corners 27">
            <a:extLst>
              <a:ext uri="{FF2B5EF4-FFF2-40B4-BE49-F238E27FC236}">
                <a16:creationId xmlns:a16="http://schemas.microsoft.com/office/drawing/2014/main" id="{55838EF3-F9A0-B7FA-6F60-9F506D6878DD}"/>
              </a:ext>
            </a:extLst>
          </p:cNvPr>
          <p:cNvSpPr/>
          <p:nvPr/>
        </p:nvSpPr>
        <p:spPr>
          <a:xfrm>
            <a:off x="4452430" y="1614376"/>
            <a:ext cx="2340363" cy="318892"/>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JointsTrajectoryGenerator</a:t>
            </a:r>
            <a:endParaRPr lang="en-GB" sz="1400" dirty="0">
              <a:solidFill>
                <a:srgbClr val="003399"/>
              </a:solidFill>
            </a:endParaRPr>
          </a:p>
        </p:txBody>
      </p:sp>
    </p:spTree>
    <p:extLst>
      <p:ext uri="{BB962C8B-B14F-4D97-AF65-F5344CB8AC3E}">
        <p14:creationId xmlns:p14="http://schemas.microsoft.com/office/powerpoint/2010/main" val="3409331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354194D8-AD87-3CF8-D379-B81682310AD7}"/>
              </a:ext>
            </a:extLst>
          </p:cNvPr>
          <p:cNvSpPr>
            <a:spLocks noGrp="1"/>
          </p:cNvSpPr>
          <p:nvPr>
            <p:ph type="title"/>
          </p:nvPr>
        </p:nvSpPr>
        <p:spPr/>
        <p:txBody>
          <a:bodyPr/>
          <a:lstStyle/>
          <a:p>
            <a:r>
              <a:rPr lang="de-AT" dirty="0"/>
              <a:t>Problem Context – Motion Control</a:t>
            </a:r>
          </a:p>
        </p:txBody>
      </p:sp>
      <p:sp>
        <p:nvSpPr>
          <p:cNvPr id="4" name="Datumsplatzhalter 3">
            <a:extLst>
              <a:ext uri="{FF2B5EF4-FFF2-40B4-BE49-F238E27FC236}">
                <a16:creationId xmlns:a16="http://schemas.microsoft.com/office/drawing/2014/main" id="{DFE882F5-57B0-DCA4-8E6F-FC5C5615B2F1}"/>
              </a:ext>
            </a:extLst>
          </p:cNvPr>
          <p:cNvSpPr>
            <a:spLocks noGrp="1"/>
          </p:cNvSpPr>
          <p:nvPr>
            <p:ph type="dt" sz="half" idx="10"/>
          </p:nvPr>
        </p:nvSpPr>
        <p:spPr/>
        <p:txBody>
          <a:bodyPr/>
          <a:lstStyle/>
          <a:p>
            <a:r>
              <a:rPr lang="en-GB" dirty="0"/>
              <a:t>18/06/2024</a:t>
            </a:r>
            <a:endParaRPr lang="en-US" dirty="0"/>
          </a:p>
        </p:txBody>
      </p:sp>
      <p:sp>
        <p:nvSpPr>
          <p:cNvPr id="5" name="Fußzeilenplatzhalter 4">
            <a:extLst>
              <a:ext uri="{FF2B5EF4-FFF2-40B4-BE49-F238E27FC236}">
                <a16:creationId xmlns:a16="http://schemas.microsoft.com/office/drawing/2014/main" id="{FBA2383E-9028-886C-AC53-4C54E5BCF1CA}"/>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Foliennummernplatzhalter 5">
            <a:extLst>
              <a:ext uri="{FF2B5EF4-FFF2-40B4-BE49-F238E27FC236}">
                <a16:creationId xmlns:a16="http://schemas.microsoft.com/office/drawing/2014/main" id="{9B705BA5-7072-D541-067F-CD2BC42A3EAD}"/>
              </a:ext>
            </a:extLst>
          </p:cNvPr>
          <p:cNvSpPr>
            <a:spLocks noGrp="1"/>
          </p:cNvSpPr>
          <p:nvPr>
            <p:ph type="sldNum" sz="quarter" idx="12"/>
          </p:nvPr>
        </p:nvSpPr>
        <p:spPr/>
        <p:txBody>
          <a:bodyPr/>
          <a:lstStyle/>
          <a:p>
            <a:fld id="{36B5EA5A-BC32-A742-B11B-8E7414D5B535}" type="slidenum">
              <a:rPr lang="en-US" smtClean="0"/>
              <a:pPr/>
              <a:t>10</a:t>
            </a:fld>
            <a:endParaRPr lang="en-US" dirty="0"/>
          </a:p>
        </p:txBody>
      </p:sp>
      <p:sp>
        <p:nvSpPr>
          <p:cNvPr id="8" name="TextBox 7">
            <a:extLst>
              <a:ext uri="{FF2B5EF4-FFF2-40B4-BE49-F238E27FC236}">
                <a16:creationId xmlns:a16="http://schemas.microsoft.com/office/drawing/2014/main" id="{D96DA6D4-6E9F-EB1E-9F04-1B96D4343BD2}"/>
              </a:ext>
            </a:extLst>
          </p:cNvPr>
          <p:cNvSpPr txBox="1"/>
          <p:nvPr/>
        </p:nvSpPr>
        <p:spPr>
          <a:xfrm>
            <a:off x="8512765" y="5076876"/>
            <a:ext cx="1504438" cy="553998"/>
          </a:xfrm>
          <a:prstGeom prst="rect">
            <a:avLst/>
          </a:prstGeom>
          <a:noFill/>
        </p:spPr>
        <p:txBody>
          <a:bodyPr wrap="square" lIns="0" tIns="0" rIns="0" bIns="0" rtlCol="0">
            <a:spAutoFit/>
          </a:bodyPr>
          <a:lstStyle/>
          <a:p>
            <a:pPr algn="ctr"/>
            <a:r>
              <a:rPr lang="en-GB" b="1" dirty="0">
                <a:solidFill>
                  <a:schemeClr val="tx2"/>
                </a:solidFill>
              </a:rPr>
              <a:t>Control joint movements</a:t>
            </a:r>
          </a:p>
        </p:txBody>
      </p:sp>
      <p:sp>
        <p:nvSpPr>
          <p:cNvPr id="9" name="TextBox 8">
            <a:extLst>
              <a:ext uri="{FF2B5EF4-FFF2-40B4-BE49-F238E27FC236}">
                <a16:creationId xmlns:a16="http://schemas.microsoft.com/office/drawing/2014/main" id="{86E8A20D-52DA-2571-09A5-2261C18ABF3F}"/>
              </a:ext>
            </a:extLst>
          </p:cNvPr>
          <p:cNvSpPr txBox="1"/>
          <p:nvPr/>
        </p:nvSpPr>
        <p:spPr>
          <a:xfrm>
            <a:off x="1701100" y="5114568"/>
            <a:ext cx="2403328" cy="553998"/>
          </a:xfrm>
          <a:prstGeom prst="rect">
            <a:avLst/>
          </a:prstGeom>
          <a:noFill/>
        </p:spPr>
        <p:txBody>
          <a:bodyPr wrap="square" lIns="0" tIns="0" rIns="0" bIns="0" rtlCol="0">
            <a:spAutoFit/>
          </a:bodyPr>
          <a:lstStyle/>
          <a:p>
            <a:pPr algn="ctr"/>
            <a:r>
              <a:rPr lang="en-GB" b="1" dirty="0">
                <a:solidFill>
                  <a:schemeClr val="tx2"/>
                </a:solidFill>
              </a:rPr>
              <a:t>Control end-effector movements</a:t>
            </a:r>
          </a:p>
        </p:txBody>
      </p:sp>
      <p:sp>
        <p:nvSpPr>
          <p:cNvPr id="248" name="Freeform 13">
            <a:extLst>
              <a:ext uri="{FF2B5EF4-FFF2-40B4-BE49-F238E27FC236}">
                <a16:creationId xmlns:a16="http://schemas.microsoft.com/office/drawing/2014/main" id="{82357B45-B57C-2BBC-55C5-1C526C920F1F}"/>
              </a:ext>
            </a:extLst>
          </p:cNvPr>
          <p:cNvSpPr/>
          <p:nvPr/>
        </p:nvSpPr>
        <p:spPr>
          <a:xfrm>
            <a:off x="9115852" y="2166830"/>
            <a:ext cx="2554592" cy="2546454"/>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dirty="0"/>
          </a:p>
        </p:txBody>
      </p:sp>
      <p:grpSp>
        <p:nvGrpSpPr>
          <p:cNvPr id="2" name="Group 1">
            <a:extLst>
              <a:ext uri="{FF2B5EF4-FFF2-40B4-BE49-F238E27FC236}">
                <a16:creationId xmlns:a16="http://schemas.microsoft.com/office/drawing/2014/main" id="{F90516EB-7291-3CCD-F536-453FF267F87E}"/>
              </a:ext>
            </a:extLst>
          </p:cNvPr>
          <p:cNvGrpSpPr/>
          <p:nvPr/>
        </p:nvGrpSpPr>
        <p:grpSpPr>
          <a:xfrm>
            <a:off x="7133563" y="2675164"/>
            <a:ext cx="1534447" cy="1721273"/>
            <a:chOff x="7261147" y="2675164"/>
            <a:chExt cx="1534447" cy="1721273"/>
          </a:xfrm>
        </p:grpSpPr>
        <p:sp>
          <p:nvSpPr>
            <p:cNvPr id="249" name="Freeform 15">
              <a:extLst>
                <a:ext uri="{FF2B5EF4-FFF2-40B4-BE49-F238E27FC236}">
                  <a16:creationId xmlns:a16="http://schemas.microsoft.com/office/drawing/2014/main" id="{C4559A71-7A9A-E272-2C20-51C1E0835953}"/>
                </a:ext>
              </a:extLst>
            </p:cNvPr>
            <p:cNvSpPr/>
            <p:nvPr/>
          </p:nvSpPr>
          <p:spPr>
            <a:xfrm>
              <a:off x="8337945" y="3938789"/>
              <a:ext cx="457649" cy="457648"/>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250" name="Freeform 16">
              <a:extLst>
                <a:ext uri="{FF2B5EF4-FFF2-40B4-BE49-F238E27FC236}">
                  <a16:creationId xmlns:a16="http://schemas.microsoft.com/office/drawing/2014/main" id="{A7CB9C0F-3859-2630-C260-93812D8004B3}"/>
                </a:ext>
              </a:extLst>
            </p:cNvPr>
            <p:cNvSpPr/>
            <p:nvPr/>
          </p:nvSpPr>
          <p:spPr>
            <a:xfrm>
              <a:off x="7261147" y="3651815"/>
              <a:ext cx="650222" cy="650221"/>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251" name="Freeform 17">
              <a:extLst>
                <a:ext uri="{FF2B5EF4-FFF2-40B4-BE49-F238E27FC236}">
                  <a16:creationId xmlns:a16="http://schemas.microsoft.com/office/drawing/2014/main" id="{D163421E-57E0-FD7F-0FEE-090D50B2FBB3}"/>
                </a:ext>
              </a:extLst>
            </p:cNvPr>
            <p:cNvSpPr/>
            <p:nvPr/>
          </p:nvSpPr>
          <p:spPr>
            <a:xfrm>
              <a:off x="7453411" y="2675164"/>
              <a:ext cx="777084" cy="886713"/>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grpSp>
      <p:sp>
        <p:nvSpPr>
          <p:cNvPr id="252" name="Oval 251">
            <a:extLst>
              <a:ext uri="{FF2B5EF4-FFF2-40B4-BE49-F238E27FC236}">
                <a16:creationId xmlns:a16="http://schemas.microsoft.com/office/drawing/2014/main" id="{35F4353A-FDE3-1651-B147-7B37A44A7488}"/>
              </a:ext>
            </a:extLst>
          </p:cNvPr>
          <p:cNvSpPr/>
          <p:nvPr/>
        </p:nvSpPr>
        <p:spPr>
          <a:xfrm>
            <a:off x="8004633" y="3740395"/>
            <a:ext cx="198394" cy="198394"/>
          </a:xfrm>
          <a:prstGeom prst="ellipse">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3" name="Oval 252">
            <a:extLst>
              <a:ext uri="{FF2B5EF4-FFF2-40B4-BE49-F238E27FC236}">
                <a16:creationId xmlns:a16="http://schemas.microsoft.com/office/drawing/2014/main" id="{9CF59B09-EB99-CF6E-A4FA-4303CA368097}"/>
              </a:ext>
            </a:extLst>
          </p:cNvPr>
          <p:cNvSpPr/>
          <p:nvPr/>
        </p:nvSpPr>
        <p:spPr>
          <a:xfrm>
            <a:off x="7903548" y="4398856"/>
            <a:ext cx="198394" cy="198394"/>
          </a:xfrm>
          <a:prstGeom prst="ellipse">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4" name="Oval 253">
            <a:extLst>
              <a:ext uri="{FF2B5EF4-FFF2-40B4-BE49-F238E27FC236}">
                <a16:creationId xmlns:a16="http://schemas.microsoft.com/office/drawing/2014/main" id="{3805C98F-B1A4-6B52-4AB3-D26B09BD2DB2}"/>
              </a:ext>
            </a:extLst>
          </p:cNvPr>
          <p:cNvSpPr/>
          <p:nvPr/>
        </p:nvSpPr>
        <p:spPr>
          <a:xfrm>
            <a:off x="8768727" y="4364976"/>
            <a:ext cx="198394" cy="198394"/>
          </a:xfrm>
          <a:prstGeom prst="ellipse">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5" name="Oval 254">
            <a:extLst>
              <a:ext uri="{FF2B5EF4-FFF2-40B4-BE49-F238E27FC236}">
                <a16:creationId xmlns:a16="http://schemas.microsoft.com/office/drawing/2014/main" id="{87FD5536-6CA1-3F12-0AA7-5827995AF633}"/>
              </a:ext>
            </a:extLst>
          </p:cNvPr>
          <p:cNvSpPr/>
          <p:nvPr/>
        </p:nvSpPr>
        <p:spPr>
          <a:xfrm>
            <a:off x="9446204" y="4344767"/>
            <a:ext cx="198394" cy="198394"/>
          </a:xfrm>
          <a:prstGeom prst="ellipse">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6" name="Oval 255">
            <a:extLst>
              <a:ext uri="{FF2B5EF4-FFF2-40B4-BE49-F238E27FC236}">
                <a16:creationId xmlns:a16="http://schemas.microsoft.com/office/drawing/2014/main" id="{5D358C19-1128-DB16-7241-2C381A1B14D5}"/>
              </a:ext>
            </a:extLst>
          </p:cNvPr>
          <p:cNvSpPr/>
          <p:nvPr/>
        </p:nvSpPr>
        <p:spPr>
          <a:xfrm>
            <a:off x="7783783" y="3305997"/>
            <a:ext cx="198394" cy="198394"/>
          </a:xfrm>
          <a:prstGeom prst="ellipse">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57" name="Straight Connector 256">
            <a:extLst>
              <a:ext uri="{FF2B5EF4-FFF2-40B4-BE49-F238E27FC236}">
                <a16:creationId xmlns:a16="http://schemas.microsoft.com/office/drawing/2014/main" id="{C59FB1BB-401E-9A4D-D145-1AFA5B820175}"/>
              </a:ext>
            </a:extLst>
          </p:cNvPr>
          <p:cNvCxnSpPr>
            <a:cxnSpLocks/>
          </p:cNvCxnSpPr>
          <p:nvPr/>
        </p:nvCxnSpPr>
        <p:spPr>
          <a:xfrm flipH="1">
            <a:off x="9584127" y="3483349"/>
            <a:ext cx="21396" cy="343586"/>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C8E92B7C-F173-89AB-A870-A9B1607B9B6D}"/>
              </a:ext>
            </a:extLst>
          </p:cNvPr>
          <p:cNvCxnSpPr>
            <a:cxnSpLocks/>
          </p:cNvCxnSpPr>
          <p:nvPr/>
        </p:nvCxnSpPr>
        <p:spPr>
          <a:xfrm>
            <a:off x="9617455" y="3504391"/>
            <a:ext cx="174589" cy="33466"/>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D28492FA-A4BE-780E-15A1-AF214892B418}"/>
              </a:ext>
            </a:extLst>
          </p:cNvPr>
          <p:cNvCxnSpPr>
            <a:cxnSpLocks/>
          </p:cNvCxnSpPr>
          <p:nvPr/>
        </p:nvCxnSpPr>
        <p:spPr>
          <a:xfrm flipH="1">
            <a:off x="10021222" y="3621309"/>
            <a:ext cx="148862" cy="342370"/>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C9AB813F-1B67-576C-BF3D-91E524321521}"/>
              </a:ext>
            </a:extLst>
          </p:cNvPr>
          <p:cNvCxnSpPr>
            <a:cxnSpLocks/>
          </p:cNvCxnSpPr>
          <p:nvPr/>
        </p:nvCxnSpPr>
        <p:spPr>
          <a:xfrm>
            <a:off x="9909418" y="3559659"/>
            <a:ext cx="294888" cy="49963"/>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C3415AB2-25A0-32C1-9E66-FA44E4F8DF2E}"/>
              </a:ext>
            </a:extLst>
          </p:cNvPr>
          <p:cNvCxnSpPr>
            <a:cxnSpLocks/>
          </p:cNvCxnSpPr>
          <p:nvPr/>
        </p:nvCxnSpPr>
        <p:spPr>
          <a:xfrm>
            <a:off x="10225702" y="2824443"/>
            <a:ext cx="212624" cy="97522"/>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8321C17C-F440-826D-BB3C-CF60F9E2713B}"/>
              </a:ext>
            </a:extLst>
          </p:cNvPr>
          <p:cNvCxnSpPr>
            <a:cxnSpLocks/>
          </p:cNvCxnSpPr>
          <p:nvPr/>
        </p:nvCxnSpPr>
        <p:spPr>
          <a:xfrm flipV="1">
            <a:off x="10120392" y="2834243"/>
            <a:ext cx="125376" cy="175442"/>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263" name="Oval 262">
            <a:extLst>
              <a:ext uri="{FF2B5EF4-FFF2-40B4-BE49-F238E27FC236}">
                <a16:creationId xmlns:a16="http://schemas.microsoft.com/office/drawing/2014/main" id="{9D676CBF-5EF3-DD0C-7FE6-625B9B9BB47F}"/>
              </a:ext>
            </a:extLst>
          </p:cNvPr>
          <p:cNvSpPr/>
          <p:nvPr/>
        </p:nvSpPr>
        <p:spPr>
          <a:xfrm>
            <a:off x="9547087" y="3445957"/>
            <a:ext cx="116866" cy="116866"/>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64" name="Straight Connector 263">
            <a:extLst>
              <a:ext uri="{FF2B5EF4-FFF2-40B4-BE49-F238E27FC236}">
                <a16:creationId xmlns:a16="http://schemas.microsoft.com/office/drawing/2014/main" id="{98929AF8-F7D5-2AFE-241F-63A5B5BF3F7B}"/>
              </a:ext>
            </a:extLst>
          </p:cNvPr>
          <p:cNvCxnSpPr>
            <a:cxnSpLocks/>
          </p:cNvCxnSpPr>
          <p:nvPr/>
        </p:nvCxnSpPr>
        <p:spPr>
          <a:xfrm flipV="1">
            <a:off x="10763940" y="3261606"/>
            <a:ext cx="305522" cy="7666"/>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A6DDE357-EAF3-C9E9-C7BE-C6ADB2D137A1}"/>
              </a:ext>
            </a:extLst>
          </p:cNvPr>
          <p:cNvCxnSpPr>
            <a:cxnSpLocks/>
          </p:cNvCxnSpPr>
          <p:nvPr/>
        </p:nvCxnSpPr>
        <p:spPr>
          <a:xfrm>
            <a:off x="10946085" y="3027957"/>
            <a:ext cx="154468" cy="270312"/>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B8450CA9-4D66-3743-8E87-B87532DCC022}"/>
              </a:ext>
            </a:extLst>
          </p:cNvPr>
          <p:cNvCxnSpPr>
            <a:cxnSpLocks/>
          </p:cNvCxnSpPr>
          <p:nvPr/>
        </p:nvCxnSpPr>
        <p:spPr>
          <a:xfrm>
            <a:off x="10438327" y="2564661"/>
            <a:ext cx="284608" cy="101640"/>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6A1FB87F-EC5C-114F-2828-C92A73A2C8EC}"/>
              </a:ext>
            </a:extLst>
          </p:cNvPr>
          <p:cNvCxnSpPr>
            <a:cxnSpLocks/>
          </p:cNvCxnSpPr>
          <p:nvPr/>
        </p:nvCxnSpPr>
        <p:spPr>
          <a:xfrm>
            <a:off x="10731707" y="2675163"/>
            <a:ext cx="110300" cy="252851"/>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014E2DC3-C6C6-E62E-09B8-D7900A4602AB}"/>
              </a:ext>
            </a:extLst>
          </p:cNvPr>
          <p:cNvCxnSpPr>
            <a:cxnSpLocks/>
          </p:cNvCxnSpPr>
          <p:nvPr/>
        </p:nvCxnSpPr>
        <p:spPr>
          <a:xfrm flipV="1">
            <a:off x="10696735" y="3993004"/>
            <a:ext cx="214378" cy="193108"/>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9F02366E-C2C6-E7B3-5FB2-6B23C95D830D}"/>
              </a:ext>
            </a:extLst>
          </p:cNvPr>
          <p:cNvCxnSpPr>
            <a:cxnSpLocks/>
          </p:cNvCxnSpPr>
          <p:nvPr/>
        </p:nvCxnSpPr>
        <p:spPr>
          <a:xfrm>
            <a:off x="10529565" y="3950763"/>
            <a:ext cx="347500" cy="34828"/>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270" name="Arc 269">
            <a:extLst>
              <a:ext uri="{FF2B5EF4-FFF2-40B4-BE49-F238E27FC236}">
                <a16:creationId xmlns:a16="http://schemas.microsoft.com/office/drawing/2014/main" id="{D2FF4ECD-D20F-4C10-BCD0-2A0B3863CFD1}"/>
              </a:ext>
            </a:extLst>
          </p:cNvPr>
          <p:cNvSpPr/>
          <p:nvPr/>
        </p:nvSpPr>
        <p:spPr>
          <a:xfrm rot="5400000">
            <a:off x="9525089" y="3455987"/>
            <a:ext cx="195514" cy="196143"/>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71" name="Arc 270">
            <a:extLst>
              <a:ext uri="{FF2B5EF4-FFF2-40B4-BE49-F238E27FC236}">
                <a16:creationId xmlns:a16="http://schemas.microsoft.com/office/drawing/2014/main" id="{7481B873-2B12-F670-329C-BF388BF7FE37}"/>
              </a:ext>
            </a:extLst>
          </p:cNvPr>
          <p:cNvSpPr/>
          <p:nvPr/>
        </p:nvSpPr>
        <p:spPr>
          <a:xfrm rot="11576616">
            <a:off x="10012944" y="3535838"/>
            <a:ext cx="195514" cy="196143"/>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72" name="Arc 271">
            <a:extLst>
              <a:ext uri="{FF2B5EF4-FFF2-40B4-BE49-F238E27FC236}">
                <a16:creationId xmlns:a16="http://schemas.microsoft.com/office/drawing/2014/main" id="{0182976C-18AA-AAC3-7173-C31041E1CAA4}"/>
              </a:ext>
            </a:extLst>
          </p:cNvPr>
          <p:cNvSpPr/>
          <p:nvPr/>
        </p:nvSpPr>
        <p:spPr>
          <a:xfrm rot="7436529">
            <a:off x="10158579" y="2775757"/>
            <a:ext cx="195514" cy="196143"/>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73" name="Arc 272">
            <a:extLst>
              <a:ext uri="{FF2B5EF4-FFF2-40B4-BE49-F238E27FC236}">
                <a16:creationId xmlns:a16="http://schemas.microsoft.com/office/drawing/2014/main" id="{3D911AD2-0F35-F720-DB43-62F49D5A3739}"/>
              </a:ext>
            </a:extLst>
          </p:cNvPr>
          <p:cNvSpPr/>
          <p:nvPr/>
        </p:nvSpPr>
        <p:spPr>
          <a:xfrm rot="13139162">
            <a:off x="10666869" y="3952741"/>
            <a:ext cx="195514" cy="196143"/>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74" name="Arc 273">
            <a:extLst>
              <a:ext uri="{FF2B5EF4-FFF2-40B4-BE49-F238E27FC236}">
                <a16:creationId xmlns:a16="http://schemas.microsoft.com/office/drawing/2014/main" id="{4596D6CC-2FFC-17D4-5F6D-41C5024F384C}"/>
              </a:ext>
            </a:extLst>
          </p:cNvPr>
          <p:cNvSpPr/>
          <p:nvPr/>
        </p:nvSpPr>
        <p:spPr>
          <a:xfrm rot="16200000">
            <a:off x="10902627" y="3135011"/>
            <a:ext cx="195514" cy="196143"/>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75" name="Arc 274">
            <a:extLst>
              <a:ext uri="{FF2B5EF4-FFF2-40B4-BE49-F238E27FC236}">
                <a16:creationId xmlns:a16="http://schemas.microsoft.com/office/drawing/2014/main" id="{AFF974EA-B30A-9B9C-5D74-77B4047F9D87}"/>
              </a:ext>
            </a:extLst>
          </p:cNvPr>
          <p:cNvSpPr/>
          <p:nvPr/>
        </p:nvSpPr>
        <p:spPr>
          <a:xfrm rot="10552793">
            <a:off x="10552829" y="2545976"/>
            <a:ext cx="283636" cy="258377"/>
          </a:xfrm>
          <a:prstGeom prst="arc">
            <a:avLst>
              <a:gd name="adj1" fmla="val 15100244"/>
              <a:gd name="adj2" fmla="val 1766624"/>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76" name="Oval 275">
            <a:extLst>
              <a:ext uri="{FF2B5EF4-FFF2-40B4-BE49-F238E27FC236}">
                <a16:creationId xmlns:a16="http://schemas.microsoft.com/office/drawing/2014/main" id="{D1EEFA89-75E2-EDAD-84B7-98B1C3694C4C}"/>
              </a:ext>
            </a:extLst>
          </p:cNvPr>
          <p:cNvSpPr/>
          <p:nvPr/>
        </p:nvSpPr>
        <p:spPr>
          <a:xfrm>
            <a:off x="10113222" y="3561875"/>
            <a:ext cx="116866" cy="116866"/>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7" name="Oval 276">
            <a:extLst>
              <a:ext uri="{FF2B5EF4-FFF2-40B4-BE49-F238E27FC236}">
                <a16:creationId xmlns:a16="http://schemas.microsoft.com/office/drawing/2014/main" id="{618DE727-BE66-75B5-2D85-1A201C84A0C7}"/>
              </a:ext>
            </a:extLst>
          </p:cNvPr>
          <p:cNvSpPr/>
          <p:nvPr/>
        </p:nvSpPr>
        <p:spPr>
          <a:xfrm>
            <a:off x="10167267" y="2787467"/>
            <a:ext cx="116866" cy="116866"/>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8" name="Oval 277">
            <a:extLst>
              <a:ext uri="{FF2B5EF4-FFF2-40B4-BE49-F238E27FC236}">
                <a16:creationId xmlns:a16="http://schemas.microsoft.com/office/drawing/2014/main" id="{31D04CBF-A072-F547-1869-748F8FE130CD}"/>
              </a:ext>
            </a:extLst>
          </p:cNvPr>
          <p:cNvSpPr/>
          <p:nvPr/>
        </p:nvSpPr>
        <p:spPr>
          <a:xfrm>
            <a:off x="10644880" y="2618830"/>
            <a:ext cx="116866" cy="116866"/>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9" name="Oval 278">
            <a:extLst>
              <a:ext uri="{FF2B5EF4-FFF2-40B4-BE49-F238E27FC236}">
                <a16:creationId xmlns:a16="http://schemas.microsoft.com/office/drawing/2014/main" id="{48CE0770-6359-BD0E-BC07-03AEDBD1B92E}"/>
              </a:ext>
            </a:extLst>
          </p:cNvPr>
          <p:cNvSpPr/>
          <p:nvPr/>
        </p:nvSpPr>
        <p:spPr>
          <a:xfrm>
            <a:off x="10802887" y="3950763"/>
            <a:ext cx="116866" cy="116866"/>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0" name="Oval 279">
            <a:extLst>
              <a:ext uri="{FF2B5EF4-FFF2-40B4-BE49-F238E27FC236}">
                <a16:creationId xmlns:a16="http://schemas.microsoft.com/office/drawing/2014/main" id="{250F8F71-F2B3-24B1-8014-5EAEB9FD7631}"/>
              </a:ext>
            </a:extLst>
          </p:cNvPr>
          <p:cNvSpPr/>
          <p:nvPr/>
        </p:nvSpPr>
        <p:spPr>
          <a:xfrm>
            <a:off x="11040020" y="3210837"/>
            <a:ext cx="116866" cy="116866"/>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6" name="Freeform: Shape 295">
            <a:extLst>
              <a:ext uri="{FF2B5EF4-FFF2-40B4-BE49-F238E27FC236}">
                <a16:creationId xmlns:a16="http://schemas.microsoft.com/office/drawing/2014/main" id="{2328D9ED-E089-3F58-14C2-FC0F2D076808}"/>
              </a:ext>
            </a:extLst>
          </p:cNvPr>
          <p:cNvSpPr/>
          <p:nvPr/>
        </p:nvSpPr>
        <p:spPr>
          <a:xfrm>
            <a:off x="7965230" y="3468973"/>
            <a:ext cx="1520052" cy="1215219"/>
          </a:xfrm>
          <a:custGeom>
            <a:avLst/>
            <a:gdLst>
              <a:gd name="connsiteX0" fmla="*/ 0 w 819150"/>
              <a:gd name="connsiteY0" fmla="*/ 0 h 505609"/>
              <a:gd name="connsiteX1" fmla="*/ 88900 w 819150"/>
              <a:gd name="connsiteY1" fmla="*/ 79375 h 505609"/>
              <a:gd name="connsiteX2" fmla="*/ 66675 w 819150"/>
              <a:gd name="connsiteY2" fmla="*/ 193675 h 505609"/>
              <a:gd name="connsiteX3" fmla="*/ 12700 w 819150"/>
              <a:gd name="connsiteY3" fmla="*/ 339725 h 505609"/>
              <a:gd name="connsiteX4" fmla="*/ 53975 w 819150"/>
              <a:gd name="connsiteY4" fmla="*/ 460375 h 505609"/>
              <a:gd name="connsiteX5" fmla="*/ 196850 w 819150"/>
              <a:gd name="connsiteY5" fmla="*/ 504825 h 505609"/>
              <a:gd name="connsiteX6" fmla="*/ 403225 w 819150"/>
              <a:gd name="connsiteY6" fmla="*/ 428625 h 505609"/>
              <a:gd name="connsiteX7" fmla="*/ 571500 w 819150"/>
              <a:gd name="connsiteY7" fmla="*/ 377825 h 505609"/>
              <a:gd name="connsiteX8" fmla="*/ 819150 w 819150"/>
              <a:gd name="connsiteY8" fmla="*/ 450850 h 505609"/>
              <a:gd name="connsiteX0" fmla="*/ 0 w 692150"/>
              <a:gd name="connsiteY0" fmla="*/ 0 h 505609"/>
              <a:gd name="connsiteX1" fmla="*/ 88900 w 692150"/>
              <a:gd name="connsiteY1" fmla="*/ 79375 h 505609"/>
              <a:gd name="connsiteX2" fmla="*/ 66675 w 692150"/>
              <a:gd name="connsiteY2" fmla="*/ 193675 h 505609"/>
              <a:gd name="connsiteX3" fmla="*/ 12700 w 692150"/>
              <a:gd name="connsiteY3" fmla="*/ 339725 h 505609"/>
              <a:gd name="connsiteX4" fmla="*/ 53975 w 692150"/>
              <a:gd name="connsiteY4" fmla="*/ 460375 h 505609"/>
              <a:gd name="connsiteX5" fmla="*/ 196850 w 692150"/>
              <a:gd name="connsiteY5" fmla="*/ 504825 h 505609"/>
              <a:gd name="connsiteX6" fmla="*/ 403225 w 692150"/>
              <a:gd name="connsiteY6" fmla="*/ 428625 h 505609"/>
              <a:gd name="connsiteX7" fmla="*/ 571500 w 692150"/>
              <a:gd name="connsiteY7" fmla="*/ 377825 h 505609"/>
              <a:gd name="connsiteX8" fmla="*/ 692150 w 692150"/>
              <a:gd name="connsiteY8" fmla="*/ 403225 h 505609"/>
              <a:gd name="connsiteX0" fmla="*/ 0 w 692150"/>
              <a:gd name="connsiteY0" fmla="*/ 0 h 505609"/>
              <a:gd name="connsiteX1" fmla="*/ 88900 w 692150"/>
              <a:gd name="connsiteY1" fmla="*/ 79375 h 505609"/>
              <a:gd name="connsiteX2" fmla="*/ 66675 w 692150"/>
              <a:gd name="connsiteY2" fmla="*/ 193675 h 505609"/>
              <a:gd name="connsiteX3" fmla="*/ 12700 w 692150"/>
              <a:gd name="connsiteY3" fmla="*/ 339725 h 505609"/>
              <a:gd name="connsiteX4" fmla="*/ 53975 w 692150"/>
              <a:gd name="connsiteY4" fmla="*/ 460375 h 505609"/>
              <a:gd name="connsiteX5" fmla="*/ 196850 w 692150"/>
              <a:gd name="connsiteY5" fmla="*/ 504825 h 505609"/>
              <a:gd name="connsiteX6" fmla="*/ 403225 w 692150"/>
              <a:gd name="connsiteY6" fmla="*/ 428625 h 505609"/>
              <a:gd name="connsiteX7" fmla="*/ 571500 w 692150"/>
              <a:gd name="connsiteY7" fmla="*/ 377825 h 505609"/>
              <a:gd name="connsiteX8" fmla="*/ 692150 w 692150"/>
              <a:gd name="connsiteY8" fmla="*/ 403225 h 505609"/>
              <a:gd name="connsiteX0" fmla="*/ 0 w 692150"/>
              <a:gd name="connsiteY0" fmla="*/ 0 h 506323"/>
              <a:gd name="connsiteX1" fmla="*/ 88900 w 692150"/>
              <a:gd name="connsiteY1" fmla="*/ 79375 h 506323"/>
              <a:gd name="connsiteX2" fmla="*/ 66675 w 692150"/>
              <a:gd name="connsiteY2" fmla="*/ 193675 h 506323"/>
              <a:gd name="connsiteX3" fmla="*/ 12700 w 692150"/>
              <a:gd name="connsiteY3" fmla="*/ 339725 h 506323"/>
              <a:gd name="connsiteX4" fmla="*/ 53975 w 692150"/>
              <a:gd name="connsiteY4" fmla="*/ 460375 h 506323"/>
              <a:gd name="connsiteX5" fmla="*/ 196850 w 692150"/>
              <a:gd name="connsiteY5" fmla="*/ 504825 h 506323"/>
              <a:gd name="connsiteX6" fmla="*/ 425450 w 692150"/>
              <a:gd name="connsiteY6" fmla="*/ 412750 h 506323"/>
              <a:gd name="connsiteX7" fmla="*/ 571500 w 692150"/>
              <a:gd name="connsiteY7" fmla="*/ 377825 h 506323"/>
              <a:gd name="connsiteX8" fmla="*/ 692150 w 692150"/>
              <a:gd name="connsiteY8" fmla="*/ 403225 h 506323"/>
              <a:gd name="connsiteX0" fmla="*/ 0 w 692150"/>
              <a:gd name="connsiteY0" fmla="*/ 0 h 519023"/>
              <a:gd name="connsiteX1" fmla="*/ 88900 w 692150"/>
              <a:gd name="connsiteY1" fmla="*/ 92075 h 519023"/>
              <a:gd name="connsiteX2" fmla="*/ 66675 w 692150"/>
              <a:gd name="connsiteY2" fmla="*/ 206375 h 519023"/>
              <a:gd name="connsiteX3" fmla="*/ 12700 w 692150"/>
              <a:gd name="connsiteY3" fmla="*/ 352425 h 519023"/>
              <a:gd name="connsiteX4" fmla="*/ 53975 w 692150"/>
              <a:gd name="connsiteY4" fmla="*/ 473075 h 519023"/>
              <a:gd name="connsiteX5" fmla="*/ 196850 w 692150"/>
              <a:gd name="connsiteY5" fmla="*/ 517525 h 519023"/>
              <a:gd name="connsiteX6" fmla="*/ 425450 w 692150"/>
              <a:gd name="connsiteY6" fmla="*/ 425450 h 519023"/>
              <a:gd name="connsiteX7" fmla="*/ 571500 w 692150"/>
              <a:gd name="connsiteY7" fmla="*/ 390525 h 519023"/>
              <a:gd name="connsiteX8" fmla="*/ 692150 w 692150"/>
              <a:gd name="connsiteY8" fmla="*/ 415925 h 519023"/>
              <a:gd name="connsiteX0" fmla="*/ 0 w 692150"/>
              <a:gd name="connsiteY0" fmla="*/ 0 h 519023"/>
              <a:gd name="connsiteX1" fmla="*/ 104775 w 692150"/>
              <a:gd name="connsiteY1" fmla="*/ 92075 h 519023"/>
              <a:gd name="connsiteX2" fmla="*/ 66675 w 692150"/>
              <a:gd name="connsiteY2" fmla="*/ 206375 h 519023"/>
              <a:gd name="connsiteX3" fmla="*/ 12700 w 692150"/>
              <a:gd name="connsiteY3" fmla="*/ 352425 h 519023"/>
              <a:gd name="connsiteX4" fmla="*/ 53975 w 692150"/>
              <a:gd name="connsiteY4" fmla="*/ 473075 h 519023"/>
              <a:gd name="connsiteX5" fmla="*/ 196850 w 692150"/>
              <a:gd name="connsiteY5" fmla="*/ 517525 h 519023"/>
              <a:gd name="connsiteX6" fmla="*/ 425450 w 692150"/>
              <a:gd name="connsiteY6" fmla="*/ 425450 h 519023"/>
              <a:gd name="connsiteX7" fmla="*/ 571500 w 692150"/>
              <a:gd name="connsiteY7" fmla="*/ 390525 h 519023"/>
              <a:gd name="connsiteX8" fmla="*/ 692150 w 692150"/>
              <a:gd name="connsiteY8" fmla="*/ 415925 h 519023"/>
              <a:gd name="connsiteX0" fmla="*/ 16101 w 679676"/>
              <a:gd name="connsiteY0" fmla="*/ 0 h 538073"/>
              <a:gd name="connsiteX1" fmla="*/ 92301 w 679676"/>
              <a:gd name="connsiteY1" fmla="*/ 111125 h 538073"/>
              <a:gd name="connsiteX2" fmla="*/ 54201 w 679676"/>
              <a:gd name="connsiteY2" fmla="*/ 225425 h 538073"/>
              <a:gd name="connsiteX3" fmla="*/ 226 w 679676"/>
              <a:gd name="connsiteY3" fmla="*/ 371475 h 538073"/>
              <a:gd name="connsiteX4" fmla="*/ 41501 w 679676"/>
              <a:gd name="connsiteY4" fmla="*/ 492125 h 538073"/>
              <a:gd name="connsiteX5" fmla="*/ 184376 w 679676"/>
              <a:gd name="connsiteY5" fmla="*/ 536575 h 538073"/>
              <a:gd name="connsiteX6" fmla="*/ 412976 w 679676"/>
              <a:gd name="connsiteY6" fmla="*/ 444500 h 538073"/>
              <a:gd name="connsiteX7" fmla="*/ 559026 w 679676"/>
              <a:gd name="connsiteY7" fmla="*/ 409575 h 538073"/>
              <a:gd name="connsiteX8" fmla="*/ 679676 w 679676"/>
              <a:gd name="connsiteY8" fmla="*/ 434975 h 538073"/>
              <a:gd name="connsiteX0" fmla="*/ 16204 w 679779"/>
              <a:gd name="connsiteY0" fmla="*/ 0 h 538073"/>
              <a:gd name="connsiteX1" fmla="*/ 92404 w 679779"/>
              <a:gd name="connsiteY1" fmla="*/ 111125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6204 w 679779"/>
              <a:gd name="connsiteY0" fmla="*/ 0 h 538073"/>
              <a:gd name="connsiteX1" fmla="*/ 98754 w 679779"/>
              <a:gd name="connsiteY1" fmla="*/ 88900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6204 w 679779"/>
              <a:gd name="connsiteY0" fmla="*/ 0 h 538073"/>
              <a:gd name="connsiteX1" fmla="*/ 79704 w 679779"/>
              <a:gd name="connsiteY1" fmla="*/ 79375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5880 w 679455"/>
              <a:gd name="connsiteY0" fmla="*/ 0 h 538073"/>
              <a:gd name="connsiteX1" fmla="*/ 79380 w 679455"/>
              <a:gd name="connsiteY1" fmla="*/ 79375 h 538073"/>
              <a:gd name="connsiteX2" fmla="*/ 42868 w 679455"/>
              <a:gd name="connsiteY2" fmla="*/ 219869 h 538073"/>
              <a:gd name="connsiteX3" fmla="*/ 5 w 679455"/>
              <a:gd name="connsiteY3" fmla="*/ 371475 h 538073"/>
              <a:gd name="connsiteX4" fmla="*/ 41280 w 679455"/>
              <a:gd name="connsiteY4" fmla="*/ 492125 h 538073"/>
              <a:gd name="connsiteX5" fmla="*/ 184155 w 679455"/>
              <a:gd name="connsiteY5" fmla="*/ 536575 h 538073"/>
              <a:gd name="connsiteX6" fmla="*/ 412755 w 679455"/>
              <a:gd name="connsiteY6" fmla="*/ 444500 h 538073"/>
              <a:gd name="connsiteX7" fmla="*/ 558805 w 679455"/>
              <a:gd name="connsiteY7" fmla="*/ 409575 h 538073"/>
              <a:gd name="connsiteX8" fmla="*/ 679455 w 679455"/>
              <a:gd name="connsiteY8" fmla="*/ 434975 h 538073"/>
              <a:gd name="connsiteX0" fmla="*/ 15880 w 679455"/>
              <a:gd name="connsiteY0" fmla="*/ 0 h 538073"/>
              <a:gd name="connsiteX1" fmla="*/ 79380 w 679455"/>
              <a:gd name="connsiteY1" fmla="*/ 79375 h 538073"/>
              <a:gd name="connsiteX2" fmla="*/ 42868 w 679455"/>
              <a:gd name="connsiteY2" fmla="*/ 219869 h 538073"/>
              <a:gd name="connsiteX3" fmla="*/ 5 w 679455"/>
              <a:gd name="connsiteY3" fmla="*/ 371475 h 538073"/>
              <a:gd name="connsiteX4" fmla="*/ 41280 w 679455"/>
              <a:gd name="connsiteY4" fmla="*/ 492125 h 538073"/>
              <a:gd name="connsiteX5" fmla="*/ 184155 w 679455"/>
              <a:gd name="connsiteY5" fmla="*/ 536575 h 538073"/>
              <a:gd name="connsiteX6" fmla="*/ 412755 w 679455"/>
              <a:gd name="connsiteY6" fmla="*/ 444500 h 538073"/>
              <a:gd name="connsiteX7" fmla="*/ 558805 w 679455"/>
              <a:gd name="connsiteY7" fmla="*/ 409575 h 538073"/>
              <a:gd name="connsiteX8" fmla="*/ 679455 w 679455"/>
              <a:gd name="connsiteY8" fmla="*/ 434975 h 538073"/>
              <a:gd name="connsiteX0" fmla="*/ 6366 w 669941"/>
              <a:gd name="connsiteY0" fmla="*/ 0 h 538090"/>
              <a:gd name="connsiteX1" fmla="*/ 69866 w 669941"/>
              <a:gd name="connsiteY1" fmla="*/ 79375 h 538090"/>
              <a:gd name="connsiteX2" fmla="*/ 33354 w 669941"/>
              <a:gd name="connsiteY2" fmla="*/ 219869 h 538090"/>
              <a:gd name="connsiteX3" fmla="*/ 16 w 669941"/>
              <a:gd name="connsiteY3" fmla="*/ 369093 h 538090"/>
              <a:gd name="connsiteX4" fmla="*/ 31766 w 669941"/>
              <a:gd name="connsiteY4" fmla="*/ 492125 h 538090"/>
              <a:gd name="connsiteX5" fmla="*/ 174641 w 669941"/>
              <a:gd name="connsiteY5" fmla="*/ 536575 h 538090"/>
              <a:gd name="connsiteX6" fmla="*/ 403241 w 669941"/>
              <a:gd name="connsiteY6" fmla="*/ 444500 h 538090"/>
              <a:gd name="connsiteX7" fmla="*/ 549291 w 669941"/>
              <a:gd name="connsiteY7" fmla="*/ 409575 h 538090"/>
              <a:gd name="connsiteX8" fmla="*/ 669941 w 669941"/>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9018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6952 w 670527"/>
              <a:gd name="connsiteY0" fmla="*/ 0 h 538090"/>
              <a:gd name="connsiteX1" fmla="*/ 89502 w 670527"/>
              <a:gd name="connsiteY1" fmla="*/ 79375 h 538090"/>
              <a:gd name="connsiteX2" fmla="*/ 48228 w 670527"/>
              <a:gd name="connsiteY2" fmla="*/ 207962 h 538090"/>
              <a:gd name="connsiteX3" fmla="*/ 602 w 670527"/>
              <a:gd name="connsiteY3" fmla="*/ 369093 h 538090"/>
              <a:gd name="connsiteX4" fmla="*/ 32352 w 670527"/>
              <a:gd name="connsiteY4" fmla="*/ 492125 h 538090"/>
              <a:gd name="connsiteX5" fmla="*/ 175227 w 670527"/>
              <a:gd name="connsiteY5" fmla="*/ 536575 h 538090"/>
              <a:gd name="connsiteX6" fmla="*/ 403827 w 670527"/>
              <a:gd name="connsiteY6" fmla="*/ 444500 h 538090"/>
              <a:gd name="connsiteX7" fmla="*/ 549877 w 670527"/>
              <a:gd name="connsiteY7" fmla="*/ 409575 h 538090"/>
              <a:gd name="connsiteX8" fmla="*/ 670527 w 670527"/>
              <a:gd name="connsiteY8" fmla="*/ 434975 h 538090"/>
              <a:gd name="connsiteX0" fmla="*/ 6952 w 670527"/>
              <a:gd name="connsiteY0" fmla="*/ 0 h 538090"/>
              <a:gd name="connsiteX1" fmla="*/ 72834 w 670527"/>
              <a:gd name="connsiteY1" fmla="*/ 79375 h 538090"/>
              <a:gd name="connsiteX2" fmla="*/ 48228 w 670527"/>
              <a:gd name="connsiteY2" fmla="*/ 207962 h 538090"/>
              <a:gd name="connsiteX3" fmla="*/ 602 w 670527"/>
              <a:gd name="connsiteY3" fmla="*/ 369093 h 538090"/>
              <a:gd name="connsiteX4" fmla="*/ 32352 w 670527"/>
              <a:gd name="connsiteY4" fmla="*/ 492125 h 538090"/>
              <a:gd name="connsiteX5" fmla="*/ 175227 w 670527"/>
              <a:gd name="connsiteY5" fmla="*/ 536575 h 538090"/>
              <a:gd name="connsiteX6" fmla="*/ 403827 w 670527"/>
              <a:gd name="connsiteY6" fmla="*/ 444500 h 538090"/>
              <a:gd name="connsiteX7" fmla="*/ 549877 w 670527"/>
              <a:gd name="connsiteY7" fmla="*/ 409575 h 538090"/>
              <a:gd name="connsiteX8" fmla="*/ 670527 w 670527"/>
              <a:gd name="connsiteY8" fmla="*/ 434975 h 538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0527" h="538090">
                <a:moveTo>
                  <a:pt x="6952" y="0"/>
                </a:moveTo>
                <a:cubicBezTo>
                  <a:pt x="45846" y="23548"/>
                  <a:pt x="65955" y="44715"/>
                  <a:pt x="72834" y="79375"/>
                </a:cubicBezTo>
                <a:cubicBezTo>
                  <a:pt x="79713" y="114035"/>
                  <a:pt x="60267" y="159676"/>
                  <a:pt x="48228" y="207962"/>
                </a:cubicBezTo>
                <a:cubicBezTo>
                  <a:pt x="36189" y="256248"/>
                  <a:pt x="3248" y="321732"/>
                  <a:pt x="602" y="369093"/>
                </a:cubicBezTo>
                <a:cubicBezTo>
                  <a:pt x="-2044" y="416454"/>
                  <a:pt x="3248" y="464211"/>
                  <a:pt x="32352" y="492125"/>
                </a:cubicBezTo>
                <a:cubicBezTo>
                  <a:pt x="61456" y="520039"/>
                  <a:pt x="113315" y="544512"/>
                  <a:pt x="175227" y="536575"/>
                </a:cubicBezTo>
                <a:cubicBezTo>
                  <a:pt x="237139" y="528638"/>
                  <a:pt x="341385" y="465667"/>
                  <a:pt x="403827" y="444500"/>
                </a:cubicBezTo>
                <a:cubicBezTo>
                  <a:pt x="466269" y="423333"/>
                  <a:pt x="480556" y="405871"/>
                  <a:pt x="549877" y="409575"/>
                </a:cubicBezTo>
                <a:cubicBezTo>
                  <a:pt x="619198" y="413279"/>
                  <a:pt x="600412" y="409839"/>
                  <a:pt x="670527" y="434975"/>
                </a:cubicBezTo>
              </a:path>
            </a:pathLst>
          </a:cu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97" name="Picture 296">
            <a:extLst>
              <a:ext uri="{FF2B5EF4-FFF2-40B4-BE49-F238E27FC236}">
                <a16:creationId xmlns:a16="http://schemas.microsoft.com/office/drawing/2014/main" id="{B9335842-CE27-9EF5-58E4-893CDFCDA4FA}"/>
              </a:ext>
            </a:extLst>
          </p:cNvPr>
          <p:cNvPicPr>
            <a:picLocks noChangeAspect="1"/>
          </p:cNvPicPr>
          <p:nvPr/>
        </p:nvPicPr>
        <p:blipFill>
          <a:blip r:embed="rId8"/>
          <a:stretch>
            <a:fillRect/>
          </a:stretch>
        </p:blipFill>
        <p:spPr>
          <a:xfrm>
            <a:off x="8218888" y="3611911"/>
            <a:ext cx="218271" cy="299278"/>
          </a:xfrm>
          <a:prstGeom prst="rect">
            <a:avLst/>
          </a:prstGeom>
        </p:spPr>
      </p:pic>
      <p:pic>
        <p:nvPicPr>
          <p:cNvPr id="298" name="Picture 297">
            <a:extLst>
              <a:ext uri="{FF2B5EF4-FFF2-40B4-BE49-F238E27FC236}">
                <a16:creationId xmlns:a16="http://schemas.microsoft.com/office/drawing/2014/main" id="{60D29278-497B-A0DF-84C5-D02BBC6536A8}"/>
              </a:ext>
            </a:extLst>
          </p:cNvPr>
          <p:cNvPicPr>
            <a:picLocks noChangeAspect="1"/>
          </p:cNvPicPr>
          <p:nvPr/>
        </p:nvPicPr>
        <p:blipFill>
          <a:blip r:embed="rId9"/>
          <a:stretch>
            <a:fillRect/>
          </a:stretch>
        </p:blipFill>
        <p:spPr>
          <a:xfrm>
            <a:off x="7649860" y="4502130"/>
            <a:ext cx="239025" cy="311184"/>
          </a:xfrm>
          <a:prstGeom prst="rect">
            <a:avLst/>
          </a:prstGeom>
        </p:spPr>
      </p:pic>
      <p:pic>
        <p:nvPicPr>
          <p:cNvPr id="299" name="Picture 298">
            <a:extLst>
              <a:ext uri="{FF2B5EF4-FFF2-40B4-BE49-F238E27FC236}">
                <a16:creationId xmlns:a16="http://schemas.microsoft.com/office/drawing/2014/main" id="{46C3F60A-6C97-065A-4DE9-09F97B6FEF31}"/>
              </a:ext>
            </a:extLst>
          </p:cNvPr>
          <p:cNvPicPr>
            <a:picLocks noChangeAspect="1"/>
          </p:cNvPicPr>
          <p:nvPr/>
        </p:nvPicPr>
        <p:blipFill>
          <a:blip r:embed="rId10"/>
          <a:stretch>
            <a:fillRect/>
          </a:stretch>
        </p:blipFill>
        <p:spPr>
          <a:xfrm>
            <a:off x="8753593" y="4576951"/>
            <a:ext cx="228661" cy="296580"/>
          </a:xfrm>
          <a:prstGeom prst="rect">
            <a:avLst/>
          </a:prstGeom>
        </p:spPr>
      </p:pic>
      <p:pic>
        <p:nvPicPr>
          <p:cNvPr id="300" name="Picture 299">
            <a:extLst>
              <a:ext uri="{FF2B5EF4-FFF2-40B4-BE49-F238E27FC236}">
                <a16:creationId xmlns:a16="http://schemas.microsoft.com/office/drawing/2014/main" id="{CEF0B83D-9699-B679-8B11-F13189DBE20E}"/>
              </a:ext>
            </a:extLst>
          </p:cNvPr>
          <p:cNvPicPr>
            <a:picLocks noChangeAspect="1"/>
          </p:cNvPicPr>
          <p:nvPr/>
        </p:nvPicPr>
        <p:blipFill>
          <a:blip r:embed="rId11">
            <a:extLst>
              <a:ext uri="{BEBA8EAE-BF5A-486C-A8C5-ECC9F3942E4B}">
                <a14:imgProps xmlns:a14="http://schemas.microsoft.com/office/drawing/2010/main">
                  <a14:imgLayer r:embed="rId12">
                    <a14:imgEffect>
                      <a14:backgroundRemoval t="9701" b="89552" l="9615" r="91346">
                        <a14:foregroundMark x1="23077" y1="14925" x2="91346" y2="12687"/>
                        <a14:foregroundMark x1="65385" y1="61194" x2="68269" y2="86567"/>
                      </a14:backgroundRemoval>
                    </a14:imgEffect>
                  </a14:imgLayer>
                </a14:imgProps>
              </a:ext>
            </a:extLst>
          </a:blip>
          <a:stretch>
            <a:fillRect/>
          </a:stretch>
        </p:blipFill>
        <p:spPr>
          <a:xfrm>
            <a:off x="9381233" y="4597251"/>
            <a:ext cx="231515" cy="298299"/>
          </a:xfrm>
          <a:prstGeom prst="rect">
            <a:avLst/>
          </a:prstGeom>
        </p:spPr>
      </p:pic>
      <p:pic>
        <p:nvPicPr>
          <p:cNvPr id="301" name="Picture 300">
            <a:extLst>
              <a:ext uri="{FF2B5EF4-FFF2-40B4-BE49-F238E27FC236}">
                <a16:creationId xmlns:a16="http://schemas.microsoft.com/office/drawing/2014/main" id="{1F84FFEB-D56F-5A26-0B1C-746259C2C34C}"/>
              </a:ext>
            </a:extLst>
          </p:cNvPr>
          <p:cNvPicPr>
            <a:picLocks noChangeAspect="1"/>
          </p:cNvPicPr>
          <p:nvPr/>
        </p:nvPicPr>
        <p:blipFill>
          <a:blip r:embed="rId13"/>
          <a:stretch>
            <a:fillRect/>
          </a:stretch>
        </p:blipFill>
        <p:spPr>
          <a:xfrm>
            <a:off x="8043874" y="3105564"/>
            <a:ext cx="224519" cy="321416"/>
          </a:xfrm>
          <a:prstGeom prst="rect">
            <a:avLst/>
          </a:prstGeom>
        </p:spPr>
      </p:pic>
      <p:sp>
        <p:nvSpPr>
          <p:cNvPr id="303" name="Rectangle: Rounded Corners 302">
            <a:extLst>
              <a:ext uri="{FF2B5EF4-FFF2-40B4-BE49-F238E27FC236}">
                <a16:creationId xmlns:a16="http://schemas.microsoft.com/office/drawing/2014/main" id="{A81E5A4F-491F-4DD3-C893-67D905B64A3B}"/>
              </a:ext>
            </a:extLst>
          </p:cNvPr>
          <p:cNvSpPr/>
          <p:nvPr/>
        </p:nvSpPr>
        <p:spPr>
          <a:xfrm>
            <a:off x="7971951" y="2058705"/>
            <a:ext cx="2586067" cy="352371"/>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JointsTrajectoryGenerator</a:t>
            </a:r>
            <a:endParaRPr lang="en-GB" sz="1400" dirty="0">
              <a:solidFill>
                <a:srgbClr val="003399"/>
              </a:solidFill>
            </a:endParaRPr>
          </a:p>
        </p:txBody>
      </p:sp>
      <p:sp>
        <p:nvSpPr>
          <p:cNvPr id="360" name="Rectangle: Rounded Corners 359">
            <a:extLst>
              <a:ext uri="{FF2B5EF4-FFF2-40B4-BE49-F238E27FC236}">
                <a16:creationId xmlns:a16="http://schemas.microsoft.com/office/drawing/2014/main" id="{21AD8BA6-991A-2CFC-5952-93DAC2164748}"/>
              </a:ext>
            </a:extLst>
          </p:cNvPr>
          <p:cNvSpPr/>
          <p:nvPr/>
        </p:nvSpPr>
        <p:spPr>
          <a:xfrm>
            <a:off x="6846990" y="2024360"/>
            <a:ext cx="4748834" cy="2948855"/>
          </a:xfrm>
          <a:prstGeom prst="roundRect">
            <a:avLst/>
          </a:prstGeom>
          <a:noFill/>
          <a:ln w="19050">
            <a:solidFill>
              <a:srgbClr val="0033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F0F775E7-85DC-A939-B6A5-114DCD38F7F4}"/>
              </a:ext>
            </a:extLst>
          </p:cNvPr>
          <p:cNvGrpSpPr/>
          <p:nvPr/>
        </p:nvGrpSpPr>
        <p:grpSpPr>
          <a:xfrm>
            <a:off x="771616" y="2142602"/>
            <a:ext cx="4657531" cy="2934040"/>
            <a:chOff x="771616" y="2142602"/>
            <a:chExt cx="4657531" cy="2934040"/>
          </a:xfrm>
        </p:grpSpPr>
        <p:sp>
          <p:nvSpPr>
            <p:cNvPr id="17" name="Freeform 13">
              <a:extLst>
                <a:ext uri="{FF2B5EF4-FFF2-40B4-BE49-F238E27FC236}">
                  <a16:creationId xmlns:a16="http://schemas.microsoft.com/office/drawing/2014/main" id="{1D7D65BC-0A9E-6216-EC15-80E381AE1744}"/>
                </a:ext>
              </a:extLst>
            </p:cNvPr>
            <p:cNvSpPr/>
            <p:nvPr/>
          </p:nvSpPr>
          <p:spPr>
            <a:xfrm>
              <a:off x="2794270" y="2142602"/>
              <a:ext cx="2634877" cy="2626483"/>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dirty="0"/>
            </a:p>
          </p:txBody>
        </p:sp>
        <p:sp>
          <p:nvSpPr>
            <p:cNvPr id="356" name="Freeform 14">
              <a:extLst>
                <a:ext uri="{FF2B5EF4-FFF2-40B4-BE49-F238E27FC236}">
                  <a16:creationId xmlns:a16="http://schemas.microsoft.com/office/drawing/2014/main" id="{2EDC09D1-1047-58CE-8C4D-5667D542B6D2}"/>
                </a:ext>
              </a:extLst>
            </p:cNvPr>
            <p:cNvSpPr/>
            <p:nvPr/>
          </p:nvSpPr>
          <p:spPr>
            <a:xfrm>
              <a:off x="1363602" y="3455843"/>
              <a:ext cx="1838495" cy="1620799"/>
            </a:xfrm>
            <a:custGeom>
              <a:avLst/>
              <a:gdLst/>
              <a:ahLst/>
              <a:cxnLst/>
              <a:rect l="l" t="t" r="r" b="b"/>
              <a:pathLst>
                <a:path w="2388253" h="2105462">
                  <a:moveTo>
                    <a:pt x="0" y="0"/>
                  </a:moveTo>
                  <a:lnTo>
                    <a:pt x="2388253" y="0"/>
                  </a:lnTo>
                  <a:lnTo>
                    <a:pt x="2388253" y="2105462"/>
                  </a:lnTo>
                  <a:lnTo>
                    <a:pt x="0" y="2105462"/>
                  </a:lnTo>
                  <a:lnTo>
                    <a:pt x="0" y="0"/>
                  </a:lnTo>
                  <a:close/>
                </a:path>
              </a:pathLst>
            </a:custGeom>
            <a:blipFill>
              <a:blip r:embed="rId14"/>
              <a:stretch>
                <a:fillRect l="-16072" t="-8057"/>
              </a:stretch>
            </a:blipFill>
          </p:spPr>
          <p:txBody>
            <a:bodyPr/>
            <a:lstStyle/>
            <a:p>
              <a:endParaRPr lang="en-GB"/>
            </a:p>
          </p:txBody>
        </p:sp>
        <p:sp>
          <p:nvSpPr>
            <p:cNvPr id="357" name="Freeform 15">
              <a:extLst>
                <a:ext uri="{FF2B5EF4-FFF2-40B4-BE49-F238E27FC236}">
                  <a16:creationId xmlns:a16="http://schemas.microsoft.com/office/drawing/2014/main" id="{A4305B46-38B5-BCB8-B8FF-6366F2C524FF}"/>
                </a:ext>
              </a:extLst>
            </p:cNvPr>
            <p:cNvSpPr/>
            <p:nvPr/>
          </p:nvSpPr>
          <p:spPr>
            <a:xfrm>
              <a:off x="1882255" y="3970250"/>
              <a:ext cx="472032" cy="472032"/>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358" name="Freeform 16">
              <a:extLst>
                <a:ext uri="{FF2B5EF4-FFF2-40B4-BE49-F238E27FC236}">
                  <a16:creationId xmlns:a16="http://schemas.microsoft.com/office/drawing/2014/main" id="{DA5541E5-ECD8-AE5B-27D8-DE0DBC2B9FCA}"/>
                </a:ext>
              </a:extLst>
            </p:cNvPr>
            <p:cNvSpPr/>
            <p:nvPr/>
          </p:nvSpPr>
          <p:spPr>
            <a:xfrm>
              <a:off x="771616" y="3674256"/>
              <a:ext cx="670656" cy="670656"/>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359" name="Freeform 17">
              <a:extLst>
                <a:ext uri="{FF2B5EF4-FFF2-40B4-BE49-F238E27FC236}">
                  <a16:creationId xmlns:a16="http://schemas.microsoft.com/office/drawing/2014/main" id="{A9D67268-63F2-1B8E-9C26-4138137175D3}"/>
                </a:ext>
              </a:extLst>
            </p:cNvPr>
            <p:cNvSpPr/>
            <p:nvPr/>
          </p:nvSpPr>
          <p:spPr>
            <a:xfrm>
              <a:off x="969923" y="2666911"/>
              <a:ext cx="801506" cy="914580"/>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350" name="Oval 349">
              <a:extLst>
                <a:ext uri="{FF2B5EF4-FFF2-40B4-BE49-F238E27FC236}">
                  <a16:creationId xmlns:a16="http://schemas.microsoft.com/office/drawing/2014/main" id="{42DD18D1-652D-5C35-A9A7-E7D1C1C81F16}"/>
                </a:ext>
              </a:extLst>
            </p:cNvPr>
            <p:cNvSpPr/>
            <p:nvPr/>
          </p:nvSpPr>
          <p:spPr>
            <a:xfrm>
              <a:off x="1631321" y="3753738"/>
              <a:ext cx="204629" cy="204629"/>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1" name="Oval 350">
              <a:extLst>
                <a:ext uri="{FF2B5EF4-FFF2-40B4-BE49-F238E27FC236}">
                  <a16:creationId xmlns:a16="http://schemas.microsoft.com/office/drawing/2014/main" id="{47CFCBB6-18D8-2067-744A-CB004734DF55}"/>
                </a:ext>
              </a:extLst>
            </p:cNvPr>
            <p:cNvSpPr/>
            <p:nvPr/>
          </p:nvSpPr>
          <p:spPr>
            <a:xfrm>
              <a:off x="1565801" y="4444776"/>
              <a:ext cx="204629" cy="204629"/>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2" name="Oval 351">
              <a:extLst>
                <a:ext uri="{FF2B5EF4-FFF2-40B4-BE49-F238E27FC236}">
                  <a16:creationId xmlns:a16="http://schemas.microsoft.com/office/drawing/2014/main" id="{F2AD561C-1D43-EEB0-FBAA-F86066BF4CD2}"/>
                </a:ext>
              </a:extLst>
            </p:cNvPr>
            <p:cNvSpPr/>
            <p:nvPr/>
          </p:nvSpPr>
          <p:spPr>
            <a:xfrm>
              <a:off x="2458170" y="4409831"/>
              <a:ext cx="204629" cy="204629"/>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3" name="Oval 352">
              <a:extLst>
                <a:ext uri="{FF2B5EF4-FFF2-40B4-BE49-F238E27FC236}">
                  <a16:creationId xmlns:a16="http://schemas.microsoft.com/office/drawing/2014/main" id="{2C122947-73E2-CFEE-74D7-84B98ADF708F}"/>
                </a:ext>
              </a:extLst>
            </p:cNvPr>
            <p:cNvSpPr/>
            <p:nvPr/>
          </p:nvSpPr>
          <p:spPr>
            <a:xfrm>
              <a:off x="3156939" y="4388987"/>
              <a:ext cx="204629" cy="204629"/>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4" name="Oval 353">
              <a:extLst>
                <a:ext uri="{FF2B5EF4-FFF2-40B4-BE49-F238E27FC236}">
                  <a16:creationId xmlns:a16="http://schemas.microsoft.com/office/drawing/2014/main" id="{23F43065-4491-BAA9-D829-D82085FAEEE1}"/>
                </a:ext>
              </a:extLst>
            </p:cNvPr>
            <p:cNvSpPr/>
            <p:nvPr/>
          </p:nvSpPr>
          <p:spPr>
            <a:xfrm>
              <a:off x="1442271" y="3317571"/>
              <a:ext cx="204629" cy="204629"/>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361" name="Rectangle: Rounded Corners 360">
            <a:extLst>
              <a:ext uri="{FF2B5EF4-FFF2-40B4-BE49-F238E27FC236}">
                <a16:creationId xmlns:a16="http://schemas.microsoft.com/office/drawing/2014/main" id="{C373F728-8621-B0D3-45C1-96DCEAD2013D}"/>
              </a:ext>
            </a:extLst>
          </p:cNvPr>
          <p:cNvSpPr/>
          <p:nvPr/>
        </p:nvSpPr>
        <p:spPr>
          <a:xfrm>
            <a:off x="596176" y="2024360"/>
            <a:ext cx="4780011" cy="2931751"/>
          </a:xfrm>
          <a:prstGeom prst="roundRect">
            <a:avLst/>
          </a:prstGeom>
          <a:noFill/>
          <a:ln w="19050">
            <a:solidFill>
              <a:srgbClr val="0033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 name="Rectangle: Rounded Corners 304">
            <a:extLst>
              <a:ext uri="{FF2B5EF4-FFF2-40B4-BE49-F238E27FC236}">
                <a16:creationId xmlns:a16="http://schemas.microsoft.com/office/drawing/2014/main" id="{55219C04-7E63-E77F-A98E-C3B610561EB5}"/>
              </a:ext>
            </a:extLst>
          </p:cNvPr>
          <p:cNvSpPr/>
          <p:nvPr/>
        </p:nvSpPr>
        <p:spPr>
          <a:xfrm>
            <a:off x="1544584" y="2052003"/>
            <a:ext cx="2702940" cy="371704"/>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TaskTrajectoryGenerator</a:t>
            </a:r>
            <a:endParaRPr lang="en-GB" sz="1400" dirty="0">
              <a:solidFill>
                <a:srgbClr val="003399"/>
              </a:solidFill>
            </a:endParaRPr>
          </a:p>
        </p:txBody>
      </p:sp>
    </p:spTree>
    <p:extLst>
      <p:ext uri="{BB962C8B-B14F-4D97-AF65-F5344CB8AC3E}">
        <p14:creationId xmlns:p14="http://schemas.microsoft.com/office/powerpoint/2010/main" val="5571260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11</a:t>
            </a:fld>
            <a:endParaRPr lang="en-US" dirty="0"/>
          </a:p>
        </p:txBody>
      </p:sp>
      <p:sp>
        <p:nvSpPr>
          <p:cNvPr id="51" name="Rectangle 1">
            <a:extLst>
              <a:ext uri="{FF2B5EF4-FFF2-40B4-BE49-F238E27FC236}">
                <a16:creationId xmlns:a16="http://schemas.microsoft.com/office/drawing/2014/main" id="{EC653236-F2AD-1FAC-CDF8-81887320998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2" name="Rectangle 2">
            <a:extLst>
              <a:ext uri="{FF2B5EF4-FFF2-40B4-BE49-F238E27FC236}">
                <a16:creationId xmlns:a16="http://schemas.microsoft.com/office/drawing/2014/main" id="{EE60B068-47B7-E64E-8545-8D38BBDEC69D}"/>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194" name="TextBox 193">
            <a:extLst>
              <a:ext uri="{FF2B5EF4-FFF2-40B4-BE49-F238E27FC236}">
                <a16:creationId xmlns:a16="http://schemas.microsoft.com/office/drawing/2014/main" id="{C5ACF434-8493-DF79-A331-24C284C88AEB}"/>
              </a:ext>
            </a:extLst>
          </p:cNvPr>
          <p:cNvSpPr txBox="1"/>
          <p:nvPr/>
        </p:nvSpPr>
        <p:spPr>
          <a:xfrm>
            <a:off x="5537483" y="1595748"/>
            <a:ext cx="2288351" cy="215444"/>
          </a:xfrm>
          <a:prstGeom prst="rect">
            <a:avLst/>
          </a:prstGeom>
          <a:noFill/>
        </p:spPr>
        <p:txBody>
          <a:bodyPr wrap="square" lIns="0" tIns="0" rIns="0" bIns="0" rtlCol="0">
            <a:spAutoFit/>
          </a:bodyPr>
          <a:lstStyle/>
          <a:p>
            <a:pPr algn="ctr"/>
            <a:r>
              <a:rPr lang="en-US" sz="1400" b="1" dirty="0">
                <a:solidFill>
                  <a:schemeClr val="tx2"/>
                </a:solidFill>
              </a:rPr>
              <a:t>Motion Control Loop</a:t>
            </a:r>
          </a:p>
        </p:txBody>
      </p:sp>
      <p:sp>
        <p:nvSpPr>
          <p:cNvPr id="24" name="TextBox 23">
            <a:extLst>
              <a:ext uri="{FF2B5EF4-FFF2-40B4-BE49-F238E27FC236}">
                <a16:creationId xmlns:a16="http://schemas.microsoft.com/office/drawing/2014/main" id="{2F04EC0C-E936-009D-3F64-5ECC528C62A7}"/>
              </a:ext>
            </a:extLst>
          </p:cNvPr>
          <p:cNvSpPr txBox="1"/>
          <p:nvPr/>
        </p:nvSpPr>
        <p:spPr>
          <a:xfrm>
            <a:off x="401537" y="2511752"/>
            <a:ext cx="864685" cy="215444"/>
          </a:xfrm>
          <a:prstGeom prst="rect">
            <a:avLst/>
          </a:prstGeom>
          <a:noFill/>
        </p:spPr>
        <p:txBody>
          <a:bodyPr wrap="square" lIns="0" tIns="0" rIns="0" bIns="0" rtlCol="0">
            <a:spAutoFit/>
          </a:bodyPr>
          <a:lstStyle/>
          <a:p>
            <a:pPr algn="ctr"/>
            <a:r>
              <a:rPr lang="en-US" sz="1400" dirty="0">
                <a:solidFill>
                  <a:schemeClr val="tx2"/>
                </a:solidFill>
              </a:rPr>
              <a:t>Joint path</a:t>
            </a:r>
            <a:endParaRPr lang="en-GB" sz="1400" dirty="0">
              <a:solidFill>
                <a:schemeClr val="tx2"/>
              </a:solidFill>
            </a:endParaRPr>
          </a:p>
        </p:txBody>
      </p:sp>
      <p:sp>
        <p:nvSpPr>
          <p:cNvPr id="26" name="TextBox 25">
            <a:extLst>
              <a:ext uri="{FF2B5EF4-FFF2-40B4-BE49-F238E27FC236}">
                <a16:creationId xmlns:a16="http://schemas.microsoft.com/office/drawing/2014/main" id="{BB008CC9-BD20-22A2-825E-7A577297C16E}"/>
              </a:ext>
            </a:extLst>
          </p:cNvPr>
          <p:cNvSpPr txBox="1"/>
          <p:nvPr/>
        </p:nvSpPr>
        <p:spPr>
          <a:xfrm>
            <a:off x="4463047" y="3679225"/>
            <a:ext cx="1610464" cy="507831"/>
          </a:xfrm>
          <a:prstGeom prst="rect">
            <a:avLst/>
          </a:prstGeom>
          <a:noFill/>
        </p:spPr>
        <p:txBody>
          <a:bodyPr wrap="square" lIns="0" tIns="0" rIns="0" bIns="0" rtlCol="0">
            <a:spAutoFit/>
          </a:bodyPr>
          <a:lstStyle/>
          <a:p>
            <a:pPr algn="ctr"/>
            <a:r>
              <a:rPr lang="en-US" sz="1200" dirty="0">
                <a:solidFill>
                  <a:schemeClr val="tx2"/>
                </a:solidFill>
              </a:rPr>
              <a:t>Trajectory point:</a:t>
            </a:r>
          </a:p>
          <a:p>
            <a:pPr algn="ctr"/>
            <a:r>
              <a:rPr lang="en-US" sz="1000" dirty="0">
                <a:solidFill>
                  <a:schemeClr val="tx2"/>
                </a:solidFill>
              </a:rPr>
              <a:t>Task pose, velocity, acceleration at </a:t>
            </a:r>
            <a:r>
              <a:rPr lang="en-US" sz="1000" i="1" dirty="0">
                <a:solidFill>
                  <a:schemeClr val="tx2"/>
                </a:solidFill>
              </a:rPr>
              <a:t>t</a:t>
            </a:r>
          </a:p>
        </p:txBody>
      </p:sp>
      <p:sp>
        <p:nvSpPr>
          <p:cNvPr id="31" name="TextBox 30">
            <a:extLst>
              <a:ext uri="{FF2B5EF4-FFF2-40B4-BE49-F238E27FC236}">
                <a16:creationId xmlns:a16="http://schemas.microsoft.com/office/drawing/2014/main" id="{84E42186-E29E-9F38-CFBE-A7C905A0B2CB}"/>
              </a:ext>
            </a:extLst>
          </p:cNvPr>
          <p:cNvSpPr txBox="1"/>
          <p:nvPr/>
        </p:nvSpPr>
        <p:spPr>
          <a:xfrm>
            <a:off x="10058335" y="3103703"/>
            <a:ext cx="1522790" cy="553998"/>
          </a:xfrm>
          <a:prstGeom prst="rect">
            <a:avLst/>
          </a:prstGeom>
          <a:noFill/>
        </p:spPr>
        <p:txBody>
          <a:bodyPr wrap="square" lIns="0" tIns="0" rIns="0" bIns="0" rtlCol="0">
            <a:spAutoFit/>
          </a:bodyPr>
          <a:lstStyle/>
          <a:p>
            <a:pPr algn="ctr"/>
            <a:r>
              <a:rPr lang="en-US" sz="1200" dirty="0">
                <a:solidFill>
                  <a:schemeClr val="tx2"/>
                </a:solidFill>
              </a:rPr>
              <a:t>Actual joint angles, velocities, accelerations at </a:t>
            </a:r>
            <a:r>
              <a:rPr lang="en-US" sz="1200" i="1" dirty="0">
                <a:solidFill>
                  <a:schemeClr val="tx2"/>
                </a:solidFill>
              </a:rPr>
              <a:t>t</a:t>
            </a:r>
          </a:p>
        </p:txBody>
      </p:sp>
      <p:cxnSp>
        <p:nvCxnSpPr>
          <p:cNvPr id="48" name="Straight Arrow Connector 47">
            <a:extLst>
              <a:ext uri="{FF2B5EF4-FFF2-40B4-BE49-F238E27FC236}">
                <a16:creationId xmlns:a16="http://schemas.microsoft.com/office/drawing/2014/main" id="{DF76875B-3595-BDFF-DAF6-C5FA00EC56B3}"/>
              </a:ext>
            </a:extLst>
          </p:cNvPr>
          <p:cNvCxnSpPr>
            <a:cxnSpLocks/>
            <a:stCxn id="61" idx="3"/>
          </p:cNvCxnSpPr>
          <p:nvPr/>
        </p:nvCxnSpPr>
        <p:spPr>
          <a:xfrm>
            <a:off x="10123727" y="3089393"/>
            <a:ext cx="1913345" cy="0"/>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58932DBA-BC85-1349-2412-47475D88E2FF}"/>
              </a:ext>
            </a:extLst>
          </p:cNvPr>
          <p:cNvCxnSpPr>
            <a:cxnSpLocks/>
            <a:stCxn id="24" idx="3"/>
            <a:endCxn id="12" idx="1"/>
          </p:cNvCxnSpPr>
          <p:nvPr/>
        </p:nvCxnSpPr>
        <p:spPr>
          <a:xfrm flipV="1">
            <a:off x="1266222" y="2618512"/>
            <a:ext cx="967156" cy="962"/>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grpSp>
        <p:nvGrpSpPr>
          <p:cNvPr id="110" name="Group 109">
            <a:extLst>
              <a:ext uri="{FF2B5EF4-FFF2-40B4-BE49-F238E27FC236}">
                <a16:creationId xmlns:a16="http://schemas.microsoft.com/office/drawing/2014/main" id="{3D5F405E-D722-F6BF-8AB9-F6ED81B8BF8F}"/>
              </a:ext>
            </a:extLst>
          </p:cNvPr>
          <p:cNvGrpSpPr/>
          <p:nvPr/>
        </p:nvGrpSpPr>
        <p:grpSpPr>
          <a:xfrm>
            <a:off x="116581" y="1856699"/>
            <a:ext cx="11408669" cy="3733767"/>
            <a:chOff x="116581" y="1856699"/>
            <a:chExt cx="11408669" cy="3733767"/>
          </a:xfrm>
        </p:grpSpPr>
        <p:sp>
          <p:nvSpPr>
            <p:cNvPr id="285" name="Rectangle: Rounded Corners 284">
              <a:extLst>
                <a:ext uri="{FF2B5EF4-FFF2-40B4-BE49-F238E27FC236}">
                  <a16:creationId xmlns:a16="http://schemas.microsoft.com/office/drawing/2014/main" id="{B9B9C5F0-D2B3-97EE-9174-9821A634C819}"/>
                </a:ext>
              </a:extLst>
            </p:cNvPr>
            <p:cNvSpPr/>
            <p:nvPr/>
          </p:nvSpPr>
          <p:spPr>
            <a:xfrm>
              <a:off x="1960761" y="1856699"/>
              <a:ext cx="9564489" cy="3733767"/>
            </a:xfrm>
            <a:prstGeom prst="roundRect">
              <a:avLst>
                <a:gd name="adj" fmla="val 9139"/>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77" name="Group 176">
              <a:extLst>
                <a:ext uri="{FF2B5EF4-FFF2-40B4-BE49-F238E27FC236}">
                  <a16:creationId xmlns:a16="http://schemas.microsoft.com/office/drawing/2014/main" id="{687D5065-9A8E-7A30-E4C1-072727CA7275}"/>
                </a:ext>
              </a:extLst>
            </p:cNvPr>
            <p:cNvGrpSpPr/>
            <p:nvPr/>
          </p:nvGrpSpPr>
          <p:grpSpPr>
            <a:xfrm>
              <a:off x="116581" y="4126473"/>
              <a:ext cx="1766536" cy="996188"/>
              <a:chOff x="492958" y="4181396"/>
              <a:chExt cx="1766536" cy="996188"/>
            </a:xfrm>
          </p:grpSpPr>
          <p:sp>
            <p:nvSpPr>
              <p:cNvPr id="79" name="Freeform 13">
                <a:extLst>
                  <a:ext uri="{FF2B5EF4-FFF2-40B4-BE49-F238E27FC236}">
                    <a16:creationId xmlns:a16="http://schemas.microsoft.com/office/drawing/2014/main" id="{D0F48302-30D8-A28A-760A-5B10F237F5EA}"/>
                  </a:ext>
                </a:extLst>
              </p:cNvPr>
              <p:cNvSpPr/>
              <p:nvPr/>
            </p:nvSpPr>
            <p:spPr>
              <a:xfrm>
                <a:off x="1260123" y="4181396"/>
                <a:ext cx="999371" cy="996188"/>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a:p>
            </p:txBody>
          </p:sp>
          <p:sp>
            <p:nvSpPr>
              <p:cNvPr id="81" name="Freeform 15">
                <a:extLst>
                  <a:ext uri="{FF2B5EF4-FFF2-40B4-BE49-F238E27FC236}">
                    <a16:creationId xmlns:a16="http://schemas.microsoft.com/office/drawing/2014/main" id="{55FF864B-82DF-EFAA-D14B-8774E4CDA3F2}"/>
                  </a:ext>
                </a:extLst>
              </p:cNvPr>
              <p:cNvSpPr/>
              <p:nvPr/>
            </p:nvSpPr>
            <p:spPr>
              <a:xfrm>
                <a:off x="914208" y="4874597"/>
                <a:ext cx="179035" cy="179035"/>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82" name="Freeform 16">
                <a:extLst>
                  <a:ext uri="{FF2B5EF4-FFF2-40B4-BE49-F238E27FC236}">
                    <a16:creationId xmlns:a16="http://schemas.microsoft.com/office/drawing/2014/main" id="{12265872-FC61-83A0-4849-CF0905325610}"/>
                  </a:ext>
                </a:extLst>
              </p:cNvPr>
              <p:cNvSpPr/>
              <p:nvPr/>
            </p:nvSpPr>
            <p:spPr>
              <a:xfrm>
                <a:off x="492958" y="4762331"/>
                <a:ext cx="254370" cy="254370"/>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83" name="Freeform 17">
                <a:extLst>
                  <a:ext uri="{FF2B5EF4-FFF2-40B4-BE49-F238E27FC236}">
                    <a16:creationId xmlns:a16="http://schemas.microsoft.com/office/drawing/2014/main" id="{01167393-70BC-B27F-7E19-EAC92C61D237}"/>
                  </a:ext>
                </a:extLst>
              </p:cNvPr>
              <p:cNvSpPr/>
              <p:nvPr/>
            </p:nvSpPr>
            <p:spPr>
              <a:xfrm>
                <a:off x="568173" y="4380259"/>
                <a:ext cx="304000" cy="346887"/>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dirty="0"/>
              </a:p>
            </p:txBody>
          </p:sp>
          <p:sp>
            <p:nvSpPr>
              <p:cNvPr id="84" name="Oval 83">
                <a:extLst>
                  <a:ext uri="{FF2B5EF4-FFF2-40B4-BE49-F238E27FC236}">
                    <a16:creationId xmlns:a16="http://schemas.microsoft.com/office/drawing/2014/main" id="{CAAFA84F-1723-0033-DAC7-331FE98FA0D0}"/>
                  </a:ext>
                </a:extLst>
              </p:cNvPr>
              <p:cNvSpPr/>
              <p:nvPr/>
            </p:nvSpPr>
            <p:spPr>
              <a:xfrm>
                <a:off x="803086" y="4792477"/>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Oval 84">
                <a:extLst>
                  <a:ext uri="{FF2B5EF4-FFF2-40B4-BE49-F238E27FC236}">
                    <a16:creationId xmlns:a16="http://schemas.microsoft.com/office/drawing/2014/main" id="{EF41D1F5-03DA-CE22-1349-0168990A33AF}"/>
                  </a:ext>
                </a:extLst>
              </p:cNvPr>
              <p:cNvSpPr/>
              <p:nvPr/>
            </p:nvSpPr>
            <p:spPr>
              <a:xfrm>
                <a:off x="794181" y="5054578"/>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Oval 85">
                <a:extLst>
                  <a:ext uri="{FF2B5EF4-FFF2-40B4-BE49-F238E27FC236}">
                    <a16:creationId xmlns:a16="http://schemas.microsoft.com/office/drawing/2014/main" id="{1909C209-3127-CC27-ACC3-1F85C9267D82}"/>
                  </a:ext>
                </a:extLst>
              </p:cNvPr>
              <p:cNvSpPr/>
              <p:nvPr/>
            </p:nvSpPr>
            <p:spPr>
              <a:xfrm>
                <a:off x="1132644" y="5041324"/>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Oval 86">
                <a:extLst>
                  <a:ext uri="{FF2B5EF4-FFF2-40B4-BE49-F238E27FC236}">
                    <a16:creationId xmlns:a16="http://schemas.microsoft.com/office/drawing/2014/main" id="{F0FFA216-6B4C-5D97-20D5-0B393167E6E1}"/>
                  </a:ext>
                </a:extLst>
              </p:cNvPr>
              <p:cNvSpPr/>
              <p:nvPr/>
            </p:nvSpPr>
            <p:spPr>
              <a:xfrm>
                <a:off x="1397677" y="5033418"/>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Oval 87">
                <a:extLst>
                  <a:ext uri="{FF2B5EF4-FFF2-40B4-BE49-F238E27FC236}">
                    <a16:creationId xmlns:a16="http://schemas.microsoft.com/office/drawing/2014/main" id="{1C27609B-FC5B-5224-A344-A7CD5845D105}"/>
                  </a:ext>
                </a:extLst>
              </p:cNvPr>
              <p:cNvSpPr/>
              <p:nvPr/>
            </p:nvSpPr>
            <p:spPr>
              <a:xfrm>
                <a:off x="747328" y="4627045"/>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2" name="TextBox 1">
            <a:extLst>
              <a:ext uri="{FF2B5EF4-FFF2-40B4-BE49-F238E27FC236}">
                <a16:creationId xmlns:a16="http://schemas.microsoft.com/office/drawing/2014/main" id="{36F6332F-DBB5-B154-9116-6B1FA39E19DA}"/>
              </a:ext>
            </a:extLst>
          </p:cNvPr>
          <p:cNvSpPr txBox="1"/>
          <p:nvPr/>
        </p:nvSpPr>
        <p:spPr>
          <a:xfrm>
            <a:off x="388516" y="3500230"/>
            <a:ext cx="864685" cy="215444"/>
          </a:xfrm>
          <a:prstGeom prst="rect">
            <a:avLst/>
          </a:prstGeom>
          <a:noFill/>
        </p:spPr>
        <p:txBody>
          <a:bodyPr wrap="square" lIns="0" tIns="0" rIns="0" bIns="0" rtlCol="0">
            <a:spAutoFit/>
          </a:bodyPr>
          <a:lstStyle/>
          <a:p>
            <a:pPr algn="ctr"/>
            <a:r>
              <a:rPr lang="en-US" sz="1400" dirty="0">
                <a:solidFill>
                  <a:schemeClr val="tx2"/>
                </a:solidFill>
              </a:rPr>
              <a:t>Task path</a:t>
            </a:r>
            <a:endParaRPr lang="en-GB" sz="1400" dirty="0">
              <a:solidFill>
                <a:schemeClr val="tx2"/>
              </a:solidFill>
            </a:endParaRPr>
          </a:p>
        </p:txBody>
      </p:sp>
      <p:cxnSp>
        <p:nvCxnSpPr>
          <p:cNvPr id="15" name="Straight Arrow Connector 14">
            <a:extLst>
              <a:ext uri="{FF2B5EF4-FFF2-40B4-BE49-F238E27FC236}">
                <a16:creationId xmlns:a16="http://schemas.microsoft.com/office/drawing/2014/main" id="{D74867C2-6B86-32E7-7DD5-47FEBF8FF626}"/>
              </a:ext>
            </a:extLst>
          </p:cNvPr>
          <p:cNvCxnSpPr>
            <a:cxnSpLocks/>
            <a:stCxn id="2" idx="3"/>
            <a:endCxn id="13" idx="1"/>
          </p:cNvCxnSpPr>
          <p:nvPr/>
        </p:nvCxnSpPr>
        <p:spPr>
          <a:xfrm flipV="1">
            <a:off x="1253201" y="3598680"/>
            <a:ext cx="980176" cy="9272"/>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E5990DC0-402D-5ECD-5A70-4D0652B449C9}"/>
              </a:ext>
            </a:extLst>
          </p:cNvPr>
          <p:cNvSpPr txBox="1"/>
          <p:nvPr/>
        </p:nvSpPr>
        <p:spPr>
          <a:xfrm>
            <a:off x="4341006" y="2072376"/>
            <a:ext cx="1861539" cy="507831"/>
          </a:xfrm>
          <a:prstGeom prst="rect">
            <a:avLst/>
          </a:prstGeom>
          <a:noFill/>
        </p:spPr>
        <p:txBody>
          <a:bodyPr wrap="square" lIns="0" tIns="0" rIns="0" bIns="0" rtlCol="0">
            <a:spAutoFit/>
          </a:bodyPr>
          <a:lstStyle/>
          <a:p>
            <a:pPr algn="ctr"/>
            <a:r>
              <a:rPr lang="en-US" sz="1200" dirty="0">
                <a:solidFill>
                  <a:schemeClr val="tx2"/>
                </a:solidFill>
              </a:rPr>
              <a:t>Trajectory point:</a:t>
            </a:r>
          </a:p>
          <a:p>
            <a:pPr algn="ctr"/>
            <a:r>
              <a:rPr lang="en-US" sz="1000" dirty="0">
                <a:solidFill>
                  <a:schemeClr val="tx2"/>
                </a:solidFill>
              </a:rPr>
              <a:t>Joint angles, velocities, accelerations at </a:t>
            </a:r>
            <a:r>
              <a:rPr lang="en-US" sz="1000" i="1" dirty="0">
                <a:solidFill>
                  <a:schemeClr val="tx2"/>
                </a:solidFill>
              </a:rPr>
              <a:t>t</a:t>
            </a:r>
          </a:p>
        </p:txBody>
      </p:sp>
      <p:sp>
        <p:nvSpPr>
          <p:cNvPr id="61" name="Rectangle: Rounded Corners 60">
            <a:extLst>
              <a:ext uri="{FF2B5EF4-FFF2-40B4-BE49-F238E27FC236}">
                <a16:creationId xmlns:a16="http://schemas.microsoft.com/office/drawing/2014/main" id="{803022E2-70A5-5235-01F4-DD4A6F1A1EBB}"/>
              </a:ext>
            </a:extLst>
          </p:cNvPr>
          <p:cNvSpPr/>
          <p:nvPr/>
        </p:nvSpPr>
        <p:spPr>
          <a:xfrm>
            <a:off x="8954637" y="2782020"/>
            <a:ext cx="1169090" cy="614746"/>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IRobot</a:t>
            </a:r>
            <a:endParaRPr lang="en-GB" dirty="0">
              <a:solidFill>
                <a:srgbClr val="003399"/>
              </a:solidFill>
            </a:endParaRPr>
          </a:p>
        </p:txBody>
      </p:sp>
      <p:cxnSp>
        <p:nvCxnSpPr>
          <p:cNvPr id="63" name="Straight Arrow Connector 62">
            <a:extLst>
              <a:ext uri="{FF2B5EF4-FFF2-40B4-BE49-F238E27FC236}">
                <a16:creationId xmlns:a16="http://schemas.microsoft.com/office/drawing/2014/main" id="{BC7118E0-4E37-160D-4A62-8EA1B2435B17}"/>
              </a:ext>
            </a:extLst>
          </p:cNvPr>
          <p:cNvCxnSpPr>
            <a:cxnSpLocks/>
            <a:stCxn id="22" idx="3"/>
            <a:endCxn id="61" idx="1"/>
          </p:cNvCxnSpPr>
          <p:nvPr/>
        </p:nvCxnSpPr>
        <p:spPr>
          <a:xfrm>
            <a:off x="7784654" y="3089393"/>
            <a:ext cx="1169983" cy="0"/>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Connector: Elbow 129">
            <a:extLst>
              <a:ext uri="{FF2B5EF4-FFF2-40B4-BE49-F238E27FC236}">
                <a16:creationId xmlns:a16="http://schemas.microsoft.com/office/drawing/2014/main" id="{77BBEC6E-30B0-F137-F289-FE0403443A82}"/>
              </a:ext>
            </a:extLst>
          </p:cNvPr>
          <p:cNvCxnSpPr>
            <a:cxnSpLocks/>
            <a:stCxn id="61" idx="3"/>
            <a:endCxn id="22" idx="0"/>
          </p:cNvCxnSpPr>
          <p:nvPr/>
        </p:nvCxnSpPr>
        <p:spPr>
          <a:xfrm flipH="1" flipV="1">
            <a:off x="6844291" y="2268988"/>
            <a:ext cx="3279436" cy="820405"/>
          </a:xfrm>
          <a:prstGeom prst="bentConnector4">
            <a:avLst>
              <a:gd name="adj1" fmla="val -19460"/>
              <a:gd name="adj2" fmla="val 127864"/>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sp>
        <p:nvSpPr>
          <p:cNvPr id="185" name="TextBox 184">
            <a:extLst>
              <a:ext uri="{FF2B5EF4-FFF2-40B4-BE49-F238E27FC236}">
                <a16:creationId xmlns:a16="http://schemas.microsoft.com/office/drawing/2014/main" id="{0121430F-78F0-804F-7C2D-83E5D5F50D2A}"/>
              </a:ext>
            </a:extLst>
          </p:cNvPr>
          <p:cNvSpPr txBox="1"/>
          <p:nvPr/>
        </p:nvSpPr>
        <p:spPr>
          <a:xfrm>
            <a:off x="4765528" y="2975258"/>
            <a:ext cx="496096" cy="215444"/>
          </a:xfrm>
          <a:prstGeom prst="rect">
            <a:avLst/>
          </a:prstGeom>
          <a:noFill/>
        </p:spPr>
        <p:txBody>
          <a:bodyPr wrap="square" lIns="0" tIns="0" rIns="0" bIns="0" rtlCol="0">
            <a:spAutoFit/>
          </a:bodyPr>
          <a:lstStyle/>
          <a:p>
            <a:pPr algn="ctr"/>
            <a:r>
              <a:rPr lang="en-US" sz="1400" dirty="0">
                <a:solidFill>
                  <a:schemeClr val="tx2"/>
                </a:solidFill>
              </a:rPr>
              <a:t>OR</a:t>
            </a:r>
            <a:endParaRPr lang="en-GB" sz="1400" dirty="0">
              <a:solidFill>
                <a:schemeClr val="tx2"/>
              </a:solidFill>
            </a:endParaRPr>
          </a:p>
        </p:txBody>
      </p:sp>
      <p:grpSp>
        <p:nvGrpSpPr>
          <p:cNvPr id="267" name="Group 266">
            <a:extLst>
              <a:ext uri="{FF2B5EF4-FFF2-40B4-BE49-F238E27FC236}">
                <a16:creationId xmlns:a16="http://schemas.microsoft.com/office/drawing/2014/main" id="{EE67F576-27BA-375F-17AD-3845DB1CA7C2}"/>
              </a:ext>
            </a:extLst>
          </p:cNvPr>
          <p:cNvGrpSpPr/>
          <p:nvPr/>
        </p:nvGrpSpPr>
        <p:grpSpPr>
          <a:xfrm>
            <a:off x="5903927" y="2268988"/>
            <a:ext cx="1880727" cy="1640809"/>
            <a:chOff x="5872702" y="2923491"/>
            <a:chExt cx="1880727" cy="1640809"/>
          </a:xfrm>
        </p:grpSpPr>
        <p:sp>
          <p:nvSpPr>
            <p:cNvPr id="22" name="Rectangle: Rounded Corners 21">
              <a:extLst>
                <a:ext uri="{FF2B5EF4-FFF2-40B4-BE49-F238E27FC236}">
                  <a16:creationId xmlns:a16="http://schemas.microsoft.com/office/drawing/2014/main" id="{9A919D92-8230-6FF1-2566-05478A8EF652}"/>
                </a:ext>
              </a:extLst>
            </p:cNvPr>
            <p:cNvSpPr/>
            <p:nvPr/>
          </p:nvSpPr>
          <p:spPr>
            <a:xfrm>
              <a:off x="5872702" y="2923491"/>
              <a:ext cx="1880727" cy="1640809"/>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rgbClr val="003399"/>
                </a:solidFill>
              </a:endParaRPr>
            </a:p>
          </p:txBody>
        </p:sp>
        <p:sp>
          <p:nvSpPr>
            <p:cNvPr id="231" name="TextBox 230">
              <a:extLst>
                <a:ext uri="{FF2B5EF4-FFF2-40B4-BE49-F238E27FC236}">
                  <a16:creationId xmlns:a16="http://schemas.microsoft.com/office/drawing/2014/main" id="{EA8A29FD-1F9C-33D7-393E-775D9C78F47C}"/>
                </a:ext>
              </a:extLst>
            </p:cNvPr>
            <p:cNvSpPr txBox="1"/>
            <p:nvPr/>
          </p:nvSpPr>
          <p:spPr>
            <a:xfrm>
              <a:off x="6156403" y="2981589"/>
              <a:ext cx="1263612" cy="307777"/>
            </a:xfrm>
            <a:prstGeom prst="rect">
              <a:avLst/>
            </a:prstGeom>
            <a:noFill/>
          </p:spPr>
          <p:txBody>
            <a:bodyPr wrap="square">
              <a:spAutoFit/>
            </a:bodyPr>
            <a:lstStyle/>
            <a:p>
              <a:pPr algn="ctr"/>
              <a:r>
                <a:rPr lang="en-US" sz="1400" dirty="0" err="1">
                  <a:solidFill>
                    <a:srgbClr val="003399"/>
                  </a:solidFill>
                </a:rPr>
                <a:t>IController</a:t>
              </a:r>
              <a:endParaRPr lang="en-GB" dirty="0">
                <a:solidFill>
                  <a:srgbClr val="003399"/>
                </a:solidFill>
              </a:endParaRPr>
            </a:p>
          </p:txBody>
        </p:sp>
        <p:sp>
          <p:nvSpPr>
            <p:cNvPr id="233" name="Rectangle: Rounded Corners 232">
              <a:extLst>
                <a:ext uri="{FF2B5EF4-FFF2-40B4-BE49-F238E27FC236}">
                  <a16:creationId xmlns:a16="http://schemas.microsoft.com/office/drawing/2014/main" id="{46056832-B6D8-E4D6-D9BB-4798D507D268}"/>
                </a:ext>
              </a:extLst>
            </p:cNvPr>
            <p:cNvSpPr/>
            <p:nvPr/>
          </p:nvSpPr>
          <p:spPr>
            <a:xfrm>
              <a:off x="6015262" y="3991399"/>
              <a:ext cx="1581337" cy="444864"/>
            </a:xfrm>
            <a:prstGeom prst="roundRect">
              <a:avLst/>
            </a:prstGeom>
            <a:solidFill>
              <a:srgbClr val="E1E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PID</a:t>
              </a:r>
              <a:endParaRPr lang="en-GB" sz="1200" dirty="0">
                <a:solidFill>
                  <a:schemeClr val="tx1"/>
                </a:solidFill>
              </a:endParaRPr>
            </a:p>
          </p:txBody>
        </p:sp>
      </p:grpSp>
      <p:sp>
        <p:nvSpPr>
          <p:cNvPr id="345" name="TextBox 344">
            <a:extLst>
              <a:ext uri="{FF2B5EF4-FFF2-40B4-BE49-F238E27FC236}">
                <a16:creationId xmlns:a16="http://schemas.microsoft.com/office/drawing/2014/main" id="{3686B25E-70CF-4354-5CA0-03485B8CFA22}"/>
              </a:ext>
            </a:extLst>
          </p:cNvPr>
          <p:cNvSpPr txBox="1"/>
          <p:nvPr/>
        </p:nvSpPr>
        <p:spPr>
          <a:xfrm>
            <a:off x="7700940" y="3114314"/>
            <a:ext cx="1364863" cy="553998"/>
          </a:xfrm>
          <a:prstGeom prst="rect">
            <a:avLst/>
          </a:prstGeom>
          <a:noFill/>
        </p:spPr>
        <p:txBody>
          <a:bodyPr wrap="square" lIns="0" tIns="0" rIns="0" bIns="0" rtlCol="0">
            <a:spAutoFit/>
          </a:bodyPr>
          <a:lstStyle/>
          <a:p>
            <a:pPr algn="ctr"/>
            <a:r>
              <a:rPr lang="en-US" sz="1200" dirty="0">
                <a:solidFill>
                  <a:schemeClr val="tx2"/>
                </a:solidFill>
              </a:rPr>
              <a:t>Joint angles, </a:t>
            </a:r>
          </a:p>
          <a:p>
            <a:pPr algn="ctr"/>
            <a:r>
              <a:rPr lang="en-US" sz="1200" dirty="0">
                <a:solidFill>
                  <a:schemeClr val="tx2"/>
                </a:solidFill>
              </a:rPr>
              <a:t>velocities, accelerations at </a:t>
            </a:r>
            <a:r>
              <a:rPr lang="en-US" sz="1200" i="1" dirty="0">
                <a:solidFill>
                  <a:schemeClr val="tx2"/>
                </a:solidFill>
              </a:rPr>
              <a:t>t</a:t>
            </a:r>
          </a:p>
        </p:txBody>
      </p:sp>
      <p:cxnSp>
        <p:nvCxnSpPr>
          <p:cNvPr id="8" name="Straight Arrow Connector 7">
            <a:extLst>
              <a:ext uri="{FF2B5EF4-FFF2-40B4-BE49-F238E27FC236}">
                <a16:creationId xmlns:a16="http://schemas.microsoft.com/office/drawing/2014/main" id="{98337B5C-0307-CC93-AFAF-E11F5D860CB7}"/>
              </a:ext>
            </a:extLst>
          </p:cNvPr>
          <p:cNvCxnSpPr/>
          <p:nvPr/>
        </p:nvCxnSpPr>
        <p:spPr>
          <a:xfrm>
            <a:off x="5261624" y="3082980"/>
            <a:ext cx="642303" cy="6413"/>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40696DA-CB4A-EDE5-1F66-CB10A28EE35C}"/>
              </a:ext>
            </a:extLst>
          </p:cNvPr>
          <p:cNvCxnSpPr>
            <a:cxnSpLocks/>
          </p:cNvCxnSpPr>
          <p:nvPr/>
        </p:nvCxnSpPr>
        <p:spPr>
          <a:xfrm>
            <a:off x="4573741" y="2618512"/>
            <a:ext cx="683876" cy="96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6358F49-9A09-D9C9-EA0E-65F5B137E9C4}"/>
              </a:ext>
            </a:extLst>
          </p:cNvPr>
          <p:cNvCxnSpPr>
            <a:cxnSpLocks/>
          </p:cNvCxnSpPr>
          <p:nvPr/>
        </p:nvCxnSpPr>
        <p:spPr>
          <a:xfrm>
            <a:off x="4573740" y="3598680"/>
            <a:ext cx="685881" cy="927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B1E114A-80D1-B435-579B-6DDC699A1C22}"/>
              </a:ext>
            </a:extLst>
          </p:cNvPr>
          <p:cNvCxnSpPr>
            <a:cxnSpLocks/>
          </p:cNvCxnSpPr>
          <p:nvPr/>
        </p:nvCxnSpPr>
        <p:spPr>
          <a:xfrm>
            <a:off x="5257617" y="2619474"/>
            <a:ext cx="0" cy="98847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06" name="Group 105">
            <a:extLst>
              <a:ext uri="{FF2B5EF4-FFF2-40B4-BE49-F238E27FC236}">
                <a16:creationId xmlns:a16="http://schemas.microsoft.com/office/drawing/2014/main" id="{1ECA4F85-99F7-18D4-9A5C-48FC7D0018E9}"/>
              </a:ext>
            </a:extLst>
          </p:cNvPr>
          <p:cNvGrpSpPr/>
          <p:nvPr/>
        </p:nvGrpSpPr>
        <p:grpSpPr>
          <a:xfrm>
            <a:off x="9702471" y="4197165"/>
            <a:ext cx="1766536" cy="1005356"/>
            <a:chOff x="9702471" y="4197165"/>
            <a:chExt cx="1766536" cy="1005356"/>
          </a:xfrm>
        </p:grpSpPr>
        <p:grpSp>
          <p:nvGrpSpPr>
            <p:cNvPr id="302" name="Group 301">
              <a:extLst>
                <a:ext uri="{FF2B5EF4-FFF2-40B4-BE49-F238E27FC236}">
                  <a16:creationId xmlns:a16="http://schemas.microsoft.com/office/drawing/2014/main" id="{5AABDC37-FF31-649E-EA73-0417347C77B0}"/>
                </a:ext>
              </a:extLst>
            </p:cNvPr>
            <p:cNvGrpSpPr/>
            <p:nvPr/>
          </p:nvGrpSpPr>
          <p:grpSpPr>
            <a:xfrm>
              <a:off x="9702471" y="4197165"/>
              <a:ext cx="1766536" cy="996188"/>
              <a:chOff x="1279822" y="2270598"/>
              <a:chExt cx="6050258" cy="3411874"/>
            </a:xfrm>
          </p:grpSpPr>
          <p:sp>
            <p:nvSpPr>
              <p:cNvPr id="332" name="Freeform 13">
                <a:extLst>
                  <a:ext uri="{FF2B5EF4-FFF2-40B4-BE49-F238E27FC236}">
                    <a16:creationId xmlns:a16="http://schemas.microsoft.com/office/drawing/2014/main" id="{3953A0E9-DFF9-F1EF-B0A1-9CB563D33B8D}"/>
                  </a:ext>
                </a:extLst>
              </p:cNvPr>
              <p:cNvSpPr/>
              <p:nvPr/>
            </p:nvSpPr>
            <p:spPr>
              <a:xfrm>
                <a:off x="3907305" y="2270598"/>
                <a:ext cx="3422775" cy="3411874"/>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dirty="0"/>
              </a:p>
            </p:txBody>
          </p:sp>
          <p:sp>
            <p:nvSpPr>
              <p:cNvPr id="334" name="Freeform 15">
                <a:extLst>
                  <a:ext uri="{FF2B5EF4-FFF2-40B4-BE49-F238E27FC236}">
                    <a16:creationId xmlns:a16="http://schemas.microsoft.com/office/drawing/2014/main" id="{FD6CC5C4-1D56-52BF-5B40-1B1760470574}"/>
                  </a:ext>
                </a:extLst>
              </p:cNvPr>
              <p:cNvSpPr/>
              <p:nvPr/>
            </p:nvSpPr>
            <p:spPr>
              <a:xfrm>
                <a:off x="2722572" y="4644763"/>
                <a:ext cx="613182" cy="613182"/>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335" name="Freeform 16">
                <a:extLst>
                  <a:ext uri="{FF2B5EF4-FFF2-40B4-BE49-F238E27FC236}">
                    <a16:creationId xmlns:a16="http://schemas.microsoft.com/office/drawing/2014/main" id="{DF8403D7-D5D5-415D-00DB-601AEDA4288A}"/>
                  </a:ext>
                </a:extLst>
              </p:cNvPr>
              <p:cNvSpPr/>
              <p:nvPr/>
            </p:nvSpPr>
            <p:spPr>
              <a:xfrm>
                <a:off x="1279822" y="4260259"/>
                <a:ext cx="871200" cy="871200"/>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336" name="Freeform 17">
                <a:extLst>
                  <a:ext uri="{FF2B5EF4-FFF2-40B4-BE49-F238E27FC236}">
                    <a16:creationId xmlns:a16="http://schemas.microsoft.com/office/drawing/2014/main" id="{0DE68B71-A28E-85ED-D79F-03979342F637}"/>
                  </a:ext>
                </a:extLst>
              </p:cNvPr>
              <p:cNvSpPr/>
              <p:nvPr/>
            </p:nvSpPr>
            <p:spPr>
              <a:xfrm>
                <a:off x="1537428" y="2951690"/>
                <a:ext cx="1041177" cy="1188065"/>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grpSp>
        <p:sp>
          <p:nvSpPr>
            <p:cNvPr id="14" name="Freeform: Shape 13">
              <a:extLst>
                <a:ext uri="{FF2B5EF4-FFF2-40B4-BE49-F238E27FC236}">
                  <a16:creationId xmlns:a16="http://schemas.microsoft.com/office/drawing/2014/main" id="{12AF5E4B-2C47-BB52-682B-B5744E4A67F7}"/>
                </a:ext>
              </a:extLst>
            </p:cNvPr>
            <p:cNvSpPr/>
            <p:nvPr/>
          </p:nvSpPr>
          <p:spPr>
            <a:xfrm>
              <a:off x="10001669" y="4664431"/>
              <a:ext cx="670527" cy="538090"/>
            </a:xfrm>
            <a:custGeom>
              <a:avLst/>
              <a:gdLst>
                <a:gd name="connsiteX0" fmla="*/ 0 w 819150"/>
                <a:gd name="connsiteY0" fmla="*/ 0 h 505609"/>
                <a:gd name="connsiteX1" fmla="*/ 88900 w 819150"/>
                <a:gd name="connsiteY1" fmla="*/ 79375 h 505609"/>
                <a:gd name="connsiteX2" fmla="*/ 66675 w 819150"/>
                <a:gd name="connsiteY2" fmla="*/ 193675 h 505609"/>
                <a:gd name="connsiteX3" fmla="*/ 12700 w 819150"/>
                <a:gd name="connsiteY3" fmla="*/ 339725 h 505609"/>
                <a:gd name="connsiteX4" fmla="*/ 53975 w 819150"/>
                <a:gd name="connsiteY4" fmla="*/ 460375 h 505609"/>
                <a:gd name="connsiteX5" fmla="*/ 196850 w 819150"/>
                <a:gd name="connsiteY5" fmla="*/ 504825 h 505609"/>
                <a:gd name="connsiteX6" fmla="*/ 403225 w 819150"/>
                <a:gd name="connsiteY6" fmla="*/ 428625 h 505609"/>
                <a:gd name="connsiteX7" fmla="*/ 571500 w 819150"/>
                <a:gd name="connsiteY7" fmla="*/ 377825 h 505609"/>
                <a:gd name="connsiteX8" fmla="*/ 819150 w 819150"/>
                <a:gd name="connsiteY8" fmla="*/ 450850 h 505609"/>
                <a:gd name="connsiteX0" fmla="*/ 0 w 692150"/>
                <a:gd name="connsiteY0" fmla="*/ 0 h 505609"/>
                <a:gd name="connsiteX1" fmla="*/ 88900 w 692150"/>
                <a:gd name="connsiteY1" fmla="*/ 79375 h 505609"/>
                <a:gd name="connsiteX2" fmla="*/ 66675 w 692150"/>
                <a:gd name="connsiteY2" fmla="*/ 193675 h 505609"/>
                <a:gd name="connsiteX3" fmla="*/ 12700 w 692150"/>
                <a:gd name="connsiteY3" fmla="*/ 339725 h 505609"/>
                <a:gd name="connsiteX4" fmla="*/ 53975 w 692150"/>
                <a:gd name="connsiteY4" fmla="*/ 460375 h 505609"/>
                <a:gd name="connsiteX5" fmla="*/ 196850 w 692150"/>
                <a:gd name="connsiteY5" fmla="*/ 504825 h 505609"/>
                <a:gd name="connsiteX6" fmla="*/ 403225 w 692150"/>
                <a:gd name="connsiteY6" fmla="*/ 428625 h 505609"/>
                <a:gd name="connsiteX7" fmla="*/ 571500 w 692150"/>
                <a:gd name="connsiteY7" fmla="*/ 377825 h 505609"/>
                <a:gd name="connsiteX8" fmla="*/ 692150 w 692150"/>
                <a:gd name="connsiteY8" fmla="*/ 403225 h 505609"/>
                <a:gd name="connsiteX0" fmla="*/ 0 w 692150"/>
                <a:gd name="connsiteY0" fmla="*/ 0 h 505609"/>
                <a:gd name="connsiteX1" fmla="*/ 88900 w 692150"/>
                <a:gd name="connsiteY1" fmla="*/ 79375 h 505609"/>
                <a:gd name="connsiteX2" fmla="*/ 66675 w 692150"/>
                <a:gd name="connsiteY2" fmla="*/ 193675 h 505609"/>
                <a:gd name="connsiteX3" fmla="*/ 12700 w 692150"/>
                <a:gd name="connsiteY3" fmla="*/ 339725 h 505609"/>
                <a:gd name="connsiteX4" fmla="*/ 53975 w 692150"/>
                <a:gd name="connsiteY4" fmla="*/ 460375 h 505609"/>
                <a:gd name="connsiteX5" fmla="*/ 196850 w 692150"/>
                <a:gd name="connsiteY5" fmla="*/ 504825 h 505609"/>
                <a:gd name="connsiteX6" fmla="*/ 403225 w 692150"/>
                <a:gd name="connsiteY6" fmla="*/ 428625 h 505609"/>
                <a:gd name="connsiteX7" fmla="*/ 571500 w 692150"/>
                <a:gd name="connsiteY7" fmla="*/ 377825 h 505609"/>
                <a:gd name="connsiteX8" fmla="*/ 692150 w 692150"/>
                <a:gd name="connsiteY8" fmla="*/ 403225 h 505609"/>
                <a:gd name="connsiteX0" fmla="*/ 0 w 692150"/>
                <a:gd name="connsiteY0" fmla="*/ 0 h 506323"/>
                <a:gd name="connsiteX1" fmla="*/ 88900 w 692150"/>
                <a:gd name="connsiteY1" fmla="*/ 79375 h 506323"/>
                <a:gd name="connsiteX2" fmla="*/ 66675 w 692150"/>
                <a:gd name="connsiteY2" fmla="*/ 193675 h 506323"/>
                <a:gd name="connsiteX3" fmla="*/ 12700 w 692150"/>
                <a:gd name="connsiteY3" fmla="*/ 339725 h 506323"/>
                <a:gd name="connsiteX4" fmla="*/ 53975 w 692150"/>
                <a:gd name="connsiteY4" fmla="*/ 460375 h 506323"/>
                <a:gd name="connsiteX5" fmla="*/ 196850 w 692150"/>
                <a:gd name="connsiteY5" fmla="*/ 504825 h 506323"/>
                <a:gd name="connsiteX6" fmla="*/ 425450 w 692150"/>
                <a:gd name="connsiteY6" fmla="*/ 412750 h 506323"/>
                <a:gd name="connsiteX7" fmla="*/ 571500 w 692150"/>
                <a:gd name="connsiteY7" fmla="*/ 377825 h 506323"/>
                <a:gd name="connsiteX8" fmla="*/ 692150 w 692150"/>
                <a:gd name="connsiteY8" fmla="*/ 403225 h 506323"/>
                <a:gd name="connsiteX0" fmla="*/ 0 w 692150"/>
                <a:gd name="connsiteY0" fmla="*/ 0 h 519023"/>
                <a:gd name="connsiteX1" fmla="*/ 88900 w 692150"/>
                <a:gd name="connsiteY1" fmla="*/ 92075 h 519023"/>
                <a:gd name="connsiteX2" fmla="*/ 66675 w 692150"/>
                <a:gd name="connsiteY2" fmla="*/ 206375 h 519023"/>
                <a:gd name="connsiteX3" fmla="*/ 12700 w 692150"/>
                <a:gd name="connsiteY3" fmla="*/ 352425 h 519023"/>
                <a:gd name="connsiteX4" fmla="*/ 53975 w 692150"/>
                <a:gd name="connsiteY4" fmla="*/ 473075 h 519023"/>
                <a:gd name="connsiteX5" fmla="*/ 196850 w 692150"/>
                <a:gd name="connsiteY5" fmla="*/ 517525 h 519023"/>
                <a:gd name="connsiteX6" fmla="*/ 425450 w 692150"/>
                <a:gd name="connsiteY6" fmla="*/ 425450 h 519023"/>
                <a:gd name="connsiteX7" fmla="*/ 571500 w 692150"/>
                <a:gd name="connsiteY7" fmla="*/ 390525 h 519023"/>
                <a:gd name="connsiteX8" fmla="*/ 692150 w 692150"/>
                <a:gd name="connsiteY8" fmla="*/ 415925 h 519023"/>
                <a:gd name="connsiteX0" fmla="*/ 0 w 692150"/>
                <a:gd name="connsiteY0" fmla="*/ 0 h 519023"/>
                <a:gd name="connsiteX1" fmla="*/ 104775 w 692150"/>
                <a:gd name="connsiteY1" fmla="*/ 92075 h 519023"/>
                <a:gd name="connsiteX2" fmla="*/ 66675 w 692150"/>
                <a:gd name="connsiteY2" fmla="*/ 206375 h 519023"/>
                <a:gd name="connsiteX3" fmla="*/ 12700 w 692150"/>
                <a:gd name="connsiteY3" fmla="*/ 352425 h 519023"/>
                <a:gd name="connsiteX4" fmla="*/ 53975 w 692150"/>
                <a:gd name="connsiteY4" fmla="*/ 473075 h 519023"/>
                <a:gd name="connsiteX5" fmla="*/ 196850 w 692150"/>
                <a:gd name="connsiteY5" fmla="*/ 517525 h 519023"/>
                <a:gd name="connsiteX6" fmla="*/ 425450 w 692150"/>
                <a:gd name="connsiteY6" fmla="*/ 425450 h 519023"/>
                <a:gd name="connsiteX7" fmla="*/ 571500 w 692150"/>
                <a:gd name="connsiteY7" fmla="*/ 390525 h 519023"/>
                <a:gd name="connsiteX8" fmla="*/ 692150 w 692150"/>
                <a:gd name="connsiteY8" fmla="*/ 415925 h 519023"/>
                <a:gd name="connsiteX0" fmla="*/ 16101 w 679676"/>
                <a:gd name="connsiteY0" fmla="*/ 0 h 538073"/>
                <a:gd name="connsiteX1" fmla="*/ 92301 w 679676"/>
                <a:gd name="connsiteY1" fmla="*/ 111125 h 538073"/>
                <a:gd name="connsiteX2" fmla="*/ 54201 w 679676"/>
                <a:gd name="connsiteY2" fmla="*/ 225425 h 538073"/>
                <a:gd name="connsiteX3" fmla="*/ 226 w 679676"/>
                <a:gd name="connsiteY3" fmla="*/ 371475 h 538073"/>
                <a:gd name="connsiteX4" fmla="*/ 41501 w 679676"/>
                <a:gd name="connsiteY4" fmla="*/ 492125 h 538073"/>
                <a:gd name="connsiteX5" fmla="*/ 184376 w 679676"/>
                <a:gd name="connsiteY5" fmla="*/ 536575 h 538073"/>
                <a:gd name="connsiteX6" fmla="*/ 412976 w 679676"/>
                <a:gd name="connsiteY6" fmla="*/ 444500 h 538073"/>
                <a:gd name="connsiteX7" fmla="*/ 559026 w 679676"/>
                <a:gd name="connsiteY7" fmla="*/ 409575 h 538073"/>
                <a:gd name="connsiteX8" fmla="*/ 679676 w 679676"/>
                <a:gd name="connsiteY8" fmla="*/ 434975 h 538073"/>
                <a:gd name="connsiteX0" fmla="*/ 16204 w 679779"/>
                <a:gd name="connsiteY0" fmla="*/ 0 h 538073"/>
                <a:gd name="connsiteX1" fmla="*/ 92404 w 679779"/>
                <a:gd name="connsiteY1" fmla="*/ 111125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6204 w 679779"/>
                <a:gd name="connsiteY0" fmla="*/ 0 h 538073"/>
                <a:gd name="connsiteX1" fmla="*/ 98754 w 679779"/>
                <a:gd name="connsiteY1" fmla="*/ 88900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6204 w 679779"/>
                <a:gd name="connsiteY0" fmla="*/ 0 h 538073"/>
                <a:gd name="connsiteX1" fmla="*/ 79704 w 679779"/>
                <a:gd name="connsiteY1" fmla="*/ 79375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5880 w 679455"/>
                <a:gd name="connsiteY0" fmla="*/ 0 h 538073"/>
                <a:gd name="connsiteX1" fmla="*/ 79380 w 679455"/>
                <a:gd name="connsiteY1" fmla="*/ 79375 h 538073"/>
                <a:gd name="connsiteX2" fmla="*/ 42868 w 679455"/>
                <a:gd name="connsiteY2" fmla="*/ 219869 h 538073"/>
                <a:gd name="connsiteX3" fmla="*/ 5 w 679455"/>
                <a:gd name="connsiteY3" fmla="*/ 371475 h 538073"/>
                <a:gd name="connsiteX4" fmla="*/ 41280 w 679455"/>
                <a:gd name="connsiteY4" fmla="*/ 492125 h 538073"/>
                <a:gd name="connsiteX5" fmla="*/ 184155 w 679455"/>
                <a:gd name="connsiteY5" fmla="*/ 536575 h 538073"/>
                <a:gd name="connsiteX6" fmla="*/ 412755 w 679455"/>
                <a:gd name="connsiteY6" fmla="*/ 444500 h 538073"/>
                <a:gd name="connsiteX7" fmla="*/ 558805 w 679455"/>
                <a:gd name="connsiteY7" fmla="*/ 409575 h 538073"/>
                <a:gd name="connsiteX8" fmla="*/ 679455 w 679455"/>
                <a:gd name="connsiteY8" fmla="*/ 434975 h 538073"/>
                <a:gd name="connsiteX0" fmla="*/ 15880 w 679455"/>
                <a:gd name="connsiteY0" fmla="*/ 0 h 538073"/>
                <a:gd name="connsiteX1" fmla="*/ 79380 w 679455"/>
                <a:gd name="connsiteY1" fmla="*/ 79375 h 538073"/>
                <a:gd name="connsiteX2" fmla="*/ 42868 w 679455"/>
                <a:gd name="connsiteY2" fmla="*/ 219869 h 538073"/>
                <a:gd name="connsiteX3" fmla="*/ 5 w 679455"/>
                <a:gd name="connsiteY3" fmla="*/ 371475 h 538073"/>
                <a:gd name="connsiteX4" fmla="*/ 41280 w 679455"/>
                <a:gd name="connsiteY4" fmla="*/ 492125 h 538073"/>
                <a:gd name="connsiteX5" fmla="*/ 184155 w 679455"/>
                <a:gd name="connsiteY5" fmla="*/ 536575 h 538073"/>
                <a:gd name="connsiteX6" fmla="*/ 412755 w 679455"/>
                <a:gd name="connsiteY6" fmla="*/ 444500 h 538073"/>
                <a:gd name="connsiteX7" fmla="*/ 558805 w 679455"/>
                <a:gd name="connsiteY7" fmla="*/ 409575 h 538073"/>
                <a:gd name="connsiteX8" fmla="*/ 679455 w 679455"/>
                <a:gd name="connsiteY8" fmla="*/ 434975 h 538073"/>
                <a:gd name="connsiteX0" fmla="*/ 6366 w 669941"/>
                <a:gd name="connsiteY0" fmla="*/ 0 h 538090"/>
                <a:gd name="connsiteX1" fmla="*/ 69866 w 669941"/>
                <a:gd name="connsiteY1" fmla="*/ 79375 h 538090"/>
                <a:gd name="connsiteX2" fmla="*/ 33354 w 669941"/>
                <a:gd name="connsiteY2" fmla="*/ 219869 h 538090"/>
                <a:gd name="connsiteX3" fmla="*/ 16 w 669941"/>
                <a:gd name="connsiteY3" fmla="*/ 369093 h 538090"/>
                <a:gd name="connsiteX4" fmla="*/ 31766 w 669941"/>
                <a:gd name="connsiteY4" fmla="*/ 492125 h 538090"/>
                <a:gd name="connsiteX5" fmla="*/ 174641 w 669941"/>
                <a:gd name="connsiteY5" fmla="*/ 536575 h 538090"/>
                <a:gd name="connsiteX6" fmla="*/ 403241 w 669941"/>
                <a:gd name="connsiteY6" fmla="*/ 444500 h 538090"/>
                <a:gd name="connsiteX7" fmla="*/ 549291 w 669941"/>
                <a:gd name="connsiteY7" fmla="*/ 409575 h 538090"/>
                <a:gd name="connsiteX8" fmla="*/ 669941 w 669941"/>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9018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6952 w 670527"/>
                <a:gd name="connsiteY0" fmla="*/ 0 h 538090"/>
                <a:gd name="connsiteX1" fmla="*/ 89502 w 670527"/>
                <a:gd name="connsiteY1" fmla="*/ 79375 h 538090"/>
                <a:gd name="connsiteX2" fmla="*/ 48228 w 670527"/>
                <a:gd name="connsiteY2" fmla="*/ 207962 h 538090"/>
                <a:gd name="connsiteX3" fmla="*/ 602 w 670527"/>
                <a:gd name="connsiteY3" fmla="*/ 369093 h 538090"/>
                <a:gd name="connsiteX4" fmla="*/ 32352 w 670527"/>
                <a:gd name="connsiteY4" fmla="*/ 492125 h 538090"/>
                <a:gd name="connsiteX5" fmla="*/ 175227 w 670527"/>
                <a:gd name="connsiteY5" fmla="*/ 536575 h 538090"/>
                <a:gd name="connsiteX6" fmla="*/ 403827 w 670527"/>
                <a:gd name="connsiteY6" fmla="*/ 444500 h 538090"/>
                <a:gd name="connsiteX7" fmla="*/ 549877 w 670527"/>
                <a:gd name="connsiteY7" fmla="*/ 409575 h 538090"/>
                <a:gd name="connsiteX8" fmla="*/ 670527 w 670527"/>
                <a:gd name="connsiteY8" fmla="*/ 434975 h 538090"/>
                <a:gd name="connsiteX0" fmla="*/ 6952 w 670527"/>
                <a:gd name="connsiteY0" fmla="*/ 0 h 538090"/>
                <a:gd name="connsiteX1" fmla="*/ 72834 w 670527"/>
                <a:gd name="connsiteY1" fmla="*/ 79375 h 538090"/>
                <a:gd name="connsiteX2" fmla="*/ 48228 w 670527"/>
                <a:gd name="connsiteY2" fmla="*/ 207962 h 538090"/>
                <a:gd name="connsiteX3" fmla="*/ 602 w 670527"/>
                <a:gd name="connsiteY3" fmla="*/ 369093 h 538090"/>
                <a:gd name="connsiteX4" fmla="*/ 32352 w 670527"/>
                <a:gd name="connsiteY4" fmla="*/ 492125 h 538090"/>
                <a:gd name="connsiteX5" fmla="*/ 175227 w 670527"/>
                <a:gd name="connsiteY5" fmla="*/ 536575 h 538090"/>
                <a:gd name="connsiteX6" fmla="*/ 403827 w 670527"/>
                <a:gd name="connsiteY6" fmla="*/ 444500 h 538090"/>
                <a:gd name="connsiteX7" fmla="*/ 549877 w 670527"/>
                <a:gd name="connsiteY7" fmla="*/ 409575 h 538090"/>
                <a:gd name="connsiteX8" fmla="*/ 670527 w 670527"/>
                <a:gd name="connsiteY8" fmla="*/ 434975 h 538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0527" h="538090">
                  <a:moveTo>
                    <a:pt x="6952" y="0"/>
                  </a:moveTo>
                  <a:cubicBezTo>
                    <a:pt x="45846" y="23548"/>
                    <a:pt x="65955" y="44715"/>
                    <a:pt x="72834" y="79375"/>
                  </a:cubicBezTo>
                  <a:cubicBezTo>
                    <a:pt x="79713" y="114035"/>
                    <a:pt x="60267" y="159676"/>
                    <a:pt x="48228" y="207962"/>
                  </a:cubicBezTo>
                  <a:cubicBezTo>
                    <a:pt x="36189" y="256248"/>
                    <a:pt x="3248" y="321732"/>
                    <a:pt x="602" y="369093"/>
                  </a:cubicBezTo>
                  <a:cubicBezTo>
                    <a:pt x="-2044" y="416454"/>
                    <a:pt x="3248" y="464211"/>
                    <a:pt x="32352" y="492125"/>
                  </a:cubicBezTo>
                  <a:cubicBezTo>
                    <a:pt x="61456" y="520039"/>
                    <a:pt x="113315" y="544512"/>
                    <a:pt x="175227" y="536575"/>
                  </a:cubicBezTo>
                  <a:cubicBezTo>
                    <a:pt x="237139" y="528638"/>
                    <a:pt x="341385" y="465667"/>
                    <a:pt x="403827" y="444500"/>
                  </a:cubicBezTo>
                  <a:cubicBezTo>
                    <a:pt x="466269" y="423333"/>
                    <a:pt x="480556" y="405871"/>
                    <a:pt x="549877" y="409575"/>
                  </a:cubicBezTo>
                  <a:cubicBezTo>
                    <a:pt x="619198" y="413279"/>
                    <a:pt x="600412" y="409839"/>
                    <a:pt x="670527" y="434975"/>
                  </a:cubicBezTo>
                </a:path>
              </a:pathLst>
            </a:custGeom>
            <a:noFill/>
            <a:ln w="19050">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6" name="Rectangle: Rounded Corners 15">
            <a:extLst>
              <a:ext uri="{FF2B5EF4-FFF2-40B4-BE49-F238E27FC236}">
                <a16:creationId xmlns:a16="http://schemas.microsoft.com/office/drawing/2014/main" id="{525DD027-A771-5EA1-8446-D7F9BE1447C5}"/>
              </a:ext>
            </a:extLst>
          </p:cNvPr>
          <p:cNvSpPr/>
          <p:nvPr/>
        </p:nvSpPr>
        <p:spPr>
          <a:xfrm>
            <a:off x="6046487" y="2733377"/>
            <a:ext cx="1581337" cy="465972"/>
          </a:xfrm>
          <a:prstGeom prst="roundRect">
            <a:avLst/>
          </a:prstGeom>
          <a:solidFill>
            <a:srgbClr val="E1E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Inverse Kinematics</a:t>
            </a:r>
            <a:endParaRPr lang="en-GB" sz="1200" dirty="0">
              <a:solidFill>
                <a:schemeClr val="tx1"/>
              </a:solidFill>
            </a:endParaRPr>
          </a:p>
        </p:txBody>
      </p:sp>
      <p:grpSp>
        <p:nvGrpSpPr>
          <p:cNvPr id="109" name="Group 108">
            <a:extLst>
              <a:ext uri="{FF2B5EF4-FFF2-40B4-BE49-F238E27FC236}">
                <a16:creationId xmlns:a16="http://schemas.microsoft.com/office/drawing/2014/main" id="{18841304-4F04-0C19-905F-7DB6EDCCD8CA}"/>
              </a:ext>
            </a:extLst>
          </p:cNvPr>
          <p:cNvGrpSpPr/>
          <p:nvPr/>
        </p:nvGrpSpPr>
        <p:grpSpPr>
          <a:xfrm>
            <a:off x="2537250" y="4195078"/>
            <a:ext cx="1766536" cy="1112840"/>
            <a:chOff x="2537250" y="4195078"/>
            <a:chExt cx="1766536" cy="1112840"/>
          </a:xfrm>
        </p:grpSpPr>
        <p:sp>
          <p:nvSpPr>
            <p:cNvPr id="150" name="Freeform 14">
              <a:extLst>
                <a:ext uri="{FF2B5EF4-FFF2-40B4-BE49-F238E27FC236}">
                  <a16:creationId xmlns:a16="http://schemas.microsoft.com/office/drawing/2014/main" id="{1F3FA66F-8112-3839-4FA9-9BDA9C43F1DB}"/>
                </a:ext>
              </a:extLst>
            </p:cNvPr>
            <p:cNvSpPr/>
            <p:nvPr/>
          </p:nvSpPr>
          <p:spPr>
            <a:xfrm>
              <a:off x="2761782" y="4693172"/>
              <a:ext cx="697315" cy="614746"/>
            </a:xfrm>
            <a:custGeom>
              <a:avLst/>
              <a:gdLst/>
              <a:ahLst/>
              <a:cxnLst/>
              <a:rect l="l" t="t" r="r" b="b"/>
              <a:pathLst>
                <a:path w="2388253" h="2105462">
                  <a:moveTo>
                    <a:pt x="0" y="0"/>
                  </a:moveTo>
                  <a:lnTo>
                    <a:pt x="2388253" y="0"/>
                  </a:lnTo>
                  <a:lnTo>
                    <a:pt x="2388253" y="2105462"/>
                  </a:lnTo>
                  <a:lnTo>
                    <a:pt x="0" y="2105462"/>
                  </a:lnTo>
                  <a:lnTo>
                    <a:pt x="0" y="0"/>
                  </a:lnTo>
                  <a:close/>
                </a:path>
              </a:pathLst>
            </a:custGeom>
            <a:blipFill>
              <a:blip r:embed="rId8"/>
              <a:stretch>
                <a:fillRect l="-16072" t="-8057"/>
              </a:stretch>
            </a:blipFill>
          </p:spPr>
          <p:txBody>
            <a:bodyPr/>
            <a:lstStyle/>
            <a:p>
              <a:endParaRPr lang="en-GB"/>
            </a:p>
          </p:txBody>
        </p:sp>
        <p:grpSp>
          <p:nvGrpSpPr>
            <p:cNvPr id="108" name="Group 107">
              <a:extLst>
                <a:ext uri="{FF2B5EF4-FFF2-40B4-BE49-F238E27FC236}">
                  <a16:creationId xmlns:a16="http://schemas.microsoft.com/office/drawing/2014/main" id="{6D192B79-6483-8D5A-15FB-58759DF1AA58}"/>
                </a:ext>
              </a:extLst>
            </p:cNvPr>
            <p:cNvGrpSpPr/>
            <p:nvPr/>
          </p:nvGrpSpPr>
          <p:grpSpPr>
            <a:xfrm>
              <a:off x="2537250" y="4195078"/>
              <a:ext cx="1766536" cy="996188"/>
              <a:chOff x="2537250" y="4195078"/>
              <a:chExt cx="1766536" cy="996188"/>
            </a:xfrm>
          </p:grpSpPr>
          <p:sp>
            <p:nvSpPr>
              <p:cNvPr id="147" name="Freeform 13">
                <a:extLst>
                  <a:ext uri="{FF2B5EF4-FFF2-40B4-BE49-F238E27FC236}">
                    <a16:creationId xmlns:a16="http://schemas.microsoft.com/office/drawing/2014/main" id="{48A2BBB8-7198-9ED0-6D85-3E129B4AEE1A}"/>
                  </a:ext>
                </a:extLst>
              </p:cNvPr>
              <p:cNvSpPr/>
              <p:nvPr/>
            </p:nvSpPr>
            <p:spPr>
              <a:xfrm>
                <a:off x="3304415" y="4195078"/>
                <a:ext cx="999371" cy="996188"/>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a:p>
            </p:txBody>
          </p:sp>
          <p:sp>
            <p:nvSpPr>
              <p:cNvPr id="151" name="Freeform 15">
                <a:extLst>
                  <a:ext uri="{FF2B5EF4-FFF2-40B4-BE49-F238E27FC236}">
                    <a16:creationId xmlns:a16="http://schemas.microsoft.com/office/drawing/2014/main" id="{434E550B-55A2-0E47-3F3D-32AD7DFBE501}"/>
                  </a:ext>
                </a:extLst>
              </p:cNvPr>
              <p:cNvSpPr/>
              <p:nvPr/>
            </p:nvSpPr>
            <p:spPr>
              <a:xfrm>
                <a:off x="2958500" y="4888279"/>
                <a:ext cx="179035" cy="179035"/>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152" name="Freeform 16">
                <a:extLst>
                  <a:ext uri="{FF2B5EF4-FFF2-40B4-BE49-F238E27FC236}">
                    <a16:creationId xmlns:a16="http://schemas.microsoft.com/office/drawing/2014/main" id="{A8BB5990-6E5C-0A96-043D-212E1C315873}"/>
                  </a:ext>
                </a:extLst>
              </p:cNvPr>
              <p:cNvSpPr/>
              <p:nvPr/>
            </p:nvSpPr>
            <p:spPr>
              <a:xfrm>
                <a:off x="2537250" y="4776013"/>
                <a:ext cx="254370" cy="254370"/>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153" name="Freeform 17">
                <a:extLst>
                  <a:ext uri="{FF2B5EF4-FFF2-40B4-BE49-F238E27FC236}">
                    <a16:creationId xmlns:a16="http://schemas.microsoft.com/office/drawing/2014/main" id="{0530B1C2-BC3A-B76B-B537-6204ACCED88F}"/>
                  </a:ext>
                </a:extLst>
              </p:cNvPr>
              <p:cNvSpPr/>
              <p:nvPr/>
            </p:nvSpPr>
            <p:spPr>
              <a:xfrm>
                <a:off x="2612465" y="4393941"/>
                <a:ext cx="304000" cy="346887"/>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140" name="Oval 139">
                <a:extLst>
                  <a:ext uri="{FF2B5EF4-FFF2-40B4-BE49-F238E27FC236}">
                    <a16:creationId xmlns:a16="http://schemas.microsoft.com/office/drawing/2014/main" id="{18A3744D-D4BA-6C0E-B8A9-6A439642813D}"/>
                  </a:ext>
                </a:extLst>
              </p:cNvPr>
              <p:cNvSpPr/>
              <p:nvPr/>
            </p:nvSpPr>
            <p:spPr>
              <a:xfrm>
                <a:off x="2847378" y="4806159"/>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1" name="Oval 140">
                <a:extLst>
                  <a:ext uri="{FF2B5EF4-FFF2-40B4-BE49-F238E27FC236}">
                    <a16:creationId xmlns:a16="http://schemas.microsoft.com/office/drawing/2014/main" id="{EF5BE4BB-E013-5F37-9DA5-6B8C53C1F84D}"/>
                  </a:ext>
                </a:extLst>
              </p:cNvPr>
              <p:cNvSpPr/>
              <p:nvPr/>
            </p:nvSpPr>
            <p:spPr>
              <a:xfrm>
                <a:off x="2838473" y="5068260"/>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4" name="Oval 143">
                <a:extLst>
                  <a:ext uri="{FF2B5EF4-FFF2-40B4-BE49-F238E27FC236}">
                    <a16:creationId xmlns:a16="http://schemas.microsoft.com/office/drawing/2014/main" id="{F271A245-3ED4-8D33-6ACB-31D2C27EF5AC}"/>
                  </a:ext>
                </a:extLst>
              </p:cNvPr>
              <p:cNvSpPr/>
              <p:nvPr/>
            </p:nvSpPr>
            <p:spPr>
              <a:xfrm>
                <a:off x="3176936" y="5055006"/>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5" name="Oval 144">
                <a:extLst>
                  <a:ext uri="{FF2B5EF4-FFF2-40B4-BE49-F238E27FC236}">
                    <a16:creationId xmlns:a16="http://schemas.microsoft.com/office/drawing/2014/main" id="{5ED4DC67-009D-8CED-E2F6-16A375E9713B}"/>
                  </a:ext>
                </a:extLst>
              </p:cNvPr>
              <p:cNvSpPr/>
              <p:nvPr/>
            </p:nvSpPr>
            <p:spPr>
              <a:xfrm>
                <a:off x="3441969" y="5047100"/>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6" name="Oval 145">
                <a:extLst>
                  <a:ext uri="{FF2B5EF4-FFF2-40B4-BE49-F238E27FC236}">
                    <a16:creationId xmlns:a16="http://schemas.microsoft.com/office/drawing/2014/main" id="{643567D1-6A5E-422A-B90C-8E96E011ED5D}"/>
                  </a:ext>
                </a:extLst>
              </p:cNvPr>
              <p:cNvSpPr/>
              <p:nvPr/>
            </p:nvSpPr>
            <p:spPr>
              <a:xfrm>
                <a:off x="2791620" y="4640727"/>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103" name="Group 102">
            <a:extLst>
              <a:ext uri="{FF2B5EF4-FFF2-40B4-BE49-F238E27FC236}">
                <a16:creationId xmlns:a16="http://schemas.microsoft.com/office/drawing/2014/main" id="{36522D97-95CD-C0DB-C9E6-0E47A78E8C0C}"/>
              </a:ext>
            </a:extLst>
          </p:cNvPr>
          <p:cNvGrpSpPr/>
          <p:nvPr/>
        </p:nvGrpSpPr>
        <p:grpSpPr>
          <a:xfrm>
            <a:off x="6003167" y="4237297"/>
            <a:ext cx="1727065" cy="945125"/>
            <a:chOff x="6003167" y="4237297"/>
            <a:chExt cx="1727065" cy="945125"/>
          </a:xfrm>
        </p:grpSpPr>
        <p:sp>
          <p:nvSpPr>
            <p:cNvPr id="18" name="Freeform 13">
              <a:extLst>
                <a:ext uri="{FF2B5EF4-FFF2-40B4-BE49-F238E27FC236}">
                  <a16:creationId xmlns:a16="http://schemas.microsoft.com/office/drawing/2014/main" id="{90654D0F-792E-C792-68A0-D9F9A0C97C17}"/>
                </a:ext>
              </a:extLst>
            </p:cNvPr>
            <p:cNvSpPr/>
            <p:nvPr/>
          </p:nvSpPr>
          <p:spPr>
            <a:xfrm>
              <a:off x="6782086" y="4237297"/>
              <a:ext cx="948146" cy="945125"/>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dirty="0"/>
            </a:p>
          </p:txBody>
        </p:sp>
        <p:cxnSp>
          <p:nvCxnSpPr>
            <p:cNvPr id="20" name="Straight Connector 19">
              <a:extLst>
                <a:ext uri="{FF2B5EF4-FFF2-40B4-BE49-F238E27FC236}">
                  <a16:creationId xmlns:a16="http://schemas.microsoft.com/office/drawing/2014/main" id="{BDC47BF3-6FD7-1D76-A653-C509F9473C0A}"/>
                </a:ext>
              </a:extLst>
            </p:cNvPr>
            <p:cNvCxnSpPr>
              <a:cxnSpLocks/>
            </p:cNvCxnSpPr>
            <p:nvPr/>
          </p:nvCxnSpPr>
          <p:spPr>
            <a:xfrm flipH="1">
              <a:off x="6963780" y="4725927"/>
              <a:ext cx="7941" cy="127523"/>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5BE2FAE-21A8-FFA7-BE44-BE412457B41F}"/>
                </a:ext>
              </a:extLst>
            </p:cNvPr>
            <p:cNvCxnSpPr>
              <a:cxnSpLocks/>
            </p:cNvCxnSpPr>
            <p:nvPr/>
          </p:nvCxnSpPr>
          <p:spPr>
            <a:xfrm>
              <a:off x="6976150" y="4733737"/>
              <a:ext cx="64799" cy="12421"/>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CD9D49F-C604-65D4-460A-F8EB563FE256}"/>
                </a:ext>
              </a:extLst>
            </p:cNvPr>
            <p:cNvCxnSpPr>
              <a:cxnSpLocks/>
            </p:cNvCxnSpPr>
            <p:nvPr/>
          </p:nvCxnSpPr>
          <p:spPr>
            <a:xfrm flipH="1">
              <a:off x="7126010" y="4777132"/>
              <a:ext cx="55251" cy="127072"/>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CF3E626-D236-BDFC-A404-0821C1773C8D}"/>
                </a:ext>
              </a:extLst>
            </p:cNvPr>
            <p:cNvCxnSpPr>
              <a:cxnSpLocks/>
            </p:cNvCxnSpPr>
            <p:nvPr/>
          </p:nvCxnSpPr>
          <p:spPr>
            <a:xfrm>
              <a:off x="7084513" y="4754250"/>
              <a:ext cx="109449" cy="18544"/>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15ABEF7-F48B-51D9-CF25-051115289E53}"/>
                </a:ext>
              </a:extLst>
            </p:cNvPr>
            <p:cNvCxnSpPr>
              <a:cxnSpLocks/>
            </p:cNvCxnSpPr>
            <p:nvPr/>
          </p:nvCxnSpPr>
          <p:spPr>
            <a:xfrm>
              <a:off x="7201903" y="4481372"/>
              <a:ext cx="78916" cy="36196"/>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C2C0518-A51B-317C-946A-61D481BBDCF7}"/>
                </a:ext>
              </a:extLst>
            </p:cNvPr>
            <p:cNvCxnSpPr>
              <a:cxnSpLocks/>
            </p:cNvCxnSpPr>
            <p:nvPr/>
          </p:nvCxnSpPr>
          <p:spPr>
            <a:xfrm flipV="1">
              <a:off x="7162817" y="4485010"/>
              <a:ext cx="46534" cy="65116"/>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949B286F-1CDA-0ED4-433E-EDB7ABD24FA2}"/>
                </a:ext>
              </a:extLst>
            </p:cNvPr>
            <p:cNvSpPr/>
            <p:nvPr/>
          </p:nvSpPr>
          <p:spPr>
            <a:xfrm>
              <a:off x="6950033" y="4712049"/>
              <a:ext cx="43375" cy="43375"/>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0" name="Straight Connector 29">
              <a:extLst>
                <a:ext uri="{FF2B5EF4-FFF2-40B4-BE49-F238E27FC236}">
                  <a16:creationId xmlns:a16="http://schemas.microsoft.com/office/drawing/2014/main" id="{428C65F4-7375-5E1A-AFB9-E0E07490C912}"/>
                </a:ext>
              </a:extLst>
            </p:cNvPr>
            <p:cNvCxnSpPr>
              <a:cxnSpLocks/>
            </p:cNvCxnSpPr>
            <p:nvPr/>
          </p:nvCxnSpPr>
          <p:spPr>
            <a:xfrm flipV="1">
              <a:off x="7401672" y="4643627"/>
              <a:ext cx="113396" cy="2845"/>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6C78846-7520-42FF-CBF3-71F14DCE8A15}"/>
                </a:ext>
              </a:extLst>
            </p:cNvPr>
            <p:cNvCxnSpPr>
              <a:cxnSpLocks/>
            </p:cNvCxnSpPr>
            <p:nvPr/>
          </p:nvCxnSpPr>
          <p:spPr>
            <a:xfrm>
              <a:off x="7469276" y="4556907"/>
              <a:ext cx="57331" cy="100327"/>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CE61771-3666-8787-5209-363E77747C8C}"/>
                </a:ext>
              </a:extLst>
            </p:cNvPr>
            <p:cNvCxnSpPr>
              <a:cxnSpLocks/>
            </p:cNvCxnSpPr>
            <p:nvPr/>
          </p:nvCxnSpPr>
          <p:spPr>
            <a:xfrm>
              <a:off x="7280820" y="4384953"/>
              <a:ext cx="105633" cy="37724"/>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F4E070F-C625-D4A7-E684-38550B64C26C}"/>
                </a:ext>
              </a:extLst>
            </p:cNvPr>
            <p:cNvCxnSpPr>
              <a:cxnSpLocks/>
            </p:cNvCxnSpPr>
            <p:nvPr/>
          </p:nvCxnSpPr>
          <p:spPr>
            <a:xfrm>
              <a:off x="7389709" y="4425967"/>
              <a:ext cx="40938" cy="93847"/>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6F1664B-0862-E52F-0873-4DDEF51FF48D}"/>
                </a:ext>
              </a:extLst>
            </p:cNvPr>
            <p:cNvCxnSpPr>
              <a:cxnSpLocks/>
            </p:cNvCxnSpPr>
            <p:nvPr/>
          </p:nvCxnSpPr>
          <p:spPr>
            <a:xfrm flipV="1">
              <a:off x="7376729" y="4915088"/>
              <a:ext cx="79567" cy="71673"/>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4DF2C06-09D9-A28F-E9C1-4DF39EFB4ACD}"/>
                </a:ext>
              </a:extLst>
            </p:cNvPr>
            <p:cNvCxnSpPr>
              <a:cxnSpLocks/>
            </p:cNvCxnSpPr>
            <p:nvPr/>
          </p:nvCxnSpPr>
          <p:spPr>
            <a:xfrm>
              <a:off x="7314683" y="4899410"/>
              <a:ext cx="128976" cy="12927"/>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37" name="Arc 36">
              <a:extLst>
                <a:ext uri="{FF2B5EF4-FFF2-40B4-BE49-F238E27FC236}">
                  <a16:creationId xmlns:a16="http://schemas.microsoft.com/office/drawing/2014/main" id="{D50B90D8-B672-A507-42F3-FD01E7FE9FF3}"/>
                </a:ext>
              </a:extLst>
            </p:cNvPr>
            <p:cNvSpPr/>
            <p:nvPr/>
          </p:nvSpPr>
          <p:spPr>
            <a:xfrm rot="5400000">
              <a:off x="6941868" y="4715772"/>
              <a:ext cx="72566" cy="72799"/>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8" name="Arc 37">
              <a:extLst>
                <a:ext uri="{FF2B5EF4-FFF2-40B4-BE49-F238E27FC236}">
                  <a16:creationId xmlns:a16="http://schemas.microsoft.com/office/drawing/2014/main" id="{2683758D-D1C4-A29E-2D7F-C4A6C9FBDF3D}"/>
                </a:ext>
              </a:extLst>
            </p:cNvPr>
            <p:cNvSpPr/>
            <p:nvPr/>
          </p:nvSpPr>
          <p:spPr>
            <a:xfrm rot="11576616">
              <a:off x="7122937" y="4745409"/>
              <a:ext cx="72566" cy="72799"/>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9" name="Arc 38">
              <a:extLst>
                <a:ext uri="{FF2B5EF4-FFF2-40B4-BE49-F238E27FC236}">
                  <a16:creationId xmlns:a16="http://schemas.microsoft.com/office/drawing/2014/main" id="{F0B89BED-5410-04CD-B003-929F06E5F522}"/>
                </a:ext>
              </a:extLst>
            </p:cNvPr>
            <p:cNvSpPr/>
            <p:nvPr/>
          </p:nvSpPr>
          <p:spPr>
            <a:xfrm rot="7436529">
              <a:off x="7176990" y="4463302"/>
              <a:ext cx="72566" cy="72799"/>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0" name="Arc 39">
              <a:extLst>
                <a:ext uri="{FF2B5EF4-FFF2-40B4-BE49-F238E27FC236}">
                  <a16:creationId xmlns:a16="http://schemas.microsoft.com/office/drawing/2014/main" id="{3C380806-DC85-684B-3BEB-7F27791B4112}"/>
                </a:ext>
              </a:extLst>
            </p:cNvPr>
            <p:cNvSpPr/>
            <p:nvPr/>
          </p:nvSpPr>
          <p:spPr>
            <a:xfrm rot="13139162">
              <a:off x="7365644" y="4900144"/>
              <a:ext cx="72566" cy="72799"/>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1" name="Arc 40">
              <a:extLst>
                <a:ext uri="{FF2B5EF4-FFF2-40B4-BE49-F238E27FC236}">
                  <a16:creationId xmlns:a16="http://schemas.microsoft.com/office/drawing/2014/main" id="{91ED3291-FAA1-09D9-137E-2019DC9B2297}"/>
                </a:ext>
              </a:extLst>
            </p:cNvPr>
            <p:cNvSpPr/>
            <p:nvPr/>
          </p:nvSpPr>
          <p:spPr>
            <a:xfrm rot="16200000">
              <a:off x="7453146" y="4596641"/>
              <a:ext cx="72566" cy="72799"/>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2" name="Arc 41">
              <a:extLst>
                <a:ext uri="{FF2B5EF4-FFF2-40B4-BE49-F238E27FC236}">
                  <a16:creationId xmlns:a16="http://schemas.microsoft.com/office/drawing/2014/main" id="{CCD56F25-D6ED-459A-2A7D-01902899622E}"/>
                </a:ext>
              </a:extLst>
            </p:cNvPr>
            <p:cNvSpPr/>
            <p:nvPr/>
          </p:nvSpPr>
          <p:spPr>
            <a:xfrm rot="10552793">
              <a:off x="7323317" y="4378018"/>
              <a:ext cx="105273" cy="95897"/>
            </a:xfrm>
            <a:prstGeom prst="arc">
              <a:avLst>
                <a:gd name="adj1" fmla="val 15100244"/>
                <a:gd name="adj2" fmla="val 1766624"/>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3" name="Oval 42">
              <a:extLst>
                <a:ext uri="{FF2B5EF4-FFF2-40B4-BE49-F238E27FC236}">
                  <a16:creationId xmlns:a16="http://schemas.microsoft.com/office/drawing/2014/main" id="{625D4A19-32A8-EA4D-E857-C9363890319B}"/>
                </a:ext>
              </a:extLst>
            </p:cNvPr>
            <p:cNvSpPr/>
            <p:nvPr/>
          </p:nvSpPr>
          <p:spPr>
            <a:xfrm>
              <a:off x="7160156" y="4755073"/>
              <a:ext cx="43375" cy="43375"/>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Oval 43">
              <a:extLst>
                <a:ext uri="{FF2B5EF4-FFF2-40B4-BE49-F238E27FC236}">
                  <a16:creationId xmlns:a16="http://schemas.microsoft.com/office/drawing/2014/main" id="{52ADDBEB-B57B-1A32-0C48-D08C7B0437B9}"/>
                </a:ext>
              </a:extLst>
            </p:cNvPr>
            <p:cNvSpPr/>
            <p:nvPr/>
          </p:nvSpPr>
          <p:spPr>
            <a:xfrm>
              <a:off x="7180215" y="4467649"/>
              <a:ext cx="43375" cy="43375"/>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Oval 44">
              <a:extLst>
                <a:ext uri="{FF2B5EF4-FFF2-40B4-BE49-F238E27FC236}">
                  <a16:creationId xmlns:a16="http://schemas.microsoft.com/office/drawing/2014/main" id="{FC64F65F-D785-BA89-3EC2-F97439075184}"/>
                </a:ext>
              </a:extLst>
            </p:cNvPr>
            <p:cNvSpPr/>
            <p:nvPr/>
          </p:nvSpPr>
          <p:spPr>
            <a:xfrm>
              <a:off x="7357482" y="4405058"/>
              <a:ext cx="43375" cy="43375"/>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Oval 45">
              <a:extLst>
                <a:ext uri="{FF2B5EF4-FFF2-40B4-BE49-F238E27FC236}">
                  <a16:creationId xmlns:a16="http://schemas.microsoft.com/office/drawing/2014/main" id="{C2C48B8E-B86D-0E3A-D621-6019D78EAB06}"/>
                </a:ext>
              </a:extLst>
            </p:cNvPr>
            <p:cNvSpPr/>
            <p:nvPr/>
          </p:nvSpPr>
          <p:spPr>
            <a:xfrm>
              <a:off x="7416127" y="4899410"/>
              <a:ext cx="43375" cy="43375"/>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Oval 46">
              <a:extLst>
                <a:ext uri="{FF2B5EF4-FFF2-40B4-BE49-F238E27FC236}">
                  <a16:creationId xmlns:a16="http://schemas.microsoft.com/office/drawing/2014/main" id="{EBD8360A-B4BC-D1DE-A58C-F85991536D71}"/>
                </a:ext>
              </a:extLst>
            </p:cNvPr>
            <p:cNvSpPr/>
            <p:nvPr/>
          </p:nvSpPr>
          <p:spPr>
            <a:xfrm>
              <a:off x="7504140" y="4624784"/>
              <a:ext cx="43375" cy="43375"/>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Freeform: Shape 6">
              <a:extLst>
                <a:ext uri="{FF2B5EF4-FFF2-40B4-BE49-F238E27FC236}">
                  <a16:creationId xmlns:a16="http://schemas.microsoft.com/office/drawing/2014/main" id="{E455C69E-D2D3-9E4F-A3FF-ED98F2BB51E6}"/>
                </a:ext>
              </a:extLst>
            </p:cNvPr>
            <p:cNvSpPr/>
            <p:nvPr/>
          </p:nvSpPr>
          <p:spPr>
            <a:xfrm>
              <a:off x="6338571" y="4695259"/>
              <a:ext cx="581005" cy="464489"/>
            </a:xfrm>
            <a:custGeom>
              <a:avLst/>
              <a:gdLst>
                <a:gd name="connsiteX0" fmla="*/ 0 w 819150"/>
                <a:gd name="connsiteY0" fmla="*/ 0 h 505609"/>
                <a:gd name="connsiteX1" fmla="*/ 88900 w 819150"/>
                <a:gd name="connsiteY1" fmla="*/ 79375 h 505609"/>
                <a:gd name="connsiteX2" fmla="*/ 66675 w 819150"/>
                <a:gd name="connsiteY2" fmla="*/ 193675 h 505609"/>
                <a:gd name="connsiteX3" fmla="*/ 12700 w 819150"/>
                <a:gd name="connsiteY3" fmla="*/ 339725 h 505609"/>
                <a:gd name="connsiteX4" fmla="*/ 53975 w 819150"/>
                <a:gd name="connsiteY4" fmla="*/ 460375 h 505609"/>
                <a:gd name="connsiteX5" fmla="*/ 196850 w 819150"/>
                <a:gd name="connsiteY5" fmla="*/ 504825 h 505609"/>
                <a:gd name="connsiteX6" fmla="*/ 403225 w 819150"/>
                <a:gd name="connsiteY6" fmla="*/ 428625 h 505609"/>
                <a:gd name="connsiteX7" fmla="*/ 571500 w 819150"/>
                <a:gd name="connsiteY7" fmla="*/ 377825 h 505609"/>
                <a:gd name="connsiteX8" fmla="*/ 819150 w 819150"/>
                <a:gd name="connsiteY8" fmla="*/ 450850 h 505609"/>
                <a:gd name="connsiteX0" fmla="*/ 0 w 692150"/>
                <a:gd name="connsiteY0" fmla="*/ 0 h 505609"/>
                <a:gd name="connsiteX1" fmla="*/ 88900 w 692150"/>
                <a:gd name="connsiteY1" fmla="*/ 79375 h 505609"/>
                <a:gd name="connsiteX2" fmla="*/ 66675 w 692150"/>
                <a:gd name="connsiteY2" fmla="*/ 193675 h 505609"/>
                <a:gd name="connsiteX3" fmla="*/ 12700 w 692150"/>
                <a:gd name="connsiteY3" fmla="*/ 339725 h 505609"/>
                <a:gd name="connsiteX4" fmla="*/ 53975 w 692150"/>
                <a:gd name="connsiteY4" fmla="*/ 460375 h 505609"/>
                <a:gd name="connsiteX5" fmla="*/ 196850 w 692150"/>
                <a:gd name="connsiteY5" fmla="*/ 504825 h 505609"/>
                <a:gd name="connsiteX6" fmla="*/ 403225 w 692150"/>
                <a:gd name="connsiteY6" fmla="*/ 428625 h 505609"/>
                <a:gd name="connsiteX7" fmla="*/ 571500 w 692150"/>
                <a:gd name="connsiteY7" fmla="*/ 377825 h 505609"/>
                <a:gd name="connsiteX8" fmla="*/ 692150 w 692150"/>
                <a:gd name="connsiteY8" fmla="*/ 403225 h 505609"/>
                <a:gd name="connsiteX0" fmla="*/ 0 w 692150"/>
                <a:gd name="connsiteY0" fmla="*/ 0 h 505609"/>
                <a:gd name="connsiteX1" fmla="*/ 88900 w 692150"/>
                <a:gd name="connsiteY1" fmla="*/ 79375 h 505609"/>
                <a:gd name="connsiteX2" fmla="*/ 66675 w 692150"/>
                <a:gd name="connsiteY2" fmla="*/ 193675 h 505609"/>
                <a:gd name="connsiteX3" fmla="*/ 12700 w 692150"/>
                <a:gd name="connsiteY3" fmla="*/ 339725 h 505609"/>
                <a:gd name="connsiteX4" fmla="*/ 53975 w 692150"/>
                <a:gd name="connsiteY4" fmla="*/ 460375 h 505609"/>
                <a:gd name="connsiteX5" fmla="*/ 196850 w 692150"/>
                <a:gd name="connsiteY5" fmla="*/ 504825 h 505609"/>
                <a:gd name="connsiteX6" fmla="*/ 403225 w 692150"/>
                <a:gd name="connsiteY6" fmla="*/ 428625 h 505609"/>
                <a:gd name="connsiteX7" fmla="*/ 571500 w 692150"/>
                <a:gd name="connsiteY7" fmla="*/ 377825 h 505609"/>
                <a:gd name="connsiteX8" fmla="*/ 692150 w 692150"/>
                <a:gd name="connsiteY8" fmla="*/ 403225 h 505609"/>
                <a:gd name="connsiteX0" fmla="*/ 0 w 692150"/>
                <a:gd name="connsiteY0" fmla="*/ 0 h 506323"/>
                <a:gd name="connsiteX1" fmla="*/ 88900 w 692150"/>
                <a:gd name="connsiteY1" fmla="*/ 79375 h 506323"/>
                <a:gd name="connsiteX2" fmla="*/ 66675 w 692150"/>
                <a:gd name="connsiteY2" fmla="*/ 193675 h 506323"/>
                <a:gd name="connsiteX3" fmla="*/ 12700 w 692150"/>
                <a:gd name="connsiteY3" fmla="*/ 339725 h 506323"/>
                <a:gd name="connsiteX4" fmla="*/ 53975 w 692150"/>
                <a:gd name="connsiteY4" fmla="*/ 460375 h 506323"/>
                <a:gd name="connsiteX5" fmla="*/ 196850 w 692150"/>
                <a:gd name="connsiteY5" fmla="*/ 504825 h 506323"/>
                <a:gd name="connsiteX6" fmla="*/ 425450 w 692150"/>
                <a:gd name="connsiteY6" fmla="*/ 412750 h 506323"/>
                <a:gd name="connsiteX7" fmla="*/ 571500 w 692150"/>
                <a:gd name="connsiteY7" fmla="*/ 377825 h 506323"/>
                <a:gd name="connsiteX8" fmla="*/ 692150 w 692150"/>
                <a:gd name="connsiteY8" fmla="*/ 403225 h 506323"/>
                <a:gd name="connsiteX0" fmla="*/ 0 w 692150"/>
                <a:gd name="connsiteY0" fmla="*/ 0 h 519023"/>
                <a:gd name="connsiteX1" fmla="*/ 88900 w 692150"/>
                <a:gd name="connsiteY1" fmla="*/ 92075 h 519023"/>
                <a:gd name="connsiteX2" fmla="*/ 66675 w 692150"/>
                <a:gd name="connsiteY2" fmla="*/ 206375 h 519023"/>
                <a:gd name="connsiteX3" fmla="*/ 12700 w 692150"/>
                <a:gd name="connsiteY3" fmla="*/ 352425 h 519023"/>
                <a:gd name="connsiteX4" fmla="*/ 53975 w 692150"/>
                <a:gd name="connsiteY4" fmla="*/ 473075 h 519023"/>
                <a:gd name="connsiteX5" fmla="*/ 196850 w 692150"/>
                <a:gd name="connsiteY5" fmla="*/ 517525 h 519023"/>
                <a:gd name="connsiteX6" fmla="*/ 425450 w 692150"/>
                <a:gd name="connsiteY6" fmla="*/ 425450 h 519023"/>
                <a:gd name="connsiteX7" fmla="*/ 571500 w 692150"/>
                <a:gd name="connsiteY7" fmla="*/ 390525 h 519023"/>
                <a:gd name="connsiteX8" fmla="*/ 692150 w 692150"/>
                <a:gd name="connsiteY8" fmla="*/ 415925 h 519023"/>
                <a:gd name="connsiteX0" fmla="*/ 0 w 692150"/>
                <a:gd name="connsiteY0" fmla="*/ 0 h 519023"/>
                <a:gd name="connsiteX1" fmla="*/ 104775 w 692150"/>
                <a:gd name="connsiteY1" fmla="*/ 92075 h 519023"/>
                <a:gd name="connsiteX2" fmla="*/ 66675 w 692150"/>
                <a:gd name="connsiteY2" fmla="*/ 206375 h 519023"/>
                <a:gd name="connsiteX3" fmla="*/ 12700 w 692150"/>
                <a:gd name="connsiteY3" fmla="*/ 352425 h 519023"/>
                <a:gd name="connsiteX4" fmla="*/ 53975 w 692150"/>
                <a:gd name="connsiteY4" fmla="*/ 473075 h 519023"/>
                <a:gd name="connsiteX5" fmla="*/ 196850 w 692150"/>
                <a:gd name="connsiteY5" fmla="*/ 517525 h 519023"/>
                <a:gd name="connsiteX6" fmla="*/ 425450 w 692150"/>
                <a:gd name="connsiteY6" fmla="*/ 425450 h 519023"/>
                <a:gd name="connsiteX7" fmla="*/ 571500 w 692150"/>
                <a:gd name="connsiteY7" fmla="*/ 390525 h 519023"/>
                <a:gd name="connsiteX8" fmla="*/ 692150 w 692150"/>
                <a:gd name="connsiteY8" fmla="*/ 415925 h 519023"/>
                <a:gd name="connsiteX0" fmla="*/ 16101 w 679676"/>
                <a:gd name="connsiteY0" fmla="*/ 0 h 538073"/>
                <a:gd name="connsiteX1" fmla="*/ 92301 w 679676"/>
                <a:gd name="connsiteY1" fmla="*/ 111125 h 538073"/>
                <a:gd name="connsiteX2" fmla="*/ 54201 w 679676"/>
                <a:gd name="connsiteY2" fmla="*/ 225425 h 538073"/>
                <a:gd name="connsiteX3" fmla="*/ 226 w 679676"/>
                <a:gd name="connsiteY3" fmla="*/ 371475 h 538073"/>
                <a:gd name="connsiteX4" fmla="*/ 41501 w 679676"/>
                <a:gd name="connsiteY4" fmla="*/ 492125 h 538073"/>
                <a:gd name="connsiteX5" fmla="*/ 184376 w 679676"/>
                <a:gd name="connsiteY5" fmla="*/ 536575 h 538073"/>
                <a:gd name="connsiteX6" fmla="*/ 412976 w 679676"/>
                <a:gd name="connsiteY6" fmla="*/ 444500 h 538073"/>
                <a:gd name="connsiteX7" fmla="*/ 559026 w 679676"/>
                <a:gd name="connsiteY7" fmla="*/ 409575 h 538073"/>
                <a:gd name="connsiteX8" fmla="*/ 679676 w 679676"/>
                <a:gd name="connsiteY8" fmla="*/ 434975 h 538073"/>
                <a:gd name="connsiteX0" fmla="*/ 16204 w 679779"/>
                <a:gd name="connsiteY0" fmla="*/ 0 h 538073"/>
                <a:gd name="connsiteX1" fmla="*/ 92404 w 679779"/>
                <a:gd name="connsiteY1" fmla="*/ 111125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6204 w 679779"/>
                <a:gd name="connsiteY0" fmla="*/ 0 h 538073"/>
                <a:gd name="connsiteX1" fmla="*/ 98754 w 679779"/>
                <a:gd name="connsiteY1" fmla="*/ 88900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6204 w 679779"/>
                <a:gd name="connsiteY0" fmla="*/ 0 h 538073"/>
                <a:gd name="connsiteX1" fmla="*/ 79704 w 679779"/>
                <a:gd name="connsiteY1" fmla="*/ 79375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5880 w 679455"/>
                <a:gd name="connsiteY0" fmla="*/ 0 h 538073"/>
                <a:gd name="connsiteX1" fmla="*/ 79380 w 679455"/>
                <a:gd name="connsiteY1" fmla="*/ 79375 h 538073"/>
                <a:gd name="connsiteX2" fmla="*/ 42868 w 679455"/>
                <a:gd name="connsiteY2" fmla="*/ 219869 h 538073"/>
                <a:gd name="connsiteX3" fmla="*/ 5 w 679455"/>
                <a:gd name="connsiteY3" fmla="*/ 371475 h 538073"/>
                <a:gd name="connsiteX4" fmla="*/ 41280 w 679455"/>
                <a:gd name="connsiteY4" fmla="*/ 492125 h 538073"/>
                <a:gd name="connsiteX5" fmla="*/ 184155 w 679455"/>
                <a:gd name="connsiteY5" fmla="*/ 536575 h 538073"/>
                <a:gd name="connsiteX6" fmla="*/ 412755 w 679455"/>
                <a:gd name="connsiteY6" fmla="*/ 444500 h 538073"/>
                <a:gd name="connsiteX7" fmla="*/ 558805 w 679455"/>
                <a:gd name="connsiteY7" fmla="*/ 409575 h 538073"/>
                <a:gd name="connsiteX8" fmla="*/ 679455 w 679455"/>
                <a:gd name="connsiteY8" fmla="*/ 434975 h 538073"/>
                <a:gd name="connsiteX0" fmla="*/ 15880 w 679455"/>
                <a:gd name="connsiteY0" fmla="*/ 0 h 538073"/>
                <a:gd name="connsiteX1" fmla="*/ 79380 w 679455"/>
                <a:gd name="connsiteY1" fmla="*/ 79375 h 538073"/>
                <a:gd name="connsiteX2" fmla="*/ 42868 w 679455"/>
                <a:gd name="connsiteY2" fmla="*/ 219869 h 538073"/>
                <a:gd name="connsiteX3" fmla="*/ 5 w 679455"/>
                <a:gd name="connsiteY3" fmla="*/ 371475 h 538073"/>
                <a:gd name="connsiteX4" fmla="*/ 41280 w 679455"/>
                <a:gd name="connsiteY4" fmla="*/ 492125 h 538073"/>
                <a:gd name="connsiteX5" fmla="*/ 184155 w 679455"/>
                <a:gd name="connsiteY5" fmla="*/ 536575 h 538073"/>
                <a:gd name="connsiteX6" fmla="*/ 412755 w 679455"/>
                <a:gd name="connsiteY6" fmla="*/ 444500 h 538073"/>
                <a:gd name="connsiteX7" fmla="*/ 558805 w 679455"/>
                <a:gd name="connsiteY7" fmla="*/ 409575 h 538073"/>
                <a:gd name="connsiteX8" fmla="*/ 679455 w 679455"/>
                <a:gd name="connsiteY8" fmla="*/ 434975 h 538073"/>
                <a:gd name="connsiteX0" fmla="*/ 6366 w 669941"/>
                <a:gd name="connsiteY0" fmla="*/ 0 h 538090"/>
                <a:gd name="connsiteX1" fmla="*/ 69866 w 669941"/>
                <a:gd name="connsiteY1" fmla="*/ 79375 h 538090"/>
                <a:gd name="connsiteX2" fmla="*/ 33354 w 669941"/>
                <a:gd name="connsiteY2" fmla="*/ 219869 h 538090"/>
                <a:gd name="connsiteX3" fmla="*/ 16 w 669941"/>
                <a:gd name="connsiteY3" fmla="*/ 369093 h 538090"/>
                <a:gd name="connsiteX4" fmla="*/ 31766 w 669941"/>
                <a:gd name="connsiteY4" fmla="*/ 492125 h 538090"/>
                <a:gd name="connsiteX5" fmla="*/ 174641 w 669941"/>
                <a:gd name="connsiteY5" fmla="*/ 536575 h 538090"/>
                <a:gd name="connsiteX6" fmla="*/ 403241 w 669941"/>
                <a:gd name="connsiteY6" fmla="*/ 444500 h 538090"/>
                <a:gd name="connsiteX7" fmla="*/ 549291 w 669941"/>
                <a:gd name="connsiteY7" fmla="*/ 409575 h 538090"/>
                <a:gd name="connsiteX8" fmla="*/ 669941 w 669941"/>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9018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6952 w 670527"/>
                <a:gd name="connsiteY0" fmla="*/ 0 h 538090"/>
                <a:gd name="connsiteX1" fmla="*/ 89502 w 670527"/>
                <a:gd name="connsiteY1" fmla="*/ 79375 h 538090"/>
                <a:gd name="connsiteX2" fmla="*/ 48228 w 670527"/>
                <a:gd name="connsiteY2" fmla="*/ 207962 h 538090"/>
                <a:gd name="connsiteX3" fmla="*/ 602 w 670527"/>
                <a:gd name="connsiteY3" fmla="*/ 369093 h 538090"/>
                <a:gd name="connsiteX4" fmla="*/ 32352 w 670527"/>
                <a:gd name="connsiteY4" fmla="*/ 492125 h 538090"/>
                <a:gd name="connsiteX5" fmla="*/ 175227 w 670527"/>
                <a:gd name="connsiteY5" fmla="*/ 536575 h 538090"/>
                <a:gd name="connsiteX6" fmla="*/ 403827 w 670527"/>
                <a:gd name="connsiteY6" fmla="*/ 444500 h 538090"/>
                <a:gd name="connsiteX7" fmla="*/ 549877 w 670527"/>
                <a:gd name="connsiteY7" fmla="*/ 409575 h 538090"/>
                <a:gd name="connsiteX8" fmla="*/ 670527 w 670527"/>
                <a:gd name="connsiteY8" fmla="*/ 434975 h 538090"/>
                <a:gd name="connsiteX0" fmla="*/ 6952 w 670527"/>
                <a:gd name="connsiteY0" fmla="*/ 0 h 538090"/>
                <a:gd name="connsiteX1" fmla="*/ 72834 w 670527"/>
                <a:gd name="connsiteY1" fmla="*/ 79375 h 538090"/>
                <a:gd name="connsiteX2" fmla="*/ 48228 w 670527"/>
                <a:gd name="connsiteY2" fmla="*/ 207962 h 538090"/>
                <a:gd name="connsiteX3" fmla="*/ 602 w 670527"/>
                <a:gd name="connsiteY3" fmla="*/ 369093 h 538090"/>
                <a:gd name="connsiteX4" fmla="*/ 32352 w 670527"/>
                <a:gd name="connsiteY4" fmla="*/ 492125 h 538090"/>
                <a:gd name="connsiteX5" fmla="*/ 175227 w 670527"/>
                <a:gd name="connsiteY5" fmla="*/ 536575 h 538090"/>
                <a:gd name="connsiteX6" fmla="*/ 403827 w 670527"/>
                <a:gd name="connsiteY6" fmla="*/ 444500 h 538090"/>
                <a:gd name="connsiteX7" fmla="*/ 549877 w 670527"/>
                <a:gd name="connsiteY7" fmla="*/ 409575 h 538090"/>
                <a:gd name="connsiteX8" fmla="*/ 670527 w 670527"/>
                <a:gd name="connsiteY8" fmla="*/ 434975 h 538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0527" h="538090">
                  <a:moveTo>
                    <a:pt x="6952" y="0"/>
                  </a:moveTo>
                  <a:cubicBezTo>
                    <a:pt x="45846" y="23548"/>
                    <a:pt x="65955" y="44715"/>
                    <a:pt x="72834" y="79375"/>
                  </a:cubicBezTo>
                  <a:cubicBezTo>
                    <a:pt x="79713" y="114035"/>
                    <a:pt x="60267" y="159676"/>
                    <a:pt x="48228" y="207962"/>
                  </a:cubicBezTo>
                  <a:cubicBezTo>
                    <a:pt x="36189" y="256248"/>
                    <a:pt x="3248" y="321732"/>
                    <a:pt x="602" y="369093"/>
                  </a:cubicBezTo>
                  <a:cubicBezTo>
                    <a:pt x="-2044" y="416454"/>
                    <a:pt x="3248" y="464211"/>
                    <a:pt x="32352" y="492125"/>
                  </a:cubicBezTo>
                  <a:cubicBezTo>
                    <a:pt x="61456" y="520039"/>
                    <a:pt x="113315" y="544512"/>
                    <a:pt x="175227" y="536575"/>
                  </a:cubicBezTo>
                  <a:cubicBezTo>
                    <a:pt x="237139" y="528638"/>
                    <a:pt x="341385" y="465667"/>
                    <a:pt x="403827" y="444500"/>
                  </a:cubicBezTo>
                  <a:cubicBezTo>
                    <a:pt x="466269" y="423333"/>
                    <a:pt x="480556" y="405871"/>
                    <a:pt x="549877" y="409575"/>
                  </a:cubicBezTo>
                  <a:cubicBezTo>
                    <a:pt x="619198" y="413279"/>
                    <a:pt x="600412" y="409839"/>
                    <a:pt x="670527" y="434975"/>
                  </a:cubicBezTo>
                </a:path>
              </a:pathLst>
            </a:cu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7" name="Group 16">
              <a:extLst>
                <a:ext uri="{FF2B5EF4-FFF2-40B4-BE49-F238E27FC236}">
                  <a16:creationId xmlns:a16="http://schemas.microsoft.com/office/drawing/2014/main" id="{6926B7DB-D9F5-FD37-20C2-74D4888F2603}"/>
                </a:ext>
              </a:extLst>
            </p:cNvPr>
            <p:cNvGrpSpPr/>
            <p:nvPr/>
          </p:nvGrpSpPr>
          <p:grpSpPr>
            <a:xfrm>
              <a:off x="6003167" y="4389673"/>
              <a:ext cx="600285" cy="673373"/>
              <a:chOff x="6003167" y="4389673"/>
              <a:chExt cx="600285" cy="673373"/>
            </a:xfrm>
          </p:grpSpPr>
          <p:sp>
            <p:nvSpPr>
              <p:cNvPr id="92" name="Freeform 15">
                <a:extLst>
                  <a:ext uri="{FF2B5EF4-FFF2-40B4-BE49-F238E27FC236}">
                    <a16:creationId xmlns:a16="http://schemas.microsoft.com/office/drawing/2014/main" id="{B8E5FF4D-B07E-C24B-BA18-D4F65078648C}"/>
                  </a:ext>
                </a:extLst>
              </p:cNvPr>
              <p:cNvSpPr/>
              <p:nvPr/>
            </p:nvSpPr>
            <p:spPr>
              <a:xfrm>
                <a:off x="6424417" y="4884011"/>
                <a:ext cx="179035" cy="179035"/>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93" name="Freeform 16">
                <a:extLst>
                  <a:ext uri="{FF2B5EF4-FFF2-40B4-BE49-F238E27FC236}">
                    <a16:creationId xmlns:a16="http://schemas.microsoft.com/office/drawing/2014/main" id="{EB249BE3-7D41-A6BF-523F-F7875AE0ABA3}"/>
                  </a:ext>
                </a:extLst>
              </p:cNvPr>
              <p:cNvSpPr/>
              <p:nvPr/>
            </p:nvSpPr>
            <p:spPr>
              <a:xfrm>
                <a:off x="6003167" y="4771745"/>
                <a:ext cx="254370" cy="254370"/>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94" name="Freeform 17">
                <a:extLst>
                  <a:ext uri="{FF2B5EF4-FFF2-40B4-BE49-F238E27FC236}">
                    <a16:creationId xmlns:a16="http://schemas.microsoft.com/office/drawing/2014/main" id="{36EA9B40-13C7-37A7-1B0A-2A2455F84840}"/>
                  </a:ext>
                </a:extLst>
              </p:cNvPr>
              <p:cNvSpPr/>
              <p:nvPr/>
            </p:nvSpPr>
            <p:spPr>
              <a:xfrm>
                <a:off x="6078382" y="4389673"/>
                <a:ext cx="304000" cy="346887"/>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grpSp>
        <p:sp>
          <p:nvSpPr>
            <p:cNvPr id="95" name="Oval 94">
              <a:extLst>
                <a:ext uri="{FF2B5EF4-FFF2-40B4-BE49-F238E27FC236}">
                  <a16:creationId xmlns:a16="http://schemas.microsoft.com/office/drawing/2014/main" id="{5D58B481-B6F6-745B-84B3-D8B5184235D7}"/>
                </a:ext>
              </a:extLst>
            </p:cNvPr>
            <p:cNvSpPr/>
            <p:nvPr/>
          </p:nvSpPr>
          <p:spPr>
            <a:xfrm>
              <a:off x="6346804" y="4801891"/>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Oval 95">
              <a:extLst>
                <a:ext uri="{FF2B5EF4-FFF2-40B4-BE49-F238E27FC236}">
                  <a16:creationId xmlns:a16="http://schemas.microsoft.com/office/drawing/2014/main" id="{F59268A7-1F63-A96E-85D5-CBFDEDA108EA}"/>
                </a:ext>
              </a:extLst>
            </p:cNvPr>
            <p:cNvSpPr/>
            <p:nvPr/>
          </p:nvSpPr>
          <p:spPr>
            <a:xfrm>
              <a:off x="6304390" y="5063992"/>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Oval 96">
              <a:extLst>
                <a:ext uri="{FF2B5EF4-FFF2-40B4-BE49-F238E27FC236}">
                  <a16:creationId xmlns:a16="http://schemas.microsoft.com/office/drawing/2014/main" id="{E6B85DB2-3C50-29FC-B252-DD6AF5ADBA60}"/>
                </a:ext>
              </a:extLst>
            </p:cNvPr>
            <p:cNvSpPr/>
            <p:nvPr/>
          </p:nvSpPr>
          <p:spPr>
            <a:xfrm>
              <a:off x="6642853" y="5050738"/>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Oval 98">
              <a:extLst>
                <a:ext uri="{FF2B5EF4-FFF2-40B4-BE49-F238E27FC236}">
                  <a16:creationId xmlns:a16="http://schemas.microsoft.com/office/drawing/2014/main" id="{2AA3BFCF-03ED-8250-88AA-60AFC35D684D}"/>
                </a:ext>
              </a:extLst>
            </p:cNvPr>
            <p:cNvSpPr/>
            <p:nvPr/>
          </p:nvSpPr>
          <p:spPr>
            <a:xfrm>
              <a:off x="6257537" y="4636459"/>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Oval 101">
              <a:extLst>
                <a:ext uri="{FF2B5EF4-FFF2-40B4-BE49-F238E27FC236}">
                  <a16:creationId xmlns:a16="http://schemas.microsoft.com/office/drawing/2014/main" id="{706D7D12-209D-04AD-77B2-9DFA28C412B3}"/>
                </a:ext>
              </a:extLst>
            </p:cNvPr>
            <p:cNvSpPr/>
            <p:nvPr/>
          </p:nvSpPr>
          <p:spPr>
            <a:xfrm>
              <a:off x="6907886" y="5042832"/>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2" name="Rectangle: Rounded Corners 11">
            <a:extLst>
              <a:ext uri="{FF2B5EF4-FFF2-40B4-BE49-F238E27FC236}">
                <a16:creationId xmlns:a16="http://schemas.microsoft.com/office/drawing/2014/main" id="{7B5664E1-9637-37EB-3A6A-8B572BBD2CDB}"/>
              </a:ext>
            </a:extLst>
          </p:cNvPr>
          <p:cNvSpPr/>
          <p:nvPr/>
        </p:nvSpPr>
        <p:spPr>
          <a:xfrm>
            <a:off x="2233378" y="2288192"/>
            <a:ext cx="2340363" cy="660640"/>
          </a:xfrm>
          <a:prstGeom prst="roundRect">
            <a:avLst/>
          </a:prstGeom>
          <a:solidFill>
            <a:srgbClr val="CDDCFF"/>
          </a:solidFill>
          <a:ln w="28575">
            <a:solidFill>
              <a:srgbClr val="0033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JointsTrajectoryGenerator</a:t>
            </a:r>
            <a:endParaRPr lang="en-GB" sz="1400" dirty="0">
              <a:solidFill>
                <a:srgbClr val="003399"/>
              </a:solidFill>
            </a:endParaRPr>
          </a:p>
        </p:txBody>
      </p:sp>
      <p:sp>
        <p:nvSpPr>
          <p:cNvPr id="13" name="Rectangle: Rounded Corners 12">
            <a:extLst>
              <a:ext uri="{FF2B5EF4-FFF2-40B4-BE49-F238E27FC236}">
                <a16:creationId xmlns:a16="http://schemas.microsoft.com/office/drawing/2014/main" id="{CD5B68D5-59ED-CC78-9711-EF3EC0178897}"/>
              </a:ext>
            </a:extLst>
          </p:cNvPr>
          <p:cNvSpPr/>
          <p:nvPr/>
        </p:nvSpPr>
        <p:spPr>
          <a:xfrm>
            <a:off x="2233377" y="3268360"/>
            <a:ext cx="2340363" cy="660640"/>
          </a:xfrm>
          <a:prstGeom prst="roundRect">
            <a:avLst/>
          </a:prstGeom>
          <a:solidFill>
            <a:srgbClr val="CDDCFF"/>
          </a:solidFill>
          <a:ln w="28575">
            <a:solidFill>
              <a:srgbClr val="0033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TaskTrajectoryGenerator</a:t>
            </a:r>
            <a:endParaRPr lang="en-GB" sz="1400" dirty="0">
              <a:solidFill>
                <a:srgbClr val="003399"/>
              </a:solidFill>
            </a:endParaRPr>
          </a:p>
        </p:txBody>
      </p:sp>
      <p:sp>
        <p:nvSpPr>
          <p:cNvPr id="225" name="Titel 2">
            <a:extLst>
              <a:ext uri="{FF2B5EF4-FFF2-40B4-BE49-F238E27FC236}">
                <a16:creationId xmlns:a16="http://schemas.microsoft.com/office/drawing/2014/main" id="{381B539A-3EAF-7637-7FE9-9A49566FFCED}"/>
              </a:ext>
            </a:extLst>
          </p:cNvPr>
          <p:cNvSpPr>
            <a:spLocks noGrp="1"/>
          </p:cNvSpPr>
          <p:nvPr>
            <p:ph type="title"/>
          </p:nvPr>
        </p:nvSpPr>
        <p:spPr>
          <a:xfrm>
            <a:off x="407988" y="373593"/>
            <a:ext cx="11376025" cy="1065742"/>
          </a:xfrm>
        </p:spPr>
        <p:txBody>
          <a:bodyPr/>
          <a:lstStyle/>
          <a:p>
            <a:r>
              <a:rPr lang="de-AT" dirty="0"/>
              <a:t>Problem Context – Motion Control</a:t>
            </a:r>
          </a:p>
        </p:txBody>
      </p:sp>
    </p:spTree>
    <p:extLst>
      <p:ext uri="{BB962C8B-B14F-4D97-AF65-F5344CB8AC3E}">
        <p14:creationId xmlns:p14="http://schemas.microsoft.com/office/powerpoint/2010/main" val="10958211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12</a:t>
            </a:fld>
            <a:endParaRPr lang="en-US" dirty="0"/>
          </a:p>
        </p:txBody>
      </p:sp>
      <p:sp>
        <p:nvSpPr>
          <p:cNvPr id="51" name="Rectangle 1">
            <a:extLst>
              <a:ext uri="{FF2B5EF4-FFF2-40B4-BE49-F238E27FC236}">
                <a16:creationId xmlns:a16="http://schemas.microsoft.com/office/drawing/2014/main" id="{EC653236-F2AD-1FAC-CDF8-81887320998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2" name="Rectangle 2">
            <a:extLst>
              <a:ext uri="{FF2B5EF4-FFF2-40B4-BE49-F238E27FC236}">
                <a16:creationId xmlns:a16="http://schemas.microsoft.com/office/drawing/2014/main" id="{EE60B068-47B7-E64E-8545-8D38BBDEC69D}"/>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194" name="TextBox 193">
            <a:extLst>
              <a:ext uri="{FF2B5EF4-FFF2-40B4-BE49-F238E27FC236}">
                <a16:creationId xmlns:a16="http://schemas.microsoft.com/office/drawing/2014/main" id="{C5ACF434-8493-DF79-A331-24C284C88AEB}"/>
              </a:ext>
            </a:extLst>
          </p:cNvPr>
          <p:cNvSpPr txBox="1"/>
          <p:nvPr/>
        </p:nvSpPr>
        <p:spPr>
          <a:xfrm>
            <a:off x="5537483" y="1595748"/>
            <a:ext cx="2288351" cy="215444"/>
          </a:xfrm>
          <a:prstGeom prst="rect">
            <a:avLst/>
          </a:prstGeom>
          <a:noFill/>
        </p:spPr>
        <p:txBody>
          <a:bodyPr wrap="square" lIns="0" tIns="0" rIns="0" bIns="0" rtlCol="0">
            <a:spAutoFit/>
          </a:bodyPr>
          <a:lstStyle/>
          <a:p>
            <a:pPr algn="ctr"/>
            <a:r>
              <a:rPr lang="en-US" sz="1400" b="1" dirty="0">
                <a:solidFill>
                  <a:schemeClr val="tx2"/>
                </a:solidFill>
              </a:rPr>
              <a:t>Motion Control Loop</a:t>
            </a:r>
          </a:p>
        </p:txBody>
      </p:sp>
      <p:sp>
        <p:nvSpPr>
          <p:cNvPr id="12" name="Rectangle: Rounded Corners 11">
            <a:extLst>
              <a:ext uri="{FF2B5EF4-FFF2-40B4-BE49-F238E27FC236}">
                <a16:creationId xmlns:a16="http://schemas.microsoft.com/office/drawing/2014/main" id="{7B5664E1-9637-37EB-3A6A-8B572BBD2CDB}"/>
              </a:ext>
            </a:extLst>
          </p:cNvPr>
          <p:cNvSpPr/>
          <p:nvPr/>
        </p:nvSpPr>
        <p:spPr>
          <a:xfrm>
            <a:off x="2233378" y="2288192"/>
            <a:ext cx="2340363" cy="660640"/>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JointsTrajectoryGenerator</a:t>
            </a:r>
            <a:endParaRPr lang="en-GB" sz="1400" dirty="0">
              <a:solidFill>
                <a:srgbClr val="003399"/>
              </a:solidFill>
            </a:endParaRPr>
          </a:p>
        </p:txBody>
      </p:sp>
      <p:sp>
        <p:nvSpPr>
          <p:cNvPr id="24" name="TextBox 23">
            <a:extLst>
              <a:ext uri="{FF2B5EF4-FFF2-40B4-BE49-F238E27FC236}">
                <a16:creationId xmlns:a16="http://schemas.microsoft.com/office/drawing/2014/main" id="{2F04EC0C-E936-009D-3F64-5ECC528C62A7}"/>
              </a:ext>
            </a:extLst>
          </p:cNvPr>
          <p:cNvSpPr txBox="1"/>
          <p:nvPr/>
        </p:nvSpPr>
        <p:spPr>
          <a:xfrm>
            <a:off x="401537" y="2511752"/>
            <a:ext cx="864685" cy="215444"/>
          </a:xfrm>
          <a:prstGeom prst="rect">
            <a:avLst/>
          </a:prstGeom>
          <a:noFill/>
        </p:spPr>
        <p:txBody>
          <a:bodyPr wrap="square" lIns="0" tIns="0" rIns="0" bIns="0" rtlCol="0">
            <a:spAutoFit/>
          </a:bodyPr>
          <a:lstStyle/>
          <a:p>
            <a:pPr algn="ctr"/>
            <a:r>
              <a:rPr lang="en-US" sz="1400" dirty="0">
                <a:solidFill>
                  <a:schemeClr val="tx2"/>
                </a:solidFill>
              </a:rPr>
              <a:t>Joint path</a:t>
            </a:r>
            <a:endParaRPr lang="en-GB" sz="1400" dirty="0">
              <a:solidFill>
                <a:schemeClr val="tx2"/>
              </a:solidFill>
            </a:endParaRPr>
          </a:p>
        </p:txBody>
      </p:sp>
      <p:sp>
        <p:nvSpPr>
          <p:cNvPr id="26" name="TextBox 25">
            <a:extLst>
              <a:ext uri="{FF2B5EF4-FFF2-40B4-BE49-F238E27FC236}">
                <a16:creationId xmlns:a16="http://schemas.microsoft.com/office/drawing/2014/main" id="{BB008CC9-BD20-22A2-825E-7A577297C16E}"/>
              </a:ext>
            </a:extLst>
          </p:cNvPr>
          <p:cNvSpPr txBox="1"/>
          <p:nvPr/>
        </p:nvSpPr>
        <p:spPr>
          <a:xfrm>
            <a:off x="4463047" y="3679225"/>
            <a:ext cx="1610464" cy="507831"/>
          </a:xfrm>
          <a:prstGeom prst="rect">
            <a:avLst/>
          </a:prstGeom>
          <a:noFill/>
        </p:spPr>
        <p:txBody>
          <a:bodyPr wrap="square" lIns="0" tIns="0" rIns="0" bIns="0" rtlCol="0">
            <a:spAutoFit/>
          </a:bodyPr>
          <a:lstStyle/>
          <a:p>
            <a:pPr algn="ctr"/>
            <a:r>
              <a:rPr lang="en-US" sz="1200" dirty="0">
                <a:solidFill>
                  <a:schemeClr val="tx2"/>
                </a:solidFill>
              </a:rPr>
              <a:t>Trajectory point:</a:t>
            </a:r>
          </a:p>
          <a:p>
            <a:pPr algn="ctr"/>
            <a:r>
              <a:rPr lang="en-US" sz="1000" dirty="0">
                <a:solidFill>
                  <a:schemeClr val="tx2"/>
                </a:solidFill>
              </a:rPr>
              <a:t>Task pose, velocity, acceleration at </a:t>
            </a:r>
            <a:r>
              <a:rPr lang="en-US" sz="1000" i="1" dirty="0">
                <a:solidFill>
                  <a:schemeClr val="tx2"/>
                </a:solidFill>
              </a:rPr>
              <a:t>t</a:t>
            </a:r>
          </a:p>
        </p:txBody>
      </p:sp>
      <p:sp>
        <p:nvSpPr>
          <p:cNvPr id="31" name="TextBox 30">
            <a:extLst>
              <a:ext uri="{FF2B5EF4-FFF2-40B4-BE49-F238E27FC236}">
                <a16:creationId xmlns:a16="http://schemas.microsoft.com/office/drawing/2014/main" id="{84E42186-E29E-9F38-CFBE-A7C905A0B2CB}"/>
              </a:ext>
            </a:extLst>
          </p:cNvPr>
          <p:cNvSpPr txBox="1"/>
          <p:nvPr/>
        </p:nvSpPr>
        <p:spPr>
          <a:xfrm>
            <a:off x="10058335" y="3103703"/>
            <a:ext cx="1522790" cy="553998"/>
          </a:xfrm>
          <a:prstGeom prst="rect">
            <a:avLst/>
          </a:prstGeom>
          <a:noFill/>
        </p:spPr>
        <p:txBody>
          <a:bodyPr wrap="square" lIns="0" tIns="0" rIns="0" bIns="0" rtlCol="0">
            <a:spAutoFit/>
          </a:bodyPr>
          <a:lstStyle/>
          <a:p>
            <a:pPr algn="ctr"/>
            <a:r>
              <a:rPr lang="en-US" sz="1200" dirty="0">
                <a:solidFill>
                  <a:schemeClr val="tx2"/>
                </a:solidFill>
              </a:rPr>
              <a:t>Actual joint angles, velocities, accelerations at </a:t>
            </a:r>
            <a:r>
              <a:rPr lang="en-US" sz="1200" i="1" dirty="0">
                <a:solidFill>
                  <a:schemeClr val="tx2"/>
                </a:solidFill>
              </a:rPr>
              <a:t>t</a:t>
            </a:r>
          </a:p>
        </p:txBody>
      </p:sp>
      <p:cxnSp>
        <p:nvCxnSpPr>
          <p:cNvPr id="48" name="Straight Arrow Connector 47">
            <a:extLst>
              <a:ext uri="{FF2B5EF4-FFF2-40B4-BE49-F238E27FC236}">
                <a16:creationId xmlns:a16="http://schemas.microsoft.com/office/drawing/2014/main" id="{DF76875B-3595-BDFF-DAF6-C5FA00EC56B3}"/>
              </a:ext>
            </a:extLst>
          </p:cNvPr>
          <p:cNvCxnSpPr>
            <a:cxnSpLocks/>
            <a:stCxn id="61" idx="3"/>
          </p:cNvCxnSpPr>
          <p:nvPr/>
        </p:nvCxnSpPr>
        <p:spPr>
          <a:xfrm>
            <a:off x="10123727" y="3089393"/>
            <a:ext cx="1913345" cy="0"/>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58932DBA-BC85-1349-2412-47475D88E2FF}"/>
              </a:ext>
            </a:extLst>
          </p:cNvPr>
          <p:cNvCxnSpPr>
            <a:cxnSpLocks/>
            <a:stCxn id="24" idx="3"/>
            <a:endCxn id="12" idx="1"/>
          </p:cNvCxnSpPr>
          <p:nvPr/>
        </p:nvCxnSpPr>
        <p:spPr>
          <a:xfrm flipV="1">
            <a:off x="1266222" y="2618512"/>
            <a:ext cx="967156" cy="962"/>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grpSp>
        <p:nvGrpSpPr>
          <p:cNvPr id="183" name="Group 182">
            <a:extLst>
              <a:ext uri="{FF2B5EF4-FFF2-40B4-BE49-F238E27FC236}">
                <a16:creationId xmlns:a16="http://schemas.microsoft.com/office/drawing/2014/main" id="{AC62FBFA-1A77-63C6-7ED3-E88F3AABA500}"/>
              </a:ext>
            </a:extLst>
          </p:cNvPr>
          <p:cNvGrpSpPr/>
          <p:nvPr/>
        </p:nvGrpSpPr>
        <p:grpSpPr>
          <a:xfrm>
            <a:off x="2537250" y="4195078"/>
            <a:ext cx="1766536" cy="1112840"/>
            <a:chOff x="2764634" y="4139767"/>
            <a:chExt cx="1766536" cy="1112840"/>
          </a:xfrm>
        </p:grpSpPr>
        <p:grpSp>
          <p:nvGrpSpPr>
            <p:cNvPr id="59" name="Group 58">
              <a:extLst>
                <a:ext uri="{FF2B5EF4-FFF2-40B4-BE49-F238E27FC236}">
                  <a16:creationId xmlns:a16="http://schemas.microsoft.com/office/drawing/2014/main" id="{A5943475-B085-B35A-5263-8F093510124F}"/>
                </a:ext>
              </a:extLst>
            </p:cNvPr>
            <p:cNvGrpSpPr/>
            <p:nvPr/>
          </p:nvGrpSpPr>
          <p:grpSpPr>
            <a:xfrm>
              <a:off x="2764634" y="4139767"/>
              <a:ext cx="1766536" cy="1112840"/>
              <a:chOff x="1279822" y="2270598"/>
              <a:chExt cx="6050258" cy="3811399"/>
            </a:xfrm>
          </p:grpSpPr>
          <p:sp>
            <p:nvSpPr>
              <p:cNvPr id="53" name="Freeform 13">
                <a:extLst>
                  <a:ext uri="{FF2B5EF4-FFF2-40B4-BE49-F238E27FC236}">
                    <a16:creationId xmlns:a16="http://schemas.microsoft.com/office/drawing/2014/main" id="{44D2AACD-115B-47D7-C112-D7465DCE67D9}"/>
                  </a:ext>
                </a:extLst>
              </p:cNvPr>
              <p:cNvSpPr/>
              <p:nvPr/>
            </p:nvSpPr>
            <p:spPr>
              <a:xfrm>
                <a:off x="3907305" y="2270598"/>
                <a:ext cx="3422775" cy="3411874"/>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a:p>
            </p:txBody>
          </p:sp>
          <p:sp>
            <p:nvSpPr>
              <p:cNvPr id="54" name="Freeform 14">
                <a:extLst>
                  <a:ext uri="{FF2B5EF4-FFF2-40B4-BE49-F238E27FC236}">
                    <a16:creationId xmlns:a16="http://schemas.microsoft.com/office/drawing/2014/main" id="{573CC85B-9049-472B-55F1-9ED651A5230E}"/>
                  </a:ext>
                </a:extLst>
              </p:cNvPr>
              <p:cNvSpPr/>
              <p:nvPr/>
            </p:nvSpPr>
            <p:spPr>
              <a:xfrm>
                <a:off x="2048828" y="3976535"/>
                <a:ext cx="2388253" cy="2105462"/>
              </a:xfrm>
              <a:custGeom>
                <a:avLst/>
                <a:gdLst/>
                <a:ahLst/>
                <a:cxnLst/>
                <a:rect l="l" t="t" r="r" b="b"/>
                <a:pathLst>
                  <a:path w="2388253" h="2105462">
                    <a:moveTo>
                      <a:pt x="0" y="0"/>
                    </a:moveTo>
                    <a:lnTo>
                      <a:pt x="2388253" y="0"/>
                    </a:lnTo>
                    <a:lnTo>
                      <a:pt x="2388253" y="2105462"/>
                    </a:lnTo>
                    <a:lnTo>
                      <a:pt x="0" y="2105462"/>
                    </a:lnTo>
                    <a:lnTo>
                      <a:pt x="0" y="0"/>
                    </a:lnTo>
                    <a:close/>
                  </a:path>
                </a:pathLst>
              </a:custGeom>
              <a:blipFill>
                <a:blip r:embed="rId4"/>
                <a:stretch>
                  <a:fillRect l="-16072" t="-8057"/>
                </a:stretch>
              </a:blipFill>
            </p:spPr>
            <p:txBody>
              <a:bodyPr/>
              <a:lstStyle/>
              <a:p>
                <a:endParaRPr lang="en-GB"/>
              </a:p>
            </p:txBody>
          </p:sp>
          <p:sp>
            <p:nvSpPr>
              <p:cNvPr id="55" name="Freeform 15">
                <a:extLst>
                  <a:ext uri="{FF2B5EF4-FFF2-40B4-BE49-F238E27FC236}">
                    <a16:creationId xmlns:a16="http://schemas.microsoft.com/office/drawing/2014/main" id="{BD363C21-221D-56D3-4830-B8D684F4F759}"/>
                  </a:ext>
                </a:extLst>
              </p:cNvPr>
              <p:cNvSpPr/>
              <p:nvPr/>
            </p:nvSpPr>
            <p:spPr>
              <a:xfrm>
                <a:off x="2722572" y="4644763"/>
                <a:ext cx="613182" cy="613182"/>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56" name="Freeform 16">
                <a:extLst>
                  <a:ext uri="{FF2B5EF4-FFF2-40B4-BE49-F238E27FC236}">
                    <a16:creationId xmlns:a16="http://schemas.microsoft.com/office/drawing/2014/main" id="{988AF4C0-DFFE-306C-85F9-66361AE532B6}"/>
                  </a:ext>
                </a:extLst>
              </p:cNvPr>
              <p:cNvSpPr/>
              <p:nvPr/>
            </p:nvSpPr>
            <p:spPr>
              <a:xfrm>
                <a:off x="1279822" y="4260259"/>
                <a:ext cx="871200" cy="871200"/>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57" name="Freeform 17">
                <a:extLst>
                  <a:ext uri="{FF2B5EF4-FFF2-40B4-BE49-F238E27FC236}">
                    <a16:creationId xmlns:a16="http://schemas.microsoft.com/office/drawing/2014/main" id="{E9B138FF-71E0-36CE-834B-8FCA4C048BDD}"/>
                  </a:ext>
                </a:extLst>
              </p:cNvPr>
              <p:cNvSpPr/>
              <p:nvPr/>
            </p:nvSpPr>
            <p:spPr>
              <a:xfrm>
                <a:off x="1537428" y="2951690"/>
                <a:ext cx="1041177" cy="1188065"/>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grpSp>
        <p:sp>
          <p:nvSpPr>
            <p:cNvPr id="70" name="Oval 69">
              <a:extLst>
                <a:ext uri="{FF2B5EF4-FFF2-40B4-BE49-F238E27FC236}">
                  <a16:creationId xmlns:a16="http://schemas.microsoft.com/office/drawing/2014/main" id="{4465AF42-EFFD-94C9-137F-F24C6544CE8D}"/>
                </a:ext>
              </a:extLst>
            </p:cNvPr>
            <p:cNvSpPr/>
            <p:nvPr/>
          </p:nvSpPr>
          <p:spPr>
            <a:xfrm>
              <a:off x="3074762" y="4750848"/>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Oval 73">
              <a:extLst>
                <a:ext uri="{FF2B5EF4-FFF2-40B4-BE49-F238E27FC236}">
                  <a16:creationId xmlns:a16="http://schemas.microsoft.com/office/drawing/2014/main" id="{8EB7E373-558B-1F67-BB57-7C7A591EC271}"/>
                </a:ext>
              </a:extLst>
            </p:cNvPr>
            <p:cNvSpPr/>
            <p:nvPr/>
          </p:nvSpPr>
          <p:spPr>
            <a:xfrm>
              <a:off x="3065857" y="5012949"/>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Oval 74">
              <a:extLst>
                <a:ext uri="{FF2B5EF4-FFF2-40B4-BE49-F238E27FC236}">
                  <a16:creationId xmlns:a16="http://schemas.microsoft.com/office/drawing/2014/main" id="{6AA539B3-AD13-EF54-3FD3-985153C01E93}"/>
                </a:ext>
              </a:extLst>
            </p:cNvPr>
            <p:cNvSpPr/>
            <p:nvPr/>
          </p:nvSpPr>
          <p:spPr>
            <a:xfrm>
              <a:off x="3404320" y="4999695"/>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Oval 75">
              <a:extLst>
                <a:ext uri="{FF2B5EF4-FFF2-40B4-BE49-F238E27FC236}">
                  <a16:creationId xmlns:a16="http://schemas.microsoft.com/office/drawing/2014/main" id="{265CD327-CCA6-C723-6F0C-EAC7FB5751DC}"/>
                </a:ext>
              </a:extLst>
            </p:cNvPr>
            <p:cNvSpPr/>
            <p:nvPr/>
          </p:nvSpPr>
          <p:spPr>
            <a:xfrm>
              <a:off x="3669353" y="4991789"/>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Oval 76">
              <a:extLst>
                <a:ext uri="{FF2B5EF4-FFF2-40B4-BE49-F238E27FC236}">
                  <a16:creationId xmlns:a16="http://schemas.microsoft.com/office/drawing/2014/main" id="{6E158899-C04B-124A-0DBD-614336D6D325}"/>
                </a:ext>
              </a:extLst>
            </p:cNvPr>
            <p:cNvSpPr/>
            <p:nvPr/>
          </p:nvSpPr>
          <p:spPr>
            <a:xfrm>
              <a:off x="3019004" y="4585416"/>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77" name="Group 176">
            <a:extLst>
              <a:ext uri="{FF2B5EF4-FFF2-40B4-BE49-F238E27FC236}">
                <a16:creationId xmlns:a16="http://schemas.microsoft.com/office/drawing/2014/main" id="{687D5065-9A8E-7A30-E4C1-072727CA7275}"/>
              </a:ext>
            </a:extLst>
          </p:cNvPr>
          <p:cNvGrpSpPr/>
          <p:nvPr/>
        </p:nvGrpSpPr>
        <p:grpSpPr>
          <a:xfrm>
            <a:off x="116581" y="4126473"/>
            <a:ext cx="1766536" cy="996188"/>
            <a:chOff x="492958" y="4181396"/>
            <a:chExt cx="1766536" cy="996188"/>
          </a:xfrm>
        </p:grpSpPr>
        <p:sp>
          <p:nvSpPr>
            <p:cNvPr id="79" name="Freeform 13">
              <a:extLst>
                <a:ext uri="{FF2B5EF4-FFF2-40B4-BE49-F238E27FC236}">
                  <a16:creationId xmlns:a16="http://schemas.microsoft.com/office/drawing/2014/main" id="{D0F48302-30D8-A28A-760A-5B10F237F5EA}"/>
                </a:ext>
              </a:extLst>
            </p:cNvPr>
            <p:cNvSpPr/>
            <p:nvPr/>
          </p:nvSpPr>
          <p:spPr>
            <a:xfrm>
              <a:off x="1260123" y="4181396"/>
              <a:ext cx="999371" cy="996188"/>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a:p>
          </p:txBody>
        </p:sp>
        <p:sp>
          <p:nvSpPr>
            <p:cNvPr id="81" name="Freeform 15">
              <a:extLst>
                <a:ext uri="{FF2B5EF4-FFF2-40B4-BE49-F238E27FC236}">
                  <a16:creationId xmlns:a16="http://schemas.microsoft.com/office/drawing/2014/main" id="{55FF864B-82DF-EFAA-D14B-8774E4CDA3F2}"/>
                </a:ext>
              </a:extLst>
            </p:cNvPr>
            <p:cNvSpPr/>
            <p:nvPr/>
          </p:nvSpPr>
          <p:spPr>
            <a:xfrm>
              <a:off x="914208" y="4874597"/>
              <a:ext cx="179035" cy="179035"/>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82" name="Freeform 16">
              <a:extLst>
                <a:ext uri="{FF2B5EF4-FFF2-40B4-BE49-F238E27FC236}">
                  <a16:creationId xmlns:a16="http://schemas.microsoft.com/office/drawing/2014/main" id="{12265872-FC61-83A0-4849-CF0905325610}"/>
                </a:ext>
              </a:extLst>
            </p:cNvPr>
            <p:cNvSpPr/>
            <p:nvPr/>
          </p:nvSpPr>
          <p:spPr>
            <a:xfrm>
              <a:off x="492958" y="4762331"/>
              <a:ext cx="254370" cy="254370"/>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83" name="Freeform 17">
              <a:extLst>
                <a:ext uri="{FF2B5EF4-FFF2-40B4-BE49-F238E27FC236}">
                  <a16:creationId xmlns:a16="http://schemas.microsoft.com/office/drawing/2014/main" id="{01167393-70BC-B27F-7E19-EAC92C61D237}"/>
                </a:ext>
              </a:extLst>
            </p:cNvPr>
            <p:cNvSpPr/>
            <p:nvPr/>
          </p:nvSpPr>
          <p:spPr>
            <a:xfrm>
              <a:off x="568173" y="4380259"/>
              <a:ext cx="304000" cy="346887"/>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dirty="0"/>
            </a:p>
          </p:txBody>
        </p:sp>
        <p:sp>
          <p:nvSpPr>
            <p:cNvPr id="84" name="Oval 83">
              <a:extLst>
                <a:ext uri="{FF2B5EF4-FFF2-40B4-BE49-F238E27FC236}">
                  <a16:creationId xmlns:a16="http://schemas.microsoft.com/office/drawing/2014/main" id="{CAAFA84F-1723-0033-DAC7-331FE98FA0D0}"/>
                </a:ext>
              </a:extLst>
            </p:cNvPr>
            <p:cNvSpPr/>
            <p:nvPr/>
          </p:nvSpPr>
          <p:spPr>
            <a:xfrm>
              <a:off x="803086" y="4792477"/>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Oval 84">
              <a:extLst>
                <a:ext uri="{FF2B5EF4-FFF2-40B4-BE49-F238E27FC236}">
                  <a16:creationId xmlns:a16="http://schemas.microsoft.com/office/drawing/2014/main" id="{EF41D1F5-03DA-CE22-1349-0168990A33AF}"/>
                </a:ext>
              </a:extLst>
            </p:cNvPr>
            <p:cNvSpPr/>
            <p:nvPr/>
          </p:nvSpPr>
          <p:spPr>
            <a:xfrm>
              <a:off x="794181" y="5054578"/>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Oval 85">
              <a:extLst>
                <a:ext uri="{FF2B5EF4-FFF2-40B4-BE49-F238E27FC236}">
                  <a16:creationId xmlns:a16="http://schemas.microsoft.com/office/drawing/2014/main" id="{1909C209-3127-CC27-ACC3-1F85C9267D82}"/>
                </a:ext>
              </a:extLst>
            </p:cNvPr>
            <p:cNvSpPr/>
            <p:nvPr/>
          </p:nvSpPr>
          <p:spPr>
            <a:xfrm>
              <a:off x="1132644" y="5041324"/>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Oval 86">
              <a:extLst>
                <a:ext uri="{FF2B5EF4-FFF2-40B4-BE49-F238E27FC236}">
                  <a16:creationId xmlns:a16="http://schemas.microsoft.com/office/drawing/2014/main" id="{F0FFA216-6B4C-5D97-20D5-0B393167E6E1}"/>
                </a:ext>
              </a:extLst>
            </p:cNvPr>
            <p:cNvSpPr/>
            <p:nvPr/>
          </p:nvSpPr>
          <p:spPr>
            <a:xfrm>
              <a:off x="1397677" y="5033418"/>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Oval 87">
              <a:extLst>
                <a:ext uri="{FF2B5EF4-FFF2-40B4-BE49-F238E27FC236}">
                  <a16:creationId xmlns:a16="http://schemas.microsoft.com/office/drawing/2014/main" id="{1C27609B-FC5B-5224-A344-A7CD5845D105}"/>
                </a:ext>
              </a:extLst>
            </p:cNvPr>
            <p:cNvSpPr/>
            <p:nvPr/>
          </p:nvSpPr>
          <p:spPr>
            <a:xfrm>
              <a:off x="747328" y="4627045"/>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TextBox 1">
            <a:extLst>
              <a:ext uri="{FF2B5EF4-FFF2-40B4-BE49-F238E27FC236}">
                <a16:creationId xmlns:a16="http://schemas.microsoft.com/office/drawing/2014/main" id="{36F6332F-DBB5-B154-9116-6B1FA39E19DA}"/>
              </a:ext>
            </a:extLst>
          </p:cNvPr>
          <p:cNvSpPr txBox="1"/>
          <p:nvPr/>
        </p:nvSpPr>
        <p:spPr>
          <a:xfrm>
            <a:off x="388516" y="3500230"/>
            <a:ext cx="864685" cy="215444"/>
          </a:xfrm>
          <a:prstGeom prst="rect">
            <a:avLst/>
          </a:prstGeom>
          <a:noFill/>
        </p:spPr>
        <p:txBody>
          <a:bodyPr wrap="square" lIns="0" tIns="0" rIns="0" bIns="0" rtlCol="0">
            <a:spAutoFit/>
          </a:bodyPr>
          <a:lstStyle/>
          <a:p>
            <a:pPr algn="ctr"/>
            <a:r>
              <a:rPr lang="en-US" sz="1400" dirty="0">
                <a:solidFill>
                  <a:schemeClr val="tx2"/>
                </a:solidFill>
              </a:rPr>
              <a:t>Task path</a:t>
            </a:r>
            <a:endParaRPr lang="en-GB" sz="1400" dirty="0">
              <a:solidFill>
                <a:schemeClr val="tx2"/>
              </a:solidFill>
            </a:endParaRPr>
          </a:p>
        </p:txBody>
      </p:sp>
      <p:sp>
        <p:nvSpPr>
          <p:cNvPr id="13" name="Rectangle: Rounded Corners 12">
            <a:extLst>
              <a:ext uri="{FF2B5EF4-FFF2-40B4-BE49-F238E27FC236}">
                <a16:creationId xmlns:a16="http://schemas.microsoft.com/office/drawing/2014/main" id="{CD5B68D5-59ED-CC78-9711-EF3EC0178897}"/>
              </a:ext>
            </a:extLst>
          </p:cNvPr>
          <p:cNvSpPr/>
          <p:nvPr/>
        </p:nvSpPr>
        <p:spPr>
          <a:xfrm>
            <a:off x="2233377" y="3268360"/>
            <a:ext cx="2340363" cy="660640"/>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TaskTrajectoryGenerator</a:t>
            </a:r>
            <a:endParaRPr lang="en-GB" sz="1400" dirty="0">
              <a:solidFill>
                <a:srgbClr val="003399"/>
              </a:solidFill>
            </a:endParaRPr>
          </a:p>
        </p:txBody>
      </p:sp>
      <p:cxnSp>
        <p:nvCxnSpPr>
          <p:cNvPr id="15" name="Straight Arrow Connector 14">
            <a:extLst>
              <a:ext uri="{FF2B5EF4-FFF2-40B4-BE49-F238E27FC236}">
                <a16:creationId xmlns:a16="http://schemas.microsoft.com/office/drawing/2014/main" id="{D74867C2-6B86-32E7-7DD5-47FEBF8FF626}"/>
              </a:ext>
            </a:extLst>
          </p:cNvPr>
          <p:cNvCxnSpPr>
            <a:cxnSpLocks/>
            <a:stCxn id="2" idx="3"/>
            <a:endCxn id="13" idx="1"/>
          </p:cNvCxnSpPr>
          <p:nvPr/>
        </p:nvCxnSpPr>
        <p:spPr>
          <a:xfrm flipV="1">
            <a:off x="1253201" y="3598680"/>
            <a:ext cx="980176" cy="9272"/>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E5990DC0-402D-5ECD-5A70-4D0652B449C9}"/>
              </a:ext>
            </a:extLst>
          </p:cNvPr>
          <p:cNvSpPr txBox="1"/>
          <p:nvPr/>
        </p:nvSpPr>
        <p:spPr>
          <a:xfrm>
            <a:off x="4341006" y="2072376"/>
            <a:ext cx="1861539" cy="507831"/>
          </a:xfrm>
          <a:prstGeom prst="rect">
            <a:avLst/>
          </a:prstGeom>
          <a:noFill/>
        </p:spPr>
        <p:txBody>
          <a:bodyPr wrap="square" lIns="0" tIns="0" rIns="0" bIns="0" rtlCol="0">
            <a:spAutoFit/>
          </a:bodyPr>
          <a:lstStyle/>
          <a:p>
            <a:pPr algn="ctr"/>
            <a:r>
              <a:rPr lang="en-US" sz="1200" dirty="0">
                <a:solidFill>
                  <a:schemeClr val="tx2"/>
                </a:solidFill>
              </a:rPr>
              <a:t>Trajectory point:</a:t>
            </a:r>
          </a:p>
          <a:p>
            <a:pPr algn="ctr"/>
            <a:r>
              <a:rPr lang="en-US" sz="1000" dirty="0">
                <a:solidFill>
                  <a:schemeClr val="tx2"/>
                </a:solidFill>
              </a:rPr>
              <a:t>Joint angles, velocities, accelerations at </a:t>
            </a:r>
            <a:r>
              <a:rPr lang="en-US" sz="1000" i="1" dirty="0">
                <a:solidFill>
                  <a:schemeClr val="tx2"/>
                </a:solidFill>
              </a:rPr>
              <a:t>t</a:t>
            </a:r>
          </a:p>
        </p:txBody>
      </p:sp>
      <p:sp>
        <p:nvSpPr>
          <p:cNvPr id="61" name="Rectangle: Rounded Corners 60">
            <a:extLst>
              <a:ext uri="{FF2B5EF4-FFF2-40B4-BE49-F238E27FC236}">
                <a16:creationId xmlns:a16="http://schemas.microsoft.com/office/drawing/2014/main" id="{803022E2-70A5-5235-01F4-DD4A6F1A1EBB}"/>
              </a:ext>
            </a:extLst>
          </p:cNvPr>
          <p:cNvSpPr/>
          <p:nvPr/>
        </p:nvSpPr>
        <p:spPr>
          <a:xfrm>
            <a:off x="8954637" y="2782020"/>
            <a:ext cx="1169090" cy="614746"/>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IRobot</a:t>
            </a:r>
            <a:endParaRPr lang="en-GB" dirty="0">
              <a:solidFill>
                <a:srgbClr val="003399"/>
              </a:solidFill>
            </a:endParaRPr>
          </a:p>
        </p:txBody>
      </p:sp>
      <p:cxnSp>
        <p:nvCxnSpPr>
          <p:cNvPr id="63" name="Straight Arrow Connector 62">
            <a:extLst>
              <a:ext uri="{FF2B5EF4-FFF2-40B4-BE49-F238E27FC236}">
                <a16:creationId xmlns:a16="http://schemas.microsoft.com/office/drawing/2014/main" id="{BC7118E0-4E37-160D-4A62-8EA1B2435B17}"/>
              </a:ext>
            </a:extLst>
          </p:cNvPr>
          <p:cNvCxnSpPr>
            <a:cxnSpLocks/>
            <a:stCxn id="22" idx="3"/>
            <a:endCxn id="61" idx="1"/>
          </p:cNvCxnSpPr>
          <p:nvPr/>
        </p:nvCxnSpPr>
        <p:spPr>
          <a:xfrm>
            <a:off x="7784654" y="3089393"/>
            <a:ext cx="1169983" cy="0"/>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Connector: Elbow 129">
            <a:extLst>
              <a:ext uri="{FF2B5EF4-FFF2-40B4-BE49-F238E27FC236}">
                <a16:creationId xmlns:a16="http://schemas.microsoft.com/office/drawing/2014/main" id="{77BBEC6E-30B0-F137-F289-FE0403443A82}"/>
              </a:ext>
            </a:extLst>
          </p:cNvPr>
          <p:cNvCxnSpPr>
            <a:cxnSpLocks/>
            <a:stCxn id="61" idx="3"/>
            <a:endCxn id="22" idx="0"/>
          </p:cNvCxnSpPr>
          <p:nvPr/>
        </p:nvCxnSpPr>
        <p:spPr>
          <a:xfrm flipH="1" flipV="1">
            <a:off x="6844291" y="2268988"/>
            <a:ext cx="3279436" cy="820405"/>
          </a:xfrm>
          <a:prstGeom prst="bentConnector4">
            <a:avLst>
              <a:gd name="adj1" fmla="val -19460"/>
              <a:gd name="adj2" fmla="val 127864"/>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sp>
        <p:nvSpPr>
          <p:cNvPr id="185" name="TextBox 184">
            <a:extLst>
              <a:ext uri="{FF2B5EF4-FFF2-40B4-BE49-F238E27FC236}">
                <a16:creationId xmlns:a16="http://schemas.microsoft.com/office/drawing/2014/main" id="{0121430F-78F0-804F-7C2D-83E5D5F50D2A}"/>
              </a:ext>
            </a:extLst>
          </p:cNvPr>
          <p:cNvSpPr txBox="1"/>
          <p:nvPr/>
        </p:nvSpPr>
        <p:spPr>
          <a:xfrm>
            <a:off x="4765528" y="2975258"/>
            <a:ext cx="496096" cy="215444"/>
          </a:xfrm>
          <a:prstGeom prst="rect">
            <a:avLst/>
          </a:prstGeom>
          <a:noFill/>
        </p:spPr>
        <p:txBody>
          <a:bodyPr wrap="square" lIns="0" tIns="0" rIns="0" bIns="0" rtlCol="0">
            <a:spAutoFit/>
          </a:bodyPr>
          <a:lstStyle/>
          <a:p>
            <a:pPr algn="ctr"/>
            <a:r>
              <a:rPr lang="en-US" sz="1400" dirty="0">
                <a:solidFill>
                  <a:schemeClr val="tx2"/>
                </a:solidFill>
              </a:rPr>
              <a:t>OR</a:t>
            </a:r>
            <a:endParaRPr lang="en-GB" sz="1400" dirty="0">
              <a:solidFill>
                <a:schemeClr val="tx2"/>
              </a:solidFill>
            </a:endParaRPr>
          </a:p>
        </p:txBody>
      </p:sp>
      <p:grpSp>
        <p:nvGrpSpPr>
          <p:cNvPr id="267" name="Group 266">
            <a:extLst>
              <a:ext uri="{FF2B5EF4-FFF2-40B4-BE49-F238E27FC236}">
                <a16:creationId xmlns:a16="http://schemas.microsoft.com/office/drawing/2014/main" id="{EE67F576-27BA-375F-17AD-3845DB1CA7C2}"/>
              </a:ext>
            </a:extLst>
          </p:cNvPr>
          <p:cNvGrpSpPr/>
          <p:nvPr/>
        </p:nvGrpSpPr>
        <p:grpSpPr>
          <a:xfrm>
            <a:off x="5903927" y="2268988"/>
            <a:ext cx="1880727" cy="1640809"/>
            <a:chOff x="5872702" y="2923491"/>
            <a:chExt cx="1880727" cy="1640809"/>
          </a:xfrm>
        </p:grpSpPr>
        <p:sp>
          <p:nvSpPr>
            <p:cNvPr id="22" name="Rectangle: Rounded Corners 21">
              <a:extLst>
                <a:ext uri="{FF2B5EF4-FFF2-40B4-BE49-F238E27FC236}">
                  <a16:creationId xmlns:a16="http://schemas.microsoft.com/office/drawing/2014/main" id="{9A919D92-8230-6FF1-2566-05478A8EF652}"/>
                </a:ext>
              </a:extLst>
            </p:cNvPr>
            <p:cNvSpPr/>
            <p:nvPr/>
          </p:nvSpPr>
          <p:spPr>
            <a:xfrm>
              <a:off x="5872702" y="2923491"/>
              <a:ext cx="1880727" cy="1640809"/>
            </a:xfrm>
            <a:prstGeom prst="roundRect">
              <a:avLst/>
            </a:prstGeom>
            <a:solidFill>
              <a:srgbClr val="CDDCFF"/>
            </a:solidFill>
            <a:ln w="28575">
              <a:solidFill>
                <a:srgbClr val="0033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rgbClr val="003399"/>
                </a:solidFill>
              </a:endParaRPr>
            </a:p>
          </p:txBody>
        </p:sp>
        <p:sp>
          <p:nvSpPr>
            <p:cNvPr id="231" name="TextBox 230">
              <a:extLst>
                <a:ext uri="{FF2B5EF4-FFF2-40B4-BE49-F238E27FC236}">
                  <a16:creationId xmlns:a16="http://schemas.microsoft.com/office/drawing/2014/main" id="{EA8A29FD-1F9C-33D7-393E-775D9C78F47C}"/>
                </a:ext>
              </a:extLst>
            </p:cNvPr>
            <p:cNvSpPr txBox="1"/>
            <p:nvPr/>
          </p:nvSpPr>
          <p:spPr>
            <a:xfrm>
              <a:off x="6156403" y="2981589"/>
              <a:ext cx="1263612" cy="307777"/>
            </a:xfrm>
            <a:prstGeom prst="rect">
              <a:avLst/>
            </a:prstGeom>
            <a:noFill/>
          </p:spPr>
          <p:txBody>
            <a:bodyPr wrap="square">
              <a:spAutoFit/>
            </a:bodyPr>
            <a:lstStyle/>
            <a:p>
              <a:pPr algn="ctr"/>
              <a:r>
                <a:rPr lang="en-US" sz="1400" dirty="0" err="1">
                  <a:solidFill>
                    <a:srgbClr val="003399"/>
                  </a:solidFill>
                </a:rPr>
                <a:t>IController</a:t>
              </a:r>
              <a:endParaRPr lang="en-GB" dirty="0">
                <a:solidFill>
                  <a:srgbClr val="003399"/>
                </a:solidFill>
              </a:endParaRPr>
            </a:p>
          </p:txBody>
        </p:sp>
        <p:sp>
          <p:nvSpPr>
            <p:cNvPr id="233" name="Rectangle: Rounded Corners 232">
              <a:extLst>
                <a:ext uri="{FF2B5EF4-FFF2-40B4-BE49-F238E27FC236}">
                  <a16:creationId xmlns:a16="http://schemas.microsoft.com/office/drawing/2014/main" id="{46056832-B6D8-E4D6-D9BB-4798D507D268}"/>
                </a:ext>
              </a:extLst>
            </p:cNvPr>
            <p:cNvSpPr/>
            <p:nvPr/>
          </p:nvSpPr>
          <p:spPr>
            <a:xfrm>
              <a:off x="6015262" y="3991399"/>
              <a:ext cx="1581337" cy="444864"/>
            </a:xfrm>
            <a:prstGeom prst="roundRect">
              <a:avLst/>
            </a:prstGeom>
            <a:solidFill>
              <a:srgbClr val="E1E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PID</a:t>
              </a:r>
              <a:endParaRPr lang="en-GB" sz="1200" dirty="0">
                <a:solidFill>
                  <a:schemeClr val="tx1"/>
                </a:solidFill>
              </a:endParaRPr>
            </a:p>
          </p:txBody>
        </p:sp>
      </p:grpSp>
      <p:sp>
        <p:nvSpPr>
          <p:cNvPr id="285" name="Rectangle: Rounded Corners 284">
            <a:extLst>
              <a:ext uri="{FF2B5EF4-FFF2-40B4-BE49-F238E27FC236}">
                <a16:creationId xmlns:a16="http://schemas.microsoft.com/office/drawing/2014/main" id="{B9B9C5F0-D2B3-97EE-9174-9821A634C819}"/>
              </a:ext>
            </a:extLst>
          </p:cNvPr>
          <p:cNvSpPr/>
          <p:nvPr/>
        </p:nvSpPr>
        <p:spPr>
          <a:xfrm>
            <a:off x="1960761" y="1856699"/>
            <a:ext cx="9564489" cy="3733767"/>
          </a:xfrm>
          <a:prstGeom prst="roundRect">
            <a:avLst>
              <a:gd name="adj" fmla="val 9139"/>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2" name="Group 301">
            <a:extLst>
              <a:ext uri="{FF2B5EF4-FFF2-40B4-BE49-F238E27FC236}">
                <a16:creationId xmlns:a16="http://schemas.microsoft.com/office/drawing/2014/main" id="{5AABDC37-FF31-649E-EA73-0417347C77B0}"/>
              </a:ext>
            </a:extLst>
          </p:cNvPr>
          <p:cNvGrpSpPr/>
          <p:nvPr/>
        </p:nvGrpSpPr>
        <p:grpSpPr>
          <a:xfrm>
            <a:off x="9702471" y="4197165"/>
            <a:ext cx="1766536" cy="996188"/>
            <a:chOff x="1279822" y="2270598"/>
            <a:chExt cx="6050258" cy="3411874"/>
          </a:xfrm>
        </p:grpSpPr>
        <p:sp>
          <p:nvSpPr>
            <p:cNvPr id="332" name="Freeform 13">
              <a:extLst>
                <a:ext uri="{FF2B5EF4-FFF2-40B4-BE49-F238E27FC236}">
                  <a16:creationId xmlns:a16="http://schemas.microsoft.com/office/drawing/2014/main" id="{3953A0E9-DFF9-F1EF-B0A1-9CB563D33B8D}"/>
                </a:ext>
              </a:extLst>
            </p:cNvPr>
            <p:cNvSpPr/>
            <p:nvPr/>
          </p:nvSpPr>
          <p:spPr>
            <a:xfrm>
              <a:off x="3907305" y="2270598"/>
              <a:ext cx="3422775" cy="3411874"/>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dirty="0"/>
            </a:p>
          </p:txBody>
        </p:sp>
        <p:sp>
          <p:nvSpPr>
            <p:cNvPr id="334" name="Freeform 15">
              <a:extLst>
                <a:ext uri="{FF2B5EF4-FFF2-40B4-BE49-F238E27FC236}">
                  <a16:creationId xmlns:a16="http://schemas.microsoft.com/office/drawing/2014/main" id="{FD6CC5C4-1D56-52BF-5B40-1B1760470574}"/>
                </a:ext>
              </a:extLst>
            </p:cNvPr>
            <p:cNvSpPr/>
            <p:nvPr/>
          </p:nvSpPr>
          <p:spPr>
            <a:xfrm>
              <a:off x="2722572" y="4644763"/>
              <a:ext cx="613182" cy="613182"/>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335" name="Freeform 16">
              <a:extLst>
                <a:ext uri="{FF2B5EF4-FFF2-40B4-BE49-F238E27FC236}">
                  <a16:creationId xmlns:a16="http://schemas.microsoft.com/office/drawing/2014/main" id="{DF8403D7-D5D5-415D-00DB-601AEDA4288A}"/>
                </a:ext>
              </a:extLst>
            </p:cNvPr>
            <p:cNvSpPr/>
            <p:nvPr/>
          </p:nvSpPr>
          <p:spPr>
            <a:xfrm>
              <a:off x="1279822" y="4260259"/>
              <a:ext cx="871200" cy="871200"/>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336" name="Freeform 17">
              <a:extLst>
                <a:ext uri="{FF2B5EF4-FFF2-40B4-BE49-F238E27FC236}">
                  <a16:creationId xmlns:a16="http://schemas.microsoft.com/office/drawing/2014/main" id="{0DE68B71-A28E-85ED-D79F-03979342F637}"/>
                </a:ext>
              </a:extLst>
            </p:cNvPr>
            <p:cNvSpPr/>
            <p:nvPr/>
          </p:nvSpPr>
          <p:spPr>
            <a:xfrm>
              <a:off x="1537428" y="2951690"/>
              <a:ext cx="1041177" cy="1188065"/>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grpSp>
      <p:sp>
        <p:nvSpPr>
          <p:cNvPr id="345" name="TextBox 344">
            <a:extLst>
              <a:ext uri="{FF2B5EF4-FFF2-40B4-BE49-F238E27FC236}">
                <a16:creationId xmlns:a16="http://schemas.microsoft.com/office/drawing/2014/main" id="{3686B25E-70CF-4354-5CA0-03485B8CFA22}"/>
              </a:ext>
            </a:extLst>
          </p:cNvPr>
          <p:cNvSpPr txBox="1"/>
          <p:nvPr/>
        </p:nvSpPr>
        <p:spPr>
          <a:xfrm>
            <a:off x="7700940" y="3114314"/>
            <a:ext cx="1364863" cy="553998"/>
          </a:xfrm>
          <a:prstGeom prst="rect">
            <a:avLst/>
          </a:prstGeom>
          <a:noFill/>
        </p:spPr>
        <p:txBody>
          <a:bodyPr wrap="square" lIns="0" tIns="0" rIns="0" bIns="0" rtlCol="0">
            <a:spAutoFit/>
          </a:bodyPr>
          <a:lstStyle/>
          <a:p>
            <a:pPr algn="ctr"/>
            <a:r>
              <a:rPr lang="en-US" sz="1200" dirty="0">
                <a:solidFill>
                  <a:schemeClr val="tx2"/>
                </a:solidFill>
              </a:rPr>
              <a:t>Joint angles, </a:t>
            </a:r>
          </a:p>
          <a:p>
            <a:pPr algn="ctr"/>
            <a:r>
              <a:rPr lang="en-US" sz="1200" dirty="0">
                <a:solidFill>
                  <a:schemeClr val="tx2"/>
                </a:solidFill>
              </a:rPr>
              <a:t>velocities, accelerations at </a:t>
            </a:r>
            <a:r>
              <a:rPr lang="en-US" sz="1200" i="1" dirty="0">
                <a:solidFill>
                  <a:schemeClr val="tx2"/>
                </a:solidFill>
              </a:rPr>
              <a:t>t</a:t>
            </a:r>
          </a:p>
        </p:txBody>
      </p:sp>
      <p:cxnSp>
        <p:nvCxnSpPr>
          <p:cNvPr id="8" name="Straight Arrow Connector 7">
            <a:extLst>
              <a:ext uri="{FF2B5EF4-FFF2-40B4-BE49-F238E27FC236}">
                <a16:creationId xmlns:a16="http://schemas.microsoft.com/office/drawing/2014/main" id="{98337B5C-0307-CC93-AFAF-E11F5D860CB7}"/>
              </a:ext>
            </a:extLst>
          </p:cNvPr>
          <p:cNvCxnSpPr/>
          <p:nvPr/>
        </p:nvCxnSpPr>
        <p:spPr>
          <a:xfrm>
            <a:off x="5261624" y="3082980"/>
            <a:ext cx="642303" cy="6413"/>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40696DA-CB4A-EDE5-1F66-CB10A28EE35C}"/>
              </a:ext>
            </a:extLst>
          </p:cNvPr>
          <p:cNvCxnSpPr>
            <a:cxnSpLocks/>
          </p:cNvCxnSpPr>
          <p:nvPr/>
        </p:nvCxnSpPr>
        <p:spPr>
          <a:xfrm>
            <a:off x="4573741" y="2618512"/>
            <a:ext cx="683876" cy="96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6358F49-9A09-D9C9-EA0E-65F5B137E9C4}"/>
              </a:ext>
            </a:extLst>
          </p:cNvPr>
          <p:cNvCxnSpPr>
            <a:cxnSpLocks/>
          </p:cNvCxnSpPr>
          <p:nvPr/>
        </p:nvCxnSpPr>
        <p:spPr>
          <a:xfrm>
            <a:off x="4573740" y="3598680"/>
            <a:ext cx="685881" cy="927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B1E114A-80D1-B435-579B-6DDC699A1C22}"/>
              </a:ext>
            </a:extLst>
          </p:cNvPr>
          <p:cNvCxnSpPr>
            <a:cxnSpLocks/>
          </p:cNvCxnSpPr>
          <p:nvPr/>
        </p:nvCxnSpPr>
        <p:spPr>
          <a:xfrm>
            <a:off x="5257617" y="2619474"/>
            <a:ext cx="0" cy="98847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12AF5E4B-2C47-BB52-682B-B5744E4A67F7}"/>
              </a:ext>
            </a:extLst>
          </p:cNvPr>
          <p:cNvSpPr/>
          <p:nvPr/>
        </p:nvSpPr>
        <p:spPr>
          <a:xfrm>
            <a:off x="10001669" y="4664431"/>
            <a:ext cx="670527" cy="538090"/>
          </a:xfrm>
          <a:custGeom>
            <a:avLst/>
            <a:gdLst>
              <a:gd name="connsiteX0" fmla="*/ 0 w 819150"/>
              <a:gd name="connsiteY0" fmla="*/ 0 h 505609"/>
              <a:gd name="connsiteX1" fmla="*/ 88900 w 819150"/>
              <a:gd name="connsiteY1" fmla="*/ 79375 h 505609"/>
              <a:gd name="connsiteX2" fmla="*/ 66675 w 819150"/>
              <a:gd name="connsiteY2" fmla="*/ 193675 h 505609"/>
              <a:gd name="connsiteX3" fmla="*/ 12700 w 819150"/>
              <a:gd name="connsiteY3" fmla="*/ 339725 h 505609"/>
              <a:gd name="connsiteX4" fmla="*/ 53975 w 819150"/>
              <a:gd name="connsiteY4" fmla="*/ 460375 h 505609"/>
              <a:gd name="connsiteX5" fmla="*/ 196850 w 819150"/>
              <a:gd name="connsiteY5" fmla="*/ 504825 h 505609"/>
              <a:gd name="connsiteX6" fmla="*/ 403225 w 819150"/>
              <a:gd name="connsiteY6" fmla="*/ 428625 h 505609"/>
              <a:gd name="connsiteX7" fmla="*/ 571500 w 819150"/>
              <a:gd name="connsiteY7" fmla="*/ 377825 h 505609"/>
              <a:gd name="connsiteX8" fmla="*/ 819150 w 819150"/>
              <a:gd name="connsiteY8" fmla="*/ 450850 h 505609"/>
              <a:gd name="connsiteX0" fmla="*/ 0 w 692150"/>
              <a:gd name="connsiteY0" fmla="*/ 0 h 505609"/>
              <a:gd name="connsiteX1" fmla="*/ 88900 w 692150"/>
              <a:gd name="connsiteY1" fmla="*/ 79375 h 505609"/>
              <a:gd name="connsiteX2" fmla="*/ 66675 w 692150"/>
              <a:gd name="connsiteY2" fmla="*/ 193675 h 505609"/>
              <a:gd name="connsiteX3" fmla="*/ 12700 w 692150"/>
              <a:gd name="connsiteY3" fmla="*/ 339725 h 505609"/>
              <a:gd name="connsiteX4" fmla="*/ 53975 w 692150"/>
              <a:gd name="connsiteY4" fmla="*/ 460375 h 505609"/>
              <a:gd name="connsiteX5" fmla="*/ 196850 w 692150"/>
              <a:gd name="connsiteY5" fmla="*/ 504825 h 505609"/>
              <a:gd name="connsiteX6" fmla="*/ 403225 w 692150"/>
              <a:gd name="connsiteY6" fmla="*/ 428625 h 505609"/>
              <a:gd name="connsiteX7" fmla="*/ 571500 w 692150"/>
              <a:gd name="connsiteY7" fmla="*/ 377825 h 505609"/>
              <a:gd name="connsiteX8" fmla="*/ 692150 w 692150"/>
              <a:gd name="connsiteY8" fmla="*/ 403225 h 505609"/>
              <a:gd name="connsiteX0" fmla="*/ 0 w 692150"/>
              <a:gd name="connsiteY0" fmla="*/ 0 h 505609"/>
              <a:gd name="connsiteX1" fmla="*/ 88900 w 692150"/>
              <a:gd name="connsiteY1" fmla="*/ 79375 h 505609"/>
              <a:gd name="connsiteX2" fmla="*/ 66675 w 692150"/>
              <a:gd name="connsiteY2" fmla="*/ 193675 h 505609"/>
              <a:gd name="connsiteX3" fmla="*/ 12700 w 692150"/>
              <a:gd name="connsiteY3" fmla="*/ 339725 h 505609"/>
              <a:gd name="connsiteX4" fmla="*/ 53975 w 692150"/>
              <a:gd name="connsiteY4" fmla="*/ 460375 h 505609"/>
              <a:gd name="connsiteX5" fmla="*/ 196850 w 692150"/>
              <a:gd name="connsiteY5" fmla="*/ 504825 h 505609"/>
              <a:gd name="connsiteX6" fmla="*/ 403225 w 692150"/>
              <a:gd name="connsiteY6" fmla="*/ 428625 h 505609"/>
              <a:gd name="connsiteX7" fmla="*/ 571500 w 692150"/>
              <a:gd name="connsiteY7" fmla="*/ 377825 h 505609"/>
              <a:gd name="connsiteX8" fmla="*/ 692150 w 692150"/>
              <a:gd name="connsiteY8" fmla="*/ 403225 h 505609"/>
              <a:gd name="connsiteX0" fmla="*/ 0 w 692150"/>
              <a:gd name="connsiteY0" fmla="*/ 0 h 506323"/>
              <a:gd name="connsiteX1" fmla="*/ 88900 w 692150"/>
              <a:gd name="connsiteY1" fmla="*/ 79375 h 506323"/>
              <a:gd name="connsiteX2" fmla="*/ 66675 w 692150"/>
              <a:gd name="connsiteY2" fmla="*/ 193675 h 506323"/>
              <a:gd name="connsiteX3" fmla="*/ 12700 w 692150"/>
              <a:gd name="connsiteY3" fmla="*/ 339725 h 506323"/>
              <a:gd name="connsiteX4" fmla="*/ 53975 w 692150"/>
              <a:gd name="connsiteY4" fmla="*/ 460375 h 506323"/>
              <a:gd name="connsiteX5" fmla="*/ 196850 w 692150"/>
              <a:gd name="connsiteY5" fmla="*/ 504825 h 506323"/>
              <a:gd name="connsiteX6" fmla="*/ 425450 w 692150"/>
              <a:gd name="connsiteY6" fmla="*/ 412750 h 506323"/>
              <a:gd name="connsiteX7" fmla="*/ 571500 w 692150"/>
              <a:gd name="connsiteY7" fmla="*/ 377825 h 506323"/>
              <a:gd name="connsiteX8" fmla="*/ 692150 w 692150"/>
              <a:gd name="connsiteY8" fmla="*/ 403225 h 506323"/>
              <a:gd name="connsiteX0" fmla="*/ 0 w 692150"/>
              <a:gd name="connsiteY0" fmla="*/ 0 h 519023"/>
              <a:gd name="connsiteX1" fmla="*/ 88900 w 692150"/>
              <a:gd name="connsiteY1" fmla="*/ 92075 h 519023"/>
              <a:gd name="connsiteX2" fmla="*/ 66675 w 692150"/>
              <a:gd name="connsiteY2" fmla="*/ 206375 h 519023"/>
              <a:gd name="connsiteX3" fmla="*/ 12700 w 692150"/>
              <a:gd name="connsiteY3" fmla="*/ 352425 h 519023"/>
              <a:gd name="connsiteX4" fmla="*/ 53975 w 692150"/>
              <a:gd name="connsiteY4" fmla="*/ 473075 h 519023"/>
              <a:gd name="connsiteX5" fmla="*/ 196850 w 692150"/>
              <a:gd name="connsiteY5" fmla="*/ 517525 h 519023"/>
              <a:gd name="connsiteX6" fmla="*/ 425450 w 692150"/>
              <a:gd name="connsiteY6" fmla="*/ 425450 h 519023"/>
              <a:gd name="connsiteX7" fmla="*/ 571500 w 692150"/>
              <a:gd name="connsiteY7" fmla="*/ 390525 h 519023"/>
              <a:gd name="connsiteX8" fmla="*/ 692150 w 692150"/>
              <a:gd name="connsiteY8" fmla="*/ 415925 h 519023"/>
              <a:gd name="connsiteX0" fmla="*/ 0 w 692150"/>
              <a:gd name="connsiteY0" fmla="*/ 0 h 519023"/>
              <a:gd name="connsiteX1" fmla="*/ 104775 w 692150"/>
              <a:gd name="connsiteY1" fmla="*/ 92075 h 519023"/>
              <a:gd name="connsiteX2" fmla="*/ 66675 w 692150"/>
              <a:gd name="connsiteY2" fmla="*/ 206375 h 519023"/>
              <a:gd name="connsiteX3" fmla="*/ 12700 w 692150"/>
              <a:gd name="connsiteY3" fmla="*/ 352425 h 519023"/>
              <a:gd name="connsiteX4" fmla="*/ 53975 w 692150"/>
              <a:gd name="connsiteY4" fmla="*/ 473075 h 519023"/>
              <a:gd name="connsiteX5" fmla="*/ 196850 w 692150"/>
              <a:gd name="connsiteY5" fmla="*/ 517525 h 519023"/>
              <a:gd name="connsiteX6" fmla="*/ 425450 w 692150"/>
              <a:gd name="connsiteY6" fmla="*/ 425450 h 519023"/>
              <a:gd name="connsiteX7" fmla="*/ 571500 w 692150"/>
              <a:gd name="connsiteY7" fmla="*/ 390525 h 519023"/>
              <a:gd name="connsiteX8" fmla="*/ 692150 w 692150"/>
              <a:gd name="connsiteY8" fmla="*/ 415925 h 519023"/>
              <a:gd name="connsiteX0" fmla="*/ 16101 w 679676"/>
              <a:gd name="connsiteY0" fmla="*/ 0 h 538073"/>
              <a:gd name="connsiteX1" fmla="*/ 92301 w 679676"/>
              <a:gd name="connsiteY1" fmla="*/ 111125 h 538073"/>
              <a:gd name="connsiteX2" fmla="*/ 54201 w 679676"/>
              <a:gd name="connsiteY2" fmla="*/ 225425 h 538073"/>
              <a:gd name="connsiteX3" fmla="*/ 226 w 679676"/>
              <a:gd name="connsiteY3" fmla="*/ 371475 h 538073"/>
              <a:gd name="connsiteX4" fmla="*/ 41501 w 679676"/>
              <a:gd name="connsiteY4" fmla="*/ 492125 h 538073"/>
              <a:gd name="connsiteX5" fmla="*/ 184376 w 679676"/>
              <a:gd name="connsiteY5" fmla="*/ 536575 h 538073"/>
              <a:gd name="connsiteX6" fmla="*/ 412976 w 679676"/>
              <a:gd name="connsiteY6" fmla="*/ 444500 h 538073"/>
              <a:gd name="connsiteX7" fmla="*/ 559026 w 679676"/>
              <a:gd name="connsiteY7" fmla="*/ 409575 h 538073"/>
              <a:gd name="connsiteX8" fmla="*/ 679676 w 679676"/>
              <a:gd name="connsiteY8" fmla="*/ 434975 h 538073"/>
              <a:gd name="connsiteX0" fmla="*/ 16204 w 679779"/>
              <a:gd name="connsiteY0" fmla="*/ 0 h 538073"/>
              <a:gd name="connsiteX1" fmla="*/ 92404 w 679779"/>
              <a:gd name="connsiteY1" fmla="*/ 111125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6204 w 679779"/>
              <a:gd name="connsiteY0" fmla="*/ 0 h 538073"/>
              <a:gd name="connsiteX1" fmla="*/ 98754 w 679779"/>
              <a:gd name="connsiteY1" fmla="*/ 88900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6204 w 679779"/>
              <a:gd name="connsiteY0" fmla="*/ 0 h 538073"/>
              <a:gd name="connsiteX1" fmla="*/ 79704 w 679779"/>
              <a:gd name="connsiteY1" fmla="*/ 79375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5880 w 679455"/>
              <a:gd name="connsiteY0" fmla="*/ 0 h 538073"/>
              <a:gd name="connsiteX1" fmla="*/ 79380 w 679455"/>
              <a:gd name="connsiteY1" fmla="*/ 79375 h 538073"/>
              <a:gd name="connsiteX2" fmla="*/ 42868 w 679455"/>
              <a:gd name="connsiteY2" fmla="*/ 219869 h 538073"/>
              <a:gd name="connsiteX3" fmla="*/ 5 w 679455"/>
              <a:gd name="connsiteY3" fmla="*/ 371475 h 538073"/>
              <a:gd name="connsiteX4" fmla="*/ 41280 w 679455"/>
              <a:gd name="connsiteY4" fmla="*/ 492125 h 538073"/>
              <a:gd name="connsiteX5" fmla="*/ 184155 w 679455"/>
              <a:gd name="connsiteY5" fmla="*/ 536575 h 538073"/>
              <a:gd name="connsiteX6" fmla="*/ 412755 w 679455"/>
              <a:gd name="connsiteY6" fmla="*/ 444500 h 538073"/>
              <a:gd name="connsiteX7" fmla="*/ 558805 w 679455"/>
              <a:gd name="connsiteY7" fmla="*/ 409575 h 538073"/>
              <a:gd name="connsiteX8" fmla="*/ 679455 w 679455"/>
              <a:gd name="connsiteY8" fmla="*/ 434975 h 538073"/>
              <a:gd name="connsiteX0" fmla="*/ 15880 w 679455"/>
              <a:gd name="connsiteY0" fmla="*/ 0 h 538073"/>
              <a:gd name="connsiteX1" fmla="*/ 79380 w 679455"/>
              <a:gd name="connsiteY1" fmla="*/ 79375 h 538073"/>
              <a:gd name="connsiteX2" fmla="*/ 42868 w 679455"/>
              <a:gd name="connsiteY2" fmla="*/ 219869 h 538073"/>
              <a:gd name="connsiteX3" fmla="*/ 5 w 679455"/>
              <a:gd name="connsiteY3" fmla="*/ 371475 h 538073"/>
              <a:gd name="connsiteX4" fmla="*/ 41280 w 679455"/>
              <a:gd name="connsiteY4" fmla="*/ 492125 h 538073"/>
              <a:gd name="connsiteX5" fmla="*/ 184155 w 679455"/>
              <a:gd name="connsiteY5" fmla="*/ 536575 h 538073"/>
              <a:gd name="connsiteX6" fmla="*/ 412755 w 679455"/>
              <a:gd name="connsiteY6" fmla="*/ 444500 h 538073"/>
              <a:gd name="connsiteX7" fmla="*/ 558805 w 679455"/>
              <a:gd name="connsiteY7" fmla="*/ 409575 h 538073"/>
              <a:gd name="connsiteX8" fmla="*/ 679455 w 679455"/>
              <a:gd name="connsiteY8" fmla="*/ 434975 h 538073"/>
              <a:gd name="connsiteX0" fmla="*/ 6366 w 669941"/>
              <a:gd name="connsiteY0" fmla="*/ 0 h 538090"/>
              <a:gd name="connsiteX1" fmla="*/ 69866 w 669941"/>
              <a:gd name="connsiteY1" fmla="*/ 79375 h 538090"/>
              <a:gd name="connsiteX2" fmla="*/ 33354 w 669941"/>
              <a:gd name="connsiteY2" fmla="*/ 219869 h 538090"/>
              <a:gd name="connsiteX3" fmla="*/ 16 w 669941"/>
              <a:gd name="connsiteY3" fmla="*/ 369093 h 538090"/>
              <a:gd name="connsiteX4" fmla="*/ 31766 w 669941"/>
              <a:gd name="connsiteY4" fmla="*/ 492125 h 538090"/>
              <a:gd name="connsiteX5" fmla="*/ 174641 w 669941"/>
              <a:gd name="connsiteY5" fmla="*/ 536575 h 538090"/>
              <a:gd name="connsiteX6" fmla="*/ 403241 w 669941"/>
              <a:gd name="connsiteY6" fmla="*/ 444500 h 538090"/>
              <a:gd name="connsiteX7" fmla="*/ 549291 w 669941"/>
              <a:gd name="connsiteY7" fmla="*/ 409575 h 538090"/>
              <a:gd name="connsiteX8" fmla="*/ 669941 w 669941"/>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9018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6952 w 670527"/>
              <a:gd name="connsiteY0" fmla="*/ 0 h 538090"/>
              <a:gd name="connsiteX1" fmla="*/ 89502 w 670527"/>
              <a:gd name="connsiteY1" fmla="*/ 79375 h 538090"/>
              <a:gd name="connsiteX2" fmla="*/ 48228 w 670527"/>
              <a:gd name="connsiteY2" fmla="*/ 207962 h 538090"/>
              <a:gd name="connsiteX3" fmla="*/ 602 w 670527"/>
              <a:gd name="connsiteY3" fmla="*/ 369093 h 538090"/>
              <a:gd name="connsiteX4" fmla="*/ 32352 w 670527"/>
              <a:gd name="connsiteY4" fmla="*/ 492125 h 538090"/>
              <a:gd name="connsiteX5" fmla="*/ 175227 w 670527"/>
              <a:gd name="connsiteY5" fmla="*/ 536575 h 538090"/>
              <a:gd name="connsiteX6" fmla="*/ 403827 w 670527"/>
              <a:gd name="connsiteY6" fmla="*/ 444500 h 538090"/>
              <a:gd name="connsiteX7" fmla="*/ 549877 w 670527"/>
              <a:gd name="connsiteY7" fmla="*/ 409575 h 538090"/>
              <a:gd name="connsiteX8" fmla="*/ 670527 w 670527"/>
              <a:gd name="connsiteY8" fmla="*/ 434975 h 538090"/>
              <a:gd name="connsiteX0" fmla="*/ 6952 w 670527"/>
              <a:gd name="connsiteY0" fmla="*/ 0 h 538090"/>
              <a:gd name="connsiteX1" fmla="*/ 72834 w 670527"/>
              <a:gd name="connsiteY1" fmla="*/ 79375 h 538090"/>
              <a:gd name="connsiteX2" fmla="*/ 48228 w 670527"/>
              <a:gd name="connsiteY2" fmla="*/ 207962 h 538090"/>
              <a:gd name="connsiteX3" fmla="*/ 602 w 670527"/>
              <a:gd name="connsiteY3" fmla="*/ 369093 h 538090"/>
              <a:gd name="connsiteX4" fmla="*/ 32352 w 670527"/>
              <a:gd name="connsiteY4" fmla="*/ 492125 h 538090"/>
              <a:gd name="connsiteX5" fmla="*/ 175227 w 670527"/>
              <a:gd name="connsiteY5" fmla="*/ 536575 h 538090"/>
              <a:gd name="connsiteX6" fmla="*/ 403827 w 670527"/>
              <a:gd name="connsiteY6" fmla="*/ 444500 h 538090"/>
              <a:gd name="connsiteX7" fmla="*/ 549877 w 670527"/>
              <a:gd name="connsiteY7" fmla="*/ 409575 h 538090"/>
              <a:gd name="connsiteX8" fmla="*/ 670527 w 670527"/>
              <a:gd name="connsiteY8" fmla="*/ 434975 h 538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0527" h="538090">
                <a:moveTo>
                  <a:pt x="6952" y="0"/>
                </a:moveTo>
                <a:cubicBezTo>
                  <a:pt x="45846" y="23548"/>
                  <a:pt x="65955" y="44715"/>
                  <a:pt x="72834" y="79375"/>
                </a:cubicBezTo>
                <a:cubicBezTo>
                  <a:pt x="79713" y="114035"/>
                  <a:pt x="60267" y="159676"/>
                  <a:pt x="48228" y="207962"/>
                </a:cubicBezTo>
                <a:cubicBezTo>
                  <a:pt x="36189" y="256248"/>
                  <a:pt x="3248" y="321732"/>
                  <a:pt x="602" y="369093"/>
                </a:cubicBezTo>
                <a:cubicBezTo>
                  <a:pt x="-2044" y="416454"/>
                  <a:pt x="3248" y="464211"/>
                  <a:pt x="32352" y="492125"/>
                </a:cubicBezTo>
                <a:cubicBezTo>
                  <a:pt x="61456" y="520039"/>
                  <a:pt x="113315" y="544512"/>
                  <a:pt x="175227" y="536575"/>
                </a:cubicBezTo>
                <a:cubicBezTo>
                  <a:pt x="237139" y="528638"/>
                  <a:pt x="341385" y="465667"/>
                  <a:pt x="403827" y="444500"/>
                </a:cubicBezTo>
                <a:cubicBezTo>
                  <a:pt x="466269" y="423333"/>
                  <a:pt x="480556" y="405871"/>
                  <a:pt x="549877" y="409575"/>
                </a:cubicBezTo>
                <a:cubicBezTo>
                  <a:pt x="619198" y="413279"/>
                  <a:pt x="600412" y="409839"/>
                  <a:pt x="670527" y="434975"/>
                </a:cubicBezTo>
              </a:path>
            </a:pathLst>
          </a:custGeom>
          <a:noFill/>
          <a:ln w="19050">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Rounded Corners 6">
            <a:extLst>
              <a:ext uri="{FF2B5EF4-FFF2-40B4-BE49-F238E27FC236}">
                <a16:creationId xmlns:a16="http://schemas.microsoft.com/office/drawing/2014/main" id="{476B2B5E-AF6E-918D-78A7-163E5C724CEB}"/>
              </a:ext>
            </a:extLst>
          </p:cNvPr>
          <p:cNvSpPr/>
          <p:nvPr/>
        </p:nvSpPr>
        <p:spPr>
          <a:xfrm>
            <a:off x="6046487" y="2733377"/>
            <a:ext cx="1581337" cy="465972"/>
          </a:xfrm>
          <a:prstGeom prst="roundRect">
            <a:avLst/>
          </a:prstGeom>
          <a:solidFill>
            <a:srgbClr val="E1E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Inverse Kinematics</a:t>
            </a:r>
            <a:endParaRPr lang="en-GB" sz="1200" dirty="0">
              <a:solidFill>
                <a:schemeClr val="tx1"/>
              </a:solidFill>
            </a:endParaRPr>
          </a:p>
        </p:txBody>
      </p:sp>
      <p:grpSp>
        <p:nvGrpSpPr>
          <p:cNvPr id="16" name="Group 15">
            <a:extLst>
              <a:ext uri="{FF2B5EF4-FFF2-40B4-BE49-F238E27FC236}">
                <a16:creationId xmlns:a16="http://schemas.microsoft.com/office/drawing/2014/main" id="{CCDEA92D-9B06-D8B0-F338-F3A1918B401D}"/>
              </a:ext>
            </a:extLst>
          </p:cNvPr>
          <p:cNvGrpSpPr/>
          <p:nvPr/>
        </p:nvGrpSpPr>
        <p:grpSpPr>
          <a:xfrm>
            <a:off x="6003167" y="4237297"/>
            <a:ext cx="1727065" cy="945125"/>
            <a:chOff x="6003167" y="4237297"/>
            <a:chExt cx="1727065" cy="945125"/>
          </a:xfrm>
        </p:grpSpPr>
        <p:sp>
          <p:nvSpPr>
            <p:cNvPr id="17" name="Freeform 13">
              <a:extLst>
                <a:ext uri="{FF2B5EF4-FFF2-40B4-BE49-F238E27FC236}">
                  <a16:creationId xmlns:a16="http://schemas.microsoft.com/office/drawing/2014/main" id="{D6C38132-33A0-6E33-09A8-14BCED444F60}"/>
                </a:ext>
              </a:extLst>
            </p:cNvPr>
            <p:cNvSpPr/>
            <p:nvPr/>
          </p:nvSpPr>
          <p:spPr>
            <a:xfrm>
              <a:off x="6782086" y="4237297"/>
              <a:ext cx="948146" cy="945125"/>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dirty="0"/>
            </a:p>
          </p:txBody>
        </p:sp>
        <p:cxnSp>
          <p:nvCxnSpPr>
            <p:cNvPr id="18" name="Straight Connector 17">
              <a:extLst>
                <a:ext uri="{FF2B5EF4-FFF2-40B4-BE49-F238E27FC236}">
                  <a16:creationId xmlns:a16="http://schemas.microsoft.com/office/drawing/2014/main" id="{951BF77A-6095-FBE6-AD35-DBD3775F6E2E}"/>
                </a:ext>
              </a:extLst>
            </p:cNvPr>
            <p:cNvCxnSpPr>
              <a:cxnSpLocks/>
            </p:cNvCxnSpPr>
            <p:nvPr/>
          </p:nvCxnSpPr>
          <p:spPr>
            <a:xfrm flipH="1">
              <a:off x="6963780" y="4725927"/>
              <a:ext cx="7941" cy="127523"/>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BBECA38-0845-AE9B-1A95-D9F80DEA2117}"/>
                </a:ext>
              </a:extLst>
            </p:cNvPr>
            <p:cNvCxnSpPr>
              <a:cxnSpLocks/>
            </p:cNvCxnSpPr>
            <p:nvPr/>
          </p:nvCxnSpPr>
          <p:spPr>
            <a:xfrm>
              <a:off x="6976150" y="4733737"/>
              <a:ext cx="64799" cy="12421"/>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BDC5434-C1C2-7311-567B-6B51FD3ADC31}"/>
                </a:ext>
              </a:extLst>
            </p:cNvPr>
            <p:cNvCxnSpPr>
              <a:cxnSpLocks/>
            </p:cNvCxnSpPr>
            <p:nvPr/>
          </p:nvCxnSpPr>
          <p:spPr>
            <a:xfrm flipH="1">
              <a:off x="7126010" y="4777132"/>
              <a:ext cx="55251" cy="127072"/>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BAC7804-B81A-A96C-B915-D7B4EBE5ED89}"/>
                </a:ext>
              </a:extLst>
            </p:cNvPr>
            <p:cNvCxnSpPr>
              <a:cxnSpLocks/>
            </p:cNvCxnSpPr>
            <p:nvPr/>
          </p:nvCxnSpPr>
          <p:spPr>
            <a:xfrm>
              <a:off x="7084513" y="4754250"/>
              <a:ext cx="109449" cy="18544"/>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C97FE94-C7DC-153A-8680-1E83B3BD61F0}"/>
                </a:ext>
              </a:extLst>
            </p:cNvPr>
            <p:cNvCxnSpPr>
              <a:cxnSpLocks/>
            </p:cNvCxnSpPr>
            <p:nvPr/>
          </p:nvCxnSpPr>
          <p:spPr>
            <a:xfrm>
              <a:off x="7201903" y="4481372"/>
              <a:ext cx="78916" cy="36196"/>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5D603D6-B292-CC1A-84D2-F1A24AD8E4BB}"/>
                </a:ext>
              </a:extLst>
            </p:cNvPr>
            <p:cNvCxnSpPr>
              <a:cxnSpLocks/>
            </p:cNvCxnSpPr>
            <p:nvPr/>
          </p:nvCxnSpPr>
          <p:spPr>
            <a:xfrm flipV="1">
              <a:off x="7162817" y="4485010"/>
              <a:ext cx="46534" cy="65116"/>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FC98E315-BC45-9773-48D9-5B138966C2E5}"/>
                </a:ext>
              </a:extLst>
            </p:cNvPr>
            <p:cNvSpPr/>
            <p:nvPr/>
          </p:nvSpPr>
          <p:spPr>
            <a:xfrm>
              <a:off x="6950033" y="4712049"/>
              <a:ext cx="43375" cy="43375"/>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8" name="Straight Connector 27">
              <a:extLst>
                <a:ext uri="{FF2B5EF4-FFF2-40B4-BE49-F238E27FC236}">
                  <a16:creationId xmlns:a16="http://schemas.microsoft.com/office/drawing/2014/main" id="{56AE8B66-6AD6-8BF8-3D25-F21B2EA767DB}"/>
                </a:ext>
              </a:extLst>
            </p:cNvPr>
            <p:cNvCxnSpPr>
              <a:cxnSpLocks/>
            </p:cNvCxnSpPr>
            <p:nvPr/>
          </p:nvCxnSpPr>
          <p:spPr>
            <a:xfrm flipV="1">
              <a:off x="7401672" y="4643627"/>
              <a:ext cx="113396" cy="2845"/>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AE6DA8B-B086-4EF5-66D3-1B5E9289BB96}"/>
                </a:ext>
              </a:extLst>
            </p:cNvPr>
            <p:cNvCxnSpPr>
              <a:cxnSpLocks/>
            </p:cNvCxnSpPr>
            <p:nvPr/>
          </p:nvCxnSpPr>
          <p:spPr>
            <a:xfrm>
              <a:off x="7469276" y="4556907"/>
              <a:ext cx="57331" cy="100327"/>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8022906-6B59-8657-FEB5-DA81C9B8CA69}"/>
                </a:ext>
              </a:extLst>
            </p:cNvPr>
            <p:cNvCxnSpPr>
              <a:cxnSpLocks/>
            </p:cNvCxnSpPr>
            <p:nvPr/>
          </p:nvCxnSpPr>
          <p:spPr>
            <a:xfrm>
              <a:off x="7280820" y="4384953"/>
              <a:ext cx="105633" cy="37724"/>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05BB1AE-A1EB-F4C4-3421-AA5A90DE45F5}"/>
                </a:ext>
              </a:extLst>
            </p:cNvPr>
            <p:cNvCxnSpPr>
              <a:cxnSpLocks/>
            </p:cNvCxnSpPr>
            <p:nvPr/>
          </p:nvCxnSpPr>
          <p:spPr>
            <a:xfrm>
              <a:off x="7389709" y="4425967"/>
              <a:ext cx="40938" cy="93847"/>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52E2852-4152-E927-06B3-5755FD2F717F}"/>
                </a:ext>
              </a:extLst>
            </p:cNvPr>
            <p:cNvCxnSpPr>
              <a:cxnSpLocks/>
            </p:cNvCxnSpPr>
            <p:nvPr/>
          </p:nvCxnSpPr>
          <p:spPr>
            <a:xfrm flipV="1">
              <a:off x="7376729" y="4915088"/>
              <a:ext cx="79567" cy="71673"/>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27A0F36-80F1-CA77-AD95-D78CDAE344CD}"/>
                </a:ext>
              </a:extLst>
            </p:cNvPr>
            <p:cNvCxnSpPr>
              <a:cxnSpLocks/>
            </p:cNvCxnSpPr>
            <p:nvPr/>
          </p:nvCxnSpPr>
          <p:spPr>
            <a:xfrm>
              <a:off x="7314683" y="4899410"/>
              <a:ext cx="128976" cy="12927"/>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35" name="Arc 34">
              <a:extLst>
                <a:ext uri="{FF2B5EF4-FFF2-40B4-BE49-F238E27FC236}">
                  <a16:creationId xmlns:a16="http://schemas.microsoft.com/office/drawing/2014/main" id="{9E88E4A4-0544-6A85-4323-589CCDFD238F}"/>
                </a:ext>
              </a:extLst>
            </p:cNvPr>
            <p:cNvSpPr/>
            <p:nvPr/>
          </p:nvSpPr>
          <p:spPr>
            <a:xfrm rot="5400000">
              <a:off x="6941868" y="4715772"/>
              <a:ext cx="72566" cy="72799"/>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6" name="Arc 35">
              <a:extLst>
                <a:ext uri="{FF2B5EF4-FFF2-40B4-BE49-F238E27FC236}">
                  <a16:creationId xmlns:a16="http://schemas.microsoft.com/office/drawing/2014/main" id="{ED332E91-2508-B33B-FAD8-3E1EB3D814EF}"/>
                </a:ext>
              </a:extLst>
            </p:cNvPr>
            <p:cNvSpPr/>
            <p:nvPr/>
          </p:nvSpPr>
          <p:spPr>
            <a:xfrm rot="11576616">
              <a:off x="7122937" y="4745409"/>
              <a:ext cx="72566" cy="72799"/>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7" name="Arc 36">
              <a:extLst>
                <a:ext uri="{FF2B5EF4-FFF2-40B4-BE49-F238E27FC236}">
                  <a16:creationId xmlns:a16="http://schemas.microsoft.com/office/drawing/2014/main" id="{BFA66F58-794C-F3D3-2F74-84DB32938E0B}"/>
                </a:ext>
              </a:extLst>
            </p:cNvPr>
            <p:cNvSpPr/>
            <p:nvPr/>
          </p:nvSpPr>
          <p:spPr>
            <a:xfrm rot="7436529">
              <a:off x="7176990" y="4463302"/>
              <a:ext cx="72566" cy="72799"/>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8" name="Arc 37">
              <a:extLst>
                <a:ext uri="{FF2B5EF4-FFF2-40B4-BE49-F238E27FC236}">
                  <a16:creationId xmlns:a16="http://schemas.microsoft.com/office/drawing/2014/main" id="{32AABBE7-95FC-B813-DEA4-7511B5B349CA}"/>
                </a:ext>
              </a:extLst>
            </p:cNvPr>
            <p:cNvSpPr/>
            <p:nvPr/>
          </p:nvSpPr>
          <p:spPr>
            <a:xfrm rot="13139162">
              <a:off x="7365644" y="4900144"/>
              <a:ext cx="72566" cy="72799"/>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9" name="Arc 38">
              <a:extLst>
                <a:ext uri="{FF2B5EF4-FFF2-40B4-BE49-F238E27FC236}">
                  <a16:creationId xmlns:a16="http://schemas.microsoft.com/office/drawing/2014/main" id="{280DDD76-C56F-9068-2B85-187AD5B06E78}"/>
                </a:ext>
              </a:extLst>
            </p:cNvPr>
            <p:cNvSpPr/>
            <p:nvPr/>
          </p:nvSpPr>
          <p:spPr>
            <a:xfrm rot="16200000">
              <a:off x="7453146" y="4596641"/>
              <a:ext cx="72566" cy="72799"/>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0" name="Arc 39">
              <a:extLst>
                <a:ext uri="{FF2B5EF4-FFF2-40B4-BE49-F238E27FC236}">
                  <a16:creationId xmlns:a16="http://schemas.microsoft.com/office/drawing/2014/main" id="{454B32E9-40A3-346E-FA61-B740C58B6B03}"/>
                </a:ext>
              </a:extLst>
            </p:cNvPr>
            <p:cNvSpPr/>
            <p:nvPr/>
          </p:nvSpPr>
          <p:spPr>
            <a:xfrm rot="10552793">
              <a:off x="7323317" y="4378018"/>
              <a:ext cx="105273" cy="95897"/>
            </a:xfrm>
            <a:prstGeom prst="arc">
              <a:avLst>
                <a:gd name="adj1" fmla="val 15100244"/>
                <a:gd name="adj2" fmla="val 1766624"/>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1" name="Oval 40">
              <a:extLst>
                <a:ext uri="{FF2B5EF4-FFF2-40B4-BE49-F238E27FC236}">
                  <a16:creationId xmlns:a16="http://schemas.microsoft.com/office/drawing/2014/main" id="{D3B7776A-00F4-72B9-0563-6136BA47F5A9}"/>
                </a:ext>
              </a:extLst>
            </p:cNvPr>
            <p:cNvSpPr/>
            <p:nvPr/>
          </p:nvSpPr>
          <p:spPr>
            <a:xfrm>
              <a:off x="7160156" y="4755073"/>
              <a:ext cx="43375" cy="43375"/>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Oval 41">
              <a:extLst>
                <a:ext uri="{FF2B5EF4-FFF2-40B4-BE49-F238E27FC236}">
                  <a16:creationId xmlns:a16="http://schemas.microsoft.com/office/drawing/2014/main" id="{CB0ED010-9717-0177-E8F2-778206976845}"/>
                </a:ext>
              </a:extLst>
            </p:cNvPr>
            <p:cNvSpPr/>
            <p:nvPr/>
          </p:nvSpPr>
          <p:spPr>
            <a:xfrm>
              <a:off x="7180215" y="4467649"/>
              <a:ext cx="43375" cy="43375"/>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Oval 42">
              <a:extLst>
                <a:ext uri="{FF2B5EF4-FFF2-40B4-BE49-F238E27FC236}">
                  <a16:creationId xmlns:a16="http://schemas.microsoft.com/office/drawing/2014/main" id="{DED97F70-6D09-2780-01C8-006CD1359484}"/>
                </a:ext>
              </a:extLst>
            </p:cNvPr>
            <p:cNvSpPr/>
            <p:nvPr/>
          </p:nvSpPr>
          <p:spPr>
            <a:xfrm>
              <a:off x="7357482" y="4405058"/>
              <a:ext cx="43375" cy="43375"/>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Oval 43">
              <a:extLst>
                <a:ext uri="{FF2B5EF4-FFF2-40B4-BE49-F238E27FC236}">
                  <a16:creationId xmlns:a16="http://schemas.microsoft.com/office/drawing/2014/main" id="{F2706ECF-D375-9D4A-758E-B7C465C7E3A8}"/>
                </a:ext>
              </a:extLst>
            </p:cNvPr>
            <p:cNvSpPr/>
            <p:nvPr/>
          </p:nvSpPr>
          <p:spPr>
            <a:xfrm>
              <a:off x="7416127" y="4899410"/>
              <a:ext cx="43375" cy="43375"/>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Oval 44">
              <a:extLst>
                <a:ext uri="{FF2B5EF4-FFF2-40B4-BE49-F238E27FC236}">
                  <a16:creationId xmlns:a16="http://schemas.microsoft.com/office/drawing/2014/main" id="{21E786F1-E593-3A63-12E1-391A1457A6E2}"/>
                </a:ext>
              </a:extLst>
            </p:cNvPr>
            <p:cNvSpPr/>
            <p:nvPr/>
          </p:nvSpPr>
          <p:spPr>
            <a:xfrm>
              <a:off x="7504140" y="4624784"/>
              <a:ext cx="43375" cy="43375"/>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Freeform: Shape 45">
              <a:extLst>
                <a:ext uri="{FF2B5EF4-FFF2-40B4-BE49-F238E27FC236}">
                  <a16:creationId xmlns:a16="http://schemas.microsoft.com/office/drawing/2014/main" id="{39720F8A-D430-9445-26A0-4CCE552A1001}"/>
                </a:ext>
              </a:extLst>
            </p:cNvPr>
            <p:cNvSpPr/>
            <p:nvPr/>
          </p:nvSpPr>
          <p:spPr>
            <a:xfrm>
              <a:off x="6338571" y="4695259"/>
              <a:ext cx="581005" cy="464489"/>
            </a:xfrm>
            <a:custGeom>
              <a:avLst/>
              <a:gdLst>
                <a:gd name="connsiteX0" fmla="*/ 0 w 819150"/>
                <a:gd name="connsiteY0" fmla="*/ 0 h 505609"/>
                <a:gd name="connsiteX1" fmla="*/ 88900 w 819150"/>
                <a:gd name="connsiteY1" fmla="*/ 79375 h 505609"/>
                <a:gd name="connsiteX2" fmla="*/ 66675 w 819150"/>
                <a:gd name="connsiteY2" fmla="*/ 193675 h 505609"/>
                <a:gd name="connsiteX3" fmla="*/ 12700 w 819150"/>
                <a:gd name="connsiteY3" fmla="*/ 339725 h 505609"/>
                <a:gd name="connsiteX4" fmla="*/ 53975 w 819150"/>
                <a:gd name="connsiteY4" fmla="*/ 460375 h 505609"/>
                <a:gd name="connsiteX5" fmla="*/ 196850 w 819150"/>
                <a:gd name="connsiteY5" fmla="*/ 504825 h 505609"/>
                <a:gd name="connsiteX6" fmla="*/ 403225 w 819150"/>
                <a:gd name="connsiteY6" fmla="*/ 428625 h 505609"/>
                <a:gd name="connsiteX7" fmla="*/ 571500 w 819150"/>
                <a:gd name="connsiteY7" fmla="*/ 377825 h 505609"/>
                <a:gd name="connsiteX8" fmla="*/ 819150 w 819150"/>
                <a:gd name="connsiteY8" fmla="*/ 450850 h 505609"/>
                <a:gd name="connsiteX0" fmla="*/ 0 w 692150"/>
                <a:gd name="connsiteY0" fmla="*/ 0 h 505609"/>
                <a:gd name="connsiteX1" fmla="*/ 88900 w 692150"/>
                <a:gd name="connsiteY1" fmla="*/ 79375 h 505609"/>
                <a:gd name="connsiteX2" fmla="*/ 66675 w 692150"/>
                <a:gd name="connsiteY2" fmla="*/ 193675 h 505609"/>
                <a:gd name="connsiteX3" fmla="*/ 12700 w 692150"/>
                <a:gd name="connsiteY3" fmla="*/ 339725 h 505609"/>
                <a:gd name="connsiteX4" fmla="*/ 53975 w 692150"/>
                <a:gd name="connsiteY4" fmla="*/ 460375 h 505609"/>
                <a:gd name="connsiteX5" fmla="*/ 196850 w 692150"/>
                <a:gd name="connsiteY5" fmla="*/ 504825 h 505609"/>
                <a:gd name="connsiteX6" fmla="*/ 403225 w 692150"/>
                <a:gd name="connsiteY6" fmla="*/ 428625 h 505609"/>
                <a:gd name="connsiteX7" fmla="*/ 571500 w 692150"/>
                <a:gd name="connsiteY7" fmla="*/ 377825 h 505609"/>
                <a:gd name="connsiteX8" fmla="*/ 692150 w 692150"/>
                <a:gd name="connsiteY8" fmla="*/ 403225 h 505609"/>
                <a:gd name="connsiteX0" fmla="*/ 0 w 692150"/>
                <a:gd name="connsiteY0" fmla="*/ 0 h 505609"/>
                <a:gd name="connsiteX1" fmla="*/ 88900 w 692150"/>
                <a:gd name="connsiteY1" fmla="*/ 79375 h 505609"/>
                <a:gd name="connsiteX2" fmla="*/ 66675 w 692150"/>
                <a:gd name="connsiteY2" fmla="*/ 193675 h 505609"/>
                <a:gd name="connsiteX3" fmla="*/ 12700 w 692150"/>
                <a:gd name="connsiteY3" fmla="*/ 339725 h 505609"/>
                <a:gd name="connsiteX4" fmla="*/ 53975 w 692150"/>
                <a:gd name="connsiteY4" fmla="*/ 460375 h 505609"/>
                <a:gd name="connsiteX5" fmla="*/ 196850 w 692150"/>
                <a:gd name="connsiteY5" fmla="*/ 504825 h 505609"/>
                <a:gd name="connsiteX6" fmla="*/ 403225 w 692150"/>
                <a:gd name="connsiteY6" fmla="*/ 428625 h 505609"/>
                <a:gd name="connsiteX7" fmla="*/ 571500 w 692150"/>
                <a:gd name="connsiteY7" fmla="*/ 377825 h 505609"/>
                <a:gd name="connsiteX8" fmla="*/ 692150 w 692150"/>
                <a:gd name="connsiteY8" fmla="*/ 403225 h 505609"/>
                <a:gd name="connsiteX0" fmla="*/ 0 w 692150"/>
                <a:gd name="connsiteY0" fmla="*/ 0 h 506323"/>
                <a:gd name="connsiteX1" fmla="*/ 88900 w 692150"/>
                <a:gd name="connsiteY1" fmla="*/ 79375 h 506323"/>
                <a:gd name="connsiteX2" fmla="*/ 66675 w 692150"/>
                <a:gd name="connsiteY2" fmla="*/ 193675 h 506323"/>
                <a:gd name="connsiteX3" fmla="*/ 12700 w 692150"/>
                <a:gd name="connsiteY3" fmla="*/ 339725 h 506323"/>
                <a:gd name="connsiteX4" fmla="*/ 53975 w 692150"/>
                <a:gd name="connsiteY4" fmla="*/ 460375 h 506323"/>
                <a:gd name="connsiteX5" fmla="*/ 196850 w 692150"/>
                <a:gd name="connsiteY5" fmla="*/ 504825 h 506323"/>
                <a:gd name="connsiteX6" fmla="*/ 425450 w 692150"/>
                <a:gd name="connsiteY6" fmla="*/ 412750 h 506323"/>
                <a:gd name="connsiteX7" fmla="*/ 571500 w 692150"/>
                <a:gd name="connsiteY7" fmla="*/ 377825 h 506323"/>
                <a:gd name="connsiteX8" fmla="*/ 692150 w 692150"/>
                <a:gd name="connsiteY8" fmla="*/ 403225 h 506323"/>
                <a:gd name="connsiteX0" fmla="*/ 0 w 692150"/>
                <a:gd name="connsiteY0" fmla="*/ 0 h 519023"/>
                <a:gd name="connsiteX1" fmla="*/ 88900 w 692150"/>
                <a:gd name="connsiteY1" fmla="*/ 92075 h 519023"/>
                <a:gd name="connsiteX2" fmla="*/ 66675 w 692150"/>
                <a:gd name="connsiteY2" fmla="*/ 206375 h 519023"/>
                <a:gd name="connsiteX3" fmla="*/ 12700 w 692150"/>
                <a:gd name="connsiteY3" fmla="*/ 352425 h 519023"/>
                <a:gd name="connsiteX4" fmla="*/ 53975 w 692150"/>
                <a:gd name="connsiteY4" fmla="*/ 473075 h 519023"/>
                <a:gd name="connsiteX5" fmla="*/ 196850 w 692150"/>
                <a:gd name="connsiteY5" fmla="*/ 517525 h 519023"/>
                <a:gd name="connsiteX6" fmla="*/ 425450 w 692150"/>
                <a:gd name="connsiteY6" fmla="*/ 425450 h 519023"/>
                <a:gd name="connsiteX7" fmla="*/ 571500 w 692150"/>
                <a:gd name="connsiteY7" fmla="*/ 390525 h 519023"/>
                <a:gd name="connsiteX8" fmla="*/ 692150 w 692150"/>
                <a:gd name="connsiteY8" fmla="*/ 415925 h 519023"/>
                <a:gd name="connsiteX0" fmla="*/ 0 w 692150"/>
                <a:gd name="connsiteY0" fmla="*/ 0 h 519023"/>
                <a:gd name="connsiteX1" fmla="*/ 104775 w 692150"/>
                <a:gd name="connsiteY1" fmla="*/ 92075 h 519023"/>
                <a:gd name="connsiteX2" fmla="*/ 66675 w 692150"/>
                <a:gd name="connsiteY2" fmla="*/ 206375 h 519023"/>
                <a:gd name="connsiteX3" fmla="*/ 12700 w 692150"/>
                <a:gd name="connsiteY3" fmla="*/ 352425 h 519023"/>
                <a:gd name="connsiteX4" fmla="*/ 53975 w 692150"/>
                <a:gd name="connsiteY4" fmla="*/ 473075 h 519023"/>
                <a:gd name="connsiteX5" fmla="*/ 196850 w 692150"/>
                <a:gd name="connsiteY5" fmla="*/ 517525 h 519023"/>
                <a:gd name="connsiteX6" fmla="*/ 425450 w 692150"/>
                <a:gd name="connsiteY6" fmla="*/ 425450 h 519023"/>
                <a:gd name="connsiteX7" fmla="*/ 571500 w 692150"/>
                <a:gd name="connsiteY7" fmla="*/ 390525 h 519023"/>
                <a:gd name="connsiteX8" fmla="*/ 692150 w 692150"/>
                <a:gd name="connsiteY8" fmla="*/ 415925 h 519023"/>
                <a:gd name="connsiteX0" fmla="*/ 16101 w 679676"/>
                <a:gd name="connsiteY0" fmla="*/ 0 h 538073"/>
                <a:gd name="connsiteX1" fmla="*/ 92301 w 679676"/>
                <a:gd name="connsiteY1" fmla="*/ 111125 h 538073"/>
                <a:gd name="connsiteX2" fmla="*/ 54201 w 679676"/>
                <a:gd name="connsiteY2" fmla="*/ 225425 h 538073"/>
                <a:gd name="connsiteX3" fmla="*/ 226 w 679676"/>
                <a:gd name="connsiteY3" fmla="*/ 371475 h 538073"/>
                <a:gd name="connsiteX4" fmla="*/ 41501 w 679676"/>
                <a:gd name="connsiteY4" fmla="*/ 492125 h 538073"/>
                <a:gd name="connsiteX5" fmla="*/ 184376 w 679676"/>
                <a:gd name="connsiteY5" fmla="*/ 536575 h 538073"/>
                <a:gd name="connsiteX6" fmla="*/ 412976 w 679676"/>
                <a:gd name="connsiteY6" fmla="*/ 444500 h 538073"/>
                <a:gd name="connsiteX7" fmla="*/ 559026 w 679676"/>
                <a:gd name="connsiteY7" fmla="*/ 409575 h 538073"/>
                <a:gd name="connsiteX8" fmla="*/ 679676 w 679676"/>
                <a:gd name="connsiteY8" fmla="*/ 434975 h 538073"/>
                <a:gd name="connsiteX0" fmla="*/ 16204 w 679779"/>
                <a:gd name="connsiteY0" fmla="*/ 0 h 538073"/>
                <a:gd name="connsiteX1" fmla="*/ 92404 w 679779"/>
                <a:gd name="connsiteY1" fmla="*/ 111125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6204 w 679779"/>
                <a:gd name="connsiteY0" fmla="*/ 0 h 538073"/>
                <a:gd name="connsiteX1" fmla="*/ 98754 w 679779"/>
                <a:gd name="connsiteY1" fmla="*/ 88900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6204 w 679779"/>
                <a:gd name="connsiteY0" fmla="*/ 0 h 538073"/>
                <a:gd name="connsiteX1" fmla="*/ 79704 w 679779"/>
                <a:gd name="connsiteY1" fmla="*/ 79375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5880 w 679455"/>
                <a:gd name="connsiteY0" fmla="*/ 0 h 538073"/>
                <a:gd name="connsiteX1" fmla="*/ 79380 w 679455"/>
                <a:gd name="connsiteY1" fmla="*/ 79375 h 538073"/>
                <a:gd name="connsiteX2" fmla="*/ 42868 w 679455"/>
                <a:gd name="connsiteY2" fmla="*/ 219869 h 538073"/>
                <a:gd name="connsiteX3" fmla="*/ 5 w 679455"/>
                <a:gd name="connsiteY3" fmla="*/ 371475 h 538073"/>
                <a:gd name="connsiteX4" fmla="*/ 41280 w 679455"/>
                <a:gd name="connsiteY4" fmla="*/ 492125 h 538073"/>
                <a:gd name="connsiteX5" fmla="*/ 184155 w 679455"/>
                <a:gd name="connsiteY5" fmla="*/ 536575 h 538073"/>
                <a:gd name="connsiteX6" fmla="*/ 412755 w 679455"/>
                <a:gd name="connsiteY6" fmla="*/ 444500 h 538073"/>
                <a:gd name="connsiteX7" fmla="*/ 558805 w 679455"/>
                <a:gd name="connsiteY7" fmla="*/ 409575 h 538073"/>
                <a:gd name="connsiteX8" fmla="*/ 679455 w 679455"/>
                <a:gd name="connsiteY8" fmla="*/ 434975 h 538073"/>
                <a:gd name="connsiteX0" fmla="*/ 15880 w 679455"/>
                <a:gd name="connsiteY0" fmla="*/ 0 h 538073"/>
                <a:gd name="connsiteX1" fmla="*/ 79380 w 679455"/>
                <a:gd name="connsiteY1" fmla="*/ 79375 h 538073"/>
                <a:gd name="connsiteX2" fmla="*/ 42868 w 679455"/>
                <a:gd name="connsiteY2" fmla="*/ 219869 h 538073"/>
                <a:gd name="connsiteX3" fmla="*/ 5 w 679455"/>
                <a:gd name="connsiteY3" fmla="*/ 371475 h 538073"/>
                <a:gd name="connsiteX4" fmla="*/ 41280 w 679455"/>
                <a:gd name="connsiteY4" fmla="*/ 492125 h 538073"/>
                <a:gd name="connsiteX5" fmla="*/ 184155 w 679455"/>
                <a:gd name="connsiteY5" fmla="*/ 536575 h 538073"/>
                <a:gd name="connsiteX6" fmla="*/ 412755 w 679455"/>
                <a:gd name="connsiteY6" fmla="*/ 444500 h 538073"/>
                <a:gd name="connsiteX7" fmla="*/ 558805 w 679455"/>
                <a:gd name="connsiteY7" fmla="*/ 409575 h 538073"/>
                <a:gd name="connsiteX8" fmla="*/ 679455 w 679455"/>
                <a:gd name="connsiteY8" fmla="*/ 434975 h 538073"/>
                <a:gd name="connsiteX0" fmla="*/ 6366 w 669941"/>
                <a:gd name="connsiteY0" fmla="*/ 0 h 538090"/>
                <a:gd name="connsiteX1" fmla="*/ 69866 w 669941"/>
                <a:gd name="connsiteY1" fmla="*/ 79375 h 538090"/>
                <a:gd name="connsiteX2" fmla="*/ 33354 w 669941"/>
                <a:gd name="connsiteY2" fmla="*/ 219869 h 538090"/>
                <a:gd name="connsiteX3" fmla="*/ 16 w 669941"/>
                <a:gd name="connsiteY3" fmla="*/ 369093 h 538090"/>
                <a:gd name="connsiteX4" fmla="*/ 31766 w 669941"/>
                <a:gd name="connsiteY4" fmla="*/ 492125 h 538090"/>
                <a:gd name="connsiteX5" fmla="*/ 174641 w 669941"/>
                <a:gd name="connsiteY5" fmla="*/ 536575 h 538090"/>
                <a:gd name="connsiteX6" fmla="*/ 403241 w 669941"/>
                <a:gd name="connsiteY6" fmla="*/ 444500 h 538090"/>
                <a:gd name="connsiteX7" fmla="*/ 549291 w 669941"/>
                <a:gd name="connsiteY7" fmla="*/ 409575 h 538090"/>
                <a:gd name="connsiteX8" fmla="*/ 669941 w 669941"/>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9018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6952 w 670527"/>
                <a:gd name="connsiteY0" fmla="*/ 0 h 538090"/>
                <a:gd name="connsiteX1" fmla="*/ 89502 w 670527"/>
                <a:gd name="connsiteY1" fmla="*/ 79375 h 538090"/>
                <a:gd name="connsiteX2" fmla="*/ 48228 w 670527"/>
                <a:gd name="connsiteY2" fmla="*/ 207962 h 538090"/>
                <a:gd name="connsiteX3" fmla="*/ 602 w 670527"/>
                <a:gd name="connsiteY3" fmla="*/ 369093 h 538090"/>
                <a:gd name="connsiteX4" fmla="*/ 32352 w 670527"/>
                <a:gd name="connsiteY4" fmla="*/ 492125 h 538090"/>
                <a:gd name="connsiteX5" fmla="*/ 175227 w 670527"/>
                <a:gd name="connsiteY5" fmla="*/ 536575 h 538090"/>
                <a:gd name="connsiteX6" fmla="*/ 403827 w 670527"/>
                <a:gd name="connsiteY6" fmla="*/ 444500 h 538090"/>
                <a:gd name="connsiteX7" fmla="*/ 549877 w 670527"/>
                <a:gd name="connsiteY7" fmla="*/ 409575 h 538090"/>
                <a:gd name="connsiteX8" fmla="*/ 670527 w 670527"/>
                <a:gd name="connsiteY8" fmla="*/ 434975 h 538090"/>
                <a:gd name="connsiteX0" fmla="*/ 6952 w 670527"/>
                <a:gd name="connsiteY0" fmla="*/ 0 h 538090"/>
                <a:gd name="connsiteX1" fmla="*/ 72834 w 670527"/>
                <a:gd name="connsiteY1" fmla="*/ 79375 h 538090"/>
                <a:gd name="connsiteX2" fmla="*/ 48228 w 670527"/>
                <a:gd name="connsiteY2" fmla="*/ 207962 h 538090"/>
                <a:gd name="connsiteX3" fmla="*/ 602 w 670527"/>
                <a:gd name="connsiteY3" fmla="*/ 369093 h 538090"/>
                <a:gd name="connsiteX4" fmla="*/ 32352 w 670527"/>
                <a:gd name="connsiteY4" fmla="*/ 492125 h 538090"/>
                <a:gd name="connsiteX5" fmla="*/ 175227 w 670527"/>
                <a:gd name="connsiteY5" fmla="*/ 536575 h 538090"/>
                <a:gd name="connsiteX6" fmla="*/ 403827 w 670527"/>
                <a:gd name="connsiteY6" fmla="*/ 444500 h 538090"/>
                <a:gd name="connsiteX7" fmla="*/ 549877 w 670527"/>
                <a:gd name="connsiteY7" fmla="*/ 409575 h 538090"/>
                <a:gd name="connsiteX8" fmla="*/ 670527 w 670527"/>
                <a:gd name="connsiteY8" fmla="*/ 434975 h 538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0527" h="538090">
                  <a:moveTo>
                    <a:pt x="6952" y="0"/>
                  </a:moveTo>
                  <a:cubicBezTo>
                    <a:pt x="45846" y="23548"/>
                    <a:pt x="65955" y="44715"/>
                    <a:pt x="72834" y="79375"/>
                  </a:cubicBezTo>
                  <a:cubicBezTo>
                    <a:pt x="79713" y="114035"/>
                    <a:pt x="60267" y="159676"/>
                    <a:pt x="48228" y="207962"/>
                  </a:cubicBezTo>
                  <a:cubicBezTo>
                    <a:pt x="36189" y="256248"/>
                    <a:pt x="3248" y="321732"/>
                    <a:pt x="602" y="369093"/>
                  </a:cubicBezTo>
                  <a:cubicBezTo>
                    <a:pt x="-2044" y="416454"/>
                    <a:pt x="3248" y="464211"/>
                    <a:pt x="32352" y="492125"/>
                  </a:cubicBezTo>
                  <a:cubicBezTo>
                    <a:pt x="61456" y="520039"/>
                    <a:pt x="113315" y="544512"/>
                    <a:pt x="175227" y="536575"/>
                  </a:cubicBezTo>
                  <a:cubicBezTo>
                    <a:pt x="237139" y="528638"/>
                    <a:pt x="341385" y="465667"/>
                    <a:pt x="403827" y="444500"/>
                  </a:cubicBezTo>
                  <a:cubicBezTo>
                    <a:pt x="466269" y="423333"/>
                    <a:pt x="480556" y="405871"/>
                    <a:pt x="549877" y="409575"/>
                  </a:cubicBezTo>
                  <a:cubicBezTo>
                    <a:pt x="619198" y="413279"/>
                    <a:pt x="600412" y="409839"/>
                    <a:pt x="670527" y="434975"/>
                  </a:cubicBezTo>
                </a:path>
              </a:pathLst>
            </a:cu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47" name="Group 46">
              <a:extLst>
                <a:ext uri="{FF2B5EF4-FFF2-40B4-BE49-F238E27FC236}">
                  <a16:creationId xmlns:a16="http://schemas.microsoft.com/office/drawing/2014/main" id="{6E82E438-8759-52CE-8262-EE037E4BEE88}"/>
                </a:ext>
              </a:extLst>
            </p:cNvPr>
            <p:cNvGrpSpPr/>
            <p:nvPr/>
          </p:nvGrpSpPr>
          <p:grpSpPr>
            <a:xfrm>
              <a:off x="6003167" y="4389673"/>
              <a:ext cx="600285" cy="673373"/>
              <a:chOff x="6003167" y="4389673"/>
              <a:chExt cx="600285" cy="673373"/>
            </a:xfrm>
          </p:grpSpPr>
          <p:sp>
            <p:nvSpPr>
              <p:cNvPr id="66" name="Freeform 15">
                <a:extLst>
                  <a:ext uri="{FF2B5EF4-FFF2-40B4-BE49-F238E27FC236}">
                    <a16:creationId xmlns:a16="http://schemas.microsoft.com/office/drawing/2014/main" id="{8AAABE66-7709-172B-69A1-D057FC306578}"/>
                  </a:ext>
                </a:extLst>
              </p:cNvPr>
              <p:cNvSpPr/>
              <p:nvPr/>
            </p:nvSpPr>
            <p:spPr>
              <a:xfrm>
                <a:off x="6424417" y="4884011"/>
                <a:ext cx="179035" cy="179035"/>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67" name="Freeform 16">
                <a:extLst>
                  <a:ext uri="{FF2B5EF4-FFF2-40B4-BE49-F238E27FC236}">
                    <a16:creationId xmlns:a16="http://schemas.microsoft.com/office/drawing/2014/main" id="{AEDE177D-B750-CEC8-A629-3C082D1F4D79}"/>
                  </a:ext>
                </a:extLst>
              </p:cNvPr>
              <p:cNvSpPr/>
              <p:nvPr/>
            </p:nvSpPr>
            <p:spPr>
              <a:xfrm>
                <a:off x="6003167" y="4771745"/>
                <a:ext cx="254370" cy="254370"/>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68" name="Freeform 17">
                <a:extLst>
                  <a:ext uri="{FF2B5EF4-FFF2-40B4-BE49-F238E27FC236}">
                    <a16:creationId xmlns:a16="http://schemas.microsoft.com/office/drawing/2014/main" id="{30690453-F188-307B-EF12-D2D5571288BD}"/>
                  </a:ext>
                </a:extLst>
              </p:cNvPr>
              <p:cNvSpPr/>
              <p:nvPr/>
            </p:nvSpPr>
            <p:spPr>
              <a:xfrm>
                <a:off x="6078382" y="4389673"/>
                <a:ext cx="304000" cy="346887"/>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grpSp>
        <p:sp>
          <p:nvSpPr>
            <p:cNvPr id="49" name="Oval 48">
              <a:extLst>
                <a:ext uri="{FF2B5EF4-FFF2-40B4-BE49-F238E27FC236}">
                  <a16:creationId xmlns:a16="http://schemas.microsoft.com/office/drawing/2014/main" id="{1B7807C3-3448-4E19-B927-F97FCB2BABDE}"/>
                </a:ext>
              </a:extLst>
            </p:cNvPr>
            <p:cNvSpPr/>
            <p:nvPr/>
          </p:nvSpPr>
          <p:spPr>
            <a:xfrm>
              <a:off x="6346804" y="4801891"/>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Oval 57">
              <a:extLst>
                <a:ext uri="{FF2B5EF4-FFF2-40B4-BE49-F238E27FC236}">
                  <a16:creationId xmlns:a16="http://schemas.microsoft.com/office/drawing/2014/main" id="{86B37A48-9758-E4EA-43CE-8E933E0CA048}"/>
                </a:ext>
              </a:extLst>
            </p:cNvPr>
            <p:cNvSpPr/>
            <p:nvPr/>
          </p:nvSpPr>
          <p:spPr>
            <a:xfrm>
              <a:off x="6304390" y="5063992"/>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Oval 61">
              <a:extLst>
                <a:ext uri="{FF2B5EF4-FFF2-40B4-BE49-F238E27FC236}">
                  <a16:creationId xmlns:a16="http://schemas.microsoft.com/office/drawing/2014/main" id="{61EEC0B3-CE85-8332-0ABB-206C2B142974}"/>
                </a:ext>
              </a:extLst>
            </p:cNvPr>
            <p:cNvSpPr/>
            <p:nvPr/>
          </p:nvSpPr>
          <p:spPr>
            <a:xfrm>
              <a:off x="6642853" y="5050738"/>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Oval 63">
              <a:extLst>
                <a:ext uri="{FF2B5EF4-FFF2-40B4-BE49-F238E27FC236}">
                  <a16:creationId xmlns:a16="http://schemas.microsoft.com/office/drawing/2014/main" id="{1002BF3F-FA7A-5AB1-1A1B-A8F414AD39EA}"/>
                </a:ext>
              </a:extLst>
            </p:cNvPr>
            <p:cNvSpPr/>
            <p:nvPr/>
          </p:nvSpPr>
          <p:spPr>
            <a:xfrm>
              <a:off x="6257537" y="4636459"/>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Oval 64">
              <a:extLst>
                <a:ext uri="{FF2B5EF4-FFF2-40B4-BE49-F238E27FC236}">
                  <a16:creationId xmlns:a16="http://schemas.microsoft.com/office/drawing/2014/main" id="{F8B8404D-3A64-70DB-EFEA-5C1EF8CCD01A}"/>
                </a:ext>
              </a:extLst>
            </p:cNvPr>
            <p:cNvSpPr/>
            <p:nvPr/>
          </p:nvSpPr>
          <p:spPr>
            <a:xfrm>
              <a:off x="6907886" y="5042832"/>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26" name="Titel 2">
            <a:extLst>
              <a:ext uri="{FF2B5EF4-FFF2-40B4-BE49-F238E27FC236}">
                <a16:creationId xmlns:a16="http://schemas.microsoft.com/office/drawing/2014/main" id="{43264391-191D-B8AA-295C-E871B60CD49C}"/>
              </a:ext>
            </a:extLst>
          </p:cNvPr>
          <p:cNvSpPr>
            <a:spLocks noGrp="1"/>
          </p:cNvSpPr>
          <p:nvPr>
            <p:ph type="title"/>
          </p:nvPr>
        </p:nvSpPr>
        <p:spPr>
          <a:xfrm>
            <a:off x="407988" y="373593"/>
            <a:ext cx="11376025" cy="1065742"/>
          </a:xfrm>
        </p:spPr>
        <p:txBody>
          <a:bodyPr/>
          <a:lstStyle/>
          <a:p>
            <a:r>
              <a:rPr lang="de-AT" dirty="0"/>
              <a:t>Problem Context – Motion Control</a:t>
            </a:r>
          </a:p>
        </p:txBody>
      </p:sp>
    </p:spTree>
    <p:extLst>
      <p:ext uri="{BB962C8B-B14F-4D97-AF65-F5344CB8AC3E}">
        <p14:creationId xmlns:p14="http://schemas.microsoft.com/office/powerpoint/2010/main" val="4005535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13</a:t>
            </a:fld>
            <a:endParaRPr lang="en-US" dirty="0"/>
          </a:p>
        </p:txBody>
      </p:sp>
      <p:sp>
        <p:nvSpPr>
          <p:cNvPr id="51" name="Rectangle 1">
            <a:extLst>
              <a:ext uri="{FF2B5EF4-FFF2-40B4-BE49-F238E27FC236}">
                <a16:creationId xmlns:a16="http://schemas.microsoft.com/office/drawing/2014/main" id="{EC653236-F2AD-1FAC-CDF8-81887320998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2" name="Rectangle 2">
            <a:extLst>
              <a:ext uri="{FF2B5EF4-FFF2-40B4-BE49-F238E27FC236}">
                <a16:creationId xmlns:a16="http://schemas.microsoft.com/office/drawing/2014/main" id="{EE60B068-47B7-E64E-8545-8D38BBDEC69D}"/>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194" name="TextBox 193">
            <a:extLst>
              <a:ext uri="{FF2B5EF4-FFF2-40B4-BE49-F238E27FC236}">
                <a16:creationId xmlns:a16="http://schemas.microsoft.com/office/drawing/2014/main" id="{C5ACF434-8493-DF79-A331-24C284C88AEB}"/>
              </a:ext>
            </a:extLst>
          </p:cNvPr>
          <p:cNvSpPr txBox="1"/>
          <p:nvPr/>
        </p:nvSpPr>
        <p:spPr>
          <a:xfrm>
            <a:off x="5537483" y="1595748"/>
            <a:ext cx="2288351" cy="215444"/>
          </a:xfrm>
          <a:prstGeom prst="rect">
            <a:avLst/>
          </a:prstGeom>
          <a:noFill/>
        </p:spPr>
        <p:txBody>
          <a:bodyPr wrap="square" lIns="0" tIns="0" rIns="0" bIns="0" rtlCol="0">
            <a:spAutoFit/>
          </a:bodyPr>
          <a:lstStyle/>
          <a:p>
            <a:pPr algn="ctr"/>
            <a:r>
              <a:rPr lang="en-US" sz="1400" b="1" dirty="0">
                <a:solidFill>
                  <a:schemeClr val="tx2"/>
                </a:solidFill>
              </a:rPr>
              <a:t>Motion Control Loop</a:t>
            </a:r>
          </a:p>
        </p:txBody>
      </p:sp>
      <p:sp>
        <p:nvSpPr>
          <p:cNvPr id="12" name="Rectangle: Rounded Corners 11">
            <a:extLst>
              <a:ext uri="{FF2B5EF4-FFF2-40B4-BE49-F238E27FC236}">
                <a16:creationId xmlns:a16="http://schemas.microsoft.com/office/drawing/2014/main" id="{7B5664E1-9637-37EB-3A6A-8B572BBD2CDB}"/>
              </a:ext>
            </a:extLst>
          </p:cNvPr>
          <p:cNvSpPr/>
          <p:nvPr/>
        </p:nvSpPr>
        <p:spPr>
          <a:xfrm>
            <a:off x="2233378" y="2288192"/>
            <a:ext cx="2340363" cy="660640"/>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JointsTrajectoryGenerator</a:t>
            </a:r>
            <a:endParaRPr lang="en-GB" sz="1400" dirty="0">
              <a:solidFill>
                <a:srgbClr val="003399"/>
              </a:solidFill>
            </a:endParaRPr>
          </a:p>
        </p:txBody>
      </p:sp>
      <p:sp>
        <p:nvSpPr>
          <p:cNvPr id="24" name="TextBox 23">
            <a:extLst>
              <a:ext uri="{FF2B5EF4-FFF2-40B4-BE49-F238E27FC236}">
                <a16:creationId xmlns:a16="http://schemas.microsoft.com/office/drawing/2014/main" id="{2F04EC0C-E936-009D-3F64-5ECC528C62A7}"/>
              </a:ext>
            </a:extLst>
          </p:cNvPr>
          <p:cNvSpPr txBox="1"/>
          <p:nvPr/>
        </p:nvSpPr>
        <p:spPr>
          <a:xfrm>
            <a:off x="401537" y="2511752"/>
            <a:ext cx="864685" cy="215444"/>
          </a:xfrm>
          <a:prstGeom prst="rect">
            <a:avLst/>
          </a:prstGeom>
          <a:noFill/>
        </p:spPr>
        <p:txBody>
          <a:bodyPr wrap="square" lIns="0" tIns="0" rIns="0" bIns="0" rtlCol="0">
            <a:spAutoFit/>
          </a:bodyPr>
          <a:lstStyle/>
          <a:p>
            <a:pPr algn="ctr"/>
            <a:r>
              <a:rPr lang="en-US" sz="1400" dirty="0">
                <a:solidFill>
                  <a:schemeClr val="tx2"/>
                </a:solidFill>
              </a:rPr>
              <a:t>Joint path</a:t>
            </a:r>
            <a:endParaRPr lang="en-GB" sz="1400" dirty="0">
              <a:solidFill>
                <a:schemeClr val="tx2"/>
              </a:solidFill>
            </a:endParaRPr>
          </a:p>
        </p:txBody>
      </p:sp>
      <p:sp>
        <p:nvSpPr>
          <p:cNvPr id="26" name="TextBox 25">
            <a:extLst>
              <a:ext uri="{FF2B5EF4-FFF2-40B4-BE49-F238E27FC236}">
                <a16:creationId xmlns:a16="http://schemas.microsoft.com/office/drawing/2014/main" id="{BB008CC9-BD20-22A2-825E-7A577297C16E}"/>
              </a:ext>
            </a:extLst>
          </p:cNvPr>
          <p:cNvSpPr txBox="1"/>
          <p:nvPr/>
        </p:nvSpPr>
        <p:spPr>
          <a:xfrm>
            <a:off x="4463047" y="3679225"/>
            <a:ext cx="1610464" cy="507831"/>
          </a:xfrm>
          <a:prstGeom prst="rect">
            <a:avLst/>
          </a:prstGeom>
          <a:noFill/>
        </p:spPr>
        <p:txBody>
          <a:bodyPr wrap="square" lIns="0" tIns="0" rIns="0" bIns="0" rtlCol="0">
            <a:spAutoFit/>
          </a:bodyPr>
          <a:lstStyle/>
          <a:p>
            <a:pPr algn="ctr"/>
            <a:r>
              <a:rPr lang="en-US" sz="1200" dirty="0">
                <a:solidFill>
                  <a:schemeClr val="tx2"/>
                </a:solidFill>
              </a:rPr>
              <a:t>Trajectory point:</a:t>
            </a:r>
          </a:p>
          <a:p>
            <a:pPr algn="ctr"/>
            <a:r>
              <a:rPr lang="en-US" sz="1000" dirty="0">
                <a:solidFill>
                  <a:schemeClr val="tx2"/>
                </a:solidFill>
              </a:rPr>
              <a:t>Task pose, velocity, acceleration at </a:t>
            </a:r>
            <a:r>
              <a:rPr lang="en-US" sz="1000" i="1" dirty="0">
                <a:solidFill>
                  <a:schemeClr val="tx2"/>
                </a:solidFill>
              </a:rPr>
              <a:t>t</a:t>
            </a:r>
          </a:p>
        </p:txBody>
      </p:sp>
      <p:sp>
        <p:nvSpPr>
          <p:cNvPr id="31" name="TextBox 30">
            <a:extLst>
              <a:ext uri="{FF2B5EF4-FFF2-40B4-BE49-F238E27FC236}">
                <a16:creationId xmlns:a16="http://schemas.microsoft.com/office/drawing/2014/main" id="{84E42186-E29E-9F38-CFBE-A7C905A0B2CB}"/>
              </a:ext>
            </a:extLst>
          </p:cNvPr>
          <p:cNvSpPr txBox="1"/>
          <p:nvPr/>
        </p:nvSpPr>
        <p:spPr>
          <a:xfrm>
            <a:off x="10058335" y="3103703"/>
            <a:ext cx="1522790" cy="553998"/>
          </a:xfrm>
          <a:prstGeom prst="rect">
            <a:avLst/>
          </a:prstGeom>
          <a:noFill/>
        </p:spPr>
        <p:txBody>
          <a:bodyPr wrap="square" lIns="0" tIns="0" rIns="0" bIns="0" rtlCol="0">
            <a:spAutoFit/>
          </a:bodyPr>
          <a:lstStyle/>
          <a:p>
            <a:pPr algn="ctr"/>
            <a:r>
              <a:rPr lang="en-US" sz="1200" dirty="0">
                <a:solidFill>
                  <a:schemeClr val="tx2"/>
                </a:solidFill>
              </a:rPr>
              <a:t>Actual joint angles, velocities, accelerations at </a:t>
            </a:r>
            <a:r>
              <a:rPr lang="en-US" sz="1200" i="1" dirty="0">
                <a:solidFill>
                  <a:schemeClr val="tx2"/>
                </a:solidFill>
              </a:rPr>
              <a:t>t</a:t>
            </a:r>
          </a:p>
        </p:txBody>
      </p:sp>
      <p:cxnSp>
        <p:nvCxnSpPr>
          <p:cNvPr id="48" name="Straight Arrow Connector 47">
            <a:extLst>
              <a:ext uri="{FF2B5EF4-FFF2-40B4-BE49-F238E27FC236}">
                <a16:creationId xmlns:a16="http://schemas.microsoft.com/office/drawing/2014/main" id="{DF76875B-3595-BDFF-DAF6-C5FA00EC56B3}"/>
              </a:ext>
            </a:extLst>
          </p:cNvPr>
          <p:cNvCxnSpPr>
            <a:cxnSpLocks/>
            <a:stCxn id="61" idx="3"/>
          </p:cNvCxnSpPr>
          <p:nvPr/>
        </p:nvCxnSpPr>
        <p:spPr>
          <a:xfrm>
            <a:off x="10123727" y="3089393"/>
            <a:ext cx="1913345" cy="0"/>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58932DBA-BC85-1349-2412-47475D88E2FF}"/>
              </a:ext>
            </a:extLst>
          </p:cNvPr>
          <p:cNvCxnSpPr>
            <a:cxnSpLocks/>
            <a:stCxn id="24" idx="3"/>
            <a:endCxn id="12" idx="1"/>
          </p:cNvCxnSpPr>
          <p:nvPr/>
        </p:nvCxnSpPr>
        <p:spPr>
          <a:xfrm flipV="1">
            <a:off x="1266222" y="2618512"/>
            <a:ext cx="967156" cy="962"/>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grpSp>
        <p:nvGrpSpPr>
          <p:cNvPr id="183" name="Group 182">
            <a:extLst>
              <a:ext uri="{FF2B5EF4-FFF2-40B4-BE49-F238E27FC236}">
                <a16:creationId xmlns:a16="http://schemas.microsoft.com/office/drawing/2014/main" id="{AC62FBFA-1A77-63C6-7ED3-E88F3AABA500}"/>
              </a:ext>
            </a:extLst>
          </p:cNvPr>
          <p:cNvGrpSpPr/>
          <p:nvPr/>
        </p:nvGrpSpPr>
        <p:grpSpPr>
          <a:xfrm>
            <a:off x="2537250" y="4195078"/>
            <a:ext cx="1766536" cy="1112840"/>
            <a:chOff x="2764634" y="4139767"/>
            <a:chExt cx="1766536" cy="1112840"/>
          </a:xfrm>
        </p:grpSpPr>
        <p:grpSp>
          <p:nvGrpSpPr>
            <p:cNvPr id="59" name="Group 58">
              <a:extLst>
                <a:ext uri="{FF2B5EF4-FFF2-40B4-BE49-F238E27FC236}">
                  <a16:creationId xmlns:a16="http://schemas.microsoft.com/office/drawing/2014/main" id="{A5943475-B085-B35A-5263-8F093510124F}"/>
                </a:ext>
              </a:extLst>
            </p:cNvPr>
            <p:cNvGrpSpPr/>
            <p:nvPr/>
          </p:nvGrpSpPr>
          <p:grpSpPr>
            <a:xfrm>
              <a:off x="2764634" y="4139767"/>
              <a:ext cx="1766536" cy="1112840"/>
              <a:chOff x="1279822" y="2270598"/>
              <a:chExt cx="6050258" cy="3811399"/>
            </a:xfrm>
          </p:grpSpPr>
          <p:sp>
            <p:nvSpPr>
              <p:cNvPr id="53" name="Freeform 13">
                <a:extLst>
                  <a:ext uri="{FF2B5EF4-FFF2-40B4-BE49-F238E27FC236}">
                    <a16:creationId xmlns:a16="http://schemas.microsoft.com/office/drawing/2014/main" id="{44D2AACD-115B-47D7-C112-D7465DCE67D9}"/>
                  </a:ext>
                </a:extLst>
              </p:cNvPr>
              <p:cNvSpPr/>
              <p:nvPr/>
            </p:nvSpPr>
            <p:spPr>
              <a:xfrm>
                <a:off x="3907305" y="2270598"/>
                <a:ext cx="3422775" cy="3411874"/>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a:p>
            </p:txBody>
          </p:sp>
          <p:sp>
            <p:nvSpPr>
              <p:cNvPr id="54" name="Freeform 14">
                <a:extLst>
                  <a:ext uri="{FF2B5EF4-FFF2-40B4-BE49-F238E27FC236}">
                    <a16:creationId xmlns:a16="http://schemas.microsoft.com/office/drawing/2014/main" id="{573CC85B-9049-472B-55F1-9ED651A5230E}"/>
                  </a:ext>
                </a:extLst>
              </p:cNvPr>
              <p:cNvSpPr/>
              <p:nvPr/>
            </p:nvSpPr>
            <p:spPr>
              <a:xfrm>
                <a:off x="2048828" y="3976535"/>
                <a:ext cx="2388253" cy="2105462"/>
              </a:xfrm>
              <a:custGeom>
                <a:avLst/>
                <a:gdLst/>
                <a:ahLst/>
                <a:cxnLst/>
                <a:rect l="l" t="t" r="r" b="b"/>
                <a:pathLst>
                  <a:path w="2388253" h="2105462">
                    <a:moveTo>
                      <a:pt x="0" y="0"/>
                    </a:moveTo>
                    <a:lnTo>
                      <a:pt x="2388253" y="0"/>
                    </a:lnTo>
                    <a:lnTo>
                      <a:pt x="2388253" y="2105462"/>
                    </a:lnTo>
                    <a:lnTo>
                      <a:pt x="0" y="2105462"/>
                    </a:lnTo>
                    <a:lnTo>
                      <a:pt x="0" y="0"/>
                    </a:lnTo>
                    <a:close/>
                  </a:path>
                </a:pathLst>
              </a:custGeom>
              <a:blipFill>
                <a:blip r:embed="rId4"/>
                <a:stretch>
                  <a:fillRect l="-16072" t="-8057"/>
                </a:stretch>
              </a:blipFill>
            </p:spPr>
            <p:txBody>
              <a:bodyPr/>
              <a:lstStyle/>
              <a:p>
                <a:endParaRPr lang="en-GB"/>
              </a:p>
            </p:txBody>
          </p:sp>
          <p:sp>
            <p:nvSpPr>
              <p:cNvPr id="55" name="Freeform 15">
                <a:extLst>
                  <a:ext uri="{FF2B5EF4-FFF2-40B4-BE49-F238E27FC236}">
                    <a16:creationId xmlns:a16="http://schemas.microsoft.com/office/drawing/2014/main" id="{BD363C21-221D-56D3-4830-B8D684F4F759}"/>
                  </a:ext>
                </a:extLst>
              </p:cNvPr>
              <p:cNvSpPr/>
              <p:nvPr/>
            </p:nvSpPr>
            <p:spPr>
              <a:xfrm>
                <a:off x="2722572" y="4644763"/>
                <a:ext cx="613182" cy="613182"/>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56" name="Freeform 16">
                <a:extLst>
                  <a:ext uri="{FF2B5EF4-FFF2-40B4-BE49-F238E27FC236}">
                    <a16:creationId xmlns:a16="http://schemas.microsoft.com/office/drawing/2014/main" id="{988AF4C0-DFFE-306C-85F9-66361AE532B6}"/>
                  </a:ext>
                </a:extLst>
              </p:cNvPr>
              <p:cNvSpPr/>
              <p:nvPr/>
            </p:nvSpPr>
            <p:spPr>
              <a:xfrm>
                <a:off x="1279822" y="4260259"/>
                <a:ext cx="871200" cy="871200"/>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57" name="Freeform 17">
                <a:extLst>
                  <a:ext uri="{FF2B5EF4-FFF2-40B4-BE49-F238E27FC236}">
                    <a16:creationId xmlns:a16="http://schemas.microsoft.com/office/drawing/2014/main" id="{E9B138FF-71E0-36CE-834B-8FCA4C048BDD}"/>
                  </a:ext>
                </a:extLst>
              </p:cNvPr>
              <p:cNvSpPr/>
              <p:nvPr/>
            </p:nvSpPr>
            <p:spPr>
              <a:xfrm>
                <a:off x="1537428" y="2951690"/>
                <a:ext cx="1041177" cy="1188065"/>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grpSp>
        <p:sp>
          <p:nvSpPr>
            <p:cNvPr id="70" name="Oval 69">
              <a:extLst>
                <a:ext uri="{FF2B5EF4-FFF2-40B4-BE49-F238E27FC236}">
                  <a16:creationId xmlns:a16="http://schemas.microsoft.com/office/drawing/2014/main" id="{4465AF42-EFFD-94C9-137F-F24C6544CE8D}"/>
                </a:ext>
              </a:extLst>
            </p:cNvPr>
            <p:cNvSpPr/>
            <p:nvPr/>
          </p:nvSpPr>
          <p:spPr>
            <a:xfrm>
              <a:off x="3074762" y="4750848"/>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Oval 73">
              <a:extLst>
                <a:ext uri="{FF2B5EF4-FFF2-40B4-BE49-F238E27FC236}">
                  <a16:creationId xmlns:a16="http://schemas.microsoft.com/office/drawing/2014/main" id="{8EB7E373-558B-1F67-BB57-7C7A591EC271}"/>
                </a:ext>
              </a:extLst>
            </p:cNvPr>
            <p:cNvSpPr/>
            <p:nvPr/>
          </p:nvSpPr>
          <p:spPr>
            <a:xfrm>
              <a:off x="3065857" y="5012949"/>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Oval 74">
              <a:extLst>
                <a:ext uri="{FF2B5EF4-FFF2-40B4-BE49-F238E27FC236}">
                  <a16:creationId xmlns:a16="http://schemas.microsoft.com/office/drawing/2014/main" id="{6AA539B3-AD13-EF54-3FD3-985153C01E93}"/>
                </a:ext>
              </a:extLst>
            </p:cNvPr>
            <p:cNvSpPr/>
            <p:nvPr/>
          </p:nvSpPr>
          <p:spPr>
            <a:xfrm>
              <a:off x="3404320" y="4999695"/>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Oval 75">
              <a:extLst>
                <a:ext uri="{FF2B5EF4-FFF2-40B4-BE49-F238E27FC236}">
                  <a16:creationId xmlns:a16="http://schemas.microsoft.com/office/drawing/2014/main" id="{265CD327-CCA6-C723-6F0C-EAC7FB5751DC}"/>
                </a:ext>
              </a:extLst>
            </p:cNvPr>
            <p:cNvSpPr/>
            <p:nvPr/>
          </p:nvSpPr>
          <p:spPr>
            <a:xfrm>
              <a:off x="3669353" y="4991789"/>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Oval 76">
              <a:extLst>
                <a:ext uri="{FF2B5EF4-FFF2-40B4-BE49-F238E27FC236}">
                  <a16:creationId xmlns:a16="http://schemas.microsoft.com/office/drawing/2014/main" id="{6E158899-C04B-124A-0DBD-614336D6D325}"/>
                </a:ext>
              </a:extLst>
            </p:cNvPr>
            <p:cNvSpPr/>
            <p:nvPr/>
          </p:nvSpPr>
          <p:spPr>
            <a:xfrm>
              <a:off x="3019004" y="4585416"/>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77" name="Group 176">
            <a:extLst>
              <a:ext uri="{FF2B5EF4-FFF2-40B4-BE49-F238E27FC236}">
                <a16:creationId xmlns:a16="http://schemas.microsoft.com/office/drawing/2014/main" id="{687D5065-9A8E-7A30-E4C1-072727CA7275}"/>
              </a:ext>
            </a:extLst>
          </p:cNvPr>
          <p:cNvGrpSpPr/>
          <p:nvPr/>
        </p:nvGrpSpPr>
        <p:grpSpPr>
          <a:xfrm>
            <a:off x="116581" y="4126473"/>
            <a:ext cx="1766536" cy="996188"/>
            <a:chOff x="492958" y="4181396"/>
            <a:chExt cx="1766536" cy="996188"/>
          </a:xfrm>
        </p:grpSpPr>
        <p:sp>
          <p:nvSpPr>
            <p:cNvPr id="79" name="Freeform 13">
              <a:extLst>
                <a:ext uri="{FF2B5EF4-FFF2-40B4-BE49-F238E27FC236}">
                  <a16:creationId xmlns:a16="http://schemas.microsoft.com/office/drawing/2014/main" id="{D0F48302-30D8-A28A-760A-5B10F237F5EA}"/>
                </a:ext>
              </a:extLst>
            </p:cNvPr>
            <p:cNvSpPr/>
            <p:nvPr/>
          </p:nvSpPr>
          <p:spPr>
            <a:xfrm>
              <a:off x="1260123" y="4181396"/>
              <a:ext cx="999371" cy="996188"/>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a:p>
          </p:txBody>
        </p:sp>
        <p:sp>
          <p:nvSpPr>
            <p:cNvPr id="81" name="Freeform 15">
              <a:extLst>
                <a:ext uri="{FF2B5EF4-FFF2-40B4-BE49-F238E27FC236}">
                  <a16:creationId xmlns:a16="http://schemas.microsoft.com/office/drawing/2014/main" id="{55FF864B-82DF-EFAA-D14B-8774E4CDA3F2}"/>
                </a:ext>
              </a:extLst>
            </p:cNvPr>
            <p:cNvSpPr/>
            <p:nvPr/>
          </p:nvSpPr>
          <p:spPr>
            <a:xfrm>
              <a:off x="914208" y="4874597"/>
              <a:ext cx="179035" cy="179035"/>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82" name="Freeform 16">
              <a:extLst>
                <a:ext uri="{FF2B5EF4-FFF2-40B4-BE49-F238E27FC236}">
                  <a16:creationId xmlns:a16="http://schemas.microsoft.com/office/drawing/2014/main" id="{12265872-FC61-83A0-4849-CF0905325610}"/>
                </a:ext>
              </a:extLst>
            </p:cNvPr>
            <p:cNvSpPr/>
            <p:nvPr/>
          </p:nvSpPr>
          <p:spPr>
            <a:xfrm>
              <a:off x="492958" y="4762331"/>
              <a:ext cx="254370" cy="254370"/>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83" name="Freeform 17">
              <a:extLst>
                <a:ext uri="{FF2B5EF4-FFF2-40B4-BE49-F238E27FC236}">
                  <a16:creationId xmlns:a16="http://schemas.microsoft.com/office/drawing/2014/main" id="{01167393-70BC-B27F-7E19-EAC92C61D237}"/>
                </a:ext>
              </a:extLst>
            </p:cNvPr>
            <p:cNvSpPr/>
            <p:nvPr/>
          </p:nvSpPr>
          <p:spPr>
            <a:xfrm>
              <a:off x="568173" y="4380259"/>
              <a:ext cx="304000" cy="346887"/>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dirty="0"/>
            </a:p>
          </p:txBody>
        </p:sp>
        <p:sp>
          <p:nvSpPr>
            <p:cNvPr id="84" name="Oval 83">
              <a:extLst>
                <a:ext uri="{FF2B5EF4-FFF2-40B4-BE49-F238E27FC236}">
                  <a16:creationId xmlns:a16="http://schemas.microsoft.com/office/drawing/2014/main" id="{CAAFA84F-1723-0033-DAC7-331FE98FA0D0}"/>
                </a:ext>
              </a:extLst>
            </p:cNvPr>
            <p:cNvSpPr/>
            <p:nvPr/>
          </p:nvSpPr>
          <p:spPr>
            <a:xfrm>
              <a:off x="803086" y="4792477"/>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Oval 84">
              <a:extLst>
                <a:ext uri="{FF2B5EF4-FFF2-40B4-BE49-F238E27FC236}">
                  <a16:creationId xmlns:a16="http://schemas.microsoft.com/office/drawing/2014/main" id="{EF41D1F5-03DA-CE22-1349-0168990A33AF}"/>
                </a:ext>
              </a:extLst>
            </p:cNvPr>
            <p:cNvSpPr/>
            <p:nvPr/>
          </p:nvSpPr>
          <p:spPr>
            <a:xfrm>
              <a:off x="794181" y="5054578"/>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Oval 85">
              <a:extLst>
                <a:ext uri="{FF2B5EF4-FFF2-40B4-BE49-F238E27FC236}">
                  <a16:creationId xmlns:a16="http://schemas.microsoft.com/office/drawing/2014/main" id="{1909C209-3127-CC27-ACC3-1F85C9267D82}"/>
                </a:ext>
              </a:extLst>
            </p:cNvPr>
            <p:cNvSpPr/>
            <p:nvPr/>
          </p:nvSpPr>
          <p:spPr>
            <a:xfrm>
              <a:off x="1132644" y="5041324"/>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Oval 86">
              <a:extLst>
                <a:ext uri="{FF2B5EF4-FFF2-40B4-BE49-F238E27FC236}">
                  <a16:creationId xmlns:a16="http://schemas.microsoft.com/office/drawing/2014/main" id="{F0FFA216-6B4C-5D97-20D5-0B393167E6E1}"/>
                </a:ext>
              </a:extLst>
            </p:cNvPr>
            <p:cNvSpPr/>
            <p:nvPr/>
          </p:nvSpPr>
          <p:spPr>
            <a:xfrm>
              <a:off x="1397677" y="5033418"/>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Oval 87">
              <a:extLst>
                <a:ext uri="{FF2B5EF4-FFF2-40B4-BE49-F238E27FC236}">
                  <a16:creationId xmlns:a16="http://schemas.microsoft.com/office/drawing/2014/main" id="{1C27609B-FC5B-5224-A344-A7CD5845D105}"/>
                </a:ext>
              </a:extLst>
            </p:cNvPr>
            <p:cNvSpPr/>
            <p:nvPr/>
          </p:nvSpPr>
          <p:spPr>
            <a:xfrm>
              <a:off x="747328" y="4627045"/>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TextBox 1">
            <a:extLst>
              <a:ext uri="{FF2B5EF4-FFF2-40B4-BE49-F238E27FC236}">
                <a16:creationId xmlns:a16="http://schemas.microsoft.com/office/drawing/2014/main" id="{36F6332F-DBB5-B154-9116-6B1FA39E19DA}"/>
              </a:ext>
            </a:extLst>
          </p:cNvPr>
          <p:cNvSpPr txBox="1"/>
          <p:nvPr/>
        </p:nvSpPr>
        <p:spPr>
          <a:xfrm>
            <a:off x="388516" y="3500230"/>
            <a:ext cx="864685" cy="215444"/>
          </a:xfrm>
          <a:prstGeom prst="rect">
            <a:avLst/>
          </a:prstGeom>
          <a:noFill/>
        </p:spPr>
        <p:txBody>
          <a:bodyPr wrap="square" lIns="0" tIns="0" rIns="0" bIns="0" rtlCol="0">
            <a:spAutoFit/>
          </a:bodyPr>
          <a:lstStyle/>
          <a:p>
            <a:pPr algn="ctr"/>
            <a:r>
              <a:rPr lang="en-US" sz="1400" dirty="0">
                <a:solidFill>
                  <a:schemeClr val="tx2"/>
                </a:solidFill>
              </a:rPr>
              <a:t>Task path</a:t>
            </a:r>
            <a:endParaRPr lang="en-GB" sz="1400" dirty="0">
              <a:solidFill>
                <a:schemeClr val="tx2"/>
              </a:solidFill>
            </a:endParaRPr>
          </a:p>
        </p:txBody>
      </p:sp>
      <p:sp>
        <p:nvSpPr>
          <p:cNvPr id="13" name="Rectangle: Rounded Corners 12">
            <a:extLst>
              <a:ext uri="{FF2B5EF4-FFF2-40B4-BE49-F238E27FC236}">
                <a16:creationId xmlns:a16="http://schemas.microsoft.com/office/drawing/2014/main" id="{CD5B68D5-59ED-CC78-9711-EF3EC0178897}"/>
              </a:ext>
            </a:extLst>
          </p:cNvPr>
          <p:cNvSpPr/>
          <p:nvPr/>
        </p:nvSpPr>
        <p:spPr>
          <a:xfrm>
            <a:off x="2233377" y="3268360"/>
            <a:ext cx="2340363" cy="660640"/>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TaskTrajectoryGenerator</a:t>
            </a:r>
            <a:endParaRPr lang="en-GB" sz="1400" dirty="0">
              <a:solidFill>
                <a:srgbClr val="003399"/>
              </a:solidFill>
            </a:endParaRPr>
          </a:p>
        </p:txBody>
      </p:sp>
      <p:cxnSp>
        <p:nvCxnSpPr>
          <p:cNvPr id="15" name="Straight Arrow Connector 14">
            <a:extLst>
              <a:ext uri="{FF2B5EF4-FFF2-40B4-BE49-F238E27FC236}">
                <a16:creationId xmlns:a16="http://schemas.microsoft.com/office/drawing/2014/main" id="{D74867C2-6B86-32E7-7DD5-47FEBF8FF626}"/>
              </a:ext>
            </a:extLst>
          </p:cNvPr>
          <p:cNvCxnSpPr>
            <a:cxnSpLocks/>
            <a:stCxn id="2" idx="3"/>
            <a:endCxn id="13" idx="1"/>
          </p:cNvCxnSpPr>
          <p:nvPr/>
        </p:nvCxnSpPr>
        <p:spPr>
          <a:xfrm flipV="1">
            <a:off x="1253201" y="3598680"/>
            <a:ext cx="980176" cy="9272"/>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E5990DC0-402D-5ECD-5A70-4D0652B449C9}"/>
              </a:ext>
            </a:extLst>
          </p:cNvPr>
          <p:cNvSpPr txBox="1"/>
          <p:nvPr/>
        </p:nvSpPr>
        <p:spPr>
          <a:xfrm>
            <a:off x="4341006" y="2072376"/>
            <a:ext cx="1861539" cy="507831"/>
          </a:xfrm>
          <a:prstGeom prst="rect">
            <a:avLst/>
          </a:prstGeom>
          <a:noFill/>
        </p:spPr>
        <p:txBody>
          <a:bodyPr wrap="square" lIns="0" tIns="0" rIns="0" bIns="0" rtlCol="0">
            <a:spAutoFit/>
          </a:bodyPr>
          <a:lstStyle/>
          <a:p>
            <a:pPr algn="ctr"/>
            <a:r>
              <a:rPr lang="en-US" sz="1200" dirty="0">
                <a:solidFill>
                  <a:schemeClr val="tx2"/>
                </a:solidFill>
              </a:rPr>
              <a:t>Trajectory point:</a:t>
            </a:r>
          </a:p>
          <a:p>
            <a:pPr algn="ctr"/>
            <a:r>
              <a:rPr lang="en-US" sz="1000" dirty="0">
                <a:solidFill>
                  <a:schemeClr val="tx2"/>
                </a:solidFill>
              </a:rPr>
              <a:t>Joint angles, velocities, accelerations at </a:t>
            </a:r>
            <a:r>
              <a:rPr lang="en-US" sz="1000" i="1" dirty="0">
                <a:solidFill>
                  <a:schemeClr val="tx2"/>
                </a:solidFill>
              </a:rPr>
              <a:t>t</a:t>
            </a:r>
          </a:p>
        </p:txBody>
      </p:sp>
      <p:sp>
        <p:nvSpPr>
          <p:cNvPr id="61" name="Rectangle: Rounded Corners 60">
            <a:extLst>
              <a:ext uri="{FF2B5EF4-FFF2-40B4-BE49-F238E27FC236}">
                <a16:creationId xmlns:a16="http://schemas.microsoft.com/office/drawing/2014/main" id="{803022E2-70A5-5235-01F4-DD4A6F1A1EBB}"/>
              </a:ext>
            </a:extLst>
          </p:cNvPr>
          <p:cNvSpPr/>
          <p:nvPr/>
        </p:nvSpPr>
        <p:spPr>
          <a:xfrm>
            <a:off x="8954637" y="2782020"/>
            <a:ext cx="1169090" cy="614746"/>
          </a:xfrm>
          <a:prstGeom prst="roundRect">
            <a:avLst/>
          </a:prstGeom>
          <a:solidFill>
            <a:srgbClr val="CDDCFF"/>
          </a:solidFill>
          <a:ln w="28575">
            <a:solidFill>
              <a:srgbClr val="0033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IRobot</a:t>
            </a:r>
            <a:endParaRPr lang="en-GB" dirty="0">
              <a:solidFill>
                <a:srgbClr val="003399"/>
              </a:solidFill>
            </a:endParaRPr>
          </a:p>
        </p:txBody>
      </p:sp>
      <p:cxnSp>
        <p:nvCxnSpPr>
          <p:cNvPr id="63" name="Straight Arrow Connector 62">
            <a:extLst>
              <a:ext uri="{FF2B5EF4-FFF2-40B4-BE49-F238E27FC236}">
                <a16:creationId xmlns:a16="http://schemas.microsoft.com/office/drawing/2014/main" id="{BC7118E0-4E37-160D-4A62-8EA1B2435B17}"/>
              </a:ext>
            </a:extLst>
          </p:cNvPr>
          <p:cNvCxnSpPr>
            <a:cxnSpLocks/>
            <a:stCxn id="22" idx="3"/>
            <a:endCxn id="61" idx="1"/>
          </p:cNvCxnSpPr>
          <p:nvPr/>
        </p:nvCxnSpPr>
        <p:spPr>
          <a:xfrm>
            <a:off x="7784654" y="3089393"/>
            <a:ext cx="1169983" cy="0"/>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Connector: Elbow 129">
            <a:extLst>
              <a:ext uri="{FF2B5EF4-FFF2-40B4-BE49-F238E27FC236}">
                <a16:creationId xmlns:a16="http://schemas.microsoft.com/office/drawing/2014/main" id="{77BBEC6E-30B0-F137-F289-FE0403443A82}"/>
              </a:ext>
            </a:extLst>
          </p:cNvPr>
          <p:cNvCxnSpPr>
            <a:cxnSpLocks/>
            <a:stCxn id="61" idx="3"/>
            <a:endCxn id="22" idx="0"/>
          </p:cNvCxnSpPr>
          <p:nvPr/>
        </p:nvCxnSpPr>
        <p:spPr>
          <a:xfrm flipH="1" flipV="1">
            <a:off x="6844291" y="2268988"/>
            <a:ext cx="3279436" cy="820405"/>
          </a:xfrm>
          <a:prstGeom prst="bentConnector4">
            <a:avLst>
              <a:gd name="adj1" fmla="val -19460"/>
              <a:gd name="adj2" fmla="val 127864"/>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sp>
        <p:nvSpPr>
          <p:cNvPr id="185" name="TextBox 184">
            <a:extLst>
              <a:ext uri="{FF2B5EF4-FFF2-40B4-BE49-F238E27FC236}">
                <a16:creationId xmlns:a16="http://schemas.microsoft.com/office/drawing/2014/main" id="{0121430F-78F0-804F-7C2D-83E5D5F50D2A}"/>
              </a:ext>
            </a:extLst>
          </p:cNvPr>
          <p:cNvSpPr txBox="1"/>
          <p:nvPr/>
        </p:nvSpPr>
        <p:spPr>
          <a:xfrm>
            <a:off x="4765528" y="2975258"/>
            <a:ext cx="496096" cy="215444"/>
          </a:xfrm>
          <a:prstGeom prst="rect">
            <a:avLst/>
          </a:prstGeom>
          <a:noFill/>
        </p:spPr>
        <p:txBody>
          <a:bodyPr wrap="square" lIns="0" tIns="0" rIns="0" bIns="0" rtlCol="0">
            <a:spAutoFit/>
          </a:bodyPr>
          <a:lstStyle/>
          <a:p>
            <a:pPr algn="ctr"/>
            <a:r>
              <a:rPr lang="en-US" sz="1400" dirty="0">
                <a:solidFill>
                  <a:schemeClr val="tx2"/>
                </a:solidFill>
              </a:rPr>
              <a:t>OR</a:t>
            </a:r>
            <a:endParaRPr lang="en-GB" sz="1400" dirty="0">
              <a:solidFill>
                <a:schemeClr val="tx2"/>
              </a:solidFill>
            </a:endParaRPr>
          </a:p>
        </p:txBody>
      </p:sp>
      <p:grpSp>
        <p:nvGrpSpPr>
          <p:cNvPr id="267" name="Group 266">
            <a:extLst>
              <a:ext uri="{FF2B5EF4-FFF2-40B4-BE49-F238E27FC236}">
                <a16:creationId xmlns:a16="http://schemas.microsoft.com/office/drawing/2014/main" id="{EE67F576-27BA-375F-17AD-3845DB1CA7C2}"/>
              </a:ext>
            </a:extLst>
          </p:cNvPr>
          <p:cNvGrpSpPr/>
          <p:nvPr/>
        </p:nvGrpSpPr>
        <p:grpSpPr>
          <a:xfrm>
            <a:off x="5903927" y="2268988"/>
            <a:ext cx="1880727" cy="1640809"/>
            <a:chOff x="5872702" y="2923491"/>
            <a:chExt cx="1880727" cy="1640809"/>
          </a:xfrm>
        </p:grpSpPr>
        <p:sp>
          <p:nvSpPr>
            <p:cNvPr id="22" name="Rectangle: Rounded Corners 21">
              <a:extLst>
                <a:ext uri="{FF2B5EF4-FFF2-40B4-BE49-F238E27FC236}">
                  <a16:creationId xmlns:a16="http://schemas.microsoft.com/office/drawing/2014/main" id="{9A919D92-8230-6FF1-2566-05478A8EF652}"/>
                </a:ext>
              </a:extLst>
            </p:cNvPr>
            <p:cNvSpPr/>
            <p:nvPr/>
          </p:nvSpPr>
          <p:spPr>
            <a:xfrm>
              <a:off x="5872702" y="2923491"/>
              <a:ext cx="1880727" cy="1640809"/>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rgbClr val="003399"/>
                </a:solidFill>
              </a:endParaRPr>
            </a:p>
          </p:txBody>
        </p:sp>
        <p:sp>
          <p:nvSpPr>
            <p:cNvPr id="231" name="TextBox 230">
              <a:extLst>
                <a:ext uri="{FF2B5EF4-FFF2-40B4-BE49-F238E27FC236}">
                  <a16:creationId xmlns:a16="http://schemas.microsoft.com/office/drawing/2014/main" id="{EA8A29FD-1F9C-33D7-393E-775D9C78F47C}"/>
                </a:ext>
              </a:extLst>
            </p:cNvPr>
            <p:cNvSpPr txBox="1"/>
            <p:nvPr/>
          </p:nvSpPr>
          <p:spPr>
            <a:xfrm>
              <a:off x="6156403" y="2981589"/>
              <a:ext cx="1263612" cy="307777"/>
            </a:xfrm>
            <a:prstGeom prst="rect">
              <a:avLst/>
            </a:prstGeom>
            <a:noFill/>
          </p:spPr>
          <p:txBody>
            <a:bodyPr wrap="square">
              <a:spAutoFit/>
            </a:bodyPr>
            <a:lstStyle/>
            <a:p>
              <a:pPr algn="ctr"/>
              <a:r>
                <a:rPr lang="en-US" sz="1400" dirty="0" err="1">
                  <a:solidFill>
                    <a:srgbClr val="003399"/>
                  </a:solidFill>
                </a:rPr>
                <a:t>IController</a:t>
              </a:r>
              <a:endParaRPr lang="en-GB" dirty="0">
                <a:solidFill>
                  <a:srgbClr val="003399"/>
                </a:solidFill>
              </a:endParaRPr>
            </a:p>
          </p:txBody>
        </p:sp>
        <p:sp>
          <p:nvSpPr>
            <p:cNvPr id="233" name="Rectangle: Rounded Corners 232">
              <a:extLst>
                <a:ext uri="{FF2B5EF4-FFF2-40B4-BE49-F238E27FC236}">
                  <a16:creationId xmlns:a16="http://schemas.microsoft.com/office/drawing/2014/main" id="{46056832-B6D8-E4D6-D9BB-4798D507D268}"/>
                </a:ext>
              </a:extLst>
            </p:cNvPr>
            <p:cNvSpPr/>
            <p:nvPr/>
          </p:nvSpPr>
          <p:spPr>
            <a:xfrm>
              <a:off x="6015262" y="3991399"/>
              <a:ext cx="1581337" cy="444864"/>
            </a:xfrm>
            <a:prstGeom prst="roundRect">
              <a:avLst/>
            </a:prstGeom>
            <a:solidFill>
              <a:srgbClr val="E1E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PID</a:t>
              </a:r>
              <a:endParaRPr lang="en-GB" sz="1200" dirty="0">
                <a:solidFill>
                  <a:schemeClr val="tx1"/>
                </a:solidFill>
              </a:endParaRPr>
            </a:p>
          </p:txBody>
        </p:sp>
      </p:grpSp>
      <p:sp>
        <p:nvSpPr>
          <p:cNvPr id="285" name="Rectangle: Rounded Corners 284">
            <a:extLst>
              <a:ext uri="{FF2B5EF4-FFF2-40B4-BE49-F238E27FC236}">
                <a16:creationId xmlns:a16="http://schemas.microsoft.com/office/drawing/2014/main" id="{B9B9C5F0-D2B3-97EE-9174-9821A634C819}"/>
              </a:ext>
            </a:extLst>
          </p:cNvPr>
          <p:cNvSpPr/>
          <p:nvPr/>
        </p:nvSpPr>
        <p:spPr>
          <a:xfrm>
            <a:off x="1960761" y="1856699"/>
            <a:ext cx="9564489" cy="3733767"/>
          </a:xfrm>
          <a:prstGeom prst="roundRect">
            <a:avLst>
              <a:gd name="adj" fmla="val 9139"/>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2" name="Group 301">
            <a:extLst>
              <a:ext uri="{FF2B5EF4-FFF2-40B4-BE49-F238E27FC236}">
                <a16:creationId xmlns:a16="http://schemas.microsoft.com/office/drawing/2014/main" id="{5AABDC37-FF31-649E-EA73-0417347C77B0}"/>
              </a:ext>
            </a:extLst>
          </p:cNvPr>
          <p:cNvGrpSpPr/>
          <p:nvPr/>
        </p:nvGrpSpPr>
        <p:grpSpPr>
          <a:xfrm>
            <a:off x="9702471" y="4197165"/>
            <a:ext cx="1766536" cy="996188"/>
            <a:chOff x="1279822" y="2270598"/>
            <a:chExt cx="6050258" cy="3411874"/>
          </a:xfrm>
        </p:grpSpPr>
        <p:sp>
          <p:nvSpPr>
            <p:cNvPr id="332" name="Freeform 13">
              <a:extLst>
                <a:ext uri="{FF2B5EF4-FFF2-40B4-BE49-F238E27FC236}">
                  <a16:creationId xmlns:a16="http://schemas.microsoft.com/office/drawing/2014/main" id="{3953A0E9-DFF9-F1EF-B0A1-9CB563D33B8D}"/>
                </a:ext>
              </a:extLst>
            </p:cNvPr>
            <p:cNvSpPr/>
            <p:nvPr/>
          </p:nvSpPr>
          <p:spPr>
            <a:xfrm>
              <a:off x="3907305" y="2270598"/>
              <a:ext cx="3422775" cy="3411874"/>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dirty="0"/>
            </a:p>
          </p:txBody>
        </p:sp>
        <p:sp>
          <p:nvSpPr>
            <p:cNvPr id="334" name="Freeform 15">
              <a:extLst>
                <a:ext uri="{FF2B5EF4-FFF2-40B4-BE49-F238E27FC236}">
                  <a16:creationId xmlns:a16="http://schemas.microsoft.com/office/drawing/2014/main" id="{FD6CC5C4-1D56-52BF-5B40-1B1760470574}"/>
                </a:ext>
              </a:extLst>
            </p:cNvPr>
            <p:cNvSpPr/>
            <p:nvPr/>
          </p:nvSpPr>
          <p:spPr>
            <a:xfrm>
              <a:off x="2722572" y="4644763"/>
              <a:ext cx="613182" cy="613182"/>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335" name="Freeform 16">
              <a:extLst>
                <a:ext uri="{FF2B5EF4-FFF2-40B4-BE49-F238E27FC236}">
                  <a16:creationId xmlns:a16="http://schemas.microsoft.com/office/drawing/2014/main" id="{DF8403D7-D5D5-415D-00DB-601AEDA4288A}"/>
                </a:ext>
              </a:extLst>
            </p:cNvPr>
            <p:cNvSpPr/>
            <p:nvPr/>
          </p:nvSpPr>
          <p:spPr>
            <a:xfrm>
              <a:off x="1279822" y="4260259"/>
              <a:ext cx="871200" cy="871200"/>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336" name="Freeform 17">
              <a:extLst>
                <a:ext uri="{FF2B5EF4-FFF2-40B4-BE49-F238E27FC236}">
                  <a16:creationId xmlns:a16="http://schemas.microsoft.com/office/drawing/2014/main" id="{0DE68B71-A28E-85ED-D79F-03979342F637}"/>
                </a:ext>
              </a:extLst>
            </p:cNvPr>
            <p:cNvSpPr/>
            <p:nvPr/>
          </p:nvSpPr>
          <p:spPr>
            <a:xfrm>
              <a:off x="1537428" y="2951690"/>
              <a:ext cx="1041177" cy="1188065"/>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grpSp>
      <p:sp>
        <p:nvSpPr>
          <p:cNvPr id="345" name="TextBox 344">
            <a:extLst>
              <a:ext uri="{FF2B5EF4-FFF2-40B4-BE49-F238E27FC236}">
                <a16:creationId xmlns:a16="http://schemas.microsoft.com/office/drawing/2014/main" id="{3686B25E-70CF-4354-5CA0-03485B8CFA22}"/>
              </a:ext>
            </a:extLst>
          </p:cNvPr>
          <p:cNvSpPr txBox="1"/>
          <p:nvPr/>
        </p:nvSpPr>
        <p:spPr>
          <a:xfrm>
            <a:off x="7700940" y="3114314"/>
            <a:ext cx="1364863" cy="553998"/>
          </a:xfrm>
          <a:prstGeom prst="rect">
            <a:avLst/>
          </a:prstGeom>
          <a:noFill/>
        </p:spPr>
        <p:txBody>
          <a:bodyPr wrap="square" lIns="0" tIns="0" rIns="0" bIns="0" rtlCol="0">
            <a:spAutoFit/>
          </a:bodyPr>
          <a:lstStyle/>
          <a:p>
            <a:pPr algn="ctr"/>
            <a:r>
              <a:rPr lang="en-US" sz="1200" dirty="0">
                <a:solidFill>
                  <a:schemeClr val="tx2"/>
                </a:solidFill>
              </a:rPr>
              <a:t>Joint angles, </a:t>
            </a:r>
          </a:p>
          <a:p>
            <a:pPr algn="ctr"/>
            <a:r>
              <a:rPr lang="en-US" sz="1200" dirty="0">
                <a:solidFill>
                  <a:schemeClr val="tx2"/>
                </a:solidFill>
              </a:rPr>
              <a:t>velocities, accelerations at </a:t>
            </a:r>
            <a:r>
              <a:rPr lang="en-US" sz="1200" i="1" dirty="0">
                <a:solidFill>
                  <a:schemeClr val="tx2"/>
                </a:solidFill>
              </a:rPr>
              <a:t>t</a:t>
            </a:r>
          </a:p>
        </p:txBody>
      </p:sp>
      <p:cxnSp>
        <p:nvCxnSpPr>
          <p:cNvPr id="8" name="Straight Arrow Connector 7">
            <a:extLst>
              <a:ext uri="{FF2B5EF4-FFF2-40B4-BE49-F238E27FC236}">
                <a16:creationId xmlns:a16="http://schemas.microsoft.com/office/drawing/2014/main" id="{98337B5C-0307-CC93-AFAF-E11F5D860CB7}"/>
              </a:ext>
            </a:extLst>
          </p:cNvPr>
          <p:cNvCxnSpPr/>
          <p:nvPr/>
        </p:nvCxnSpPr>
        <p:spPr>
          <a:xfrm>
            <a:off x="5261624" y="3082980"/>
            <a:ext cx="642303" cy="6413"/>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40696DA-CB4A-EDE5-1F66-CB10A28EE35C}"/>
              </a:ext>
            </a:extLst>
          </p:cNvPr>
          <p:cNvCxnSpPr>
            <a:cxnSpLocks/>
          </p:cNvCxnSpPr>
          <p:nvPr/>
        </p:nvCxnSpPr>
        <p:spPr>
          <a:xfrm>
            <a:off x="4573741" y="2618512"/>
            <a:ext cx="683876" cy="96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6358F49-9A09-D9C9-EA0E-65F5B137E9C4}"/>
              </a:ext>
            </a:extLst>
          </p:cNvPr>
          <p:cNvCxnSpPr>
            <a:cxnSpLocks/>
          </p:cNvCxnSpPr>
          <p:nvPr/>
        </p:nvCxnSpPr>
        <p:spPr>
          <a:xfrm>
            <a:off x="4573740" y="3598680"/>
            <a:ext cx="685881" cy="927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B1E114A-80D1-B435-579B-6DDC699A1C22}"/>
              </a:ext>
            </a:extLst>
          </p:cNvPr>
          <p:cNvCxnSpPr>
            <a:cxnSpLocks/>
          </p:cNvCxnSpPr>
          <p:nvPr/>
        </p:nvCxnSpPr>
        <p:spPr>
          <a:xfrm>
            <a:off x="5257617" y="2619474"/>
            <a:ext cx="0" cy="98847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12AF5E4B-2C47-BB52-682B-B5744E4A67F7}"/>
              </a:ext>
            </a:extLst>
          </p:cNvPr>
          <p:cNvSpPr/>
          <p:nvPr/>
        </p:nvSpPr>
        <p:spPr>
          <a:xfrm>
            <a:off x="10001669" y="4664431"/>
            <a:ext cx="670527" cy="538090"/>
          </a:xfrm>
          <a:custGeom>
            <a:avLst/>
            <a:gdLst>
              <a:gd name="connsiteX0" fmla="*/ 0 w 819150"/>
              <a:gd name="connsiteY0" fmla="*/ 0 h 505609"/>
              <a:gd name="connsiteX1" fmla="*/ 88900 w 819150"/>
              <a:gd name="connsiteY1" fmla="*/ 79375 h 505609"/>
              <a:gd name="connsiteX2" fmla="*/ 66675 w 819150"/>
              <a:gd name="connsiteY2" fmla="*/ 193675 h 505609"/>
              <a:gd name="connsiteX3" fmla="*/ 12700 w 819150"/>
              <a:gd name="connsiteY3" fmla="*/ 339725 h 505609"/>
              <a:gd name="connsiteX4" fmla="*/ 53975 w 819150"/>
              <a:gd name="connsiteY4" fmla="*/ 460375 h 505609"/>
              <a:gd name="connsiteX5" fmla="*/ 196850 w 819150"/>
              <a:gd name="connsiteY5" fmla="*/ 504825 h 505609"/>
              <a:gd name="connsiteX6" fmla="*/ 403225 w 819150"/>
              <a:gd name="connsiteY6" fmla="*/ 428625 h 505609"/>
              <a:gd name="connsiteX7" fmla="*/ 571500 w 819150"/>
              <a:gd name="connsiteY7" fmla="*/ 377825 h 505609"/>
              <a:gd name="connsiteX8" fmla="*/ 819150 w 819150"/>
              <a:gd name="connsiteY8" fmla="*/ 450850 h 505609"/>
              <a:gd name="connsiteX0" fmla="*/ 0 w 692150"/>
              <a:gd name="connsiteY0" fmla="*/ 0 h 505609"/>
              <a:gd name="connsiteX1" fmla="*/ 88900 w 692150"/>
              <a:gd name="connsiteY1" fmla="*/ 79375 h 505609"/>
              <a:gd name="connsiteX2" fmla="*/ 66675 w 692150"/>
              <a:gd name="connsiteY2" fmla="*/ 193675 h 505609"/>
              <a:gd name="connsiteX3" fmla="*/ 12700 w 692150"/>
              <a:gd name="connsiteY3" fmla="*/ 339725 h 505609"/>
              <a:gd name="connsiteX4" fmla="*/ 53975 w 692150"/>
              <a:gd name="connsiteY4" fmla="*/ 460375 h 505609"/>
              <a:gd name="connsiteX5" fmla="*/ 196850 w 692150"/>
              <a:gd name="connsiteY5" fmla="*/ 504825 h 505609"/>
              <a:gd name="connsiteX6" fmla="*/ 403225 w 692150"/>
              <a:gd name="connsiteY6" fmla="*/ 428625 h 505609"/>
              <a:gd name="connsiteX7" fmla="*/ 571500 w 692150"/>
              <a:gd name="connsiteY7" fmla="*/ 377825 h 505609"/>
              <a:gd name="connsiteX8" fmla="*/ 692150 w 692150"/>
              <a:gd name="connsiteY8" fmla="*/ 403225 h 505609"/>
              <a:gd name="connsiteX0" fmla="*/ 0 w 692150"/>
              <a:gd name="connsiteY0" fmla="*/ 0 h 505609"/>
              <a:gd name="connsiteX1" fmla="*/ 88900 w 692150"/>
              <a:gd name="connsiteY1" fmla="*/ 79375 h 505609"/>
              <a:gd name="connsiteX2" fmla="*/ 66675 w 692150"/>
              <a:gd name="connsiteY2" fmla="*/ 193675 h 505609"/>
              <a:gd name="connsiteX3" fmla="*/ 12700 w 692150"/>
              <a:gd name="connsiteY3" fmla="*/ 339725 h 505609"/>
              <a:gd name="connsiteX4" fmla="*/ 53975 w 692150"/>
              <a:gd name="connsiteY4" fmla="*/ 460375 h 505609"/>
              <a:gd name="connsiteX5" fmla="*/ 196850 w 692150"/>
              <a:gd name="connsiteY5" fmla="*/ 504825 h 505609"/>
              <a:gd name="connsiteX6" fmla="*/ 403225 w 692150"/>
              <a:gd name="connsiteY6" fmla="*/ 428625 h 505609"/>
              <a:gd name="connsiteX7" fmla="*/ 571500 w 692150"/>
              <a:gd name="connsiteY7" fmla="*/ 377825 h 505609"/>
              <a:gd name="connsiteX8" fmla="*/ 692150 w 692150"/>
              <a:gd name="connsiteY8" fmla="*/ 403225 h 505609"/>
              <a:gd name="connsiteX0" fmla="*/ 0 w 692150"/>
              <a:gd name="connsiteY0" fmla="*/ 0 h 506323"/>
              <a:gd name="connsiteX1" fmla="*/ 88900 w 692150"/>
              <a:gd name="connsiteY1" fmla="*/ 79375 h 506323"/>
              <a:gd name="connsiteX2" fmla="*/ 66675 w 692150"/>
              <a:gd name="connsiteY2" fmla="*/ 193675 h 506323"/>
              <a:gd name="connsiteX3" fmla="*/ 12700 w 692150"/>
              <a:gd name="connsiteY3" fmla="*/ 339725 h 506323"/>
              <a:gd name="connsiteX4" fmla="*/ 53975 w 692150"/>
              <a:gd name="connsiteY4" fmla="*/ 460375 h 506323"/>
              <a:gd name="connsiteX5" fmla="*/ 196850 w 692150"/>
              <a:gd name="connsiteY5" fmla="*/ 504825 h 506323"/>
              <a:gd name="connsiteX6" fmla="*/ 425450 w 692150"/>
              <a:gd name="connsiteY6" fmla="*/ 412750 h 506323"/>
              <a:gd name="connsiteX7" fmla="*/ 571500 w 692150"/>
              <a:gd name="connsiteY7" fmla="*/ 377825 h 506323"/>
              <a:gd name="connsiteX8" fmla="*/ 692150 w 692150"/>
              <a:gd name="connsiteY8" fmla="*/ 403225 h 506323"/>
              <a:gd name="connsiteX0" fmla="*/ 0 w 692150"/>
              <a:gd name="connsiteY0" fmla="*/ 0 h 519023"/>
              <a:gd name="connsiteX1" fmla="*/ 88900 w 692150"/>
              <a:gd name="connsiteY1" fmla="*/ 92075 h 519023"/>
              <a:gd name="connsiteX2" fmla="*/ 66675 w 692150"/>
              <a:gd name="connsiteY2" fmla="*/ 206375 h 519023"/>
              <a:gd name="connsiteX3" fmla="*/ 12700 w 692150"/>
              <a:gd name="connsiteY3" fmla="*/ 352425 h 519023"/>
              <a:gd name="connsiteX4" fmla="*/ 53975 w 692150"/>
              <a:gd name="connsiteY4" fmla="*/ 473075 h 519023"/>
              <a:gd name="connsiteX5" fmla="*/ 196850 w 692150"/>
              <a:gd name="connsiteY5" fmla="*/ 517525 h 519023"/>
              <a:gd name="connsiteX6" fmla="*/ 425450 w 692150"/>
              <a:gd name="connsiteY6" fmla="*/ 425450 h 519023"/>
              <a:gd name="connsiteX7" fmla="*/ 571500 w 692150"/>
              <a:gd name="connsiteY7" fmla="*/ 390525 h 519023"/>
              <a:gd name="connsiteX8" fmla="*/ 692150 w 692150"/>
              <a:gd name="connsiteY8" fmla="*/ 415925 h 519023"/>
              <a:gd name="connsiteX0" fmla="*/ 0 w 692150"/>
              <a:gd name="connsiteY0" fmla="*/ 0 h 519023"/>
              <a:gd name="connsiteX1" fmla="*/ 104775 w 692150"/>
              <a:gd name="connsiteY1" fmla="*/ 92075 h 519023"/>
              <a:gd name="connsiteX2" fmla="*/ 66675 w 692150"/>
              <a:gd name="connsiteY2" fmla="*/ 206375 h 519023"/>
              <a:gd name="connsiteX3" fmla="*/ 12700 w 692150"/>
              <a:gd name="connsiteY3" fmla="*/ 352425 h 519023"/>
              <a:gd name="connsiteX4" fmla="*/ 53975 w 692150"/>
              <a:gd name="connsiteY4" fmla="*/ 473075 h 519023"/>
              <a:gd name="connsiteX5" fmla="*/ 196850 w 692150"/>
              <a:gd name="connsiteY5" fmla="*/ 517525 h 519023"/>
              <a:gd name="connsiteX6" fmla="*/ 425450 w 692150"/>
              <a:gd name="connsiteY6" fmla="*/ 425450 h 519023"/>
              <a:gd name="connsiteX7" fmla="*/ 571500 w 692150"/>
              <a:gd name="connsiteY7" fmla="*/ 390525 h 519023"/>
              <a:gd name="connsiteX8" fmla="*/ 692150 w 692150"/>
              <a:gd name="connsiteY8" fmla="*/ 415925 h 519023"/>
              <a:gd name="connsiteX0" fmla="*/ 16101 w 679676"/>
              <a:gd name="connsiteY0" fmla="*/ 0 h 538073"/>
              <a:gd name="connsiteX1" fmla="*/ 92301 w 679676"/>
              <a:gd name="connsiteY1" fmla="*/ 111125 h 538073"/>
              <a:gd name="connsiteX2" fmla="*/ 54201 w 679676"/>
              <a:gd name="connsiteY2" fmla="*/ 225425 h 538073"/>
              <a:gd name="connsiteX3" fmla="*/ 226 w 679676"/>
              <a:gd name="connsiteY3" fmla="*/ 371475 h 538073"/>
              <a:gd name="connsiteX4" fmla="*/ 41501 w 679676"/>
              <a:gd name="connsiteY4" fmla="*/ 492125 h 538073"/>
              <a:gd name="connsiteX5" fmla="*/ 184376 w 679676"/>
              <a:gd name="connsiteY5" fmla="*/ 536575 h 538073"/>
              <a:gd name="connsiteX6" fmla="*/ 412976 w 679676"/>
              <a:gd name="connsiteY6" fmla="*/ 444500 h 538073"/>
              <a:gd name="connsiteX7" fmla="*/ 559026 w 679676"/>
              <a:gd name="connsiteY7" fmla="*/ 409575 h 538073"/>
              <a:gd name="connsiteX8" fmla="*/ 679676 w 679676"/>
              <a:gd name="connsiteY8" fmla="*/ 434975 h 538073"/>
              <a:gd name="connsiteX0" fmla="*/ 16204 w 679779"/>
              <a:gd name="connsiteY0" fmla="*/ 0 h 538073"/>
              <a:gd name="connsiteX1" fmla="*/ 92404 w 679779"/>
              <a:gd name="connsiteY1" fmla="*/ 111125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6204 w 679779"/>
              <a:gd name="connsiteY0" fmla="*/ 0 h 538073"/>
              <a:gd name="connsiteX1" fmla="*/ 98754 w 679779"/>
              <a:gd name="connsiteY1" fmla="*/ 88900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6204 w 679779"/>
              <a:gd name="connsiteY0" fmla="*/ 0 h 538073"/>
              <a:gd name="connsiteX1" fmla="*/ 79704 w 679779"/>
              <a:gd name="connsiteY1" fmla="*/ 79375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5880 w 679455"/>
              <a:gd name="connsiteY0" fmla="*/ 0 h 538073"/>
              <a:gd name="connsiteX1" fmla="*/ 79380 w 679455"/>
              <a:gd name="connsiteY1" fmla="*/ 79375 h 538073"/>
              <a:gd name="connsiteX2" fmla="*/ 42868 w 679455"/>
              <a:gd name="connsiteY2" fmla="*/ 219869 h 538073"/>
              <a:gd name="connsiteX3" fmla="*/ 5 w 679455"/>
              <a:gd name="connsiteY3" fmla="*/ 371475 h 538073"/>
              <a:gd name="connsiteX4" fmla="*/ 41280 w 679455"/>
              <a:gd name="connsiteY4" fmla="*/ 492125 h 538073"/>
              <a:gd name="connsiteX5" fmla="*/ 184155 w 679455"/>
              <a:gd name="connsiteY5" fmla="*/ 536575 h 538073"/>
              <a:gd name="connsiteX6" fmla="*/ 412755 w 679455"/>
              <a:gd name="connsiteY6" fmla="*/ 444500 h 538073"/>
              <a:gd name="connsiteX7" fmla="*/ 558805 w 679455"/>
              <a:gd name="connsiteY7" fmla="*/ 409575 h 538073"/>
              <a:gd name="connsiteX8" fmla="*/ 679455 w 679455"/>
              <a:gd name="connsiteY8" fmla="*/ 434975 h 538073"/>
              <a:gd name="connsiteX0" fmla="*/ 15880 w 679455"/>
              <a:gd name="connsiteY0" fmla="*/ 0 h 538073"/>
              <a:gd name="connsiteX1" fmla="*/ 79380 w 679455"/>
              <a:gd name="connsiteY1" fmla="*/ 79375 h 538073"/>
              <a:gd name="connsiteX2" fmla="*/ 42868 w 679455"/>
              <a:gd name="connsiteY2" fmla="*/ 219869 h 538073"/>
              <a:gd name="connsiteX3" fmla="*/ 5 w 679455"/>
              <a:gd name="connsiteY3" fmla="*/ 371475 h 538073"/>
              <a:gd name="connsiteX4" fmla="*/ 41280 w 679455"/>
              <a:gd name="connsiteY4" fmla="*/ 492125 h 538073"/>
              <a:gd name="connsiteX5" fmla="*/ 184155 w 679455"/>
              <a:gd name="connsiteY5" fmla="*/ 536575 h 538073"/>
              <a:gd name="connsiteX6" fmla="*/ 412755 w 679455"/>
              <a:gd name="connsiteY6" fmla="*/ 444500 h 538073"/>
              <a:gd name="connsiteX7" fmla="*/ 558805 w 679455"/>
              <a:gd name="connsiteY7" fmla="*/ 409575 h 538073"/>
              <a:gd name="connsiteX8" fmla="*/ 679455 w 679455"/>
              <a:gd name="connsiteY8" fmla="*/ 434975 h 538073"/>
              <a:gd name="connsiteX0" fmla="*/ 6366 w 669941"/>
              <a:gd name="connsiteY0" fmla="*/ 0 h 538090"/>
              <a:gd name="connsiteX1" fmla="*/ 69866 w 669941"/>
              <a:gd name="connsiteY1" fmla="*/ 79375 h 538090"/>
              <a:gd name="connsiteX2" fmla="*/ 33354 w 669941"/>
              <a:gd name="connsiteY2" fmla="*/ 219869 h 538090"/>
              <a:gd name="connsiteX3" fmla="*/ 16 w 669941"/>
              <a:gd name="connsiteY3" fmla="*/ 369093 h 538090"/>
              <a:gd name="connsiteX4" fmla="*/ 31766 w 669941"/>
              <a:gd name="connsiteY4" fmla="*/ 492125 h 538090"/>
              <a:gd name="connsiteX5" fmla="*/ 174641 w 669941"/>
              <a:gd name="connsiteY5" fmla="*/ 536575 h 538090"/>
              <a:gd name="connsiteX6" fmla="*/ 403241 w 669941"/>
              <a:gd name="connsiteY6" fmla="*/ 444500 h 538090"/>
              <a:gd name="connsiteX7" fmla="*/ 549291 w 669941"/>
              <a:gd name="connsiteY7" fmla="*/ 409575 h 538090"/>
              <a:gd name="connsiteX8" fmla="*/ 669941 w 669941"/>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9018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6952 w 670527"/>
              <a:gd name="connsiteY0" fmla="*/ 0 h 538090"/>
              <a:gd name="connsiteX1" fmla="*/ 89502 w 670527"/>
              <a:gd name="connsiteY1" fmla="*/ 79375 h 538090"/>
              <a:gd name="connsiteX2" fmla="*/ 48228 w 670527"/>
              <a:gd name="connsiteY2" fmla="*/ 207962 h 538090"/>
              <a:gd name="connsiteX3" fmla="*/ 602 w 670527"/>
              <a:gd name="connsiteY3" fmla="*/ 369093 h 538090"/>
              <a:gd name="connsiteX4" fmla="*/ 32352 w 670527"/>
              <a:gd name="connsiteY4" fmla="*/ 492125 h 538090"/>
              <a:gd name="connsiteX5" fmla="*/ 175227 w 670527"/>
              <a:gd name="connsiteY5" fmla="*/ 536575 h 538090"/>
              <a:gd name="connsiteX6" fmla="*/ 403827 w 670527"/>
              <a:gd name="connsiteY6" fmla="*/ 444500 h 538090"/>
              <a:gd name="connsiteX7" fmla="*/ 549877 w 670527"/>
              <a:gd name="connsiteY7" fmla="*/ 409575 h 538090"/>
              <a:gd name="connsiteX8" fmla="*/ 670527 w 670527"/>
              <a:gd name="connsiteY8" fmla="*/ 434975 h 538090"/>
              <a:gd name="connsiteX0" fmla="*/ 6952 w 670527"/>
              <a:gd name="connsiteY0" fmla="*/ 0 h 538090"/>
              <a:gd name="connsiteX1" fmla="*/ 72834 w 670527"/>
              <a:gd name="connsiteY1" fmla="*/ 79375 h 538090"/>
              <a:gd name="connsiteX2" fmla="*/ 48228 w 670527"/>
              <a:gd name="connsiteY2" fmla="*/ 207962 h 538090"/>
              <a:gd name="connsiteX3" fmla="*/ 602 w 670527"/>
              <a:gd name="connsiteY3" fmla="*/ 369093 h 538090"/>
              <a:gd name="connsiteX4" fmla="*/ 32352 w 670527"/>
              <a:gd name="connsiteY4" fmla="*/ 492125 h 538090"/>
              <a:gd name="connsiteX5" fmla="*/ 175227 w 670527"/>
              <a:gd name="connsiteY5" fmla="*/ 536575 h 538090"/>
              <a:gd name="connsiteX6" fmla="*/ 403827 w 670527"/>
              <a:gd name="connsiteY6" fmla="*/ 444500 h 538090"/>
              <a:gd name="connsiteX7" fmla="*/ 549877 w 670527"/>
              <a:gd name="connsiteY7" fmla="*/ 409575 h 538090"/>
              <a:gd name="connsiteX8" fmla="*/ 670527 w 670527"/>
              <a:gd name="connsiteY8" fmla="*/ 434975 h 538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0527" h="538090">
                <a:moveTo>
                  <a:pt x="6952" y="0"/>
                </a:moveTo>
                <a:cubicBezTo>
                  <a:pt x="45846" y="23548"/>
                  <a:pt x="65955" y="44715"/>
                  <a:pt x="72834" y="79375"/>
                </a:cubicBezTo>
                <a:cubicBezTo>
                  <a:pt x="79713" y="114035"/>
                  <a:pt x="60267" y="159676"/>
                  <a:pt x="48228" y="207962"/>
                </a:cubicBezTo>
                <a:cubicBezTo>
                  <a:pt x="36189" y="256248"/>
                  <a:pt x="3248" y="321732"/>
                  <a:pt x="602" y="369093"/>
                </a:cubicBezTo>
                <a:cubicBezTo>
                  <a:pt x="-2044" y="416454"/>
                  <a:pt x="3248" y="464211"/>
                  <a:pt x="32352" y="492125"/>
                </a:cubicBezTo>
                <a:cubicBezTo>
                  <a:pt x="61456" y="520039"/>
                  <a:pt x="113315" y="544512"/>
                  <a:pt x="175227" y="536575"/>
                </a:cubicBezTo>
                <a:cubicBezTo>
                  <a:pt x="237139" y="528638"/>
                  <a:pt x="341385" y="465667"/>
                  <a:pt x="403827" y="444500"/>
                </a:cubicBezTo>
                <a:cubicBezTo>
                  <a:pt x="466269" y="423333"/>
                  <a:pt x="480556" y="405871"/>
                  <a:pt x="549877" y="409575"/>
                </a:cubicBezTo>
                <a:cubicBezTo>
                  <a:pt x="619198" y="413279"/>
                  <a:pt x="600412" y="409839"/>
                  <a:pt x="670527" y="434975"/>
                </a:cubicBezTo>
              </a:path>
            </a:pathLst>
          </a:custGeom>
          <a:noFill/>
          <a:ln w="19050">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Rounded Corners 6">
            <a:extLst>
              <a:ext uri="{FF2B5EF4-FFF2-40B4-BE49-F238E27FC236}">
                <a16:creationId xmlns:a16="http://schemas.microsoft.com/office/drawing/2014/main" id="{0C2DF086-2708-1E7D-CCAB-DDC6D7941046}"/>
              </a:ext>
            </a:extLst>
          </p:cNvPr>
          <p:cNvSpPr/>
          <p:nvPr/>
        </p:nvSpPr>
        <p:spPr>
          <a:xfrm>
            <a:off x="6046487" y="2733377"/>
            <a:ext cx="1581337" cy="465972"/>
          </a:xfrm>
          <a:prstGeom prst="roundRect">
            <a:avLst/>
          </a:prstGeom>
          <a:solidFill>
            <a:srgbClr val="E1E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Inverse Kinematics</a:t>
            </a:r>
            <a:endParaRPr lang="en-GB" sz="1200" dirty="0">
              <a:solidFill>
                <a:schemeClr val="tx1"/>
              </a:solidFill>
            </a:endParaRPr>
          </a:p>
        </p:txBody>
      </p:sp>
      <p:grpSp>
        <p:nvGrpSpPr>
          <p:cNvPr id="16" name="Group 15">
            <a:extLst>
              <a:ext uri="{FF2B5EF4-FFF2-40B4-BE49-F238E27FC236}">
                <a16:creationId xmlns:a16="http://schemas.microsoft.com/office/drawing/2014/main" id="{3650CBFE-63A2-945D-8AA2-EE1DB309C556}"/>
              </a:ext>
            </a:extLst>
          </p:cNvPr>
          <p:cNvGrpSpPr/>
          <p:nvPr/>
        </p:nvGrpSpPr>
        <p:grpSpPr>
          <a:xfrm>
            <a:off x="6003167" y="4237297"/>
            <a:ext cx="1727065" cy="945125"/>
            <a:chOff x="6003167" y="4237297"/>
            <a:chExt cx="1727065" cy="945125"/>
          </a:xfrm>
        </p:grpSpPr>
        <p:sp>
          <p:nvSpPr>
            <p:cNvPr id="17" name="Freeform 13">
              <a:extLst>
                <a:ext uri="{FF2B5EF4-FFF2-40B4-BE49-F238E27FC236}">
                  <a16:creationId xmlns:a16="http://schemas.microsoft.com/office/drawing/2014/main" id="{822677D8-1E9A-D0CD-D81E-AE0D0D288EA3}"/>
                </a:ext>
              </a:extLst>
            </p:cNvPr>
            <p:cNvSpPr/>
            <p:nvPr/>
          </p:nvSpPr>
          <p:spPr>
            <a:xfrm>
              <a:off x="6782086" y="4237297"/>
              <a:ext cx="948146" cy="945125"/>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dirty="0"/>
            </a:p>
          </p:txBody>
        </p:sp>
        <p:cxnSp>
          <p:nvCxnSpPr>
            <p:cNvPr id="18" name="Straight Connector 17">
              <a:extLst>
                <a:ext uri="{FF2B5EF4-FFF2-40B4-BE49-F238E27FC236}">
                  <a16:creationId xmlns:a16="http://schemas.microsoft.com/office/drawing/2014/main" id="{E0105A42-04A5-39E4-CB06-E2DE6C260E1D}"/>
                </a:ext>
              </a:extLst>
            </p:cNvPr>
            <p:cNvCxnSpPr>
              <a:cxnSpLocks/>
            </p:cNvCxnSpPr>
            <p:nvPr/>
          </p:nvCxnSpPr>
          <p:spPr>
            <a:xfrm flipH="1">
              <a:off x="6963780" y="4725927"/>
              <a:ext cx="7941" cy="127523"/>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C13DC80-F1AF-3BF4-8BCF-98465FE59EDE}"/>
                </a:ext>
              </a:extLst>
            </p:cNvPr>
            <p:cNvCxnSpPr>
              <a:cxnSpLocks/>
            </p:cNvCxnSpPr>
            <p:nvPr/>
          </p:nvCxnSpPr>
          <p:spPr>
            <a:xfrm>
              <a:off x="6976150" y="4733737"/>
              <a:ext cx="64799" cy="12421"/>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2AB25B-6F6D-E4E8-3EED-B46DD03EA18E}"/>
                </a:ext>
              </a:extLst>
            </p:cNvPr>
            <p:cNvCxnSpPr>
              <a:cxnSpLocks/>
            </p:cNvCxnSpPr>
            <p:nvPr/>
          </p:nvCxnSpPr>
          <p:spPr>
            <a:xfrm flipH="1">
              <a:off x="7126010" y="4777132"/>
              <a:ext cx="55251" cy="127072"/>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E248FBA-8837-50BC-B38C-8AA8703C65FE}"/>
                </a:ext>
              </a:extLst>
            </p:cNvPr>
            <p:cNvCxnSpPr>
              <a:cxnSpLocks/>
            </p:cNvCxnSpPr>
            <p:nvPr/>
          </p:nvCxnSpPr>
          <p:spPr>
            <a:xfrm>
              <a:off x="7084513" y="4754250"/>
              <a:ext cx="109449" cy="18544"/>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8020AE0-5CE3-6111-752F-5E734CD7A601}"/>
                </a:ext>
              </a:extLst>
            </p:cNvPr>
            <p:cNvCxnSpPr>
              <a:cxnSpLocks/>
            </p:cNvCxnSpPr>
            <p:nvPr/>
          </p:nvCxnSpPr>
          <p:spPr>
            <a:xfrm>
              <a:off x="7201903" y="4481372"/>
              <a:ext cx="78916" cy="36196"/>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305235C-4CA5-4061-C98D-32BDDE9B8214}"/>
                </a:ext>
              </a:extLst>
            </p:cNvPr>
            <p:cNvCxnSpPr>
              <a:cxnSpLocks/>
            </p:cNvCxnSpPr>
            <p:nvPr/>
          </p:nvCxnSpPr>
          <p:spPr>
            <a:xfrm flipV="1">
              <a:off x="7162817" y="4485010"/>
              <a:ext cx="46534" cy="65116"/>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923761CF-1327-4FFE-A5F6-E40AA44C272F}"/>
                </a:ext>
              </a:extLst>
            </p:cNvPr>
            <p:cNvSpPr/>
            <p:nvPr/>
          </p:nvSpPr>
          <p:spPr>
            <a:xfrm>
              <a:off x="6950033" y="4712049"/>
              <a:ext cx="43375" cy="43375"/>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8" name="Straight Connector 27">
              <a:extLst>
                <a:ext uri="{FF2B5EF4-FFF2-40B4-BE49-F238E27FC236}">
                  <a16:creationId xmlns:a16="http://schemas.microsoft.com/office/drawing/2014/main" id="{7AC15C74-BD31-FBD4-AF92-D3FF0A734AA0}"/>
                </a:ext>
              </a:extLst>
            </p:cNvPr>
            <p:cNvCxnSpPr>
              <a:cxnSpLocks/>
            </p:cNvCxnSpPr>
            <p:nvPr/>
          </p:nvCxnSpPr>
          <p:spPr>
            <a:xfrm flipV="1">
              <a:off x="7401672" y="4643627"/>
              <a:ext cx="113396" cy="2845"/>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80A6E84-5C93-901A-B55E-9A6AE86D2280}"/>
                </a:ext>
              </a:extLst>
            </p:cNvPr>
            <p:cNvCxnSpPr>
              <a:cxnSpLocks/>
            </p:cNvCxnSpPr>
            <p:nvPr/>
          </p:nvCxnSpPr>
          <p:spPr>
            <a:xfrm>
              <a:off x="7469276" y="4556907"/>
              <a:ext cx="57331" cy="100327"/>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F53D342-F58D-1F69-CFF4-B14DF289B9E7}"/>
                </a:ext>
              </a:extLst>
            </p:cNvPr>
            <p:cNvCxnSpPr>
              <a:cxnSpLocks/>
            </p:cNvCxnSpPr>
            <p:nvPr/>
          </p:nvCxnSpPr>
          <p:spPr>
            <a:xfrm>
              <a:off x="7280820" y="4384953"/>
              <a:ext cx="105633" cy="37724"/>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C51981D-7D72-5B80-6D50-697479A94EFE}"/>
                </a:ext>
              </a:extLst>
            </p:cNvPr>
            <p:cNvCxnSpPr>
              <a:cxnSpLocks/>
            </p:cNvCxnSpPr>
            <p:nvPr/>
          </p:nvCxnSpPr>
          <p:spPr>
            <a:xfrm>
              <a:off x="7389709" y="4425967"/>
              <a:ext cx="40938" cy="93847"/>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CDBE082-7FD9-B9C5-D5C5-3C569C795BD3}"/>
                </a:ext>
              </a:extLst>
            </p:cNvPr>
            <p:cNvCxnSpPr>
              <a:cxnSpLocks/>
            </p:cNvCxnSpPr>
            <p:nvPr/>
          </p:nvCxnSpPr>
          <p:spPr>
            <a:xfrm flipV="1">
              <a:off x="7376729" y="4915088"/>
              <a:ext cx="79567" cy="71673"/>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43DAD09-4171-CD49-9FCB-626B0CFFD977}"/>
                </a:ext>
              </a:extLst>
            </p:cNvPr>
            <p:cNvCxnSpPr>
              <a:cxnSpLocks/>
            </p:cNvCxnSpPr>
            <p:nvPr/>
          </p:nvCxnSpPr>
          <p:spPr>
            <a:xfrm>
              <a:off x="7314683" y="4899410"/>
              <a:ext cx="128976" cy="12927"/>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35" name="Arc 34">
              <a:extLst>
                <a:ext uri="{FF2B5EF4-FFF2-40B4-BE49-F238E27FC236}">
                  <a16:creationId xmlns:a16="http://schemas.microsoft.com/office/drawing/2014/main" id="{FC1E8532-8BD8-1EE0-E870-263C57E3C421}"/>
                </a:ext>
              </a:extLst>
            </p:cNvPr>
            <p:cNvSpPr/>
            <p:nvPr/>
          </p:nvSpPr>
          <p:spPr>
            <a:xfrm rot="5400000">
              <a:off x="6941868" y="4715772"/>
              <a:ext cx="72566" cy="72799"/>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6" name="Arc 35">
              <a:extLst>
                <a:ext uri="{FF2B5EF4-FFF2-40B4-BE49-F238E27FC236}">
                  <a16:creationId xmlns:a16="http://schemas.microsoft.com/office/drawing/2014/main" id="{36C756D3-F886-CFBE-5E38-61E48625EB0F}"/>
                </a:ext>
              </a:extLst>
            </p:cNvPr>
            <p:cNvSpPr/>
            <p:nvPr/>
          </p:nvSpPr>
          <p:spPr>
            <a:xfrm rot="11576616">
              <a:off x="7122937" y="4745409"/>
              <a:ext cx="72566" cy="72799"/>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7" name="Arc 36">
              <a:extLst>
                <a:ext uri="{FF2B5EF4-FFF2-40B4-BE49-F238E27FC236}">
                  <a16:creationId xmlns:a16="http://schemas.microsoft.com/office/drawing/2014/main" id="{B135AC17-AC4E-3322-1F24-255F455C39FC}"/>
                </a:ext>
              </a:extLst>
            </p:cNvPr>
            <p:cNvSpPr/>
            <p:nvPr/>
          </p:nvSpPr>
          <p:spPr>
            <a:xfrm rot="7436529">
              <a:off x="7176990" y="4463302"/>
              <a:ext cx="72566" cy="72799"/>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8" name="Arc 37">
              <a:extLst>
                <a:ext uri="{FF2B5EF4-FFF2-40B4-BE49-F238E27FC236}">
                  <a16:creationId xmlns:a16="http://schemas.microsoft.com/office/drawing/2014/main" id="{776D576C-E153-AFB6-AD0E-9413198B5889}"/>
                </a:ext>
              </a:extLst>
            </p:cNvPr>
            <p:cNvSpPr/>
            <p:nvPr/>
          </p:nvSpPr>
          <p:spPr>
            <a:xfrm rot="13139162">
              <a:off x="7365644" y="4900144"/>
              <a:ext cx="72566" cy="72799"/>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9" name="Arc 38">
              <a:extLst>
                <a:ext uri="{FF2B5EF4-FFF2-40B4-BE49-F238E27FC236}">
                  <a16:creationId xmlns:a16="http://schemas.microsoft.com/office/drawing/2014/main" id="{4A7A1E9C-80DB-1357-DC6B-F3C9922546C2}"/>
                </a:ext>
              </a:extLst>
            </p:cNvPr>
            <p:cNvSpPr/>
            <p:nvPr/>
          </p:nvSpPr>
          <p:spPr>
            <a:xfrm rot="16200000">
              <a:off x="7453146" y="4596641"/>
              <a:ext cx="72566" cy="72799"/>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0" name="Arc 39">
              <a:extLst>
                <a:ext uri="{FF2B5EF4-FFF2-40B4-BE49-F238E27FC236}">
                  <a16:creationId xmlns:a16="http://schemas.microsoft.com/office/drawing/2014/main" id="{D296A59A-9A86-F6AF-C889-94F2F1422134}"/>
                </a:ext>
              </a:extLst>
            </p:cNvPr>
            <p:cNvSpPr/>
            <p:nvPr/>
          </p:nvSpPr>
          <p:spPr>
            <a:xfrm rot="10552793">
              <a:off x="7323317" y="4378018"/>
              <a:ext cx="105273" cy="95897"/>
            </a:xfrm>
            <a:prstGeom prst="arc">
              <a:avLst>
                <a:gd name="adj1" fmla="val 15100244"/>
                <a:gd name="adj2" fmla="val 1766624"/>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1" name="Oval 40">
              <a:extLst>
                <a:ext uri="{FF2B5EF4-FFF2-40B4-BE49-F238E27FC236}">
                  <a16:creationId xmlns:a16="http://schemas.microsoft.com/office/drawing/2014/main" id="{C729D05F-33A0-C214-6A3D-9A826AE1C6C7}"/>
                </a:ext>
              </a:extLst>
            </p:cNvPr>
            <p:cNvSpPr/>
            <p:nvPr/>
          </p:nvSpPr>
          <p:spPr>
            <a:xfrm>
              <a:off x="7160156" y="4755073"/>
              <a:ext cx="43375" cy="43375"/>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Oval 41">
              <a:extLst>
                <a:ext uri="{FF2B5EF4-FFF2-40B4-BE49-F238E27FC236}">
                  <a16:creationId xmlns:a16="http://schemas.microsoft.com/office/drawing/2014/main" id="{B909C4D4-1F9F-9A9E-08F6-A916D77712A5}"/>
                </a:ext>
              </a:extLst>
            </p:cNvPr>
            <p:cNvSpPr/>
            <p:nvPr/>
          </p:nvSpPr>
          <p:spPr>
            <a:xfrm>
              <a:off x="7180215" y="4467649"/>
              <a:ext cx="43375" cy="43375"/>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Oval 42">
              <a:extLst>
                <a:ext uri="{FF2B5EF4-FFF2-40B4-BE49-F238E27FC236}">
                  <a16:creationId xmlns:a16="http://schemas.microsoft.com/office/drawing/2014/main" id="{6D41BA0E-D29C-2895-C326-202FB27E3255}"/>
                </a:ext>
              </a:extLst>
            </p:cNvPr>
            <p:cNvSpPr/>
            <p:nvPr/>
          </p:nvSpPr>
          <p:spPr>
            <a:xfrm>
              <a:off x="7357482" y="4405058"/>
              <a:ext cx="43375" cy="43375"/>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Oval 43">
              <a:extLst>
                <a:ext uri="{FF2B5EF4-FFF2-40B4-BE49-F238E27FC236}">
                  <a16:creationId xmlns:a16="http://schemas.microsoft.com/office/drawing/2014/main" id="{905A125A-7292-83A7-90F8-00B94C21BD85}"/>
                </a:ext>
              </a:extLst>
            </p:cNvPr>
            <p:cNvSpPr/>
            <p:nvPr/>
          </p:nvSpPr>
          <p:spPr>
            <a:xfrm>
              <a:off x="7416127" y="4899410"/>
              <a:ext cx="43375" cy="43375"/>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Oval 44">
              <a:extLst>
                <a:ext uri="{FF2B5EF4-FFF2-40B4-BE49-F238E27FC236}">
                  <a16:creationId xmlns:a16="http://schemas.microsoft.com/office/drawing/2014/main" id="{D90D23D8-6B82-C7B1-544E-8B7A49FC7757}"/>
                </a:ext>
              </a:extLst>
            </p:cNvPr>
            <p:cNvSpPr/>
            <p:nvPr/>
          </p:nvSpPr>
          <p:spPr>
            <a:xfrm>
              <a:off x="7504140" y="4624784"/>
              <a:ext cx="43375" cy="43375"/>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Freeform: Shape 45">
              <a:extLst>
                <a:ext uri="{FF2B5EF4-FFF2-40B4-BE49-F238E27FC236}">
                  <a16:creationId xmlns:a16="http://schemas.microsoft.com/office/drawing/2014/main" id="{6701E939-DD74-038B-0DAE-D00740443141}"/>
                </a:ext>
              </a:extLst>
            </p:cNvPr>
            <p:cNvSpPr/>
            <p:nvPr/>
          </p:nvSpPr>
          <p:spPr>
            <a:xfrm>
              <a:off x="6338571" y="4695259"/>
              <a:ext cx="581005" cy="464489"/>
            </a:xfrm>
            <a:custGeom>
              <a:avLst/>
              <a:gdLst>
                <a:gd name="connsiteX0" fmla="*/ 0 w 819150"/>
                <a:gd name="connsiteY0" fmla="*/ 0 h 505609"/>
                <a:gd name="connsiteX1" fmla="*/ 88900 w 819150"/>
                <a:gd name="connsiteY1" fmla="*/ 79375 h 505609"/>
                <a:gd name="connsiteX2" fmla="*/ 66675 w 819150"/>
                <a:gd name="connsiteY2" fmla="*/ 193675 h 505609"/>
                <a:gd name="connsiteX3" fmla="*/ 12700 w 819150"/>
                <a:gd name="connsiteY3" fmla="*/ 339725 h 505609"/>
                <a:gd name="connsiteX4" fmla="*/ 53975 w 819150"/>
                <a:gd name="connsiteY4" fmla="*/ 460375 h 505609"/>
                <a:gd name="connsiteX5" fmla="*/ 196850 w 819150"/>
                <a:gd name="connsiteY5" fmla="*/ 504825 h 505609"/>
                <a:gd name="connsiteX6" fmla="*/ 403225 w 819150"/>
                <a:gd name="connsiteY6" fmla="*/ 428625 h 505609"/>
                <a:gd name="connsiteX7" fmla="*/ 571500 w 819150"/>
                <a:gd name="connsiteY7" fmla="*/ 377825 h 505609"/>
                <a:gd name="connsiteX8" fmla="*/ 819150 w 819150"/>
                <a:gd name="connsiteY8" fmla="*/ 450850 h 505609"/>
                <a:gd name="connsiteX0" fmla="*/ 0 w 692150"/>
                <a:gd name="connsiteY0" fmla="*/ 0 h 505609"/>
                <a:gd name="connsiteX1" fmla="*/ 88900 w 692150"/>
                <a:gd name="connsiteY1" fmla="*/ 79375 h 505609"/>
                <a:gd name="connsiteX2" fmla="*/ 66675 w 692150"/>
                <a:gd name="connsiteY2" fmla="*/ 193675 h 505609"/>
                <a:gd name="connsiteX3" fmla="*/ 12700 w 692150"/>
                <a:gd name="connsiteY3" fmla="*/ 339725 h 505609"/>
                <a:gd name="connsiteX4" fmla="*/ 53975 w 692150"/>
                <a:gd name="connsiteY4" fmla="*/ 460375 h 505609"/>
                <a:gd name="connsiteX5" fmla="*/ 196850 w 692150"/>
                <a:gd name="connsiteY5" fmla="*/ 504825 h 505609"/>
                <a:gd name="connsiteX6" fmla="*/ 403225 w 692150"/>
                <a:gd name="connsiteY6" fmla="*/ 428625 h 505609"/>
                <a:gd name="connsiteX7" fmla="*/ 571500 w 692150"/>
                <a:gd name="connsiteY7" fmla="*/ 377825 h 505609"/>
                <a:gd name="connsiteX8" fmla="*/ 692150 w 692150"/>
                <a:gd name="connsiteY8" fmla="*/ 403225 h 505609"/>
                <a:gd name="connsiteX0" fmla="*/ 0 w 692150"/>
                <a:gd name="connsiteY0" fmla="*/ 0 h 505609"/>
                <a:gd name="connsiteX1" fmla="*/ 88900 w 692150"/>
                <a:gd name="connsiteY1" fmla="*/ 79375 h 505609"/>
                <a:gd name="connsiteX2" fmla="*/ 66675 w 692150"/>
                <a:gd name="connsiteY2" fmla="*/ 193675 h 505609"/>
                <a:gd name="connsiteX3" fmla="*/ 12700 w 692150"/>
                <a:gd name="connsiteY3" fmla="*/ 339725 h 505609"/>
                <a:gd name="connsiteX4" fmla="*/ 53975 w 692150"/>
                <a:gd name="connsiteY4" fmla="*/ 460375 h 505609"/>
                <a:gd name="connsiteX5" fmla="*/ 196850 w 692150"/>
                <a:gd name="connsiteY5" fmla="*/ 504825 h 505609"/>
                <a:gd name="connsiteX6" fmla="*/ 403225 w 692150"/>
                <a:gd name="connsiteY6" fmla="*/ 428625 h 505609"/>
                <a:gd name="connsiteX7" fmla="*/ 571500 w 692150"/>
                <a:gd name="connsiteY7" fmla="*/ 377825 h 505609"/>
                <a:gd name="connsiteX8" fmla="*/ 692150 w 692150"/>
                <a:gd name="connsiteY8" fmla="*/ 403225 h 505609"/>
                <a:gd name="connsiteX0" fmla="*/ 0 w 692150"/>
                <a:gd name="connsiteY0" fmla="*/ 0 h 506323"/>
                <a:gd name="connsiteX1" fmla="*/ 88900 w 692150"/>
                <a:gd name="connsiteY1" fmla="*/ 79375 h 506323"/>
                <a:gd name="connsiteX2" fmla="*/ 66675 w 692150"/>
                <a:gd name="connsiteY2" fmla="*/ 193675 h 506323"/>
                <a:gd name="connsiteX3" fmla="*/ 12700 w 692150"/>
                <a:gd name="connsiteY3" fmla="*/ 339725 h 506323"/>
                <a:gd name="connsiteX4" fmla="*/ 53975 w 692150"/>
                <a:gd name="connsiteY4" fmla="*/ 460375 h 506323"/>
                <a:gd name="connsiteX5" fmla="*/ 196850 w 692150"/>
                <a:gd name="connsiteY5" fmla="*/ 504825 h 506323"/>
                <a:gd name="connsiteX6" fmla="*/ 425450 w 692150"/>
                <a:gd name="connsiteY6" fmla="*/ 412750 h 506323"/>
                <a:gd name="connsiteX7" fmla="*/ 571500 w 692150"/>
                <a:gd name="connsiteY7" fmla="*/ 377825 h 506323"/>
                <a:gd name="connsiteX8" fmla="*/ 692150 w 692150"/>
                <a:gd name="connsiteY8" fmla="*/ 403225 h 506323"/>
                <a:gd name="connsiteX0" fmla="*/ 0 w 692150"/>
                <a:gd name="connsiteY0" fmla="*/ 0 h 519023"/>
                <a:gd name="connsiteX1" fmla="*/ 88900 w 692150"/>
                <a:gd name="connsiteY1" fmla="*/ 92075 h 519023"/>
                <a:gd name="connsiteX2" fmla="*/ 66675 w 692150"/>
                <a:gd name="connsiteY2" fmla="*/ 206375 h 519023"/>
                <a:gd name="connsiteX3" fmla="*/ 12700 w 692150"/>
                <a:gd name="connsiteY3" fmla="*/ 352425 h 519023"/>
                <a:gd name="connsiteX4" fmla="*/ 53975 w 692150"/>
                <a:gd name="connsiteY4" fmla="*/ 473075 h 519023"/>
                <a:gd name="connsiteX5" fmla="*/ 196850 w 692150"/>
                <a:gd name="connsiteY5" fmla="*/ 517525 h 519023"/>
                <a:gd name="connsiteX6" fmla="*/ 425450 w 692150"/>
                <a:gd name="connsiteY6" fmla="*/ 425450 h 519023"/>
                <a:gd name="connsiteX7" fmla="*/ 571500 w 692150"/>
                <a:gd name="connsiteY7" fmla="*/ 390525 h 519023"/>
                <a:gd name="connsiteX8" fmla="*/ 692150 w 692150"/>
                <a:gd name="connsiteY8" fmla="*/ 415925 h 519023"/>
                <a:gd name="connsiteX0" fmla="*/ 0 w 692150"/>
                <a:gd name="connsiteY0" fmla="*/ 0 h 519023"/>
                <a:gd name="connsiteX1" fmla="*/ 104775 w 692150"/>
                <a:gd name="connsiteY1" fmla="*/ 92075 h 519023"/>
                <a:gd name="connsiteX2" fmla="*/ 66675 w 692150"/>
                <a:gd name="connsiteY2" fmla="*/ 206375 h 519023"/>
                <a:gd name="connsiteX3" fmla="*/ 12700 w 692150"/>
                <a:gd name="connsiteY3" fmla="*/ 352425 h 519023"/>
                <a:gd name="connsiteX4" fmla="*/ 53975 w 692150"/>
                <a:gd name="connsiteY4" fmla="*/ 473075 h 519023"/>
                <a:gd name="connsiteX5" fmla="*/ 196850 w 692150"/>
                <a:gd name="connsiteY5" fmla="*/ 517525 h 519023"/>
                <a:gd name="connsiteX6" fmla="*/ 425450 w 692150"/>
                <a:gd name="connsiteY6" fmla="*/ 425450 h 519023"/>
                <a:gd name="connsiteX7" fmla="*/ 571500 w 692150"/>
                <a:gd name="connsiteY7" fmla="*/ 390525 h 519023"/>
                <a:gd name="connsiteX8" fmla="*/ 692150 w 692150"/>
                <a:gd name="connsiteY8" fmla="*/ 415925 h 519023"/>
                <a:gd name="connsiteX0" fmla="*/ 16101 w 679676"/>
                <a:gd name="connsiteY0" fmla="*/ 0 h 538073"/>
                <a:gd name="connsiteX1" fmla="*/ 92301 w 679676"/>
                <a:gd name="connsiteY1" fmla="*/ 111125 h 538073"/>
                <a:gd name="connsiteX2" fmla="*/ 54201 w 679676"/>
                <a:gd name="connsiteY2" fmla="*/ 225425 h 538073"/>
                <a:gd name="connsiteX3" fmla="*/ 226 w 679676"/>
                <a:gd name="connsiteY3" fmla="*/ 371475 h 538073"/>
                <a:gd name="connsiteX4" fmla="*/ 41501 w 679676"/>
                <a:gd name="connsiteY4" fmla="*/ 492125 h 538073"/>
                <a:gd name="connsiteX5" fmla="*/ 184376 w 679676"/>
                <a:gd name="connsiteY5" fmla="*/ 536575 h 538073"/>
                <a:gd name="connsiteX6" fmla="*/ 412976 w 679676"/>
                <a:gd name="connsiteY6" fmla="*/ 444500 h 538073"/>
                <a:gd name="connsiteX7" fmla="*/ 559026 w 679676"/>
                <a:gd name="connsiteY7" fmla="*/ 409575 h 538073"/>
                <a:gd name="connsiteX8" fmla="*/ 679676 w 679676"/>
                <a:gd name="connsiteY8" fmla="*/ 434975 h 538073"/>
                <a:gd name="connsiteX0" fmla="*/ 16204 w 679779"/>
                <a:gd name="connsiteY0" fmla="*/ 0 h 538073"/>
                <a:gd name="connsiteX1" fmla="*/ 92404 w 679779"/>
                <a:gd name="connsiteY1" fmla="*/ 111125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6204 w 679779"/>
                <a:gd name="connsiteY0" fmla="*/ 0 h 538073"/>
                <a:gd name="connsiteX1" fmla="*/ 98754 w 679779"/>
                <a:gd name="connsiteY1" fmla="*/ 88900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6204 w 679779"/>
                <a:gd name="connsiteY0" fmla="*/ 0 h 538073"/>
                <a:gd name="connsiteX1" fmla="*/ 79704 w 679779"/>
                <a:gd name="connsiteY1" fmla="*/ 79375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5880 w 679455"/>
                <a:gd name="connsiteY0" fmla="*/ 0 h 538073"/>
                <a:gd name="connsiteX1" fmla="*/ 79380 w 679455"/>
                <a:gd name="connsiteY1" fmla="*/ 79375 h 538073"/>
                <a:gd name="connsiteX2" fmla="*/ 42868 w 679455"/>
                <a:gd name="connsiteY2" fmla="*/ 219869 h 538073"/>
                <a:gd name="connsiteX3" fmla="*/ 5 w 679455"/>
                <a:gd name="connsiteY3" fmla="*/ 371475 h 538073"/>
                <a:gd name="connsiteX4" fmla="*/ 41280 w 679455"/>
                <a:gd name="connsiteY4" fmla="*/ 492125 h 538073"/>
                <a:gd name="connsiteX5" fmla="*/ 184155 w 679455"/>
                <a:gd name="connsiteY5" fmla="*/ 536575 h 538073"/>
                <a:gd name="connsiteX6" fmla="*/ 412755 w 679455"/>
                <a:gd name="connsiteY6" fmla="*/ 444500 h 538073"/>
                <a:gd name="connsiteX7" fmla="*/ 558805 w 679455"/>
                <a:gd name="connsiteY7" fmla="*/ 409575 h 538073"/>
                <a:gd name="connsiteX8" fmla="*/ 679455 w 679455"/>
                <a:gd name="connsiteY8" fmla="*/ 434975 h 538073"/>
                <a:gd name="connsiteX0" fmla="*/ 15880 w 679455"/>
                <a:gd name="connsiteY0" fmla="*/ 0 h 538073"/>
                <a:gd name="connsiteX1" fmla="*/ 79380 w 679455"/>
                <a:gd name="connsiteY1" fmla="*/ 79375 h 538073"/>
                <a:gd name="connsiteX2" fmla="*/ 42868 w 679455"/>
                <a:gd name="connsiteY2" fmla="*/ 219869 h 538073"/>
                <a:gd name="connsiteX3" fmla="*/ 5 w 679455"/>
                <a:gd name="connsiteY3" fmla="*/ 371475 h 538073"/>
                <a:gd name="connsiteX4" fmla="*/ 41280 w 679455"/>
                <a:gd name="connsiteY4" fmla="*/ 492125 h 538073"/>
                <a:gd name="connsiteX5" fmla="*/ 184155 w 679455"/>
                <a:gd name="connsiteY5" fmla="*/ 536575 h 538073"/>
                <a:gd name="connsiteX6" fmla="*/ 412755 w 679455"/>
                <a:gd name="connsiteY6" fmla="*/ 444500 h 538073"/>
                <a:gd name="connsiteX7" fmla="*/ 558805 w 679455"/>
                <a:gd name="connsiteY7" fmla="*/ 409575 h 538073"/>
                <a:gd name="connsiteX8" fmla="*/ 679455 w 679455"/>
                <a:gd name="connsiteY8" fmla="*/ 434975 h 538073"/>
                <a:gd name="connsiteX0" fmla="*/ 6366 w 669941"/>
                <a:gd name="connsiteY0" fmla="*/ 0 h 538090"/>
                <a:gd name="connsiteX1" fmla="*/ 69866 w 669941"/>
                <a:gd name="connsiteY1" fmla="*/ 79375 h 538090"/>
                <a:gd name="connsiteX2" fmla="*/ 33354 w 669941"/>
                <a:gd name="connsiteY2" fmla="*/ 219869 h 538090"/>
                <a:gd name="connsiteX3" fmla="*/ 16 w 669941"/>
                <a:gd name="connsiteY3" fmla="*/ 369093 h 538090"/>
                <a:gd name="connsiteX4" fmla="*/ 31766 w 669941"/>
                <a:gd name="connsiteY4" fmla="*/ 492125 h 538090"/>
                <a:gd name="connsiteX5" fmla="*/ 174641 w 669941"/>
                <a:gd name="connsiteY5" fmla="*/ 536575 h 538090"/>
                <a:gd name="connsiteX6" fmla="*/ 403241 w 669941"/>
                <a:gd name="connsiteY6" fmla="*/ 444500 h 538090"/>
                <a:gd name="connsiteX7" fmla="*/ 549291 w 669941"/>
                <a:gd name="connsiteY7" fmla="*/ 409575 h 538090"/>
                <a:gd name="connsiteX8" fmla="*/ 669941 w 669941"/>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9018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6952 w 670527"/>
                <a:gd name="connsiteY0" fmla="*/ 0 h 538090"/>
                <a:gd name="connsiteX1" fmla="*/ 89502 w 670527"/>
                <a:gd name="connsiteY1" fmla="*/ 79375 h 538090"/>
                <a:gd name="connsiteX2" fmla="*/ 48228 w 670527"/>
                <a:gd name="connsiteY2" fmla="*/ 207962 h 538090"/>
                <a:gd name="connsiteX3" fmla="*/ 602 w 670527"/>
                <a:gd name="connsiteY3" fmla="*/ 369093 h 538090"/>
                <a:gd name="connsiteX4" fmla="*/ 32352 w 670527"/>
                <a:gd name="connsiteY4" fmla="*/ 492125 h 538090"/>
                <a:gd name="connsiteX5" fmla="*/ 175227 w 670527"/>
                <a:gd name="connsiteY5" fmla="*/ 536575 h 538090"/>
                <a:gd name="connsiteX6" fmla="*/ 403827 w 670527"/>
                <a:gd name="connsiteY6" fmla="*/ 444500 h 538090"/>
                <a:gd name="connsiteX7" fmla="*/ 549877 w 670527"/>
                <a:gd name="connsiteY7" fmla="*/ 409575 h 538090"/>
                <a:gd name="connsiteX8" fmla="*/ 670527 w 670527"/>
                <a:gd name="connsiteY8" fmla="*/ 434975 h 538090"/>
                <a:gd name="connsiteX0" fmla="*/ 6952 w 670527"/>
                <a:gd name="connsiteY0" fmla="*/ 0 h 538090"/>
                <a:gd name="connsiteX1" fmla="*/ 72834 w 670527"/>
                <a:gd name="connsiteY1" fmla="*/ 79375 h 538090"/>
                <a:gd name="connsiteX2" fmla="*/ 48228 w 670527"/>
                <a:gd name="connsiteY2" fmla="*/ 207962 h 538090"/>
                <a:gd name="connsiteX3" fmla="*/ 602 w 670527"/>
                <a:gd name="connsiteY3" fmla="*/ 369093 h 538090"/>
                <a:gd name="connsiteX4" fmla="*/ 32352 w 670527"/>
                <a:gd name="connsiteY4" fmla="*/ 492125 h 538090"/>
                <a:gd name="connsiteX5" fmla="*/ 175227 w 670527"/>
                <a:gd name="connsiteY5" fmla="*/ 536575 h 538090"/>
                <a:gd name="connsiteX6" fmla="*/ 403827 w 670527"/>
                <a:gd name="connsiteY6" fmla="*/ 444500 h 538090"/>
                <a:gd name="connsiteX7" fmla="*/ 549877 w 670527"/>
                <a:gd name="connsiteY7" fmla="*/ 409575 h 538090"/>
                <a:gd name="connsiteX8" fmla="*/ 670527 w 670527"/>
                <a:gd name="connsiteY8" fmla="*/ 434975 h 538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0527" h="538090">
                  <a:moveTo>
                    <a:pt x="6952" y="0"/>
                  </a:moveTo>
                  <a:cubicBezTo>
                    <a:pt x="45846" y="23548"/>
                    <a:pt x="65955" y="44715"/>
                    <a:pt x="72834" y="79375"/>
                  </a:cubicBezTo>
                  <a:cubicBezTo>
                    <a:pt x="79713" y="114035"/>
                    <a:pt x="60267" y="159676"/>
                    <a:pt x="48228" y="207962"/>
                  </a:cubicBezTo>
                  <a:cubicBezTo>
                    <a:pt x="36189" y="256248"/>
                    <a:pt x="3248" y="321732"/>
                    <a:pt x="602" y="369093"/>
                  </a:cubicBezTo>
                  <a:cubicBezTo>
                    <a:pt x="-2044" y="416454"/>
                    <a:pt x="3248" y="464211"/>
                    <a:pt x="32352" y="492125"/>
                  </a:cubicBezTo>
                  <a:cubicBezTo>
                    <a:pt x="61456" y="520039"/>
                    <a:pt x="113315" y="544512"/>
                    <a:pt x="175227" y="536575"/>
                  </a:cubicBezTo>
                  <a:cubicBezTo>
                    <a:pt x="237139" y="528638"/>
                    <a:pt x="341385" y="465667"/>
                    <a:pt x="403827" y="444500"/>
                  </a:cubicBezTo>
                  <a:cubicBezTo>
                    <a:pt x="466269" y="423333"/>
                    <a:pt x="480556" y="405871"/>
                    <a:pt x="549877" y="409575"/>
                  </a:cubicBezTo>
                  <a:cubicBezTo>
                    <a:pt x="619198" y="413279"/>
                    <a:pt x="600412" y="409839"/>
                    <a:pt x="670527" y="434975"/>
                  </a:cubicBezTo>
                </a:path>
              </a:pathLst>
            </a:cu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47" name="Group 46">
              <a:extLst>
                <a:ext uri="{FF2B5EF4-FFF2-40B4-BE49-F238E27FC236}">
                  <a16:creationId xmlns:a16="http://schemas.microsoft.com/office/drawing/2014/main" id="{EFEB6C47-8A99-F6C9-B693-77FF9E8C05A7}"/>
                </a:ext>
              </a:extLst>
            </p:cNvPr>
            <p:cNvGrpSpPr/>
            <p:nvPr/>
          </p:nvGrpSpPr>
          <p:grpSpPr>
            <a:xfrm>
              <a:off x="6003167" y="4389673"/>
              <a:ext cx="600285" cy="673373"/>
              <a:chOff x="6003167" y="4389673"/>
              <a:chExt cx="600285" cy="673373"/>
            </a:xfrm>
          </p:grpSpPr>
          <p:sp>
            <p:nvSpPr>
              <p:cNvPr id="66" name="Freeform 15">
                <a:extLst>
                  <a:ext uri="{FF2B5EF4-FFF2-40B4-BE49-F238E27FC236}">
                    <a16:creationId xmlns:a16="http://schemas.microsoft.com/office/drawing/2014/main" id="{D045D761-165D-2BF8-B856-A428FD68FB14}"/>
                  </a:ext>
                </a:extLst>
              </p:cNvPr>
              <p:cNvSpPr/>
              <p:nvPr/>
            </p:nvSpPr>
            <p:spPr>
              <a:xfrm>
                <a:off x="6424417" y="4884011"/>
                <a:ext cx="179035" cy="179035"/>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67" name="Freeform 16">
                <a:extLst>
                  <a:ext uri="{FF2B5EF4-FFF2-40B4-BE49-F238E27FC236}">
                    <a16:creationId xmlns:a16="http://schemas.microsoft.com/office/drawing/2014/main" id="{BA159A5E-9BDB-B022-FD6A-596277841308}"/>
                  </a:ext>
                </a:extLst>
              </p:cNvPr>
              <p:cNvSpPr/>
              <p:nvPr/>
            </p:nvSpPr>
            <p:spPr>
              <a:xfrm>
                <a:off x="6003167" y="4771745"/>
                <a:ext cx="254370" cy="254370"/>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68" name="Freeform 17">
                <a:extLst>
                  <a:ext uri="{FF2B5EF4-FFF2-40B4-BE49-F238E27FC236}">
                    <a16:creationId xmlns:a16="http://schemas.microsoft.com/office/drawing/2014/main" id="{99E2C9C7-888A-EE1C-F14F-4D2C9759310E}"/>
                  </a:ext>
                </a:extLst>
              </p:cNvPr>
              <p:cNvSpPr/>
              <p:nvPr/>
            </p:nvSpPr>
            <p:spPr>
              <a:xfrm>
                <a:off x="6078382" y="4389673"/>
                <a:ext cx="304000" cy="346887"/>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grpSp>
        <p:sp>
          <p:nvSpPr>
            <p:cNvPr id="49" name="Oval 48">
              <a:extLst>
                <a:ext uri="{FF2B5EF4-FFF2-40B4-BE49-F238E27FC236}">
                  <a16:creationId xmlns:a16="http://schemas.microsoft.com/office/drawing/2014/main" id="{5463125A-2732-71FB-660D-5BFE9E1D6D86}"/>
                </a:ext>
              </a:extLst>
            </p:cNvPr>
            <p:cNvSpPr/>
            <p:nvPr/>
          </p:nvSpPr>
          <p:spPr>
            <a:xfrm>
              <a:off x="6346804" y="4801891"/>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Oval 57">
              <a:extLst>
                <a:ext uri="{FF2B5EF4-FFF2-40B4-BE49-F238E27FC236}">
                  <a16:creationId xmlns:a16="http://schemas.microsoft.com/office/drawing/2014/main" id="{1A6CEFBC-0F13-F748-38CF-65BD3FF66FAB}"/>
                </a:ext>
              </a:extLst>
            </p:cNvPr>
            <p:cNvSpPr/>
            <p:nvPr/>
          </p:nvSpPr>
          <p:spPr>
            <a:xfrm>
              <a:off x="6304390" y="5063992"/>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Oval 61">
              <a:extLst>
                <a:ext uri="{FF2B5EF4-FFF2-40B4-BE49-F238E27FC236}">
                  <a16:creationId xmlns:a16="http://schemas.microsoft.com/office/drawing/2014/main" id="{9D68DFD9-0912-BFC0-AE6E-F2F09E921DCF}"/>
                </a:ext>
              </a:extLst>
            </p:cNvPr>
            <p:cNvSpPr/>
            <p:nvPr/>
          </p:nvSpPr>
          <p:spPr>
            <a:xfrm>
              <a:off x="6642853" y="5050738"/>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Oval 63">
              <a:extLst>
                <a:ext uri="{FF2B5EF4-FFF2-40B4-BE49-F238E27FC236}">
                  <a16:creationId xmlns:a16="http://schemas.microsoft.com/office/drawing/2014/main" id="{29088150-5B8A-CA00-0C68-43E4F031D09D}"/>
                </a:ext>
              </a:extLst>
            </p:cNvPr>
            <p:cNvSpPr/>
            <p:nvPr/>
          </p:nvSpPr>
          <p:spPr>
            <a:xfrm>
              <a:off x="6257537" y="4636459"/>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Oval 64">
              <a:extLst>
                <a:ext uri="{FF2B5EF4-FFF2-40B4-BE49-F238E27FC236}">
                  <a16:creationId xmlns:a16="http://schemas.microsoft.com/office/drawing/2014/main" id="{3717E844-8FDD-7763-3729-B9C6781A7950}"/>
                </a:ext>
              </a:extLst>
            </p:cNvPr>
            <p:cNvSpPr/>
            <p:nvPr/>
          </p:nvSpPr>
          <p:spPr>
            <a:xfrm>
              <a:off x="6907886" y="5042832"/>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26" name="Titel 2">
            <a:extLst>
              <a:ext uri="{FF2B5EF4-FFF2-40B4-BE49-F238E27FC236}">
                <a16:creationId xmlns:a16="http://schemas.microsoft.com/office/drawing/2014/main" id="{CFF19DF9-619F-4372-9BAA-4A8408A0EA24}"/>
              </a:ext>
            </a:extLst>
          </p:cNvPr>
          <p:cNvSpPr>
            <a:spLocks noGrp="1"/>
          </p:cNvSpPr>
          <p:nvPr>
            <p:ph type="title"/>
          </p:nvPr>
        </p:nvSpPr>
        <p:spPr>
          <a:xfrm>
            <a:off x="407988" y="373593"/>
            <a:ext cx="11376025" cy="1065742"/>
          </a:xfrm>
        </p:spPr>
        <p:txBody>
          <a:bodyPr/>
          <a:lstStyle/>
          <a:p>
            <a:r>
              <a:rPr lang="de-AT" dirty="0"/>
              <a:t>Problem Context – Motion Control</a:t>
            </a:r>
          </a:p>
        </p:txBody>
      </p:sp>
    </p:spTree>
    <p:extLst>
      <p:ext uri="{BB962C8B-B14F-4D97-AF65-F5344CB8AC3E}">
        <p14:creationId xmlns:p14="http://schemas.microsoft.com/office/powerpoint/2010/main" val="41134640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14</a:t>
            </a:fld>
            <a:endParaRPr lang="en-US" dirty="0"/>
          </a:p>
        </p:txBody>
      </p:sp>
      <p:sp>
        <p:nvSpPr>
          <p:cNvPr id="51" name="Rectangle 1">
            <a:extLst>
              <a:ext uri="{FF2B5EF4-FFF2-40B4-BE49-F238E27FC236}">
                <a16:creationId xmlns:a16="http://schemas.microsoft.com/office/drawing/2014/main" id="{EC653236-F2AD-1FAC-CDF8-81887320998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2" name="Rectangle 2">
            <a:extLst>
              <a:ext uri="{FF2B5EF4-FFF2-40B4-BE49-F238E27FC236}">
                <a16:creationId xmlns:a16="http://schemas.microsoft.com/office/drawing/2014/main" id="{EE60B068-47B7-E64E-8545-8D38BBDEC69D}"/>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194" name="TextBox 193">
            <a:extLst>
              <a:ext uri="{FF2B5EF4-FFF2-40B4-BE49-F238E27FC236}">
                <a16:creationId xmlns:a16="http://schemas.microsoft.com/office/drawing/2014/main" id="{C5ACF434-8493-DF79-A331-24C284C88AEB}"/>
              </a:ext>
            </a:extLst>
          </p:cNvPr>
          <p:cNvSpPr txBox="1"/>
          <p:nvPr/>
        </p:nvSpPr>
        <p:spPr>
          <a:xfrm>
            <a:off x="5537483" y="1595748"/>
            <a:ext cx="2288351" cy="215444"/>
          </a:xfrm>
          <a:prstGeom prst="rect">
            <a:avLst/>
          </a:prstGeom>
          <a:noFill/>
        </p:spPr>
        <p:txBody>
          <a:bodyPr wrap="square" lIns="0" tIns="0" rIns="0" bIns="0" rtlCol="0">
            <a:spAutoFit/>
          </a:bodyPr>
          <a:lstStyle/>
          <a:p>
            <a:pPr algn="ctr"/>
            <a:r>
              <a:rPr lang="en-US" sz="1400" b="1" dirty="0">
                <a:solidFill>
                  <a:schemeClr val="tx2"/>
                </a:solidFill>
              </a:rPr>
              <a:t>Motion Control Loop</a:t>
            </a:r>
          </a:p>
        </p:txBody>
      </p:sp>
      <p:sp>
        <p:nvSpPr>
          <p:cNvPr id="12" name="Rectangle: Rounded Corners 11">
            <a:extLst>
              <a:ext uri="{FF2B5EF4-FFF2-40B4-BE49-F238E27FC236}">
                <a16:creationId xmlns:a16="http://schemas.microsoft.com/office/drawing/2014/main" id="{7B5664E1-9637-37EB-3A6A-8B572BBD2CDB}"/>
              </a:ext>
            </a:extLst>
          </p:cNvPr>
          <p:cNvSpPr/>
          <p:nvPr/>
        </p:nvSpPr>
        <p:spPr>
          <a:xfrm>
            <a:off x="2233378" y="2288192"/>
            <a:ext cx="2340363" cy="660640"/>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JointsTrajectoryGenerator</a:t>
            </a:r>
            <a:endParaRPr lang="en-GB" sz="1400" dirty="0">
              <a:solidFill>
                <a:srgbClr val="003399"/>
              </a:solidFill>
            </a:endParaRPr>
          </a:p>
        </p:txBody>
      </p:sp>
      <p:sp>
        <p:nvSpPr>
          <p:cNvPr id="24" name="TextBox 23">
            <a:extLst>
              <a:ext uri="{FF2B5EF4-FFF2-40B4-BE49-F238E27FC236}">
                <a16:creationId xmlns:a16="http://schemas.microsoft.com/office/drawing/2014/main" id="{2F04EC0C-E936-009D-3F64-5ECC528C62A7}"/>
              </a:ext>
            </a:extLst>
          </p:cNvPr>
          <p:cNvSpPr txBox="1"/>
          <p:nvPr/>
        </p:nvSpPr>
        <p:spPr>
          <a:xfrm>
            <a:off x="401537" y="2511752"/>
            <a:ext cx="864685" cy="215444"/>
          </a:xfrm>
          <a:prstGeom prst="rect">
            <a:avLst/>
          </a:prstGeom>
          <a:noFill/>
        </p:spPr>
        <p:txBody>
          <a:bodyPr wrap="square" lIns="0" tIns="0" rIns="0" bIns="0" rtlCol="0">
            <a:spAutoFit/>
          </a:bodyPr>
          <a:lstStyle/>
          <a:p>
            <a:pPr algn="ctr"/>
            <a:r>
              <a:rPr lang="en-US" sz="1400" dirty="0">
                <a:solidFill>
                  <a:schemeClr val="tx2"/>
                </a:solidFill>
              </a:rPr>
              <a:t>Joint path</a:t>
            </a:r>
            <a:endParaRPr lang="en-GB" sz="1400" dirty="0">
              <a:solidFill>
                <a:schemeClr val="tx2"/>
              </a:solidFill>
            </a:endParaRPr>
          </a:p>
        </p:txBody>
      </p:sp>
      <p:sp>
        <p:nvSpPr>
          <p:cNvPr id="26" name="TextBox 25">
            <a:extLst>
              <a:ext uri="{FF2B5EF4-FFF2-40B4-BE49-F238E27FC236}">
                <a16:creationId xmlns:a16="http://schemas.microsoft.com/office/drawing/2014/main" id="{BB008CC9-BD20-22A2-825E-7A577297C16E}"/>
              </a:ext>
            </a:extLst>
          </p:cNvPr>
          <p:cNvSpPr txBox="1"/>
          <p:nvPr/>
        </p:nvSpPr>
        <p:spPr>
          <a:xfrm>
            <a:off x="4463047" y="3679225"/>
            <a:ext cx="1610464" cy="507831"/>
          </a:xfrm>
          <a:prstGeom prst="rect">
            <a:avLst/>
          </a:prstGeom>
          <a:noFill/>
        </p:spPr>
        <p:txBody>
          <a:bodyPr wrap="square" lIns="0" tIns="0" rIns="0" bIns="0" rtlCol="0">
            <a:spAutoFit/>
          </a:bodyPr>
          <a:lstStyle/>
          <a:p>
            <a:pPr algn="ctr"/>
            <a:r>
              <a:rPr lang="en-US" sz="1200" dirty="0">
                <a:solidFill>
                  <a:schemeClr val="tx2"/>
                </a:solidFill>
              </a:rPr>
              <a:t>Trajectory point:</a:t>
            </a:r>
          </a:p>
          <a:p>
            <a:pPr algn="ctr"/>
            <a:r>
              <a:rPr lang="en-US" sz="1000" dirty="0">
                <a:solidFill>
                  <a:schemeClr val="tx2"/>
                </a:solidFill>
              </a:rPr>
              <a:t>Task pose, velocity, acceleration at </a:t>
            </a:r>
            <a:r>
              <a:rPr lang="en-US" sz="1000" i="1" dirty="0">
                <a:solidFill>
                  <a:schemeClr val="tx2"/>
                </a:solidFill>
              </a:rPr>
              <a:t>t</a:t>
            </a:r>
          </a:p>
        </p:txBody>
      </p:sp>
      <p:sp>
        <p:nvSpPr>
          <p:cNvPr id="31" name="TextBox 30">
            <a:extLst>
              <a:ext uri="{FF2B5EF4-FFF2-40B4-BE49-F238E27FC236}">
                <a16:creationId xmlns:a16="http://schemas.microsoft.com/office/drawing/2014/main" id="{84E42186-E29E-9F38-CFBE-A7C905A0B2CB}"/>
              </a:ext>
            </a:extLst>
          </p:cNvPr>
          <p:cNvSpPr txBox="1"/>
          <p:nvPr/>
        </p:nvSpPr>
        <p:spPr>
          <a:xfrm>
            <a:off x="10058335" y="3103703"/>
            <a:ext cx="1522790" cy="553998"/>
          </a:xfrm>
          <a:prstGeom prst="rect">
            <a:avLst/>
          </a:prstGeom>
          <a:noFill/>
        </p:spPr>
        <p:txBody>
          <a:bodyPr wrap="square" lIns="0" tIns="0" rIns="0" bIns="0" rtlCol="0">
            <a:spAutoFit/>
          </a:bodyPr>
          <a:lstStyle/>
          <a:p>
            <a:pPr algn="ctr"/>
            <a:r>
              <a:rPr lang="en-US" sz="1200" dirty="0">
                <a:solidFill>
                  <a:schemeClr val="tx2"/>
                </a:solidFill>
              </a:rPr>
              <a:t>Actual joint angles, velocities, accelerations at </a:t>
            </a:r>
            <a:r>
              <a:rPr lang="en-US" sz="1200" i="1" dirty="0">
                <a:solidFill>
                  <a:schemeClr val="tx2"/>
                </a:solidFill>
              </a:rPr>
              <a:t>t</a:t>
            </a:r>
          </a:p>
        </p:txBody>
      </p:sp>
      <p:cxnSp>
        <p:nvCxnSpPr>
          <p:cNvPr id="48" name="Straight Arrow Connector 47">
            <a:extLst>
              <a:ext uri="{FF2B5EF4-FFF2-40B4-BE49-F238E27FC236}">
                <a16:creationId xmlns:a16="http://schemas.microsoft.com/office/drawing/2014/main" id="{DF76875B-3595-BDFF-DAF6-C5FA00EC56B3}"/>
              </a:ext>
            </a:extLst>
          </p:cNvPr>
          <p:cNvCxnSpPr>
            <a:cxnSpLocks/>
            <a:stCxn id="61" idx="3"/>
          </p:cNvCxnSpPr>
          <p:nvPr/>
        </p:nvCxnSpPr>
        <p:spPr>
          <a:xfrm>
            <a:off x="10123727" y="3089393"/>
            <a:ext cx="1913345" cy="0"/>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58932DBA-BC85-1349-2412-47475D88E2FF}"/>
              </a:ext>
            </a:extLst>
          </p:cNvPr>
          <p:cNvCxnSpPr>
            <a:cxnSpLocks/>
            <a:stCxn id="24" idx="3"/>
            <a:endCxn id="12" idx="1"/>
          </p:cNvCxnSpPr>
          <p:nvPr/>
        </p:nvCxnSpPr>
        <p:spPr>
          <a:xfrm flipV="1">
            <a:off x="1266222" y="2618512"/>
            <a:ext cx="967156" cy="962"/>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grpSp>
        <p:nvGrpSpPr>
          <p:cNvPr id="183" name="Group 182">
            <a:extLst>
              <a:ext uri="{FF2B5EF4-FFF2-40B4-BE49-F238E27FC236}">
                <a16:creationId xmlns:a16="http://schemas.microsoft.com/office/drawing/2014/main" id="{AC62FBFA-1A77-63C6-7ED3-E88F3AABA500}"/>
              </a:ext>
            </a:extLst>
          </p:cNvPr>
          <p:cNvGrpSpPr/>
          <p:nvPr/>
        </p:nvGrpSpPr>
        <p:grpSpPr>
          <a:xfrm>
            <a:off x="2537250" y="4195078"/>
            <a:ext cx="1766536" cy="1112840"/>
            <a:chOff x="2764634" y="4139767"/>
            <a:chExt cx="1766536" cy="1112840"/>
          </a:xfrm>
        </p:grpSpPr>
        <p:grpSp>
          <p:nvGrpSpPr>
            <p:cNvPr id="59" name="Group 58">
              <a:extLst>
                <a:ext uri="{FF2B5EF4-FFF2-40B4-BE49-F238E27FC236}">
                  <a16:creationId xmlns:a16="http://schemas.microsoft.com/office/drawing/2014/main" id="{A5943475-B085-B35A-5263-8F093510124F}"/>
                </a:ext>
              </a:extLst>
            </p:cNvPr>
            <p:cNvGrpSpPr/>
            <p:nvPr/>
          </p:nvGrpSpPr>
          <p:grpSpPr>
            <a:xfrm>
              <a:off x="2764634" y="4139767"/>
              <a:ext cx="1766536" cy="1112840"/>
              <a:chOff x="1279822" y="2270598"/>
              <a:chExt cx="6050258" cy="3811399"/>
            </a:xfrm>
          </p:grpSpPr>
          <p:sp>
            <p:nvSpPr>
              <p:cNvPr id="53" name="Freeform 13">
                <a:extLst>
                  <a:ext uri="{FF2B5EF4-FFF2-40B4-BE49-F238E27FC236}">
                    <a16:creationId xmlns:a16="http://schemas.microsoft.com/office/drawing/2014/main" id="{44D2AACD-115B-47D7-C112-D7465DCE67D9}"/>
                  </a:ext>
                </a:extLst>
              </p:cNvPr>
              <p:cNvSpPr/>
              <p:nvPr/>
            </p:nvSpPr>
            <p:spPr>
              <a:xfrm>
                <a:off x="3907305" y="2270598"/>
                <a:ext cx="3422775" cy="3411874"/>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a:p>
            </p:txBody>
          </p:sp>
          <p:sp>
            <p:nvSpPr>
              <p:cNvPr id="54" name="Freeform 14">
                <a:extLst>
                  <a:ext uri="{FF2B5EF4-FFF2-40B4-BE49-F238E27FC236}">
                    <a16:creationId xmlns:a16="http://schemas.microsoft.com/office/drawing/2014/main" id="{573CC85B-9049-472B-55F1-9ED651A5230E}"/>
                  </a:ext>
                </a:extLst>
              </p:cNvPr>
              <p:cNvSpPr/>
              <p:nvPr/>
            </p:nvSpPr>
            <p:spPr>
              <a:xfrm>
                <a:off x="2048828" y="3976535"/>
                <a:ext cx="2388253" cy="2105462"/>
              </a:xfrm>
              <a:custGeom>
                <a:avLst/>
                <a:gdLst/>
                <a:ahLst/>
                <a:cxnLst/>
                <a:rect l="l" t="t" r="r" b="b"/>
                <a:pathLst>
                  <a:path w="2388253" h="2105462">
                    <a:moveTo>
                      <a:pt x="0" y="0"/>
                    </a:moveTo>
                    <a:lnTo>
                      <a:pt x="2388253" y="0"/>
                    </a:lnTo>
                    <a:lnTo>
                      <a:pt x="2388253" y="2105462"/>
                    </a:lnTo>
                    <a:lnTo>
                      <a:pt x="0" y="2105462"/>
                    </a:lnTo>
                    <a:lnTo>
                      <a:pt x="0" y="0"/>
                    </a:lnTo>
                    <a:close/>
                  </a:path>
                </a:pathLst>
              </a:custGeom>
              <a:blipFill>
                <a:blip r:embed="rId4"/>
                <a:stretch>
                  <a:fillRect l="-16072" t="-8057"/>
                </a:stretch>
              </a:blipFill>
            </p:spPr>
            <p:txBody>
              <a:bodyPr/>
              <a:lstStyle/>
              <a:p>
                <a:endParaRPr lang="en-GB"/>
              </a:p>
            </p:txBody>
          </p:sp>
          <p:sp>
            <p:nvSpPr>
              <p:cNvPr id="55" name="Freeform 15">
                <a:extLst>
                  <a:ext uri="{FF2B5EF4-FFF2-40B4-BE49-F238E27FC236}">
                    <a16:creationId xmlns:a16="http://schemas.microsoft.com/office/drawing/2014/main" id="{BD363C21-221D-56D3-4830-B8D684F4F759}"/>
                  </a:ext>
                </a:extLst>
              </p:cNvPr>
              <p:cNvSpPr/>
              <p:nvPr/>
            </p:nvSpPr>
            <p:spPr>
              <a:xfrm>
                <a:off x="2722572" y="4644763"/>
                <a:ext cx="613182" cy="613182"/>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56" name="Freeform 16">
                <a:extLst>
                  <a:ext uri="{FF2B5EF4-FFF2-40B4-BE49-F238E27FC236}">
                    <a16:creationId xmlns:a16="http://schemas.microsoft.com/office/drawing/2014/main" id="{988AF4C0-DFFE-306C-85F9-66361AE532B6}"/>
                  </a:ext>
                </a:extLst>
              </p:cNvPr>
              <p:cNvSpPr/>
              <p:nvPr/>
            </p:nvSpPr>
            <p:spPr>
              <a:xfrm>
                <a:off x="1279822" y="4260259"/>
                <a:ext cx="871200" cy="871200"/>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57" name="Freeform 17">
                <a:extLst>
                  <a:ext uri="{FF2B5EF4-FFF2-40B4-BE49-F238E27FC236}">
                    <a16:creationId xmlns:a16="http://schemas.microsoft.com/office/drawing/2014/main" id="{E9B138FF-71E0-36CE-834B-8FCA4C048BDD}"/>
                  </a:ext>
                </a:extLst>
              </p:cNvPr>
              <p:cNvSpPr/>
              <p:nvPr/>
            </p:nvSpPr>
            <p:spPr>
              <a:xfrm>
                <a:off x="1537428" y="2951690"/>
                <a:ext cx="1041177" cy="1188065"/>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grpSp>
        <p:sp>
          <p:nvSpPr>
            <p:cNvPr id="70" name="Oval 69">
              <a:extLst>
                <a:ext uri="{FF2B5EF4-FFF2-40B4-BE49-F238E27FC236}">
                  <a16:creationId xmlns:a16="http://schemas.microsoft.com/office/drawing/2014/main" id="{4465AF42-EFFD-94C9-137F-F24C6544CE8D}"/>
                </a:ext>
              </a:extLst>
            </p:cNvPr>
            <p:cNvSpPr/>
            <p:nvPr/>
          </p:nvSpPr>
          <p:spPr>
            <a:xfrm>
              <a:off x="3074762" y="4750848"/>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Oval 73">
              <a:extLst>
                <a:ext uri="{FF2B5EF4-FFF2-40B4-BE49-F238E27FC236}">
                  <a16:creationId xmlns:a16="http://schemas.microsoft.com/office/drawing/2014/main" id="{8EB7E373-558B-1F67-BB57-7C7A591EC271}"/>
                </a:ext>
              </a:extLst>
            </p:cNvPr>
            <p:cNvSpPr/>
            <p:nvPr/>
          </p:nvSpPr>
          <p:spPr>
            <a:xfrm>
              <a:off x="3065857" y="5012949"/>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Oval 74">
              <a:extLst>
                <a:ext uri="{FF2B5EF4-FFF2-40B4-BE49-F238E27FC236}">
                  <a16:creationId xmlns:a16="http://schemas.microsoft.com/office/drawing/2014/main" id="{6AA539B3-AD13-EF54-3FD3-985153C01E93}"/>
                </a:ext>
              </a:extLst>
            </p:cNvPr>
            <p:cNvSpPr/>
            <p:nvPr/>
          </p:nvSpPr>
          <p:spPr>
            <a:xfrm>
              <a:off x="3404320" y="4999695"/>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Oval 75">
              <a:extLst>
                <a:ext uri="{FF2B5EF4-FFF2-40B4-BE49-F238E27FC236}">
                  <a16:creationId xmlns:a16="http://schemas.microsoft.com/office/drawing/2014/main" id="{265CD327-CCA6-C723-6F0C-EAC7FB5751DC}"/>
                </a:ext>
              </a:extLst>
            </p:cNvPr>
            <p:cNvSpPr/>
            <p:nvPr/>
          </p:nvSpPr>
          <p:spPr>
            <a:xfrm>
              <a:off x="3669353" y="4991789"/>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Oval 76">
              <a:extLst>
                <a:ext uri="{FF2B5EF4-FFF2-40B4-BE49-F238E27FC236}">
                  <a16:creationId xmlns:a16="http://schemas.microsoft.com/office/drawing/2014/main" id="{6E158899-C04B-124A-0DBD-614336D6D325}"/>
                </a:ext>
              </a:extLst>
            </p:cNvPr>
            <p:cNvSpPr/>
            <p:nvPr/>
          </p:nvSpPr>
          <p:spPr>
            <a:xfrm>
              <a:off x="3019004" y="4585416"/>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77" name="Group 176">
            <a:extLst>
              <a:ext uri="{FF2B5EF4-FFF2-40B4-BE49-F238E27FC236}">
                <a16:creationId xmlns:a16="http://schemas.microsoft.com/office/drawing/2014/main" id="{687D5065-9A8E-7A30-E4C1-072727CA7275}"/>
              </a:ext>
            </a:extLst>
          </p:cNvPr>
          <p:cNvGrpSpPr/>
          <p:nvPr/>
        </p:nvGrpSpPr>
        <p:grpSpPr>
          <a:xfrm>
            <a:off x="116581" y="4126473"/>
            <a:ext cx="1766536" cy="996188"/>
            <a:chOff x="492958" y="4181396"/>
            <a:chExt cx="1766536" cy="996188"/>
          </a:xfrm>
        </p:grpSpPr>
        <p:sp>
          <p:nvSpPr>
            <p:cNvPr id="79" name="Freeform 13">
              <a:extLst>
                <a:ext uri="{FF2B5EF4-FFF2-40B4-BE49-F238E27FC236}">
                  <a16:creationId xmlns:a16="http://schemas.microsoft.com/office/drawing/2014/main" id="{D0F48302-30D8-A28A-760A-5B10F237F5EA}"/>
                </a:ext>
              </a:extLst>
            </p:cNvPr>
            <p:cNvSpPr/>
            <p:nvPr/>
          </p:nvSpPr>
          <p:spPr>
            <a:xfrm>
              <a:off x="1260123" y="4181396"/>
              <a:ext cx="999371" cy="996188"/>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a:p>
          </p:txBody>
        </p:sp>
        <p:sp>
          <p:nvSpPr>
            <p:cNvPr id="81" name="Freeform 15">
              <a:extLst>
                <a:ext uri="{FF2B5EF4-FFF2-40B4-BE49-F238E27FC236}">
                  <a16:creationId xmlns:a16="http://schemas.microsoft.com/office/drawing/2014/main" id="{55FF864B-82DF-EFAA-D14B-8774E4CDA3F2}"/>
                </a:ext>
              </a:extLst>
            </p:cNvPr>
            <p:cNvSpPr/>
            <p:nvPr/>
          </p:nvSpPr>
          <p:spPr>
            <a:xfrm>
              <a:off x="914208" y="4874597"/>
              <a:ext cx="179035" cy="179035"/>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82" name="Freeform 16">
              <a:extLst>
                <a:ext uri="{FF2B5EF4-FFF2-40B4-BE49-F238E27FC236}">
                  <a16:creationId xmlns:a16="http://schemas.microsoft.com/office/drawing/2014/main" id="{12265872-FC61-83A0-4849-CF0905325610}"/>
                </a:ext>
              </a:extLst>
            </p:cNvPr>
            <p:cNvSpPr/>
            <p:nvPr/>
          </p:nvSpPr>
          <p:spPr>
            <a:xfrm>
              <a:off x="492958" y="4762331"/>
              <a:ext cx="254370" cy="254370"/>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83" name="Freeform 17">
              <a:extLst>
                <a:ext uri="{FF2B5EF4-FFF2-40B4-BE49-F238E27FC236}">
                  <a16:creationId xmlns:a16="http://schemas.microsoft.com/office/drawing/2014/main" id="{01167393-70BC-B27F-7E19-EAC92C61D237}"/>
                </a:ext>
              </a:extLst>
            </p:cNvPr>
            <p:cNvSpPr/>
            <p:nvPr/>
          </p:nvSpPr>
          <p:spPr>
            <a:xfrm>
              <a:off x="568173" y="4380259"/>
              <a:ext cx="304000" cy="346887"/>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dirty="0"/>
            </a:p>
          </p:txBody>
        </p:sp>
        <p:sp>
          <p:nvSpPr>
            <p:cNvPr id="84" name="Oval 83">
              <a:extLst>
                <a:ext uri="{FF2B5EF4-FFF2-40B4-BE49-F238E27FC236}">
                  <a16:creationId xmlns:a16="http://schemas.microsoft.com/office/drawing/2014/main" id="{CAAFA84F-1723-0033-DAC7-331FE98FA0D0}"/>
                </a:ext>
              </a:extLst>
            </p:cNvPr>
            <p:cNvSpPr/>
            <p:nvPr/>
          </p:nvSpPr>
          <p:spPr>
            <a:xfrm>
              <a:off x="803086" y="4792477"/>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Oval 84">
              <a:extLst>
                <a:ext uri="{FF2B5EF4-FFF2-40B4-BE49-F238E27FC236}">
                  <a16:creationId xmlns:a16="http://schemas.microsoft.com/office/drawing/2014/main" id="{EF41D1F5-03DA-CE22-1349-0168990A33AF}"/>
                </a:ext>
              </a:extLst>
            </p:cNvPr>
            <p:cNvSpPr/>
            <p:nvPr/>
          </p:nvSpPr>
          <p:spPr>
            <a:xfrm>
              <a:off x="794181" y="5054578"/>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Oval 85">
              <a:extLst>
                <a:ext uri="{FF2B5EF4-FFF2-40B4-BE49-F238E27FC236}">
                  <a16:creationId xmlns:a16="http://schemas.microsoft.com/office/drawing/2014/main" id="{1909C209-3127-CC27-ACC3-1F85C9267D82}"/>
                </a:ext>
              </a:extLst>
            </p:cNvPr>
            <p:cNvSpPr/>
            <p:nvPr/>
          </p:nvSpPr>
          <p:spPr>
            <a:xfrm>
              <a:off x="1132644" y="5041324"/>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Oval 86">
              <a:extLst>
                <a:ext uri="{FF2B5EF4-FFF2-40B4-BE49-F238E27FC236}">
                  <a16:creationId xmlns:a16="http://schemas.microsoft.com/office/drawing/2014/main" id="{F0FFA216-6B4C-5D97-20D5-0B393167E6E1}"/>
                </a:ext>
              </a:extLst>
            </p:cNvPr>
            <p:cNvSpPr/>
            <p:nvPr/>
          </p:nvSpPr>
          <p:spPr>
            <a:xfrm>
              <a:off x="1397677" y="5033418"/>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Oval 87">
              <a:extLst>
                <a:ext uri="{FF2B5EF4-FFF2-40B4-BE49-F238E27FC236}">
                  <a16:creationId xmlns:a16="http://schemas.microsoft.com/office/drawing/2014/main" id="{1C27609B-FC5B-5224-A344-A7CD5845D105}"/>
                </a:ext>
              </a:extLst>
            </p:cNvPr>
            <p:cNvSpPr/>
            <p:nvPr/>
          </p:nvSpPr>
          <p:spPr>
            <a:xfrm>
              <a:off x="747328" y="4627045"/>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TextBox 1">
            <a:extLst>
              <a:ext uri="{FF2B5EF4-FFF2-40B4-BE49-F238E27FC236}">
                <a16:creationId xmlns:a16="http://schemas.microsoft.com/office/drawing/2014/main" id="{36F6332F-DBB5-B154-9116-6B1FA39E19DA}"/>
              </a:ext>
            </a:extLst>
          </p:cNvPr>
          <p:cNvSpPr txBox="1"/>
          <p:nvPr/>
        </p:nvSpPr>
        <p:spPr>
          <a:xfrm>
            <a:off x="388516" y="3500230"/>
            <a:ext cx="864685" cy="215444"/>
          </a:xfrm>
          <a:prstGeom prst="rect">
            <a:avLst/>
          </a:prstGeom>
          <a:noFill/>
        </p:spPr>
        <p:txBody>
          <a:bodyPr wrap="square" lIns="0" tIns="0" rIns="0" bIns="0" rtlCol="0">
            <a:spAutoFit/>
          </a:bodyPr>
          <a:lstStyle/>
          <a:p>
            <a:pPr algn="ctr"/>
            <a:r>
              <a:rPr lang="en-US" sz="1400" dirty="0">
                <a:solidFill>
                  <a:schemeClr val="tx2"/>
                </a:solidFill>
              </a:rPr>
              <a:t>Task path</a:t>
            </a:r>
            <a:endParaRPr lang="en-GB" sz="1400" dirty="0">
              <a:solidFill>
                <a:schemeClr val="tx2"/>
              </a:solidFill>
            </a:endParaRPr>
          </a:p>
        </p:txBody>
      </p:sp>
      <p:sp>
        <p:nvSpPr>
          <p:cNvPr id="13" name="Rectangle: Rounded Corners 12">
            <a:extLst>
              <a:ext uri="{FF2B5EF4-FFF2-40B4-BE49-F238E27FC236}">
                <a16:creationId xmlns:a16="http://schemas.microsoft.com/office/drawing/2014/main" id="{CD5B68D5-59ED-CC78-9711-EF3EC0178897}"/>
              </a:ext>
            </a:extLst>
          </p:cNvPr>
          <p:cNvSpPr/>
          <p:nvPr/>
        </p:nvSpPr>
        <p:spPr>
          <a:xfrm>
            <a:off x="2233377" y="3268360"/>
            <a:ext cx="2340363" cy="660640"/>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TaskTrajectoryGenerator</a:t>
            </a:r>
            <a:endParaRPr lang="en-GB" sz="1400" dirty="0">
              <a:solidFill>
                <a:srgbClr val="003399"/>
              </a:solidFill>
            </a:endParaRPr>
          </a:p>
        </p:txBody>
      </p:sp>
      <p:cxnSp>
        <p:nvCxnSpPr>
          <p:cNvPr id="15" name="Straight Arrow Connector 14">
            <a:extLst>
              <a:ext uri="{FF2B5EF4-FFF2-40B4-BE49-F238E27FC236}">
                <a16:creationId xmlns:a16="http://schemas.microsoft.com/office/drawing/2014/main" id="{D74867C2-6B86-32E7-7DD5-47FEBF8FF626}"/>
              </a:ext>
            </a:extLst>
          </p:cNvPr>
          <p:cNvCxnSpPr>
            <a:cxnSpLocks/>
            <a:stCxn id="2" idx="3"/>
            <a:endCxn id="13" idx="1"/>
          </p:cNvCxnSpPr>
          <p:nvPr/>
        </p:nvCxnSpPr>
        <p:spPr>
          <a:xfrm flipV="1">
            <a:off x="1253201" y="3598680"/>
            <a:ext cx="980176" cy="9272"/>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E5990DC0-402D-5ECD-5A70-4D0652B449C9}"/>
              </a:ext>
            </a:extLst>
          </p:cNvPr>
          <p:cNvSpPr txBox="1"/>
          <p:nvPr/>
        </p:nvSpPr>
        <p:spPr>
          <a:xfrm>
            <a:off x="4341006" y="2072376"/>
            <a:ext cx="1861539" cy="507831"/>
          </a:xfrm>
          <a:prstGeom prst="rect">
            <a:avLst/>
          </a:prstGeom>
          <a:noFill/>
        </p:spPr>
        <p:txBody>
          <a:bodyPr wrap="square" lIns="0" tIns="0" rIns="0" bIns="0" rtlCol="0">
            <a:spAutoFit/>
          </a:bodyPr>
          <a:lstStyle/>
          <a:p>
            <a:pPr algn="ctr"/>
            <a:r>
              <a:rPr lang="en-US" sz="1200" dirty="0">
                <a:solidFill>
                  <a:schemeClr val="tx2"/>
                </a:solidFill>
              </a:rPr>
              <a:t>Trajectory point:</a:t>
            </a:r>
          </a:p>
          <a:p>
            <a:pPr algn="ctr"/>
            <a:r>
              <a:rPr lang="en-US" sz="1000" dirty="0">
                <a:solidFill>
                  <a:schemeClr val="tx2"/>
                </a:solidFill>
              </a:rPr>
              <a:t>Joint angles, velocities, accelerations at </a:t>
            </a:r>
            <a:r>
              <a:rPr lang="en-US" sz="1000" i="1" dirty="0">
                <a:solidFill>
                  <a:schemeClr val="tx2"/>
                </a:solidFill>
              </a:rPr>
              <a:t>t</a:t>
            </a:r>
          </a:p>
        </p:txBody>
      </p:sp>
      <p:sp>
        <p:nvSpPr>
          <p:cNvPr id="61" name="Rectangle: Rounded Corners 60">
            <a:extLst>
              <a:ext uri="{FF2B5EF4-FFF2-40B4-BE49-F238E27FC236}">
                <a16:creationId xmlns:a16="http://schemas.microsoft.com/office/drawing/2014/main" id="{803022E2-70A5-5235-01F4-DD4A6F1A1EBB}"/>
              </a:ext>
            </a:extLst>
          </p:cNvPr>
          <p:cNvSpPr/>
          <p:nvPr/>
        </p:nvSpPr>
        <p:spPr>
          <a:xfrm>
            <a:off x="8954637" y="2782020"/>
            <a:ext cx="1169090" cy="614746"/>
          </a:xfrm>
          <a:prstGeom prst="roundRect">
            <a:avLst/>
          </a:prstGeom>
          <a:solidFill>
            <a:srgbClr val="CDDCF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IRobot</a:t>
            </a:r>
            <a:endParaRPr lang="en-GB" dirty="0">
              <a:solidFill>
                <a:srgbClr val="003399"/>
              </a:solidFill>
            </a:endParaRPr>
          </a:p>
        </p:txBody>
      </p:sp>
      <p:cxnSp>
        <p:nvCxnSpPr>
          <p:cNvPr id="63" name="Straight Arrow Connector 62">
            <a:extLst>
              <a:ext uri="{FF2B5EF4-FFF2-40B4-BE49-F238E27FC236}">
                <a16:creationId xmlns:a16="http://schemas.microsoft.com/office/drawing/2014/main" id="{BC7118E0-4E37-160D-4A62-8EA1B2435B17}"/>
              </a:ext>
            </a:extLst>
          </p:cNvPr>
          <p:cNvCxnSpPr>
            <a:cxnSpLocks/>
            <a:stCxn id="22" idx="3"/>
            <a:endCxn id="61" idx="1"/>
          </p:cNvCxnSpPr>
          <p:nvPr/>
        </p:nvCxnSpPr>
        <p:spPr>
          <a:xfrm>
            <a:off x="7784654" y="3089393"/>
            <a:ext cx="1169983" cy="0"/>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Connector: Elbow 129">
            <a:extLst>
              <a:ext uri="{FF2B5EF4-FFF2-40B4-BE49-F238E27FC236}">
                <a16:creationId xmlns:a16="http://schemas.microsoft.com/office/drawing/2014/main" id="{77BBEC6E-30B0-F137-F289-FE0403443A82}"/>
              </a:ext>
            </a:extLst>
          </p:cNvPr>
          <p:cNvCxnSpPr>
            <a:cxnSpLocks/>
            <a:stCxn id="61" idx="3"/>
            <a:endCxn id="22" idx="0"/>
          </p:cNvCxnSpPr>
          <p:nvPr/>
        </p:nvCxnSpPr>
        <p:spPr>
          <a:xfrm flipH="1" flipV="1">
            <a:off x="6844291" y="2268988"/>
            <a:ext cx="3279436" cy="820405"/>
          </a:xfrm>
          <a:prstGeom prst="bentConnector4">
            <a:avLst>
              <a:gd name="adj1" fmla="val -19460"/>
              <a:gd name="adj2" fmla="val 127864"/>
            </a:avLst>
          </a:prstGeom>
          <a:ln w="28575">
            <a:solidFill>
              <a:srgbClr val="0033A0"/>
            </a:solidFill>
            <a:tailEnd type="triangle"/>
          </a:ln>
        </p:spPr>
        <p:style>
          <a:lnRef idx="1">
            <a:schemeClr val="accent1"/>
          </a:lnRef>
          <a:fillRef idx="0">
            <a:schemeClr val="accent1"/>
          </a:fillRef>
          <a:effectRef idx="0">
            <a:schemeClr val="accent1"/>
          </a:effectRef>
          <a:fontRef idx="minor">
            <a:schemeClr val="tx1"/>
          </a:fontRef>
        </p:style>
      </p:cxnSp>
      <p:sp>
        <p:nvSpPr>
          <p:cNvPr id="185" name="TextBox 184">
            <a:extLst>
              <a:ext uri="{FF2B5EF4-FFF2-40B4-BE49-F238E27FC236}">
                <a16:creationId xmlns:a16="http://schemas.microsoft.com/office/drawing/2014/main" id="{0121430F-78F0-804F-7C2D-83E5D5F50D2A}"/>
              </a:ext>
            </a:extLst>
          </p:cNvPr>
          <p:cNvSpPr txBox="1"/>
          <p:nvPr/>
        </p:nvSpPr>
        <p:spPr>
          <a:xfrm>
            <a:off x="4765528" y="2975258"/>
            <a:ext cx="496096" cy="215444"/>
          </a:xfrm>
          <a:prstGeom prst="rect">
            <a:avLst/>
          </a:prstGeom>
          <a:noFill/>
        </p:spPr>
        <p:txBody>
          <a:bodyPr wrap="square" lIns="0" tIns="0" rIns="0" bIns="0" rtlCol="0">
            <a:spAutoFit/>
          </a:bodyPr>
          <a:lstStyle/>
          <a:p>
            <a:pPr algn="ctr"/>
            <a:r>
              <a:rPr lang="en-US" sz="1400" dirty="0">
                <a:solidFill>
                  <a:schemeClr val="tx2"/>
                </a:solidFill>
              </a:rPr>
              <a:t>OR</a:t>
            </a:r>
            <a:endParaRPr lang="en-GB" sz="1400" dirty="0">
              <a:solidFill>
                <a:schemeClr val="tx2"/>
              </a:solidFill>
            </a:endParaRPr>
          </a:p>
        </p:txBody>
      </p:sp>
      <p:grpSp>
        <p:nvGrpSpPr>
          <p:cNvPr id="267" name="Group 266">
            <a:extLst>
              <a:ext uri="{FF2B5EF4-FFF2-40B4-BE49-F238E27FC236}">
                <a16:creationId xmlns:a16="http://schemas.microsoft.com/office/drawing/2014/main" id="{EE67F576-27BA-375F-17AD-3845DB1CA7C2}"/>
              </a:ext>
            </a:extLst>
          </p:cNvPr>
          <p:cNvGrpSpPr/>
          <p:nvPr/>
        </p:nvGrpSpPr>
        <p:grpSpPr>
          <a:xfrm>
            <a:off x="5903927" y="2268988"/>
            <a:ext cx="1880727" cy="1640809"/>
            <a:chOff x="5872702" y="2923491"/>
            <a:chExt cx="1880727" cy="1640809"/>
          </a:xfrm>
        </p:grpSpPr>
        <p:sp>
          <p:nvSpPr>
            <p:cNvPr id="22" name="Rectangle: Rounded Corners 21">
              <a:extLst>
                <a:ext uri="{FF2B5EF4-FFF2-40B4-BE49-F238E27FC236}">
                  <a16:creationId xmlns:a16="http://schemas.microsoft.com/office/drawing/2014/main" id="{9A919D92-8230-6FF1-2566-05478A8EF652}"/>
                </a:ext>
              </a:extLst>
            </p:cNvPr>
            <p:cNvSpPr/>
            <p:nvPr/>
          </p:nvSpPr>
          <p:spPr>
            <a:xfrm>
              <a:off x="5872702" y="2923491"/>
              <a:ext cx="1880727" cy="1640809"/>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rgbClr val="003399"/>
                </a:solidFill>
              </a:endParaRPr>
            </a:p>
          </p:txBody>
        </p:sp>
        <p:sp>
          <p:nvSpPr>
            <p:cNvPr id="231" name="TextBox 230">
              <a:extLst>
                <a:ext uri="{FF2B5EF4-FFF2-40B4-BE49-F238E27FC236}">
                  <a16:creationId xmlns:a16="http://schemas.microsoft.com/office/drawing/2014/main" id="{EA8A29FD-1F9C-33D7-393E-775D9C78F47C}"/>
                </a:ext>
              </a:extLst>
            </p:cNvPr>
            <p:cNvSpPr txBox="1"/>
            <p:nvPr/>
          </p:nvSpPr>
          <p:spPr>
            <a:xfrm>
              <a:off x="6156403" y="2981589"/>
              <a:ext cx="1263612" cy="307777"/>
            </a:xfrm>
            <a:prstGeom prst="rect">
              <a:avLst/>
            </a:prstGeom>
            <a:noFill/>
          </p:spPr>
          <p:txBody>
            <a:bodyPr wrap="square">
              <a:spAutoFit/>
            </a:bodyPr>
            <a:lstStyle/>
            <a:p>
              <a:pPr algn="ctr"/>
              <a:r>
                <a:rPr lang="en-US" sz="1400" dirty="0" err="1">
                  <a:solidFill>
                    <a:srgbClr val="003399"/>
                  </a:solidFill>
                </a:rPr>
                <a:t>IController</a:t>
              </a:r>
              <a:endParaRPr lang="en-GB" dirty="0">
                <a:solidFill>
                  <a:srgbClr val="003399"/>
                </a:solidFill>
              </a:endParaRPr>
            </a:p>
          </p:txBody>
        </p:sp>
        <p:sp>
          <p:nvSpPr>
            <p:cNvPr id="233" name="Rectangle: Rounded Corners 232">
              <a:extLst>
                <a:ext uri="{FF2B5EF4-FFF2-40B4-BE49-F238E27FC236}">
                  <a16:creationId xmlns:a16="http://schemas.microsoft.com/office/drawing/2014/main" id="{46056832-B6D8-E4D6-D9BB-4798D507D268}"/>
                </a:ext>
              </a:extLst>
            </p:cNvPr>
            <p:cNvSpPr/>
            <p:nvPr/>
          </p:nvSpPr>
          <p:spPr>
            <a:xfrm>
              <a:off x="6015262" y="3991399"/>
              <a:ext cx="1581337" cy="444864"/>
            </a:xfrm>
            <a:prstGeom prst="roundRect">
              <a:avLst/>
            </a:prstGeom>
            <a:solidFill>
              <a:srgbClr val="E1E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PID</a:t>
              </a:r>
              <a:endParaRPr lang="en-GB" sz="1200" dirty="0">
                <a:solidFill>
                  <a:schemeClr val="tx1"/>
                </a:solidFill>
              </a:endParaRPr>
            </a:p>
          </p:txBody>
        </p:sp>
      </p:grpSp>
      <p:sp>
        <p:nvSpPr>
          <p:cNvPr id="285" name="Rectangle: Rounded Corners 284">
            <a:extLst>
              <a:ext uri="{FF2B5EF4-FFF2-40B4-BE49-F238E27FC236}">
                <a16:creationId xmlns:a16="http://schemas.microsoft.com/office/drawing/2014/main" id="{B9B9C5F0-D2B3-97EE-9174-9821A634C819}"/>
              </a:ext>
            </a:extLst>
          </p:cNvPr>
          <p:cNvSpPr/>
          <p:nvPr/>
        </p:nvSpPr>
        <p:spPr>
          <a:xfrm>
            <a:off x="1960761" y="1856699"/>
            <a:ext cx="9564489" cy="3733767"/>
          </a:xfrm>
          <a:prstGeom prst="roundRect">
            <a:avLst>
              <a:gd name="adj" fmla="val 9139"/>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2" name="Group 301">
            <a:extLst>
              <a:ext uri="{FF2B5EF4-FFF2-40B4-BE49-F238E27FC236}">
                <a16:creationId xmlns:a16="http://schemas.microsoft.com/office/drawing/2014/main" id="{5AABDC37-FF31-649E-EA73-0417347C77B0}"/>
              </a:ext>
            </a:extLst>
          </p:cNvPr>
          <p:cNvGrpSpPr/>
          <p:nvPr/>
        </p:nvGrpSpPr>
        <p:grpSpPr>
          <a:xfrm>
            <a:off x="9702471" y="4197165"/>
            <a:ext cx="1766536" cy="996188"/>
            <a:chOff x="1279822" y="2270598"/>
            <a:chExt cx="6050258" cy="3411874"/>
          </a:xfrm>
        </p:grpSpPr>
        <p:sp>
          <p:nvSpPr>
            <p:cNvPr id="332" name="Freeform 13">
              <a:extLst>
                <a:ext uri="{FF2B5EF4-FFF2-40B4-BE49-F238E27FC236}">
                  <a16:creationId xmlns:a16="http://schemas.microsoft.com/office/drawing/2014/main" id="{3953A0E9-DFF9-F1EF-B0A1-9CB563D33B8D}"/>
                </a:ext>
              </a:extLst>
            </p:cNvPr>
            <p:cNvSpPr/>
            <p:nvPr/>
          </p:nvSpPr>
          <p:spPr>
            <a:xfrm>
              <a:off x="3907305" y="2270598"/>
              <a:ext cx="3422775" cy="3411874"/>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dirty="0"/>
            </a:p>
          </p:txBody>
        </p:sp>
        <p:sp>
          <p:nvSpPr>
            <p:cNvPr id="334" name="Freeform 15">
              <a:extLst>
                <a:ext uri="{FF2B5EF4-FFF2-40B4-BE49-F238E27FC236}">
                  <a16:creationId xmlns:a16="http://schemas.microsoft.com/office/drawing/2014/main" id="{FD6CC5C4-1D56-52BF-5B40-1B1760470574}"/>
                </a:ext>
              </a:extLst>
            </p:cNvPr>
            <p:cNvSpPr/>
            <p:nvPr/>
          </p:nvSpPr>
          <p:spPr>
            <a:xfrm>
              <a:off x="2722572" y="4644763"/>
              <a:ext cx="613182" cy="613182"/>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335" name="Freeform 16">
              <a:extLst>
                <a:ext uri="{FF2B5EF4-FFF2-40B4-BE49-F238E27FC236}">
                  <a16:creationId xmlns:a16="http://schemas.microsoft.com/office/drawing/2014/main" id="{DF8403D7-D5D5-415D-00DB-601AEDA4288A}"/>
                </a:ext>
              </a:extLst>
            </p:cNvPr>
            <p:cNvSpPr/>
            <p:nvPr/>
          </p:nvSpPr>
          <p:spPr>
            <a:xfrm>
              <a:off x="1279822" y="4260259"/>
              <a:ext cx="871200" cy="871200"/>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336" name="Freeform 17">
              <a:extLst>
                <a:ext uri="{FF2B5EF4-FFF2-40B4-BE49-F238E27FC236}">
                  <a16:creationId xmlns:a16="http://schemas.microsoft.com/office/drawing/2014/main" id="{0DE68B71-A28E-85ED-D79F-03979342F637}"/>
                </a:ext>
              </a:extLst>
            </p:cNvPr>
            <p:cNvSpPr/>
            <p:nvPr/>
          </p:nvSpPr>
          <p:spPr>
            <a:xfrm>
              <a:off x="1537428" y="2951690"/>
              <a:ext cx="1041177" cy="1188065"/>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grpSp>
      <p:sp>
        <p:nvSpPr>
          <p:cNvPr id="345" name="TextBox 344">
            <a:extLst>
              <a:ext uri="{FF2B5EF4-FFF2-40B4-BE49-F238E27FC236}">
                <a16:creationId xmlns:a16="http://schemas.microsoft.com/office/drawing/2014/main" id="{3686B25E-70CF-4354-5CA0-03485B8CFA22}"/>
              </a:ext>
            </a:extLst>
          </p:cNvPr>
          <p:cNvSpPr txBox="1"/>
          <p:nvPr/>
        </p:nvSpPr>
        <p:spPr>
          <a:xfrm>
            <a:off x="7700940" y="3114314"/>
            <a:ext cx="1364863" cy="553998"/>
          </a:xfrm>
          <a:prstGeom prst="rect">
            <a:avLst/>
          </a:prstGeom>
          <a:noFill/>
        </p:spPr>
        <p:txBody>
          <a:bodyPr wrap="square" lIns="0" tIns="0" rIns="0" bIns="0" rtlCol="0">
            <a:spAutoFit/>
          </a:bodyPr>
          <a:lstStyle/>
          <a:p>
            <a:pPr algn="ctr"/>
            <a:r>
              <a:rPr lang="en-US" sz="1200" dirty="0">
                <a:solidFill>
                  <a:schemeClr val="tx2"/>
                </a:solidFill>
              </a:rPr>
              <a:t>Joint angles, </a:t>
            </a:r>
          </a:p>
          <a:p>
            <a:pPr algn="ctr"/>
            <a:r>
              <a:rPr lang="en-US" sz="1200" dirty="0">
                <a:solidFill>
                  <a:schemeClr val="tx2"/>
                </a:solidFill>
              </a:rPr>
              <a:t>velocities, accelerations at </a:t>
            </a:r>
            <a:r>
              <a:rPr lang="en-US" sz="1200" i="1" dirty="0">
                <a:solidFill>
                  <a:schemeClr val="tx2"/>
                </a:solidFill>
              </a:rPr>
              <a:t>t</a:t>
            </a:r>
          </a:p>
        </p:txBody>
      </p:sp>
      <p:cxnSp>
        <p:nvCxnSpPr>
          <p:cNvPr id="8" name="Straight Arrow Connector 7">
            <a:extLst>
              <a:ext uri="{FF2B5EF4-FFF2-40B4-BE49-F238E27FC236}">
                <a16:creationId xmlns:a16="http://schemas.microsoft.com/office/drawing/2014/main" id="{98337B5C-0307-CC93-AFAF-E11F5D860CB7}"/>
              </a:ext>
            </a:extLst>
          </p:cNvPr>
          <p:cNvCxnSpPr/>
          <p:nvPr/>
        </p:nvCxnSpPr>
        <p:spPr>
          <a:xfrm>
            <a:off x="5261624" y="3082980"/>
            <a:ext cx="642303" cy="6413"/>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40696DA-CB4A-EDE5-1F66-CB10A28EE35C}"/>
              </a:ext>
            </a:extLst>
          </p:cNvPr>
          <p:cNvCxnSpPr>
            <a:cxnSpLocks/>
          </p:cNvCxnSpPr>
          <p:nvPr/>
        </p:nvCxnSpPr>
        <p:spPr>
          <a:xfrm>
            <a:off x="4573741" y="2618512"/>
            <a:ext cx="683876" cy="96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6358F49-9A09-D9C9-EA0E-65F5B137E9C4}"/>
              </a:ext>
            </a:extLst>
          </p:cNvPr>
          <p:cNvCxnSpPr>
            <a:cxnSpLocks/>
          </p:cNvCxnSpPr>
          <p:nvPr/>
        </p:nvCxnSpPr>
        <p:spPr>
          <a:xfrm>
            <a:off x="4573740" y="3598680"/>
            <a:ext cx="685881" cy="927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B1E114A-80D1-B435-579B-6DDC699A1C22}"/>
              </a:ext>
            </a:extLst>
          </p:cNvPr>
          <p:cNvCxnSpPr>
            <a:cxnSpLocks/>
          </p:cNvCxnSpPr>
          <p:nvPr/>
        </p:nvCxnSpPr>
        <p:spPr>
          <a:xfrm>
            <a:off x="5257617" y="2619474"/>
            <a:ext cx="0" cy="98847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12AF5E4B-2C47-BB52-682B-B5744E4A67F7}"/>
              </a:ext>
            </a:extLst>
          </p:cNvPr>
          <p:cNvSpPr/>
          <p:nvPr/>
        </p:nvSpPr>
        <p:spPr>
          <a:xfrm>
            <a:off x="10001669" y="4664431"/>
            <a:ext cx="670527" cy="538090"/>
          </a:xfrm>
          <a:custGeom>
            <a:avLst/>
            <a:gdLst>
              <a:gd name="connsiteX0" fmla="*/ 0 w 819150"/>
              <a:gd name="connsiteY0" fmla="*/ 0 h 505609"/>
              <a:gd name="connsiteX1" fmla="*/ 88900 w 819150"/>
              <a:gd name="connsiteY1" fmla="*/ 79375 h 505609"/>
              <a:gd name="connsiteX2" fmla="*/ 66675 w 819150"/>
              <a:gd name="connsiteY2" fmla="*/ 193675 h 505609"/>
              <a:gd name="connsiteX3" fmla="*/ 12700 w 819150"/>
              <a:gd name="connsiteY3" fmla="*/ 339725 h 505609"/>
              <a:gd name="connsiteX4" fmla="*/ 53975 w 819150"/>
              <a:gd name="connsiteY4" fmla="*/ 460375 h 505609"/>
              <a:gd name="connsiteX5" fmla="*/ 196850 w 819150"/>
              <a:gd name="connsiteY5" fmla="*/ 504825 h 505609"/>
              <a:gd name="connsiteX6" fmla="*/ 403225 w 819150"/>
              <a:gd name="connsiteY6" fmla="*/ 428625 h 505609"/>
              <a:gd name="connsiteX7" fmla="*/ 571500 w 819150"/>
              <a:gd name="connsiteY7" fmla="*/ 377825 h 505609"/>
              <a:gd name="connsiteX8" fmla="*/ 819150 w 819150"/>
              <a:gd name="connsiteY8" fmla="*/ 450850 h 505609"/>
              <a:gd name="connsiteX0" fmla="*/ 0 w 692150"/>
              <a:gd name="connsiteY0" fmla="*/ 0 h 505609"/>
              <a:gd name="connsiteX1" fmla="*/ 88900 w 692150"/>
              <a:gd name="connsiteY1" fmla="*/ 79375 h 505609"/>
              <a:gd name="connsiteX2" fmla="*/ 66675 w 692150"/>
              <a:gd name="connsiteY2" fmla="*/ 193675 h 505609"/>
              <a:gd name="connsiteX3" fmla="*/ 12700 w 692150"/>
              <a:gd name="connsiteY3" fmla="*/ 339725 h 505609"/>
              <a:gd name="connsiteX4" fmla="*/ 53975 w 692150"/>
              <a:gd name="connsiteY4" fmla="*/ 460375 h 505609"/>
              <a:gd name="connsiteX5" fmla="*/ 196850 w 692150"/>
              <a:gd name="connsiteY5" fmla="*/ 504825 h 505609"/>
              <a:gd name="connsiteX6" fmla="*/ 403225 w 692150"/>
              <a:gd name="connsiteY6" fmla="*/ 428625 h 505609"/>
              <a:gd name="connsiteX7" fmla="*/ 571500 w 692150"/>
              <a:gd name="connsiteY7" fmla="*/ 377825 h 505609"/>
              <a:gd name="connsiteX8" fmla="*/ 692150 w 692150"/>
              <a:gd name="connsiteY8" fmla="*/ 403225 h 505609"/>
              <a:gd name="connsiteX0" fmla="*/ 0 w 692150"/>
              <a:gd name="connsiteY0" fmla="*/ 0 h 505609"/>
              <a:gd name="connsiteX1" fmla="*/ 88900 w 692150"/>
              <a:gd name="connsiteY1" fmla="*/ 79375 h 505609"/>
              <a:gd name="connsiteX2" fmla="*/ 66675 w 692150"/>
              <a:gd name="connsiteY2" fmla="*/ 193675 h 505609"/>
              <a:gd name="connsiteX3" fmla="*/ 12700 w 692150"/>
              <a:gd name="connsiteY3" fmla="*/ 339725 h 505609"/>
              <a:gd name="connsiteX4" fmla="*/ 53975 w 692150"/>
              <a:gd name="connsiteY4" fmla="*/ 460375 h 505609"/>
              <a:gd name="connsiteX5" fmla="*/ 196850 w 692150"/>
              <a:gd name="connsiteY5" fmla="*/ 504825 h 505609"/>
              <a:gd name="connsiteX6" fmla="*/ 403225 w 692150"/>
              <a:gd name="connsiteY6" fmla="*/ 428625 h 505609"/>
              <a:gd name="connsiteX7" fmla="*/ 571500 w 692150"/>
              <a:gd name="connsiteY7" fmla="*/ 377825 h 505609"/>
              <a:gd name="connsiteX8" fmla="*/ 692150 w 692150"/>
              <a:gd name="connsiteY8" fmla="*/ 403225 h 505609"/>
              <a:gd name="connsiteX0" fmla="*/ 0 w 692150"/>
              <a:gd name="connsiteY0" fmla="*/ 0 h 506323"/>
              <a:gd name="connsiteX1" fmla="*/ 88900 w 692150"/>
              <a:gd name="connsiteY1" fmla="*/ 79375 h 506323"/>
              <a:gd name="connsiteX2" fmla="*/ 66675 w 692150"/>
              <a:gd name="connsiteY2" fmla="*/ 193675 h 506323"/>
              <a:gd name="connsiteX3" fmla="*/ 12700 w 692150"/>
              <a:gd name="connsiteY3" fmla="*/ 339725 h 506323"/>
              <a:gd name="connsiteX4" fmla="*/ 53975 w 692150"/>
              <a:gd name="connsiteY4" fmla="*/ 460375 h 506323"/>
              <a:gd name="connsiteX5" fmla="*/ 196850 w 692150"/>
              <a:gd name="connsiteY5" fmla="*/ 504825 h 506323"/>
              <a:gd name="connsiteX6" fmla="*/ 425450 w 692150"/>
              <a:gd name="connsiteY6" fmla="*/ 412750 h 506323"/>
              <a:gd name="connsiteX7" fmla="*/ 571500 w 692150"/>
              <a:gd name="connsiteY7" fmla="*/ 377825 h 506323"/>
              <a:gd name="connsiteX8" fmla="*/ 692150 w 692150"/>
              <a:gd name="connsiteY8" fmla="*/ 403225 h 506323"/>
              <a:gd name="connsiteX0" fmla="*/ 0 w 692150"/>
              <a:gd name="connsiteY0" fmla="*/ 0 h 519023"/>
              <a:gd name="connsiteX1" fmla="*/ 88900 w 692150"/>
              <a:gd name="connsiteY1" fmla="*/ 92075 h 519023"/>
              <a:gd name="connsiteX2" fmla="*/ 66675 w 692150"/>
              <a:gd name="connsiteY2" fmla="*/ 206375 h 519023"/>
              <a:gd name="connsiteX3" fmla="*/ 12700 w 692150"/>
              <a:gd name="connsiteY3" fmla="*/ 352425 h 519023"/>
              <a:gd name="connsiteX4" fmla="*/ 53975 w 692150"/>
              <a:gd name="connsiteY4" fmla="*/ 473075 h 519023"/>
              <a:gd name="connsiteX5" fmla="*/ 196850 w 692150"/>
              <a:gd name="connsiteY5" fmla="*/ 517525 h 519023"/>
              <a:gd name="connsiteX6" fmla="*/ 425450 w 692150"/>
              <a:gd name="connsiteY6" fmla="*/ 425450 h 519023"/>
              <a:gd name="connsiteX7" fmla="*/ 571500 w 692150"/>
              <a:gd name="connsiteY7" fmla="*/ 390525 h 519023"/>
              <a:gd name="connsiteX8" fmla="*/ 692150 w 692150"/>
              <a:gd name="connsiteY8" fmla="*/ 415925 h 519023"/>
              <a:gd name="connsiteX0" fmla="*/ 0 w 692150"/>
              <a:gd name="connsiteY0" fmla="*/ 0 h 519023"/>
              <a:gd name="connsiteX1" fmla="*/ 104775 w 692150"/>
              <a:gd name="connsiteY1" fmla="*/ 92075 h 519023"/>
              <a:gd name="connsiteX2" fmla="*/ 66675 w 692150"/>
              <a:gd name="connsiteY2" fmla="*/ 206375 h 519023"/>
              <a:gd name="connsiteX3" fmla="*/ 12700 w 692150"/>
              <a:gd name="connsiteY3" fmla="*/ 352425 h 519023"/>
              <a:gd name="connsiteX4" fmla="*/ 53975 w 692150"/>
              <a:gd name="connsiteY4" fmla="*/ 473075 h 519023"/>
              <a:gd name="connsiteX5" fmla="*/ 196850 w 692150"/>
              <a:gd name="connsiteY5" fmla="*/ 517525 h 519023"/>
              <a:gd name="connsiteX6" fmla="*/ 425450 w 692150"/>
              <a:gd name="connsiteY6" fmla="*/ 425450 h 519023"/>
              <a:gd name="connsiteX7" fmla="*/ 571500 w 692150"/>
              <a:gd name="connsiteY7" fmla="*/ 390525 h 519023"/>
              <a:gd name="connsiteX8" fmla="*/ 692150 w 692150"/>
              <a:gd name="connsiteY8" fmla="*/ 415925 h 519023"/>
              <a:gd name="connsiteX0" fmla="*/ 16101 w 679676"/>
              <a:gd name="connsiteY0" fmla="*/ 0 h 538073"/>
              <a:gd name="connsiteX1" fmla="*/ 92301 w 679676"/>
              <a:gd name="connsiteY1" fmla="*/ 111125 h 538073"/>
              <a:gd name="connsiteX2" fmla="*/ 54201 w 679676"/>
              <a:gd name="connsiteY2" fmla="*/ 225425 h 538073"/>
              <a:gd name="connsiteX3" fmla="*/ 226 w 679676"/>
              <a:gd name="connsiteY3" fmla="*/ 371475 h 538073"/>
              <a:gd name="connsiteX4" fmla="*/ 41501 w 679676"/>
              <a:gd name="connsiteY4" fmla="*/ 492125 h 538073"/>
              <a:gd name="connsiteX5" fmla="*/ 184376 w 679676"/>
              <a:gd name="connsiteY5" fmla="*/ 536575 h 538073"/>
              <a:gd name="connsiteX6" fmla="*/ 412976 w 679676"/>
              <a:gd name="connsiteY6" fmla="*/ 444500 h 538073"/>
              <a:gd name="connsiteX7" fmla="*/ 559026 w 679676"/>
              <a:gd name="connsiteY7" fmla="*/ 409575 h 538073"/>
              <a:gd name="connsiteX8" fmla="*/ 679676 w 679676"/>
              <a:gd name="connsiteY8" fmla="*/ 434975 h 538073"/>
              <a:gd name="connsiteX0" fmla="*/ 16204 w 679779"/>
              <a:gd name="connsiteY0" fmla="*/ 0 h 538073"/>
              <a:gd name="connsiteX1" fmla="*/ 92404 w 679779"/>
              <a:gd name="connsiteY1" fmla="*/ 111125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6204 w 679779"/>
              <a:gd name="connsiteY0" fmla="*/ 0 h 538073"/>
              <a:gd name="connsiteX1" fmla="*/ 98754 w 679779"/>
              <a:gd name="connsiteY1" fmla="*/ 88900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6204 w 679779"/>
              <a:gd name="connsiteY0" fmla="*/ 0 h 538073"/>
              <a:gd name="connsiteX1" fmla="*/ 79704 w 679779"/>
              <a:gd name="connsiteY1" fmla="*/ 79375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5880 w 679455"/>
              <a:gd name="connsiteY0" fmla="*/ 0 h 538073"/>
              <a:gd name="connsiteX1" fmla="*/ 79380 w 679455"/>
              <a:gd name="connsiteY1" fmla="*/ 79375 h 538073"/>
              <a:gd name="connsiteX2" fmla="*/ 42868 w 679455"/>
              <a:gd name="connsiteY2" fmla="*/ 219869 h 538073"/>
              <a:gd name="connsiteX3" fmla="*/ 5 w 679455"/>
              <a:gd name="connsiteY3" fmla="*/ 371475 h 538073"/>
              <a:gd name="connsiteX4" fmla="*/ 41280 w 679455"/>
              <a:gd name="connsiteY4" fmla="*/ 492125 h 538073"/>
              <a:gd name="connsiteX5" fmla="*/ 184155 w 679455"/>
              <a:gd name="connsiteY5" fmla="*/ 536575 h 538073"/>
              <a:gd name="connsiteX6" fmla="*/ 412755 w 679455"/>
              <a:gd name="connsiteY6" fmla="*/ 444500 h 538073"/>
              <a:gd name="connsiteX7" fmla="*/ 558805 w 679455"/>
              <a:gd name="connsiteY7" fmla="*/ 409575 h 538073"/>
              <a:gd name="connsiteX8" fmla="*/ 679455 w 679455"/>
              <a:gd name="connsiteY8" fmla="*/ 434975 h 538073"/>
              <a:gd name="connsiteX0" fmla="*/ 15880 w 679455"/>
              <a:gd name="connsiteY0" fmla="*/ 0 h 538073"/>
              <a:gd name="connsiteX1" fmla="*/ 79380 w 679455"/>
              <a:gd name="connsiteY1" fmla="*/ 79375 h 538073"/>
              <a:gd name="connsiteX2" fmla="*/ 42868 w 679455"/>
              <a:gd name="connsiteY2" fmla="*/ 219869 h 538073"/>
              <a:gd name="connsiteX3" fmla="*/ 5 w 679455"/>
              <a:gd name="connsiteY3" fmla="*/ 371475 h 538073"/>
              <a:gd name="connsiteX4" fmla="*/ 41280 w 679455"/>
              <a:gd name="connsiteY4" fmla="*/ 492125 h 538073"/>
              <a:gd name="connsiteX5" fmla="*/ 184155 w 679455"/>
              <a:gd name="connsiteY5" fmla="*/ 536575 h 538073"/>
              <a:gd name="connsiteX6" fmla="*/ 412755 w 679455"/>
              <a:gd name="connsiteY6" fmla="*/ 444500 h 538073"/>
              <a:gd name="connsiteX7" fmla="*/ 558805 w 679455"/>
              <a:gd name="connsiteY7" fmla="*/ 409575 h 538073"/>
              <a:gd name="connsiteX8" fmla="*/ 679455 w 679455"/>
              <a:gd name="connsiteY8" fmla="*/ 434975 h 538073"/>
              <a:gd name="connsiteX0" fmla="*/ 6366 w 669941"/>
              <a:gd name="connsiteY0" fmla="*/ 0 h 538090"/>
              <a:gd name="connsiteX1" fmla="*/ 69866 w 669941"/>
              <a:gd name="connsiteY1" fmla="*/ 79375 h 538090"/>
              <a:gd name="connsiteX2" fmla="*/ 33354 w 669941"/>
              <a:gd name="connsiteY2" fmla="*/ 219869 h 538090"/>
              <a:gd name="connsiteX3" fmla="*/ 16 w 669941"/>
              <a:gd name="connsiteY3" fmla="*/ 369093 h 538090"/>
              <a:gd name="connsiteX4" fmla="*/ 31766 w 669941"/>
              <a:gd name="connsiteY4" fmla="*/ 492125 h 538090"/>
              <a:gd name="connsiteX5" fmla="*/ 174641 w 669941"/>
              <a:gd name="connsiteY5" fmla="*/ 536575 h 538090"/>
              <a:gd name="connsiteX6" fmla="*/ 403241 w 669941"/>
              <a:gd name="connsiteY6" fmla="*/ 444500 h 538090"/>
              <a:gd name="connsiteX7" fmla="*/ 549291 w 669941"/>
              <a:gd name="connsiteY7" fmla="*/ 409575 h 538090"/>
              <a:gd name="connsiteX8" fmla="*/ 669941 w 669941"/>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9018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6952 w 670527"/>
              <a:gd name="connsiteY0" fmla="*/ 0 h 538090"/>
              <a:gd name="connsiteX1" fmla="*/ 89502 w 670527"/>
              <a:gd name="connsiteY1" fmla="*/ 79375 h 538090"/>
              <a:gd name="connsiteX2" fmla="*/ 48228 w 670527"/>
              <a:gd name="connsiteY2" fmla="*/ 207962 h 538090"/>
              <a:gd name="connsiteX3" fmla="*/ 602 w 670527"/>
              <a:gd name="connsiteY3" fmla="*/ 369093 h 538090"/>
              <a:gd name="connsiteX4" fmla="*/ 32352 w 670527"/>
              <a:gd name="connsiteY4" fmla="*/ 492125 h 538090"/>
              <a:gd name="connsiteX5" fmla="*/ 175227 w 670527"/>
              <a:gd name="connsiteY5" fmla="*/ 536575 h 538090"/>
              <a:gd name="connsiteX6" fmla="*/ 403827 w 670527"/>
              <a:gd name="connsiteY6" fmla="*/ 444500 h 538090"/>
              <a:gd name="connsiteX7" fmla="*/ 549877 w 670527"/>
              <a:gd name="connsiteY7" fmla="*/ 409575 h 538090"/>
              <a:gd name="connsiteX8" fmla="*/ 670527 w 670527"/>
              <a:gd name="connsiteY8" fmla="*/ 434975 h 538090"/>
              <a:gd name="connsiteX0" fmla="*/ 6952 w 670527"/>
              <a:gd name="connsiteY0" fmla="*/ 0 h 538090"/>
              <a:gd name="connsiteX1" fmla="*/ 72834 w 670527"/>
              <a:gd name="connsiteY1" fmla="*/ 79375 h 538090"/>
              <a:gd name="connsiteX2" fmla="*/ 48228 w 670527"/>
              <a:gd name="connsiteY2" fmla="*/ 207962 h 538090"/>
              <a:gd name="connsiteX3" fmla="*/ 602 w 670527"/>
              <a:gd name="connsiteY3" fmla="*/ 369093 h 538090"/>
              <a:gd name="connsiteX4" fmla="*/ 32352 w 670527"/>
              <a:gd name="connsiteY4" fmla="*/ 492125 h 538090"/>
              <a:gd name="connsiteX5" fmla="*/ 175227 w 670527"/>
              <a:gd name="connsiteY5" fmla="*/ 536575 h 538090"/>
              <a:gd name="connsiteX6" fmla="*/ 403827 w 670527"/>
              <a:gd name="connsiteY6" fmla="*/ 444500 h 538090"/>
              <a:gd name="connsiteX7" fmla="*/ 549877 w 670527"/>
              <a:gd name="connsiteY7" fmla="*/ 409575 h 538090"/>
              <a:gd name="connsiteX8" fmla="*/ 670527 w 670527"/>
              <a:gd name="connsiteY8" fmla="*/ 434975 h 538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0527" h="538090">
                <a:moveTo>
                  <a:pt x="6952" y="0"/>
                </a:moveTo>
                <a:cubicBezTo>
                  <a:pt x="45846" y="23548"/>
                  <a:pt x="65955" y="44715"/>
                  <a:pt x="72834" y="79375"/>
                </a:cubicBezTo>
                <a:cubicBezTo>
                  <a:pt x="79713" y="114035"/>
                  <a:pt x="60267" y="159676"/>
                  <a:pt x="48228" y="207962"/>
                </a:cubicBezTo>
                <a:cubicBezTo>
                  <a:pt x="36189" y="256248"/>
                  <a:pt x="3248" y="321732"/>
                  <a:pt x="602" y="369093"/>
                </a:cubicBezTo>
                <a:cubicBezTo>
                  <a:pt x="-2044" y="416454"/>
                  <a:pt x="3248" y="464211"/>
                  <a:pt x="32352" y="492125"/>
                </a:cubicBezTo>
                <a:cubicBezTo>
                  <a:pt x="61456" y="520039"/>
                  <a:pt x="113315" y="544512"/>
                  <a:pt x="175227" y="536575"/>
                </a:cubicBezTo>
                <a:cubicBezTo>
                  <a:pt x="237139" y="528638"/>
                  <a:pt x="341385" y="465667"/>
                  <a:pt x="403827" y="444500"/>
                </a:cubicBezTo>
                <a:cubicBezTo>
                  <a:pt x="466269" y="423333"/>
                  <a:pt x="480556" y="405871"/>
                  <a:pt x="549877" y="409575"/>
                </a:cubicBezTo>
                <a:cubicBezTo>
                  <a:pt x="619198" y="413279"/>
                  <a:pt x="600412" y="409839"/>
                  <a:pt x="670527" y="434975"/>
                </a:cubicBezTo>
              </a:path>
            </a:pathLst>
          </a:custGeom>
          <a:noFill/>
          <a:ln w="19050">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Rounded Corners 6">
            <a:extLst>
              <a:ext uri="{FF2B5EF4-FFF2-40B4-BE49-F238E27FC236}">
                <a16:creationId xmlns:a16="http://schemas.microsoft.com/office/drawing/2014/main" id="{7C93C896-A252-CB2D-74ED-953B565C1614}"/>
              </a:ext>
            </a:extLst>
          </p:cNvPr>
          <p:cNvSpPr/>
          <p:nvPr/>
        </p:nvSpPr>
        <p:spPr>
          <a:xfrm>
            <a:off x="6046487" y="2733377"/>
            <a:ext cx="1581337" cy="465972"/>
          </a:xfrm>
          <a:prstGeom prst="roundRect">
            <a:avLst/>
          </a:prstGeom>
          <a:solidFill>
            <a:srgbClr val="E1E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Inverse Kinematics</a:t>
            </a:r>
            <a:endParaRPr lang="en-GB" sz="1200" dirty="0">
              <a:solidFill>
                <a:schemeClr val="tx1"/>
              </a:solidFill>
            </a:endParaRPr>
          </a:p>
        </p:txBody>
      </p:sp>
      <p:grpSp>
        <p:nvGrpSpPr>
          <p:cNvPr id="16" name="Group 15">
            <a:extLst>
              <a:ext uri="{FF2B5EF4-FFF2-40B4-BE49-F238E27FC236}">
                <a16:creationId xmlns:a16="http://schemas.microsoft.com/office/drawing/2014/main" id="{699C1B25-F89A-8D38-DECD-55ED3987AFB7}"/>
              </a:ext>
            </a:extLst>
          </p:cNvPr>
          <p:cNvGrpSpPr/>
          <p:nvPr/>
        </p:nvGrpSpPr>
        <p:grpSpPr>
          <a:xfrm>
            <a:off x="6003167" y="4237297"/>
            <a:ext cx="1727065" cy="945125"/>
            <a:chOff x="6003167" y="4237297"/>
            <a:chExt cx="1727065" cy="945125"/>
          </a:xfrm>
        </p:grpSpPr>
        <p:sp>
          <p:nvSpPr>
            <p:cNvPr id="17" name="Freeform 13">
              <a:extLst>
                <a:ext uri="{FF2B5EF4-FFF2-40B4-BE49-F238E27FC236}">
                  <a16:creationId xmlns:a16="http://schemas.microsoft.com/office/drawing/2014/main" id="{0107D4C5-9EAE-6A13-ADB3-D25F73033392}"/>
                </a:ext>
              </a:extLst>
            </p:cNvPr>
            <p:cNvSpPr/>
            <p:nvPr/>
          </p:nvSpPr>
          <p:spPr>
            <a:xfrm>
              <a:off x="6782086" y="4237297"/>
              <a:ext cx="948146" cy="945125"/>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dirty="0"/>
            </a:p>
          </p:txBody>
        </p:sp>
        <p:cxnSp>
          <p:nvCxnSpPr>
            <p:cNvPr id="18" name="Straight Connector 17">
              <a:extLst>
                <a:ext uri="{FF2B5EF4-FFF2-40B4-BE49-F238E27FC236}">
                  <a16:creationId xmlns:a16="http://schemas.microsoft.com/office/drawing/2014/main" id="{EF699C16-587D-D0F5-5C9B-E1E2E823712A}"/>
                </a:ext>
              </a:extLst>
            </p:cNvPr>
            <p:cNvCxnSpPr>
              <a:cxnSpLocks/>
            </p:cNvCxnSpPr>
            <p:nvPr/>
          </p:nvCxnSpPr>
          <p:spPr>
            <a:xfrm flipH="1">
              <a:off x="6963780" y="4725927"/>
              <a:ext cx="7941" cy="127523"/>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7454346-8FDA-172D-B3AD-DFBB7E640DA6}"/>
                </a:ext>
              </a:extLst>
            </p:cNvPr>
            <p:cNvCxnSpPr>
              <a:cxnSpLocks/>
            </p:cNvCxnSpPr>
            <p:nvPr/>
          </p:nvCxnSpPr>
          <p:spPr>
            <a:xfrm>
              <a:off x="6976150" y="4733737"/>
              <a:ext cx="64799" cy="12421"/>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538ECC1-3BF2-75DE-2074-BFA0861C3EF5}"/>
                </a:ext>
              </a:extLst>
            </p:cNvPr>
            <p:cNvCxnSpPr>
              <a:cxnSpLocks/>
            </p:cNvCxnSpPr>
            <p:nvPr/>
          </p:nvCxnSpPr>
          <p:spPr>
            <a:xfrm flipH="1">
              <a:off x="7126010" y="4777132"/>
              <a:ext cx="55251" cy="127072"/>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BED7A8C-F4A7-7E46-323E-C5D6C4A43D91}"/>
                </a:ext>
              </a:extLst>
            </p:cNvPr>
            <p:cNvCxnSpPr>
              <a:cxnSpLocks/>
            </p:cNvCxnSpPr>
            <p:nvPr/>
          </p:nvCxnSpPr>
          <p:spPr>
            <a:xfrm>
              <a:off x="7084513" y="4754250"/>
              <a:ext cx="109449" cy="18544"/>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9F6FD71-3541-4536-5B41-4ED6D913FC74}"/>
                </a:ext>
              </a:extLst>
            </p:cNvPr>
            <p:cNvCxnSpPr>
              <a:cxnSpLocks/>
            </p:cNvCxnSpPr>
            <p:nvPr/>
          </p:nvCxnSpPr>
          <p:spPr>
            <a:xfrm>
              <a:off x="7201903" y="4481372"/>
              <a:ext cx="78916" cy="36196"/>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E061BCD-73C7-D6BE-0944-4F01230A1622}"/>
                </a:ext>
              </a:extLst>
            </p:cNvPr>
            <p:cNvCxnSpPr>
              <a:cxnSpLocks/>
            </p:cNvCxnSpPr>
            <p:nvPr/>
          </p:nvCxnSpPr>
          <p:spPr>
            <a:xfrm flipV="1">
              <a:off x="7162817" y="4485010"/>
              <a:ext cx="46534" cy="65116"/>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DAA33EA2-C159-79D8-0729-C8DA905822F7}"/>
                </a:ext>
              </a:extLst>
            </p:cNvPr>
            <p:cNvSpPr/>
            <p:nvPr/>
          </p:nvSpPr>
          <p:spPr>
            <a:xfrm>
              <a:off x="6950033" y="4712049"/>
              <a:ext cx="43375" cy="43375"/>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8" name="Straight Connector 27">
              <a:extLst>
                <a:ext uri="{FF2B5EF4-FFF2-40B4-BE49-F238E27FC236}">
                  <a16:creationId xmlns:a16="http://schemas.microsoft.com/office/drawing/2014/main" id="{9B89695C-B895-4677-EFCC-9188754FDCE0}"/>
                </a:ext>
              </a:extLst>
            </p:cNvPr>
            <p:cNvCxnSpPr>
              <a:cxnSpLocks/>
            </p:cNvCxnSpPr>
            <p:nvPr/>
          </p:nvCxnSpPr>
          <p:spPr>
            <a:xfrm flipV="1">
              <a:off x="7401672" y="4643627"/>
              <a:ext cx="113396" cy="2845"/>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82627CD-7C0E-3E1B-2B59-689506DC2704}"/>
                </a:ext>
              </a:extLst>
            </p:cNvPr>
            <p:cNvCxnSpPr>
              <a:cxnSpLocks/>
            </p:cNvCxnSpPr>
            <p:nvPr/>
          </p:nvCxnSpPr>
          <p:spPr>
            <a:xfrm>
              <a:off x="7469276" y="4556907"/>
              <a:ext cx="57331" cy="100327"/>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5B9897C-6AC1-AD78-A3AD-599798AF9908}"/>
                </a:ext>
              </a:extLst>
            </p:cNvPr>
            <p:cNvCxnSpPr>
              <a:cxnSpLocks/>
            </p:cNvCxnSpPr>
            <p:nvPr/>
          </p:nvCxnSpPr>
          <p:spPr>
            <a:xfrm>
              <a:off x="7280820" y="4384953"/>
              <a:ext cx="105633" cy="37724"/>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366EA10-7AA9-CAE4-5E08-4AFE0DE419B8}"/>
                </a:ext>
              </a:extLst>
            </p:cNvPr>
            <p:cNvCxnSpPr>
              <a:cxnSpLocks/>
            </p:cNvCxnSpPr>
            <p:nvPr/>
          </p:nvCxnSpPr>
          <p:spPr>
            <a:xfrm>
              <a:off x="7389709" y="4425967"/>
              <a:ext cx="40938" cy="93847"/>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CB5ABC3-9808-A69A-6D4A-29325B0D3E85}"/>
                </a:ext>
              </a:extLst>
            </p:cNvPr>
            <p:cNvCxnSpPr>
              <a:cxnSpLocks/>
            </p:cNvCxnSpPr>
            <p:nvPr/>
          </p:nvCxnSpPr>
          <p:spPr>
            <a:xfrm flipV="1">
              <a:off x="7376729" y="4915088"/>
              <a:ext cx="79567" cy="71673"/>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82B59C1-A2CA-FCD7-E505-C8B267344EDD}"/>
                </a:ext>
              </a:extLst>
            </p:cNvPr>
            <p:cNvCxnSpPr>
              <a:cxnSpLocks/>
            </p:cNvCxnSpPr>
            <p:nvPr/>
          </p:nvCxnSpPr>
          <p:spPr>
            <a:xfrm>
              <a:off x="7314683" y="4899410"/>
              <a:ext cx="128976" cy="12927"/>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35" name="Arc 34">
              <a:extLst>
                <a:ext uri="{FF2B5EF4-FFF2-40B4-BE49-F238E27FC236}">
                  <a16:creationId xmlns:a16="http://schemas.microsoft.com/office/drawing/2014/main" id="{8848A88A-DCFA-60D6-65B6-2D46603F3EC0}"/>
                </a:ext>
              </a:extLst>
            </p:cNvPr>
            <p:cNvSpPr/>
            <p:nvPr/>
          </p:nvSpPr>
          <p:spPr>
            <a:xfrm rot="5400000">
              <a:off x="6941868" y="4715772"/>
              <a:ext cx="72566" cy="72799"/>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6" name="Arc 35">
              <a:extLst>
                <a:ext uri="{FF2B5EF4-FFF2-40B4-BE49-F238E27FC236}">
                  <a16:creationId xmlns:a16="http://schemas.microsoft.com/office/drawing/2014/main" id="{59998D17-462A-6E0C-6EE9-9362B6F08845}"/>
                </a:ext>
              </a:extLst>
            </p:cNvPr>
            <p:cNvSpPr/>
            <p:nvPr/>
          </p:nvSpPr>
          <p:spPr>
            <a:xfrm rot="11576616">
              <a:off x="7122937" y="4745409"/>
              <a:ext cx="72566" cy="72799"/>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7" name="Arc 36">
              <a:extLst>
                <a:ext uri="{FF2B5EF4-FFF2-40B4-BE49-F238E27FC236}">
                  <a16:creationId xmlns:a16="http://schemas.microsoft.com/office/drawing/2014/main" id="{5C0947F3-AF6F-E21D-8863-8412AFE1D437}"/>
                </a:ext>
              </a:extLst>
            </p:cNvPr>
            <p:cNvSpPr/>
            <p:nvPr/>
          </p:nvSpPr>
          <p:spPr>
            <a:xfrm rot="7436529">
              <a:off x="7176990" y="4463302"/>
              <a:ext cx="72566" cy="72799"/>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8" name="Arc 37">
              <a:extLst>
                <a:ext uri="{FF2B5EF4-FFF2-40B4-BE49-F238E27FC236}">
                  <a16:creationId xmlns:a16="http://schemas.microsoft.com/office/drawing/2014/main" id="{280DE335-A243-F5CC-F839-C1D232F0ADB4}"/>
                </a:ext>
              </a:extLst>
            </p:cNvPr>
            <p:cNvSpPr/>
            <p:nvPr/>
          </p:nvSpPr>
          <p:spPr>
            <a:xfrm rot="13139162">
              <a:off x="7365644" y="4900144"/>
              <a:ext cx="72566" cy="72799"/>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9" name="Arc 38">
              <a:extLst>
                <a:ext uri="{FF2B5EF4-FFF2-40B4-BE49-F238E27FC236}">
                  <a16:creationId xmlns:a16="http://schemas.microsoft.com/office/drawing/2014/main" id="{9CED637A-93CC-D4B6-EEB9-C9AA9BF52DDE}"/>
                </a:ext>
              </a:extLst>
            </p:cNvPr>
            <p:cNvSpPr/>
            <p:nvPr/>
          </p:nvSpPr>
          <p:spPr>
            <a:xfrm rot="16200000">
              <a:off x="7453146" y="4596641"/>
              <a:ext cx="72566" cy="72799"/>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0" name="Arc 39">
              <a:extLst>
                <a:ext uri="{FF2B5EF4-FFF2-40B4-BE49-F238E27FC236}">
                  <a16:creationId xmlns:a16="http://schemas.microsoft.com/office/drawing/2014/main" id="{189E4587-39A6-92BE-BCD9-A07D6CFE155C}"/>
                </a:ext>
              </a:extLst>
            </p:cNvPr>
            <p:cNvSpPr/>
            <p:nvPr/>
          </p:nvSpPr>
          <p:spPr>
            <a:xfrm rot="10552793">
              <a:off x="7323317" y="4378018"/>
              <a:ext cx="105273" cy="95897"/>
            </a:xfrm>
            <a:prstGeom prst="arc">
              <a:avLst>
                <a:gd name="adj1" fmla="val 15100244"/>
                <a:gd name="adj2" fmla="val 1766624"/>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1" name="Oval 40">
              <a:extLst>
                <a:ext uri="{FF2B5EF4-FFF2-40B4-BE49-F238E27FC236}">
                  <a16:creationId xmlns:a16="http://schemas.microsoft.com/office/drawing/2014/main" id="{4D47AEC0-36BB-DD2C-B3AA-4A2D209374B5}"/>
                </a:ext>
              </a:extLst>
            </p:cNvPr>
            <p:cNvSpPr/>
            <p:nvPr/>
          </p:nvSpPr>
          <p:spPr>
            <a:xfrm>
              <a:off x="7160156" y="4755073"/>
              <a:ext cx="43375" cy="43375"/>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Oval 41">
              <a:extLst>
                <a:ext uri="{FF2B5EF4-FFF2-40B4-BE49-F238E27FC236}">
                  <a16:creationId xmlns:a16="http://schemas.microsoft.com/office/drawing/2014/main" id="{45DE11D5-A5E9-84CA-BC37-0654D90D7E00}"/>
                </a:ext>
              </a:extLst>
            </p:cNvPr>
            <p:cNvSpPr/>
            <p:nvPr/>
          </p:nvSpPr>
          <p:spPr>
            <a:xfrm>
              <a:off x="7180215" y="4467649"/>
              <a:ext cx="43375" cy="43375"/>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Oval 42">
              <a:extLst>
                <a:ext uri="{FF2B5EF4-FFF2-40B4-BE49-F238E27FC236}">
                  <a16:creationId xmlns:a16="http://schemas.microsoft.com/office/drawing/2014/main" id="{7C44D4CC-92CA-444D-614A-AF1E97CB4DBF}"/>
                </a:ext>
              </a:extLst>
            </p:cNvPr>
            <p:cNvSpPr/>
            <p:nvPr/>
          </p:nvSpPr>
          <p:spPr>
            <a:xfrm>
              <a:off x="7357482" y="4405058"/>
              <a:ext cx="43375" cy="43375"/>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Oval 43">
              <a:extLst>
                <a:ext uri="{FF2B5EF4-FFF2-40B4-BE49-F238E27FC236}">
                  <a16:creationId xmlns:a16="http://schemas.microsoft.com/office/drawing/2014/main" id="{CAD0852B-97BD-403B-38B1-19DBC27201DB}"/>
                </a:ext>
              </a:extLst>
            </p:cNvPr>
            <p:cNvSpPr/>
            <p:nvPr/>
          </p:nvSpPr>
          <p:spPr>
            <a:xfrm>
              <a:off x="7416127" y="4899410"/>
              <a:ext cx="43375" cy="43375"/>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Oval 44">
              <a:extLst>
                <a:ext uri="{FF2B5EF4-FFF2-40B4-BE49-F238E27FC236}">
                  <a16:creationId xmlns:a16="http://schemas.microsoft.com/office/drawing/2014/main" id="{E148233D-303A-29F0-2A68-070E13350A42}"/>
                </a:ext>
              </a:extLst>
            </p:cNvPr>
            <p:cNvSpPr/>
            <p:nvPr/>
          </p:nvSpPr>
          <p:spPr>
            <a:xfrm>
              <a:off x="7504140" y="4624784"/>
              <a:ext cx="43375" cy="43375"/>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Freeform: Shape 45">
              <a:extLst>
                <a:ext uri="{FF2B5EF4-FFF2-40B4-BE49-F238E27FC236}">
                  <a16:creationId xmlns:a16="http://schemas.microsoft.com/office/drawing/2014/main" id="{2E861C94-B052-E1A6-99B1-0E3681780FD5}"/>
                </a:ext>
              </a:extLst>
            </p:cNvPr>
            <p:cNvSpPr/>
            <p:nvPr/>
          </p:nvSpPr>
          <p:spPr>
            <a:xfrm>
              <a:off x="6338571" y="4695259"/>
              <a:ext cx="581005" cy="464489"/>
            </a:xfrm>
            <a:custGeom>
              <a:avLst/>
              <a:gdLst>
                <a:gd name="connsiteX0" fmla="*/ 0 w 819150"/>
                <a:gd name="connsiteY0" fmla="*/ 0 h 505609"/>
                <a:gd name="connsiteX1" fmla="*/ 88900 w 819150"/>
                <a:gd name="connsiteY1" fmla="*/ 79375 h 505609"/>
                <a:gd name="connsiteX2" fmla="*/ 66675 w 819150"/>
                <a:gd name="connsiteY2" fmla="*/ 193675 h 505609"/>
                <a:gd name="connsiteX3" fmla="*/ 12700 w 819150"/>
                <a:gd name="connsiteY3" fmla="*/ 339725 h 505609"/>
                <a:gd name="connsiteX4" fmla="*/ 53975 w 819150"/>
                <a:gd name="connsiteY4" fmla="*/ 460375 h 505609"/>
                <a:gd name="connsiteX5" fmla="*/ 196850 w 819150"/>
                <a:gd name="connsiteY5" fmla="*/ 504825 h 505609"/>
                <a:gd name="connsiteX6" fmla="*/ 403225 w 819150"/>
                <a:gd name="connsiteY6" fmla="*/ 428625 h 505609"/>
                <a:gd name="connsiteX7" fmla="*/ 571500 w 819150"/>
                <a:gd name="connsiteY7" fmla="*/ 377825 h 505609"/>
                <a:gd name="connsiteX8" fmla="*/ 819150 w 819150"/>
                <a:gd name="connsiteY8" fmla="*/ 450850 h 505609"/>
                <a:gd name="connsiteX0" fmla="*/ 0 w 692150"/>
                <a:gd name="connsiteY0" fmla="*/ 0 h 505609"/>
                <a:gd name="connsiteX1" fmla="*/ 88900 w 692150"/>
                <a:gd name="connsiteY1" fmla="*/ 79375 h 505609"/>
                <a:gd name="connsiteX2" fmla="*/ 66675 w 692150"/>
                <a:gd name="connsiteY2" fmla="*/ 193675 h 505609"/>
                <a:gd name="connsiteX3" fmla="*/ 12700 w 692150"/>
                <a:gd name="connsiteY3" fmla="*/ 339725 h 505609"/>
                <a:gd name="connsiteX4" fmla="*/ 53975 w 692150"/>
                <a:gd name="connsiteY4" fmla="*/ 460375 h 505609"/>
                <a:gd name="connsiteX5" fmla="*/ 196850 w 692150"/>
                <a:gd name="connsiteY5" fmla="*/ 504825 h 505609"/>
                <a:gd name="connsiteX6" fmla="*/ 403225 w 692150"/>
                <a:gd name="connsiteY6" fmla="*/ 428625 h 505609"/>
                <a:gd name="connsiteX7" fmla="*/ 571500 w 692150"/>
                <a:gd name="connsiteY7" fmla="*/ 377825 h 505609"/>
                <a:gd name="connsiteX8" fmla="*/ 692150 w 692150"/>
                <a:gd name="connsiteY8" fmla="*/ 403225 h 505609"/>
                <a:gd name="connsiteX0" fmla="*/ 0 w 692150"/>
                <a:gd name="connsiteY0" fmla="*/ 0 h 505609"/>
                <a:gd name="connsiteX1" fmla="*/ 88900 w 692150"/>
                <a:gd name="connsiteY1" fmla="*/ 79375 h 505609"/>
                <a:gd name="connsiteX2" fmla="*/ 66675 w 692150"/>
                <a:gd name="connsiteY2" fmla="*/ 193675 h 505609"/>
                <a:gd name="connsiteX3" fmla="*/ 12700 w 692150"/>
                <a:gd name="connsiteY3" fmla="*/ 339725 h 505609"/>
                <a:gd name="connsiteX4" fmla="*/ 53975 w 692150"/>
                <a:gd name="connsiteY4" fmla="*/ 460375 h 505609"/>
                <a:gd name="connsiteX5" fmla="*/ 196850 w 692150"/>
                <a:gd name="connsiteY5" fmla="*/ 504825 h 505609"/>
                <a:gd name="connsiteX6" fmla="*/ 403225 w 692150"/>
                <a:gd name="connsiteY6" fmla="*/ 428625 h 505609"/>
                <a:gd name="connsiteX7" fmla="*/ 571500 w 692150"/>
                <a:gd name="connsiteY7" fmla="*/ 377825 h 505609"/>
                <a:gd name="connsiteX8" fmla="*/ 692150 w 692150"/>
                <a:gd name="connsiteY8" fmla="*/ 403225 h 505609"/>
                <a:gd name="connsiteX0" fmla="*/ 0 w 692150"/>
                <a:gd name="connsiteY0" fmla="*/ 0 h 506323"/>
                <a:gd name="connsiteX1" fmla="*/ 88900 w 692150"/>
                <a:gd name="connsiteY1" fmla="*/ 79375 h 506323"/>
                <a:gd name="connsiteX2" fmla="*/ 66675 w 692150"/>
                <a:gd name="connsiteY2" fmla="*/ 193675 h 506323"/>
                <a:gd name="connsiteX3" fmla="*/ 12700 w 692150"/>
                <a:gd name="connsiteY3" fmla="*/ 339725 h 506323"/>
                <a:gd name="connsiteX4" fmla="*/ 53975 w 692150"/>
                <a:gd name="connsiteY4" fmla="*/ 460375 h 506323"/>
                <a:gd name="connsiteX5" fmla="*/ 196850 w 692150"/>
                <a:gd name="connsiteY5" fmla="*/ 504825 h 506323"/>
                <a:gd name="connsiteX6" fmla="*/ 425450 w 692150"/>
                <a:gd name="connsiteY6" fmla="*/ 412750 h 506323"/>
                <a:gd name="connsiteX7" fmla="*/ 571500 w 692150"/>
                <a:gd name="connsiteY7" fmla="*/ 377825 h 506323"/>
                <a:gd name="connsiteX8" fmla="*/ 692150 w 692150"/>
                <a:gd name="connsiteY8" fmla="*/ 403225 h 506323"/>
                <a:gd name="connsiteX0" fmla="*/ 0 w 692150"/>
                <a:gd name="connsiteY0" fmla="*/ 0 h 519023"/>
                <a:gd name="connsiteX1" fmla="*/ 88900 w 692150"/>
                <a:gd name="connsiteY1" fmla="*/ 92075 h 519023"/>
                <a:gd name="connsiteX2" fmla="*/ 66675 w 692150"/>
                <a:gd name="connsiteY2" fmla="*/ 206375 h 519023"/>
                <a:gd name="connsiteX3" fmla="*/ 12700 w 692150"/>
                <a:gd name="connsiteY3" fmla="*/ 352425 h 519023"/>
                <a:gd name="connsiteX4" fmla="*/ 53975 w 692150"/>
                <a:gd name="connsiteY4" fmla="*/ 473075 h 519023"/>
                <a:gd name="connsiteX5" fmla="*/ 196850 w 692150"/>
                <a:gd name="connsiteY5" fmla="*/ 517525 h 519023"/>
                <a:gd name="connsiteX6" fmla="*/ 425450 w 692150"/>
                <a:gd name="connsiteY6" fmla="*/ 425450 h 519023"/>
                <a:gd name="connsiteX7" fmla="*/ 571500 w 692150"/>
                <a:gd name="connsiteY7" fmla="*/ 390525 h 519023"/>
                <a:gd name="connsiteX8" fmla="*/ 692150 w 692150"/>
                <a:gd name="connsiteY8" fmla="*/ 415925 h 519023"/>
                <a:gd name="connsiteX0" fmla="*/ 0 w 692150"/>
                <a:gd name="connsiteY0" fmla="*/ 0 h 519023"/>
                <a:gd name="connsiteX1" fmla="*/ 104775 w 692150"/>
                <a:gd name="connsiteY1" fmla="*/ 92075 h 519023"/>
                <a:gd name="connsiteX2" fmla="*/ 66675 w 692150"/>
                <a:gd name="connsiteY2" fmla="*/ 206375 h 519023"/>
                <a:gd name="connsiteX3" fmla="*/ 12700 w 692150"/>
                <a:gd name="connsiteY3" fmla="*/ 352425 h 519023"/>
                <a:gd name="connsiteX4" fmla="*/ 53975 w 692150"/>
                <a:gd name="connsiteY4" fmla="*/ 473075 h 519023"/>
                <a:gd name="connsiteX5" fmla="*/ 196850 w 692150"/>
                <a:gd name="connsiteY5" fmla="*/ 517525 h 519023"/>
                <a:gd name="connsiteX6" fmla="*/ 425450 w 692150"/>
                <a:gd name="connsiteY6" fmla="*/ 425450 h 519023"/>
                <a:gd name="connsiteX7" fmla="*/ 571500 w 692150"/>
                <a:gd name="connsiteY7" fmla="*/ 390525 h 519023"/>
                <a:gd name="connsiteX8" fmla="*/ 692150 w 692150"/>
                <a:gd name="connsiteY8" fmla="*/ 415925 h 519023"/>
                <a:gd name="connsiteX0" fmla="*/ 16101 w 679676"/>
                <a:gd name="connsiteY0" fmla="*/ 0 h 538073"/>
                <a:gd name="connsiteX1" fmla="*/ 92301 w 679676"/>
                <a:gd name="connsiteY1" fmla="*/ 111125 h 538073"/>
                <a:gd name="connsiteX2" fmla="*/ 54201 w 679676"/>
                <a:gd name="connsiteY2" fmla="*/ 225425 h 538073"/>
                <a:gd name="connsiteX3" fmla="*/ 226 w 679676"/>
                <a:gd name="connsiteY3" fmla="*/ 371475 h 538073"/>
                <a:gd name="connsiteX4" fmla="*/ 41501 w 679676"/>
                <a:gd name="connsiteY4" fmla="*/ 492125 h 538073"/>
                <a:gd name="connsiteX5" fmla="*/ 184376 w 679676"/>
                <a:gd name="connsiteY5" fmla="*/ 536575 h 538073"/>
                <a:gd name="connsiteX6" fmla="*/ 412976 w 679676"/>
                <a:gd name="connsiteY6" fmla="*/ 444500 h 538073"/>
                <a:gd name="connsiteX7" fmla="*/ 559026 w 679676"/>
                <a:gd name="connsiteY7" fmla="*/ 409575 h 538073"/>
                <a:gd name="connsiteX8" fmla="*/ 679676 w 679676"/>
                <a:gd name="connsiteY8" fmla="*/ 434975 h 538073"/>
                <a:gd name="connsiteX0" fmla="*/ 16204 w 679779"/>
                <a:gd name="connsiteY0" fmla="*/ 0 h 538073"/>
                <a:gd name="connsiteX1" fmla="*/ 92404 w 679779"/>
                <a:gd name="connsiteY1" fmla="*/ 111125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6204 w 679779"/>
                <a:gd name="connsiteY0" fmla="*/ 0 h 538073"/>
                <a:gd name="connsiteX1" fmla="*/ 98754 w 679779"/>
                <a:gd name="connsiteY1" fmla="*/ 88900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6204 w 679779"/>
                <a:gd name="connsiteY0" fmla="*/ 0 h 538073"/>
                <a:gd name="connsiteX1" fmla="*/ 79704 w 679779"/>
                <a:gd name="connsiteY1" fmla="*/ 79375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5880 w 679455"/>
                <a:gd name="connsiteY0" fmla="*/ 0 h 538073"/>
                <a:gd name="connsiteX1" fmla="*/ 79380 w 679455"/>
                <a:gd name="connsiteY1" fmla="*/ 79375 h 538073"/>
                <a:gd name="connsiteX2" fmla="*/ 42868 w 679455"/>
                <a:gd name="connsiteY2" fmla="*/ 219869 h 538073"/>
                <a:gd name="connsiteX3" fmla="*/ 5 w 679455"/>
                <a:gd name="connsiteY3" fmla="*/ 371475 h 538073"/>
                <a:gd name="connsiteX4" fmla="*/ 41280 w 679455"/>
                <a:gd name="connsiteY4" fmla="*/ 492125 h 538073"/>
                <a:gd name="connsiteX5" fmla="*/ 184155 w 679455"/>
                <a:gd name="connsiteY5" fmla="*/ 536575 h 538073"/>
                <a:gd name="connsiteX6" fmla="*/ 412755 w 679455"/>
                <a:gd name="connsiteY6" fmla="*/ 444500 h 538073"/>
                <a:gd name="connsiteX7" fmla="*/ 558805 w 679455"/>
                <a:gd name="connsiteY7" fmla="*/ 409575 h 538073"/>
                <a:gd name="connsiteX8" fmla="*/ 679455 w 679455"/>
                <a:gd name="connsiteY8" fmla="*/ 434975 h 538073"/>
                <a:gd name="connsiteX0" fmla="*/ 15880 w 679455"/>
                <a:gd name="connsiteY0" fmla="*/ 0 h 538073"/>
                <a:gd name="connsiteX1" fmla="*/ 79380 w 679455"/>
                <a:gd name="connsiteY1" fmla="*/ 79375 h 538073"/>
                <a:gd name="connsiteX2" fmla="*/ 42868 w 679455"/>
                <a:gd name="connsiteY2" fmla="*/ 219869 h 538073"/>
                <a:gd name="connsiteX3" fmla="*/ 5 w 679455"/>
                <a:gd name="connsiteY3" fmla="*/ 371475 h 538073"/>
                <a:gd name="connsiteX4" fmla="*/ 41280 w 679455"/>
                <a:gd name="connsiteY4" fmla="*/ 492125 h 538073"/>
                <a:gd name="connsiteX5" fmla="*/ 184155 w 679455"/>
                <a:gd name="connsiteY5" fmla="*/ 536575 h 538073"/>
                <a:gd name="connsiteX6" fmla="*/ 412755 w 679455"/>
                <a:gd name="connsiteY6" fmla="*/ 444500 h 538073"/>
                <a:gd name="connsiteX7" fmla="*/ 558805 w 679455"/>
                <a:gd name="connsiteY7" fmla="*/ 409575 h 538073"/>
                <a:gd name="connsiteX8" fmla="*/ 679455 w 679455"/>
                <a:gd name="connsiteY8" fmla="*/ 434975 h 538073"/>
                <a:gd name="connsiteX0" fmla="*/ 6366 w 669941"/>
                <a:gd name="connsiteY0" fmla="*/ 0 h 538090"/>
                <a:gd name="connsiteX1" fmla="*/ 69866 w 669941"/>
                <a:gd name="connsiteY1" fmla="*/ 79375 h 538090"/>
                <a:gd name="connsiteX2" fmla="*/ 33354 w 669941"/>
                <a:gd name="connsiteY2" fmla="*/ 219869 h 538090"/>
                <a:gd name="connsiteX3" fmla="*/ 16 w 669941"/>
                <a:gd name="connsiteY3" fmla="*/ 369093 h 538090"/>
                <a:gd name="connsiteX4" fmla="*/ 31766 w 669941"/>
                <a:gd name="connsiteY4" fmla="*/ 492125 h 538090"/>
                <a:gd name="connsiteX5" fmla="*/ 174641 w 669941"/>
                <a:gd name="connsiteY5" fmla="*/ 536575 h 538090"/>
                <a:gd name="connsiteX6" fmla="*/ 403241 w 669941"/>
                <a:gd name="connsiteY6" fmla="*/ 444500 h 538090"/>
                <a:gd name="connsiteX7" fmla="*/ 549291 w 669941"/>
                <a:gd name="connsiteY7" fmla="*/ 409575 h 538090"/>
                <a:gd name="connsiteX8" fmla="*/ 669941 w 669941"/>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9018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6952 w 670527"/>
                <a:gd name="connsiteY0" fmla="*/ 0 h 538090"/>
                <a:gd name="connsiteX1" fmla="*/ 89502 w 670527"/>
                <a:gd name="connsiteY1" fmla="*/ 79375 h 538090"/>
                <a:gd name="connsiteX2" fmla="*/ 48228 w 670527"/>
                <a:gd name="connsiteY2" fmla="*/ 207962 h 538090"/>
                <a:gd name="connsiteX3" fmla="*/ 602 w 670527"/>
                <a:gd name="connsiteY3" fmla="*/ 369093 h 538090"/>
                <a:gd name="connsiteX4" fmla="*/ 32352 w 670527"/>
                <a:gd name="connsiteY4" fmla="*/ 492125 h 538090"/>
                <a:gd name="connsiteX5" fmla="*/ 175227 w 670527"/>
                <a:gd name="connsiteY5" fmla="*/ 536575 h 538090"/>
                <a:gd name="connsiteX6" fmla="*/ 403827 w 670527"/>
                <a:gd name="connsiteY6" fmla="*/ 444500 h 538090"/>
                <a:gd name="connsiteX7" fmla="*/ 549877 w 670527"/>
                <a:gd name="connsiteY7" fmla="*/ 409575 h 538090"/>
                <a:gd name="connsiteX8" fmla="*/ 670527 w 670527"/>
                <a:gd name="connsiteY8" fmla="*/ 434975 h 538090"/>
                <a:gd name="connsiteX0" fmla="*/ 6952 w 670527"/>
                <a:gd name="connsiteY0" fmla="*/ 0 h 538090"/>
                <a:gd name="connsiteX1" fmla="*/ 72834 w 670527"/>
                <a:gd name="connsiteY1" fmla="*/ 79375 h 538090"/>
                <a:gd name="connsiteX2" fmla="*/ 48228 w 670527"/>
                <a:gd name="connsiteY2" fmla="*/ 207962 h 538090"/>
                <a:gd name="connsiteX3" fmla="*/ 602 w 670527"/>
                <a:gd name="connsiteY3" fmla="*/ 369093 h 538090"/>
                <a:gd name="connsiteX4" fmla="*/ 32352 w 670527"/>
                <a:gd name="connsiteY4" fmla="*/ 492125 h 538090"/>
                <a:gd name="connsiteX5" fmla="*/ 175227 w 670527"/>
                <a:gd name="connsiteY5" fmla="*/ 536575 h 538090"/>
                <a:gd name="connsiteX6" fmla="*/ 403827 w 670527"/>
                <a:gd name="connsiteY6" fmla="*/ 444500 h 538090"/>
                <a:gd name="connsiteX7" fmla="*/ 549877 w 670527"/>
                <a:gd name="connsiteY7" fmla="*/ 409575 h 538090"/>
                <a:gd name="connsiteX8" fmla="*/ 670527 w 670527"/>
                <a:gd name="connsiteY8" fmla="*/ 434975 h 538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0527" h="538090">
                  <a:moveTo>
                    <a:pt x="6952" y="0"/>
                  </a:moveTo>
                  <a:cubicBezTo>
                    <a:pt x="45846" y="23548"/>
                    <a:pt x="65955" y="44715"/>
                    <a:pt x="72834" y="79375"/>
                  </a:cubicBezTo>
                  <a:cubicBezTo>
                    <a:pt x="79713" y="114035"/>
                    <a:pt x="60267" y="159676"/>
                    <a:pt x="48228" y="207962"/>
                  </a:cubicBezTo>
                  <a:cubicBezTo>
                    <a:pt x="36189" y="256248"/>
                    <a:pt x="3248" y="321732"/>
                    <a:pt x="602" y="369093"/>
                  </a:cubicBezTo>
                  <a:cubicBezTo>
                    <a:pt x="-2044" y="416454"/>
                    <a:pt x="3248" y="464211"/>
                    <a:pt x="32352" y="492125"/>
                  </a:cubicBezTo>
                  <a:cubicBezTo>
                    <a:pt x="61456" y="520039"/>
                    <a:pt x="113315" y="544512"/>
                    <a:pt x="175227" y="536575"/>
                  </a:cubicBezTo>
                  <a:cubicBezTo>
                    <a:pt x="237139" y="528638"/>
                    <a:pt x="341385" y="465667"/>
                    <a:pt x="403827" y="444500"/>
                  </a:cubicBezTo>
                  <a:cubicBezTo>
                    <a:pt x="466269" y="423333"/>
                    <a:pt x="480556" y="405871"/>
                    <a:pt x="549877" y="409575"/>
                  </a:cubicBezTo>
                  <a:cubicBezTo>
                    <a:pt x="619198" y="413279"/>
                    <a:pt x="600412" y="409839"/>
                    <a:pt x="670527" y="434975"/>
                  </a:cubicBezTo>
                </a:path>
              </a:pathLst>
            </a:cu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47" name="Group 46">
              <a:extLst>
                <a:ext uri="{FF2B5EF4-FFF2-40B4-BE49-F238E27FC236}">
                  <a16:creationId xmlns:a16="http://schemas.microsoft.com/office/drawing/2014/main" id="{93AF7549-9999-2915-2FC4-DBB94D6F0A30}"/>
                </a:ext>
              </a:extLst>
            </p:cNvPr>
            <p:cNvGrpSpPr/>
            <p:nvPr/>
          </p:nvGrpSpPr>
          <p:grpSpPr>
            <a:xfrm>
              <a:off x="6003167" y="4389673"/>
              <a:ext cx="600285" cy="673373"/>
              <a:chOff x="6003167" y="4389673"/>
              <a:chExt cx="600285" cy="673373"/>
            </a:xfrm>
          </p:grpSpPr>
          <p:sp>
            <p:nvSpPr>
              <p:cNvPr id="66" name="Freeform 15">
                <a:extLst>
                  <a:ext uri="{FF2B5EF4-FFF2-40B4-BE49-F238E27FC236}">
                    <a16:creationId xmlns:a16="http://schemas.microsoft.com/office/drawing/2014/main" id="{EFFA857D-7D5D-843A-9A35-786E8B1D3083}"/>
                  </a:ext>
                </a:extLst>
              </p:cNvPr>
              <p:cNvSpPr/>
              <p:nvPr/>
            </p:nvSpPr>
            <p:spPr>
              <a:xfrm>
                <a:off x="6424417" y="4884011"/>
                <a:ext cx="179035" cy="179035"/>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67" name="Freeform 16">
                <a:extLst>
                  <a:ext uri="{FF2B5EF4-FFF2-40B4-BE49-F238E27FC236}">
                    <a16:creationId xmlns:a16="http://schemas.microsoft.com/office/drawing/2014/main" id="{1E0165BC-0BB8-9846-A203-71306EB92F56}"/>
                  </a:ext>
                </a:extLst>
              </p:cNvPr>
              <p:cNvSpPr/>
              <p:nvPr/>
            </p:nvSpPr>
            <p:spPr>
              <a:xfrm>
                <a:off x="6003167" y="4771745"/>
                <a:ext cx="254370" cy="254370"/>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68" name="Freeform 17">
                <a:extLst>
                  <a:ext uri="{FF2B5EF4-FFF2-40B4-BE49-F238E27FC236}">
                    <a16:creationId xmlns:a16="http://schemas.microsoft.com/office/drawing/2014/main" id="{B9E7C3FE-D993-F03D-EC64-2116AF259FFE}"/>
                  </a:ext>
                </a:extLst>
              </p:cNvPr>
              <p:cNvSpPr/>
              <p:nvPr/>
            </p:nvSpPr>
            <p:spPr>
              <a:xfrm>
                <a:off x="6078382" y="4389673"/>
                <a:ext cx="304000" cy="346887"/>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grpSp>
        <p:sp>
          <p:nvSpPr>
            <p:cNvPr id="49" name="Oval 48">
              <a:extLst>
                <a:ext uri="{FF2B5EF4-FFF2-40B4-BE49-F238E27FC236}">
                  <a16:creationId xmlns:a16="http://schemas.microsoft.com/office/drawing/2014/main" id="{3B3EB15D-873A-A275-FBA1-C8396797090B}"/>
                </a:ext>
              </a:extLst>
            </p:cNvPr>
            <p:cNvSpPr/>
            <p:nvPr/>
          </p:nvSpPr>
          <p:spPr>
            <a:xfrm>
              <a:off x="6346804" y="4801891"/>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Oval 57">
              <a:extLst>
                <a:ext uri="{FF2B5EF4-FFF2-40B4-BE49-F238E27FC236}">
                  <a16:creationId xmlns:a16="http://schemas.microsoft.com/office/drawing/2014/main" id="{80BBC4BB-4C1C-1B4E-AAF4-DE2DFD61DB43}"/>
                </a:ext>
              </a:extLst>
            </p:cNvPr>
            <p:cNvSpPr/>
            <p:nvPr/>
          </p:nvSpPr>
          <p:spPr>
            <a:xfrm>
              <a:off x="6304390" y="5063992"/>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Oval 61">
              <a:extLst>
                <a:ext uri="{FF2B5EF4-FFF2-40B4-BE49-F238E27FC236}">
                  <a16:creationId xmlns:a16="http://schemas.microsoft.com/office/drawing/2014/main" id="{4E871B45-5D24-0028-ECA2-685EF1DC94E9}"/>
                </a:ext>
              </a:extLst>
            </p:cNvPr>
            <p:cNvSpPr/>
            <p:nvPr/>
          </p:nvSpPr>
          <p:spPr>
            <a:xfrm>
              <a:off x="6642853" y="5050738"/>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Oval 63">
              <a:extLst>
                <a:ext uri="{FF2B5EF4-FFF2-40B4-BE49-F238E27FC236}">
                  <a16:creationId xmlns:a16="http://schemas.microsoft.com/office/drawing/2014/main" id="{CBB62805-BAF8-28F2-95AE-5CD293F4E397}"/>
                </a:ext>
              </a:extLst>
            </p:cNvPr>
            <p:cNvSpPr/>
            <p:nvPr/>
          </p:nvSpPr>
          <p:spPr>
            <a:xfrm>
              <a:off x="6257537" y="4636459"/>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Oval 64">
              <a:extLst>
                <a:ext uri="{FF2B5EF4-FFF2-40B4-BE49-F238E27FC236}">
                  <a16:creationId xmlns:a16="http://schemas.microsoft.com/office/drawing/2014/main" id="{0006DEE9-3FB4-6C26-4F07-BDEE5E588EC4}"/>
                </a:ext>
              </a:extLst>
            </p:cNvPr>
            <p:cNvSpPr/>
            <p:nvPr/>
          </p:nvSpPr>
          <p:spPr>
            <a:xfrm>
              <a:off x="6907886" y="5042832"/>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26" name="Titel 2">
            <a:extLst>
              <a:ext uri="{FF2B5EF4-FFF2-40B4-BE49-F238E27FC236}">
                <a16:creationId xmlns:a16="http://schemas.microsoft.com/office/drawing/2014/main" id="{9CDBD662-42D3-FAD5-E9D5-7653BF841E85}"/>
              </a:ext>
            </a:extLst>
          </p:cNvPr>
          <p:cNvSpPr>
            <a:spLocks noGrp="1"/>
          </p:cNvSpPr>
          <p:nvPr>
            <p:ph type="title"/>
          </p:nvPr>
        </p:nvSpPr>
        <p:spPr>
          <a:xfrm>
            <a:off x="407988" y="373593"/>
            <a:ext cx="11376025" cy="1065742"/>
          </a:xfrm>
        </p:spPr>
        <p:txBody>
          <a:bodyPr/>
          <a:lstStyle/>
          <a:p>
            <a:r>
              <a:rPr lang="de-AT" dirty="0"/>
              <a:t>Problem Context – Motion Control</a:t>
            </a:r>
          </a:p>
        </p:txBody>
      </p:sp>
    </p:spTree>
    <p:extLst>
      <p:ext uri="{BB962C8B-B14F-4D97-AF65-F5344CB8AC3E}">
        <p14:creationId xmlns:p14="http://schemas.microsoft.com/office/powerpoint/2010/main" val="20172201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15</a:t>
            </a:fld>
            <a:endParaRPr lang="en-US" dirty="0"/>
          </a:p>
        </p:txBody>
      </p:sp>
      <p:sp>
        <p:nvSpPr>
          <p:cNvPr id="51" name="Rectangle 1">
            <a:extLst>
              <a:ext uri="{FF2B5EF4-FFF2-40B4-BE49-F238E27FC236}">
                <a16:creationId xmlns:a16="http://schemas.microsoft.com/office/drawing/2014/main" id="{EC653236-F2AD-1FAC-CDF8-81887320998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2" name="Rectangle 2">
            <a:extLst>
              <a:ext uri="{FF2B5EF4-FFF2-40B4-BE49-F238E27FC236}">
                <a16:creationId xmlns:a16="http://schemas.microsoft.com/office/drawing/2014/main" id="{EE60B068-47B7-E64E-8545-8D38BBDEC69D}"/>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194" name="TextBox 193">
            <a:extLst>
              <a:ext uri="{FF2B5EF4-FFF2-40B4-BE49-F238E27FC236}">
                <a16:creationId xmlns:a16="http://schemas.microsoft.com/office/drawing/2014/main" id="{C5ACF434-8493-DF79-A331-24C284C88AEB}"/>
              </a:ext>
            </a:extLst>
          </p:cNvPr>
          <p:cNvSpPr txBox="1"/>
          <p:nvPr/>
        </p:nvSpPr>
        <p:spPr>
          <a:xfrm>
            <a:off x="5537483" y="1595748"/>
            <a:ext cx="2288351" cy="215444"/>
          </a:xfrm>
          <a:prstGeom prst="rect">
            <a:avLst/>
          </a:prstGeom>
          <a:noFill/>
        </p:spPr>
        <p:txBody>
          <a:bodyPr wrap="square" lIns="0" tIns="0" rIns="0" bIns="0" rtlCol="0">
            <a:spAutoFit/>
          </a:bodyPr>
          <a:lstStyle/>
          <a:p>
            <a:pPr algn="ctr"/>
            <a:r>
              <a:rPr lang="en-US" sz="1400" b="1" dirty="0">
                <a:solidFill>
                  <a:schemeClr val="tx2"/>
                </a:solidFill>
              </a:rPr>
              <a:t>Motion Control Loop</a:t>
            </a:r>
          </a:p>
        </p:txBody>
      </p:sp>
      <p:sp>
        <p:nvSpPr>
          <p:cNvPr id="12" name="Rectangle: Rounded Corners 11">
            <a:extLst>
              <a:ext uri="{FF2B5EF4-FFF2-40B4-BE49-F238E27FC236}">
                <a16:creationId xmlns:a16="http://schemas.microsoft.com/office/drawing/2014/main" id="{7B5664E1-9637-37EB-3A6A-8B572BBD2CDB}"/>
              </a:ext>
            </a:extLst>
          </p:cNvPr>
          <p:cNvSpPr/>
          <p:nvPr/>
        </p:nvSpPr>
        <p:spPr>
          <a:xfrm>
            <a:off x="2233378" y="2288192"/>
            <a:ext cx="2340363" cy="660640"/>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JointsTrajectoryGenerator</a:t>
            </a:r>
            <a:endParaRPr lang="en-GB" sz="1400" dirty="0">
              <a:solidFill>
                <a:srgbClr val="003399"/>
              </a:solidFill>
            </a:endParaRPr>
          </a:p>
        </p:txBody>
      </p:sp>
      <p:sp>
        <p:nvSpPr>
          <p:cNvPr id="24" name="TextBox 23">
            <a:extLst>
              <a:ext uri="{FF2B5EF4-FFF2-40B4-BE49-F238E27FC236}">
                <a16:creationId xmlns:a16="http://schemas.microsoft.com/office/drawing/2014/main" id="{2F04EC0C-E936-009D-3F64-5ECC528C62A7}"/>
              </a:ext>
            </a:extLst>
          </p:cNvPr>
          <p:cNvSpPr txBox="1"/>
          <p:nvPr/>
        </p:nvSpPr>
        <p:spPr>
          <a:xfrm>
            <a:off x="401537" y="2511752"/>
            <a:ext cx="864685" cy="215444"/>
          </a:xfrm>
          <a:prstGeom prst="rect">
            <a:avLst/>
          </a:prstGeom>
          <a:noFill/>
        </p:spPr>
        <p:txBody>
          <a:bodyPr wrap="square" lIns="0" tIns="0" rIns="0" bIns="0" rtlCol="0">
            <a:spAutoFit/>
          </a:bodyPr>
          <a:lstStyle/>
          <a:p>
            <a:pPr algn="ctr"/>
            <a:r>
              <a:rPr lang="en-US" sz="1400" dirty="0">
                <a:solidFill>
                  <a:schemeClr val="tx2"/>
                </a:solidFill>
              </a:rPr>
              <a:t>Joint path</a:t>
            </a:r>
            <a:endParaRPr lang="en-GB" sz="1400" dirty="0">
              <a:solidFill>
                <a:schemeClr val="tx2"/>
              </a:solidFill>
            </a:endParaRPr>
          </a:p>
        </p:txBody>
      </p:sp>
      <p:sp>
        <p:nvSpPr>
          <p:cNvPr id="26" name="TextBox 25">
            <a:extLst>
              <a:ext uri="{FF2B5EF4-FFF2-40B4-BE49-F238E27FC236}">
                <a16:creationId xmlns:a16="http://schemas.microsoft.com/office/drawing/2014/main" id="{BB008CC9-BD20-22A2-825E-7A577297C16E}"/>
              </a:ext>
            </a:extLst>
          </p:cNvPr>
          <p:cNvSpPr txBox="1"/>
          <p:nvPr/>
        </p:nvSpPr>
        <p:spPr>
          <a:xfrm>
            <a:off x="4463047" y="3679225"/>
            <a:ext cx="1610464" cy="507831"/>
          </a:xfrm>
          <a:prstGeom prst="rect">
            <a:avLst/>
          </a:prstGeom>
          <a:noFill/>
        </p:spPr>
        <p:txBody>
          <a:bodyPr wrap="square" lIns="0" tIns="0" rIns="0" bIns="0" rtlCol="0">
            <a:spAutoFit/>
          </a:bodyPr>
          <a:lstStyle/>
          <a:p>
            <a:pPr algn="ctr"/>
            <a:r>
              <a:rPr lang="en-US" sz="1200" dirty="0">
                <a:solidFill>
                  <a:schemeClr val="tx2"/>
                </a:solidFill>
              </a:rPr>
              <a:t>Trajectory point:</a:t>
            </a:r>
          </a:p>
          <a:p>
            <a:pPr algn="ctr"/>
            <a:r>
              <a:rPr lang="en-US" sz="1000" dirty="0">
                <a:solidFill>
                  <a:schemeClr val="tx2"/>
                </a:solidFill>
              </a:rPr>
              <a:t>Task pose, velocity, acceleration at </a:t>
            </a:r>
            <a:r>
              <a:rPr lang="en-US" sz="1000" i="1" dirty="0">
                <a:solidFill>
                  <a:schemeClr val="tx2"/>
                </a:solidFill>
              </a:rPr>
              <a:t>t</a:t>
            </a:r>
          </a:p>
        </p:txBody>
      </p:sp>
      <p:sp>
        <p:nvSpPr>
          <p:cNvPr id="31" name="TextBox 30">
            <a:extLst>
              <a:ext uri="{FF2B5EF4-FFF2-40B4-BE49-F238E27FC236}">
                <a16:creationId xmlns:a16="http://schemas.microsoft.com/office/drawing/2014/main" id="{84E42186-E29E-9F38-CFBE-A7C905A0B2CB}"/>
              </a:ext>
            </a:extLst>
          </p:cNvPr>
          <p:cNvSpPr txBox="1"/>
          <p:nvPr/>
        </p:nvSpPr>
        <p:spPr>
          <a:xfrm>
            <a:off x="10058335" y="3103703"/>
            <a:ext cx="1522790" cy="553998"/>
          </a:xfrm>
          <a:prstGeom prst="rect">
            <a:avLst/>
          </a:prstGeom>
          <a:noFill/>
        </p:spPr>
        <p:txBody>
          <a:bodyPr wrap="square" lIns="0" tIns="0" rIns="0" bIns="0" rtlCol="0">
            <a:spAutoFit/>
          </a:bodyPr>
          <a:lstStyle/>
          <a:p>
            <a:pPr algn="ctr"/>
            <a:r>
              <a:rPr lang="en-US" sz="1200" dirty="0">
                <a:solidFill>
                  <a:schemeClr val="tx2"/>
                </a:solidFill>
              </a:rPr>
              <a:t>Actual joint angles, velocities, accelerations at </a:t>
            </a:r>
            <a:r>
              <a:rPr lang="en-US" sz="1200" i="1" dirty="0">
                <a:solidFill>
                  <a:schemeClr val="tx2"/>
                </a:solidFill>
              </a:rPr>
              <a:t>t</a:t>
            </a:r>
          </a:p>
        </p:txBody>
      </p:sp>
      <p:cxnSp>
        <p:nvCxnSpPr>
          <p:cNvPr id="48" name="Straight Arrow Connector 47">
            <a:extLst>
              <a:ext uri="{FF2B5EF4-FFF2-40B4-BE49-F238E27FC236}">
                <a16:creationId xmlns:a16="http://schemas.microsoft.com/office/drawing/2014/main" id="{DF76875B-3595-BDFF-DAF6-C5FA00EC56B3}"/>
              </a:ext>
            </a:extLst>
          </p:cNvPr>
          <p:cNvCxnSpPr>
            <a:cxnSpLocks/>
            <a:stCxn id="61" idx="3"/>
          </p:cNvCxnSpPr>
          <p:nvPr/>
        </p:nvCxnSpPr>
        <p:spPr>
          <a:xfrm>
            <a:off x="10123727" y="3089393"/>
            <a:ext cx="1913345" cy="0"/>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58932DBA-BC85-1349-2412-47475D88E2FF}"/>
              </a:ext>
            </a:extLst>
          </p:cNvPr>
          <p:cNvCxnSpPr>
            <a:cxnSpLocks/>
            <a:stCxn id="24" idx="3"/>
            <a:endCxn id="12" idx="1"/>
          </p:cNvCxnSpPr>
          <p:nvPr/>
        </p:nvCxnSpPr>
        <p:spPr>
          <a:xfrm flipV="1">
            <a:off x="1266222" y="2618512"/>
            <a:ext cx="967156" cy="962"/>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grpSp>
        <p:nvGrpSpPr>
          <p:cNvPr id="183" name="Group 182">
            <a:extLst>
              <a:ext uri="{FF2B5EF4-FFF2-40B4-BE49-F238E27FC236}">
                <a16:creationId xmlns:a16="http://schemas.microsoft.com/office/drawing/2014/main" id="{AC62FBFA-1A77-63C6-7ED3-E88F3AABA500}"/>
              </a:ext>
            </a:extLst>
          </p:cNvPr>
          <p:cNvGrpSpPr/>
          <p:nvPr/>
        </p:nvGrpSpPr>
        <p:grpSpPr>
          <a:xfrm>
            <a:off x="2537250" y="4195078"/>
            <a:ext cx="1766536" cy="1112840"/>
            <a:chOff x="2764634" y="4139767"/>
            <a:chExt cx="1766536" cy="1112840"/>
          </a:xfrm>
        </p:grpSpPr>
        <p:grpSp>
          <p:nvGrpSpPr>
            <p:cNvPr id="59" name="Group 58">
              <a:extLst>
                <a:ext uri="{FF2B5EF4-FFF2-40B4-BE49-F238E27FC236}">
                  <a16:creationId xmlns:a16="http://schemas.microsoft.com/office/drawing/2014/main" id="{A5943475-B085-B35A-5263-8F093510124F}"/>
                </a:ext>
              </a:extLst>
            </p:cNvPr>
            <p:cNvGrpSpPr/>
            <p:nvPr/>
          </p:nvGrpSpPr>
          <p:grpSpPr>
            <a:xfrm>
              <a:off x="2764634" y="4139767"/>
              <a:ext cx="1766536" cy="1112840"/>
              <a:chOff x="1279822" y="2270598"/>
              <a:chExt cx="6050258" cy="3811399"/>
            </a:xfrm>
          </p:grpSpPr>
          <p:sp>
            <p:nvSpPr>
              <p:cNvPr id="53" name="Freeform 13">
                <a:extLst>
                  <a:ext uri="{FF2B5EF4-FFF2-40B4-BE49-F238E27FC236}">
                    <a16:creationId xmlns:a16="http://schemas.microsoft.com/office/drawing/2014/main" id="{44D2AACD-115B-47D7-C112-D7465DCE67D9}"/>
                  </a:ext>
                </a:extLst>
              </p:cNvPr>
              <p:cNvSpPr/>
              <p:nvPr/>
            </p:nvSpPr>
            <p:spPr>
              <a:xfrm>
                <a:off x="3907305" y="2270598"/>
                <a:ext cx="3422775" cy="3411874"/>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a:p>
            </p:txBody>
          </p:sp>
          <p:sp>
            <p:nvSpPr>
              <p:cNvPr id="54" name="Freeform 14">
                <a:extLst>
                  <a:ext uri="{FF2B5EF4-FFF2-40B4-BE49-F238E27FC236}">
                    <a16:creationId xmlns:a16="http://schemas.microsoft.com/office/drawing/2014/main" id="{573CC85B-9049-472B-55F1-9ED651A5230E}"/>
                  </a:ext>
                </a:extLst>
              </p:cNvPr>
              <p:cNvSpPr/>
              <p:nvPr/>
            </p:nvSpPr>
            <p:spPr>
              <a:xfrm>
                <a:off x="2048828" y="3976535"/>
                <a:ext cx="2388253" cy="2105462"/>
              </a:xfrm>
              <a:custGeom>
                <a:avLst/>
                <a:gdLst/>
                <a:ahLst/>
                <a:cxnLst/>
                <a:rect l="l" t="t" r="r" b="b"/>
                <a:pathLst>
                  <a:path w="2388253" h="2105462">
                    <a:moveTo>
                      <a:pt x="0" y="0"/>
                    </a:moveTo>
                    <a:lnTo>
                      <a:pt x="2388253" y="0"/>
                    </a:lnTo>
                    <a:lnTo>
                      <a:pt x="2388253" y="2105462"/>
                    </a:lnTo>
                    <a:lnTo>
                      <a:pt x="0" y="2105462"/>
                    </a:lnTo>
                    <a:lnTo>
                      <a:pt x="0" y="0"/>
                    </a:lnTo>
                    <a:close/>
                  </a:path>
                </a:pathLst>
              </a:custGeom>
              <a:blipFill>
                <a:blip r:embed="rId4"/>
                <a:stretch>
                  <a:fillRect l="-16072" t="-8057"/>
                </a:stretch>
              </a:blipFill>
            </p:spPr>
            <p:txBody>
              <a:bodyPr/>
              <a:lstStyle/>
              <a:p>
                <a:endParaRPr lang="en-GB"/>
              </a:p>
            </p:txBody>
          </p:sp>
          <p:sp>
            <p:nvSpPr>
              <p:cNvPr id="55" name="Freeform 15">
                <a:extLst>
                  <a:ext uri="{FF2B5EF4-FFF2-40B4-BE49-F238E27FC236}">
                    <a16:creationId xmlns:a16="http://schemas.microsoft.com/office/drawing/2014/main" id="{BD363C21-221D-56D3-4830-B8D684F4F759}"/>
                  </a:ext>
                </a:extLst>
              </p:cNvPr>
              <p:cNvSpPr/>
              <p:nvPr/>
            </p:nvSpPr>
            <p:spPr>
              <a:xfrm>
                <a:off x="2722572" y="4644763"/>
                <a:ext cx="613182" cy="613182"/>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56" name="Freeform 16">
                <a:extLst>
                  <a:ext uri="{FF2B5EF4-FFF2-40B4-BE49-F238E27FC236}">
                    <a16:creationId xmlns:a16="http://schemas.microsoft.com/office/drawing/2014/main" id="{988AF4C0-DFFE-306C-85F9-66361AE532B6}"/>
                  </a:ext>
                </a:extLst>
              </p:cNvPr>
              <p:cNvSpPr/>
              <p:nvPr/>
            </p:nvSpPr>
            <p:spPr>
              <a:xfrm>
                <a:off x="1279822" y="4260259"/>
                <a:ext cx="871200" cy="871200"/>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57" name="Freeform 17">
                <a:extLst>
                  <a:ext uri="{FF2B5EF4-FFF2-40B4-BE49-F238E27FC236}">
                    <a16:creationId xmlns:a16="http://schemas.microsoft.com/office/drawing/2014/main" id="{E9B138FF-71E0-36CE-834B-8FCA4C048BDD}"/>
                  </a:ext>
                </a:extLst>
              </p:cNvPr>
              <p:cNvSpPr/>
              <p:nvPr/>
            </p:nvSpPr>
            <p:spPr>
              <a:xfrm>
                <a:off x="1537428" y="2951690"/>
                <a:ext cx="1041177" cy="1188065"/>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grpSp>
        <p:sp>
          <p:nvSpPr>
            <p:cNvPr id="70" name="Oval 69">
              <a:extLst>
                <a:ext uri="{FF2B5EF4-FFF2-40B4-BE49-F238E27FC236}">
                  <a16:creationId xmlns:a16="http://schemas.microsoft.com/office/drawing/2014/main" id="{4465AF42-EFFD-94C9-137F-F24C6544CE8D}"/>
                </a:ext>
              </a:extLst>
            </p:cNvPr>
            <p:cNvSpPr/>
            <p:nvPr/>
          </p:nvSpPr>
          <p:spPr>
            <a:xfrm>
              <a:off x="3074762" y="4750848"/>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Oval 73">
              <a:extLst>
                <a:ext uri="{FF2B5EF4-FFF2-40B4-BE49-F238E27FC236}">
                  <a16:creationId xmlns:a16="http://schemas.microsoft.com/office/drawing/2014/main" id="{8EB7E373-558B-1F67-BB57-7C7A591EC271}"/>
                </a:ext>
              </a:extLst>
            </p:cNvPr>
            <p:cNvSpPr/>
            <p:nvPr/>
          </p:nvSpPr>
          <p:spPr>
            <a:xfrm>
              <a:off x="3065857" y="5012949"/>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Oval 74">
              <a:extLst>
                <a:ext uri="{FF2B5EF4-FFF2-40B4-BE49-F238E27FC236}">
                  <a16:creationId xmlns:a16="http://schemas.microsoft.com/office/drawing/2014/main" id="{6AA539B3-AD13-EF54-3FD3-985153C01E93}"/>
                </a:ext>
              </a:extLst>
            </p:cNvPr>
            <p:cNvSpPr/>
            <p:nvPr/>
          </p:nvSpPr>
          <p:spPr>
            <a:xfrm>
              <a:off x="3404320" y="4999695"/>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Oval 75">
              <a:extLst>
                <a:ext uri="{FF2B5EF4-FFF2-40B4-BE49-F238E27FC236}">
                  <a16:creationId xmlns:a16="http://schemas.microsoft.com/office/drawing/2014/main" id="{265CD327-CCA6-C723-6F0C-EAC7FB5751DC}"/>
                </a:ext>
              </a:extLst>
            </p:cNvPr>
            <p:cNvSpPr/>
            <p:nvPr/>
          </p:nvSpPr>
          <p:spPr>
            <a:xfrm>
              <a:off x="3669353" y="4991789"/>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Oval 76">
              <a:extLst>
                <a:ext uri="{FF2B5EF4-FFF2-40B4-BE49-F238E27FC236}">
                  <a16:creationId xmlns:a16="http://schemas.microsoft.com/office/drawing/2014/main" id="{6E158899-C04B-124A-0DBD-614336D6D325}"/>
                </a:ext>
              </a:extLst>
            </p:cNvPr>
            <p:cNvSpPr/>
            <p:nvPr/>
          </p:nvSpPr>
          <p:spPr>
            <a:xfrm>
              <a:off x="3019004" y="4585416"/>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77" name="Group 176">
            <a:extLst>
              <a:ext uri="{FF2B5EF4-FFF2-40B4-BE49-F238E27FC236}">
                <a16:creationId xmlns:a16="http://schemas.microsoft.com/office/drawing/2014/main" id="{687D5065-9A8E-7A30-E4C1-072727CA7275}"/>
              </a:ext>
            </a:extLst>
          </p:cNvPr>
          <p:cNvGrpSpPr/>
          <p:nvPr/>
        </p:nvGrpSpPr>
        <p:grpSpPr>
          <a:xfrm>
            <a:off x="116581" y="4126473"/>
            <a:ext cx="1766536" cy="996188"/>
            <a:chOff x="492958" y="4181396"/>
            <a:chExt cx="1766536" cy="996188"/>
          </a:xfrm>
        </p:grpSpPr>
        <p:sp>
          <p:nvSpPr>
            <p:cNvPr id="79" name="Freeform 13">
              <a:extLst>
                <a:ext uri="{FF2B5EF4-FFF2-40B4-BE49-F238E27FC236}">
                  <a16:creationId xmlns:a16="http://schemas.microsoft.com/office/drawing/2014/main" id="{D0F48302-30D8-A28A-760A-5B10F237F5EA}"/>
                </a:ext>
              </a:extLst>
            </p:cNvPr>
            <p:cNvSpPr/>
            <p:nvPr/>
          </p:nvSpPr>
          <p:spPr>
            <a:xfrm>
              <a:off x="1260123" y="4181396"/>
              <a:ext cx="999371" cy="996188"/>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a:p>
          </p:txBody>
        </p:sp>
        <p:sp>
          <p:nvSpPr>
            <p:cNvPr id="81" name="Freeform 15">
              <a:extLst>
                <a:ext uri="{FF2B5EF4-FFF2-40B4-BE49-F238E27FC236}">
                  <a16:creationId xmlns:a16="http://schemas.microsoft.com/office/drawing/2014/main" id="{55FF864B-82DF-EFAA-D14B-8774E4CDA3F2}"/>
                </a:ext>
              </a:extLst>
            </p:cNvPr>
            <p:cNvSpPr/>
            <p:nvPr/>
          </p:nvSpPr>
          <p:spPr>
            <a:xfrm>
              <a:off x="914208" y="4874597"/>
              <a:ext cx="179035" cy="179035"/>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82" name="Freeform 16">
              <a:extLst>
                <a:ext uri="{FF2B5EF4-FFF2-40B4-BE49-F238E27FC236}">
                  <a16:creationId xmlns:a16="http://schemas.microsoft.com/office/drawing/2014/main" id="{12265872-FC61-83A0-4849-CF0905325610}"/>
                </a:ext>
              </a:extLst>
            </p:cNvPr>
            <p:cNvSpPr/>
            <p:nvPr/>
          </p:nvSpPr>
          <p:spPr>
            <a:xfrm>
              <a:off x="492958" y="4762331"/>
              <a:ext cx="254370" cy="254370"/>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83" name="Freeform 17">
              <a:extLst>
                <a:ext uri="{FF2B5EF4-FFF2-40B4-BE49-F238E27FC236}">
                  <a16:creationId xmlns:a16="http://schemas.microsoft.com/office/drawing/2014/main" id="{01167393-70BC-B27F-7E19-EAC92C61D237}"/>
                </a:ext>
              </a:extLst>
            </p:cNvPr>
            <p:cNvSpPr/>
            <p:nvPr/>
          </p:nvSpPr>
          <p:spPr>
            <a:xfrm>
              <a:off x="568173" y="4380259"/>
              <a:ext cx="304000" cy="346887"/>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dirty="0"/>
            </a:p>
          </p:txBody>
        </p:sp>
        <p:sp>
          <p:nvSpPr>
            <p:cNvPr id="84" name="Oval 83">
              <a:extLst>
                <a:ext uri="{FF2B5EF4-FFF2-40B4-BE49-F238E27FC236}">
                  <a16:creationId xmlns:a16="http://schemas.microsoft.com/office/drawing/2014/main" id="{CAAFA84F-1723-0033-DAC7-331FE98FA0D0}"/>
                </a:ext>
              </a:extLst>
            </p:cNvPr>
            <p:cNvSpPr/>
            <p:nvPr/>
          </p:nvSpPr>
          <p:spPr>
            <a:xfrm>
              <a:off x="803086" y="4792477"/>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Oval 84">
              <a:extLst>
                <a:ext uri="{FF2B5EF4-FFF2-40B4-BE49-F238E27FC236}">
                  <a16:creationId xmlns:a16="http://schemas.microsoft.com/office/drawing/2014/main" id="{EF41D1F5-03DA-CE22-1349-0168990A33AF}"/>
                </a:ext>
              </a:extLst>
            </p:cNvPr>
            <p:cNvSpPr/>
            <p:nvPr/>
          </p:nvSpPr>
          <p:spPr>
            <a:xfrm>
              <a:off x="794181" y="5054578"/>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Oval 85">
              <a:extLst>
                <a:ext uri="{FF2B5EF4-FFF2-40B4-BE49-F238E27FC236}">
                  <a16:creationId xmlns:a16="http://schemas.microsoft.com/office/drawing/2014/main" id="{1909C209-3127-CC27-ACC3-1F85C9267D82}"/>
                </a:ext>
              </a:extLst>
            </p:cNvPr>
            <p:cNvSpPr/>
            <p:nvPr/>
          </p:nvSpPr>
          <p:spPr>
            <a:xfrm>
              <a:off x="1132644" y="5041324"/>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Oval 86">
              <a:extLst>
                <a:ext uri="{FF2B5EF4-FFF2-40B4-BE49-F238E27FC236}">
                  <a16:creationId xmlns:a16="http://schemas.microsoft.com/office/drawing/2014/main" id="{F0FFA216-6B4C-5D97-20D5-0B393167E6E1}"/>
                </a:ext>
              </a:extLst>
            </p:cNvPr>
            <p:cNvSpPr/>
            <p:nvPr/>
          </p:nvSpPr>
          <p:spPr>
            <a:xfrm>
              <a:off x="1397677" y="5033418"/>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Oval 87">
              <a:extLst>
                <a:ext uri="{FF2B5EF4-FFF2-40B4-BE49-F238E27FC236}">
                  <a16:creationId xmlns:a16="http://schemas.microsoft.com/office/drawing/2014/main" id="{1C27609B-FC5B-5224-A344-A7CD5845D105}"/>
                </a:ext>
              </a:extLst>
            </p:cNvPr>
            <p:cNvSpPr/>
            <p:nvPr/>
          </p:nvSpPr>
          <p:spPr>
            <a:xfrm>
              <a:off x="747328" y="4627045"/>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TextBox 1">
            <a:extLst>
              <a:ext uri="{FF2B5EF4-FFF2-40B4-BE49-F238E27FC236}">
                <a16:creationId xmlns:a16="http://schemas.microsoft.com/office/drawing/2014/main" id="{36F6332F-DBB5-B154-9116-6B1FA39E19DA}"/>
              </a:ext>
            </a:extLst>
          </p:cNvPr>
          <p:cNvSpPr txBox="1"/>
          <p:nvPr/>
        </p:nvSpPr>
        <p:spPr>
          <a:xfrm>
            <a:off x="388516" y="3500230"/>
            <a:ext cx="864685" cy="215444"/>
          </a:xfrm>
          <a:prstGeom prst="rect">
            <a:avLst/>
          </a:prstGeom>
          <a:noFill/>
        </p:spPr>
        <p:txBody>
          <a:bodyPr wrap="square" lIns="0" tIns="0" rIns="0" bIns="0" rtlCol="0">
            <a:spAutoFit/>
          </a:bodyPr>
          <a:lstStyle/>
          <a:p>
            <a:pPr algn="ctr"/>
            <a:r>
              <a:rPr lang="en-US" sz="1400" dirty="0">
                <a:solidFill>
                  <a:schemeClr val="tx2"/>
                </a:solidFill>
              </a:rPr>
              <a:t>Task path</a:t>
            </a:r>
            <a:endParaRPr lang="en-GB" sz="1400" dirty="0">
              <a:solidFill>
                <a:schemeClr val="tx2"/>
              </a:solidFill>
            </a:endParaRPr>
          </a:p>
        </p:txBody>
      </p:sp>
      <p:sp>
        <p:nvSpPr>
          <p:cNvPr id="13" name="Rectangle: Rounded Corners 12">
            <a:extLst>
              <a:ext uri="{FF2B5EF4-FFF2-40B4-BE49-F238E27FC236}">
                <a16:creationId xmlns:a16="http://schemas.microsoft.com/office/drawing/2014/main" id="{CD5B68D5-59ED-CC78-9711-EF3EC0178897}"/>
              </a:ext>
            </a:extLst>
          </p:cNvPr>
          <p:cNvSpPr/>
          <p:nvPr/>
        </p:nvSpPr>
        <p:spPr>
          <a:xfrm>
            <a:off x="2233377" y="3268360"/>
            <a:ext cx="2340363" cy="660640"/>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TaskTrajectoryGenerator</a:t>
            </a:r>
            <a:endParaRPr lang="en-GB" sz="1400" dirty="0">
              <a:solidFill>
                <a:srgbClr val="003399"/>
              </a:solidFill>
            </a:endParaRPr>
          </a:p>
        </p:txBody>
      </p:sp>
      <p:cxnSp>
        <p:nvCxnSpPr>
          <p:cNvPr id="15" name="Straight Arrow Connector 14">
            <a:extLst>
              <a:ext uri="{FF2B5EF4-FFF2-40B4-BE49-F238E27FC236}">
                <a16:creationId xmlns:a16="http://schemas.microsoft.com/office/drawing/2014/main" id="{D74867C2-6B86-32E7-7DD5-47FEBF8FF626}"/>
              </a:ext>
            </a:extLst>
          </p:cNvPr>
          <p:cNvCxnSpPr>
            <a:cxnSpLocks/>
            <a:stCxn id="2" idx="3"/>
            <a:endCxn id="13" idx="1"/>
          </p:cNvCxnSpPr>
          <p:nvPr/>
        </p:nvCxnSpPr>
        <p:spPr>
          <a:xfrm flipV="1">
            <a:off x="1253201" y="3598680"/>
            <a:ext cx="980176" cy="9272"/>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E5990DC0-402D-5ECD-5A70-4D0652B449C9}"/>
              </a:ext>
            </a:extLst>
          </p:cNvPr>
          <p:cNvSpPr txBox="1"/>
          <p:nvPr/>
        </p:nvSpPr>
        <p:spPr>
          <a:xfrm>
            <a:off x="4341006" y="2072376"/>
            <a:ext cx="1861539" cy="507831"/>
          </a:xfrm>
          <a:prstGeom prst="rect">
            <a:avLst/>
          </a:prstGeom>
          <a:noFill/>
        </p:spPr>
        <p:txBody>
          <a:bodyPr wrap="square" lIns="0" tIns="0" rIns="0" bIns="0" rtlCol="0">
            <a:spAutoFit/>
          </a:bodyPr>
          <a:lstStyle/>
          <a:p>
            <a:pPr algn="ctr"/>
            <a:r>
              <a:rPr lang="en-US" sz="1200" dirty="0">
                <a:solidFill>
                  <a:schemeClr val="tx2"/>
                </a:solidFill>
              </a:rPr>
              <a:t>Trajectory point:</a:t>
            </a:r>
          </a:p>
          <a:p>
            <a:pPr algn="ctr"/>
            <a:r>
              <a:rPr lang="en-US" sz="1000" dirty="0">
                <a:solidFill>
                  <a:schemeClr val="tx2"/>
                </a:solidFill>
              </a:rPr>
              <a:t>Joint angles, velocities, accelerations at </a:t>
            </a:r>
            <a:r>
              <a:rPr lang="en-US" sz="1000" i="1" dirty="0">
                <a:solidFill>
                  <a:schemeClr val="tx2"/>
                </a:solidFill>
              </a:rPr>
              <a:t>t</a:t>
            </a:r>
          </a:p>
        </p:txBody>
      </p:sp>
      <p:sp>
        <p:nvSpPr>
          <p:cNvPr id="61" name="Rectangle: Rounded Corners 60">
            <a:extLst>
              <a:ext uri="{FF2B5EF4-FFF2-40B4-BE49-F238E27FC236}">
                <a16:creationId xmlns:a16="http://schemas.microsoft.com/office/drawing/2014/main" id="{803022E2-70A5-5235-01F4-DD4A6F1A1EBB}"/>
              </a:ext>
            </a:extLst>
          </p:cNvPr>
          <p:cNvSpPr/>
          <p:nvPr/>
        </p:nvSpPr>
        <p:spPr>
          <a:xfrm>
            <a:off x="8954637" y="2782020"/>
            <a:ext cx="1169090" cy="614746"/>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IRobot</a:t>
            </a:r>
            <a:endParaRPr lang="en-GB" dirty="0">
              <a:solidFill>
                <a:srgbClr val="003399"/>
              </a:solidFill>
            </a:endParaRPr>
          </a:p>
        </p:txBody>
      </p:sp>
      <p:cxnSp>
        <p:nvCxnSpPr>
          <p:cNvPr id="63" name="Straight Arrow Connector 62">
            <a:extLst>
              <a:ext uri="{FF2B5EF4-FFF2-40B4-BE49-F238E27FC236}">
                <a16:creationId xmlns:a16="http://schemas.microsoft.com/office/drawing/2014/main" id="{BC7118E0-4E37-160D-4A62-8EA1B2435B17}"/>
              </a:ext>
            </a:extLst>
          </p:cNvPr>
          <p:cNvCxnSpPr>
            <a:cxnSpLocks/>
            <a:stCxn id="22" idx="3"/>
            <a:endCxn id="61" idx="1"/>
          </p:cNvCxnSpPr>
          <p:nvPr/>
        </p:nvCxnSpPr>
        <p:spPr>
          <a:xfrm>
            <a:off x="7784654" y="3089393"/>
            <a:ext cx="1169983" cy="0"/>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Connector: Elbow 129">
            <a:extLst>
              <a:ext uri="{FF2B5EF4-FFF2-40B4-BE49-F238E27FC236}">
                <a16:creationId xmlns:a16="http://schemas.microsoft.com/office/drawing/2014/main" id="{77BBEC6E-30B0-F137-F289-FE0403443A82}"/>
              </a:ext>
            </a:extLst>
          </p:cNvPr>
          <p:cNvCxnSpPr>
            <a:cxnSpLocks/>
            <a:stCxn id="61" idx="3"/>
            <a:endCxn id="22" idx="0"/>
          </p:cNvCxnSpPr>
          <p:nvPr/>
        </p:nvCxnSpPr>
        <p:spPr>
          <a:xfrm flipH="1" flipV="1">
            <a:off x="6844291" y="2268988"/>
            <a:ext cx="3279436" cy="820405"/>
          </a:xfrm>
          <a:prstGeom prst="bentConnector4">
            <a:avLst>
              <a:gd name="adj1" fmla="val -19460"/>
              <a:gd name="adj2" fmla="val 127864"/>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sp>
        <p:nvSpPr>
          <p:cNvPr id="185" name="TextBox 184">
            <a:extLst>
              <a:ext uri="{FF2B5EF4-FFF2-40B4-BE49-F238E27FC236}">
                <a16:creationId xmlns:a16="http://schemas.microsoft.com/office/drawing/2014/main" id="{0121430F-78F0-804F-7C2D-83E5D5F50D2A}"/>
              </a:ext>
            </a:extLst>
          </p:cNvPr>
          <p:cNvSpPr txBox="1"/>
          <p:nvPr/>
        </p:nvSpPr>
        <p:spPr>
          <a:xfrm>
            <a:off x="4765528" y="2975258"/>
            <a:ext cx="496096" cy="215444"/>
          </a:xfrm>
          <a:prstGeom prst="rect">
            <a:avLst/>
          </a:prstGeom>
          <a:noFill/>
        </p:spPr>
        <p:txBody>
          <a:bodyPr wrap="square" lIns="0" tIns="0" rIns="0" bIns="0" rtlCol="0">
            <a:spAutoFit/>
          </a:bodyPr>
          <a:lstStyle/>
          <a:p>
            <a:pPr algn="ctr"/>
            <a:r>
              <a:rPr lang="en-US" sz="1400" dirty="0">
                <a:solidFill>
                  <a:schemeClr val="tx2"/>
                </a:solidFill>
              </a:rPr>
              <a:t>OR</a:t>
            </a:r>
            <a:endParaRPr lang="en-GB" sz="1400" dirty="0">
              <a:solidFill>
                <a:schemeClr val="tx2"/>
              </a:solidFill>
            </a:endParaRPr>
          </a:p>
        </p:txBody>
      </p:sp>
      <p:grpSp>
        <p:nvGrpSpPr>
          <p:cNvPr id="267" name="Group 266">
            <a:extLst>
              <a:ext uri="{FF2B5EF4-FFF2-40B4-BE49-F238E27FC236}">
                <a16:creationId xmlns:a16="http://schemas.microsoft.com/office/drawing/2014/main" id="{EE67F576-27BA-375F-17AD-3845DB1CA7C2}"/>
              </a:ext>
            </a:extLst>
          </p:cNvPr>
          <p:cNvGrpSpPr/>
          <p:nvPr/>
        </p:nvGrpSpPr>
        <p:grpSpPr>
          <a:xfrm>
            <a:off x="5903927" y="2268988"/>
            <a:ext cx="1880727" cy="1640809"/>
            <a:chOff x="5872702" y="2923491"/>
            <a:chExt cx="1880727" cy="1640809"/>
          </a:xfrm>
        </p:grpSpPr>
        <p:sp>
          <p:nvSpPr>
            <p:cNvPr id="22" name="Rectangle: Rounded Corners 21">
              <a:extLst>
                <a:ext uri="{FF2B5EF4-FFF2-40B4-BE49-F238E27FC236}">
                  <a16:creationId xmlns:a16="http://schemas.microsoft.com/office/drawing/2014/main" id="{9A919D92-8230-6FF1-2566-05478A8EF652}"/>
                </a:ext>
              </a:extLst>
            </p:cNvPr>
            <p:cNvSpPr/>
            <p:nvPr/>
          </p:nvSpPr>
          <p:spPr>
            <a:xfrm>
              <a:off x="5872702" y="2923491"/>
              <a:ext cx="1880727" cy="1640809"/>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rgbClr val="003399"/>
                </a:solidFill>
              </a:endParaRPr>
            </a:p>
          </p:txBody>
        </p:sp>
        <p:sp>
          <p:nvSpPr>
            <p:cNvPr id="231" name="TextBox 230">
              <a:extLst>
                <a:ext uri="{FF2B5EF4-FFF2-40B4-BE49-F238E27FC236}">
                  <a16:creationId xmlns:a16="http://schemas.microsoft.com/office/drawing/2014/main" id="{EA8A29FD-1F9C-33D7-393E-775D9C78F47C}"/>
                </a:ext>
              </a:extLst>
            </p:cNvPr>
            <p:cNvSpPr txBox="1"/>
            <p:nvPr/>
          </p:nvSpPr>
          <p:spPr>
            <a:xfrm>
              <a:off x="6156403" y="2981589"/>
              <a:ext cx="1263612" cy="307777"/>
            </a:xfrm>
            <a:prstGeom prst="rect">
              <a:avLst/>
            </a:prstGeom>
            <a:noFill/>
          </p:spPr>
          <p:txBody>
            <a:bodyPr wrap="square">
              <a:spAutoFit/>
            </a:bodyPr>
            <a:lstStyle/>
            <a:p>
              <a:pPr algn="ctr"/>
              <a:r>
                <a:rPr lang="en-US" sz="1400" dirty="0" err="1">
                  <a:solidFill>
                    <a:srgbClr val="003399"/>
                  </a:solidFill>
                </a:rPr>
                <a:t>IController</a:t>
              </a:r>
              <a:endParaRPr lang="en-GB" dirty="0">
                <a:solidFill>
                  <a:srgbClr val="003399"/>
                </a:solidFill>
              </a:endParaRPr>
            </a:p>
          </p:txBody>
        </p:sp>
        <p:sp>
          <p:nvSpPr>
            <p:cNvPr id="233" name="Rectangle: Rounded Corners 232">
              <a:extLst>
                <a:ext uri="{FF2B5EF4-FFF2-40B4-BE49-F238E27FC236}">
                  <a16:creationId xmlns:a16="http://schemas.microsoft.com/office/drawing/2014/main" id="{46056832-B6D8-E4D6-D9BB-4798D507D268}"/>
                </a:ext>
              </a:extLst>
            </p:cNvPr>
            <p:cNvSpPr/>
            <p:nvPr/>
          </p:nvSpPr>
          <p:spPr>
            <a:xfrm>
              <a:off x="6015262" y="3991399"/>
              <a:ext cx="1581337" cy="444864"/>
            </a:xfrm>
            <a:prstGeom prst="roundRect">
              <a:avLst/>
            </a:prstGeom>
            <a:solidFill>
              <a:srgbClr val="E1E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PID</a:t>
              </a:r>
              <a:endParaRPr lang="en-GB" sz="1200" dirty="0">
                <a:solidFill>
                  <a:schemeClr val="tx1"/>
                </a:solidFill>
              </a:endParaRPr>
            </a:p>
          </p:txBody>
        </p:sp>
      </p:grpSp>
      <p:sp>
        <p:nvSpPr>
          <p:cNvPr id="285" name="Rectangle: Rounded Corners 284">
            <a:extLst>
              <a:ext uri="{FF2B5EF4-FFF2-40B4-BE49-F238E27FC236}">
                <a16:creationId xmlns:a16="http://schemas.microsoft.com/office/drawing/2014/main" id="{B9B9C5F0-D2B3-97EE-9174-9821A634C819}"/>
              </a:ext>
            </a:extLst>
          </p:cNvPr>
          <p:cNvSpPr/>
          <p:nvPr/>
        </p:nvSpPr>
        <p:spPr>
          <a:xfrm>
            <a:off x="1960761" y="1856699"/>
            <a:ext cx="9564489" cy="3733767"/>
          </a:xfrm>
          <a:prstGeom prst="roundRect">
            <a:avLst>
              <a:gd name="adj" fmla="val 9139"/>
            </a:avLst>
          </a:prstGeom>
          <a:noFill/>
          <a:ln w="28575">
            <a:solidFill>
              <a:srgbClr val="0033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2" name="Group 301">
            <a:extLst>
              <a:ext uri="{FF2B5EF4-FFF2-40B4-BE49-F238E27FC236}">
                <a16:creationId xmlns:a16="http://schemas.microsoft.com/office/drawing/2014/main" id="{5AABDC37-FF31-649E-EA73-0417347C77B0}"/>
              </a:ext>
            </a:extLst>
          </p:cNvPr>
          <p:cNvGrpSpPr/>
          <p:nvPr/>
        </p:nvGrpSpPr>
        <p:grpSpPr>
          <a:xfrm>
            <a:off x="9702471" y="4197165"/>
            <a:ext cx="1766536" cy="996188"/>
            <a:chOff x="1279822" y="2270598"/>
            <a:chExt cx="6050258" cy="3411874"/>
          </a:xfrm>
        </p:grpSpPr>
        <p:sp>
          <p:nvSpPr>
            <p:cNvPr id="332" name="Freeform 13">
              <a:extLst>
                <a:ext uri="{FF2B5EF4-FFF2-40B4-BE49-F238E27FC236}">
                  <a16:creationId xmlns:a16="http://schemas.microsoft.com/office/drawing/2014/main" id="{3953A0E9-DFF9-F1EF-B0A1-9CB563D33B8D}"/>
                </a:ext>
              </a:extLst>
            </p:cNvPr>
            <p:cNvSpPr/>
            <p:nvPr/>
          </p:nvSpPr>
          <p:spPr>
            <a:xfrm>
              <a:off x="3907305" y="2270598"/>
              <a:ext cx="3422775" cy="3411874"/>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dirty="0"/>
            </a:p>
          </p:txBody>
        </p:sp>
        <p:sp>
          <p:nvSpPr>
            <p:cNvPr id="334" name="Freeform 15">
              <a:extLst>
                <a:ext uri="{FF2B5EF4-FFF2-40B4-BE49-F238E27FC236}">
                  <a16:creationId xmlns:a16="http://schemas.microsoft.com/office/drawing/2014/main" id="{FD6CC5C4-1D56-52BF-5B40-1B1760470574}"/>
                </a:ext>
              </a:extLst>
            </p:cNvPr>
            <p:cNvSpPr/>
            <p:nvPr/>
          </p:nvSpPr>
          <p:spPr>
            <a:xfrm>
              <a:off x="2722572" y="4644763"/>
              <a:ext cx="613182" cy="613182"/>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335" name="Freeform 16">
              <a:extLst>
                <a:ext uri="{FF2B5EF4-FFF2-40B4-BE49-F238E27FC236}">
                  <a16:creationId xmlns:a16="http://schemas.microsoft.com/office/drawing/2014/main" id="{DF8403D7-D5D5-415D-00DB-601AEDA4288A}"/>
                </a:ext>
              </a:extLst>
            </p:cNvPr>
            <p:cNvSpPr/>
            <p:nvPr/>
          </p:nvSpPr>
          <p:spPr>
            <a:xfrm>
              <a:off x="1279822" y="4260259"/>
              <a:ext cx="871200" cy="871200"/>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336" name="Freeform 17">
              <a:extLst>
                <a:ext uri="{FF2B5EF4-FFF2-40B4-BE49-F238E27FC236}">
                  <a16:creationId xmlns:a16="http://schemas.microsoft.com/office/drawing/2014/main" id="{0DE68B71-A28E-85ED-D79F-03979342F637}"/>
                </a:ext>
              </a:extLst>
            </p:cNvPr>
            <p:cNvSpPr/>
            <p:nvPr/>
          </p:nvSpPr>
          <p:spPr>
            <a:xfrm>
              <a:off x="1537428" y="2951690"/>
              <a:ext cx="1041177" cy="1188065"/>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grpSp>
      <p:sp>
        <p:nvSpPr>
          <p:cNvPr id="345" name="TextBox 344">
            <a:extLst>
              <a:ext uri="{FF2B5EF4-FFF2-40B4-BE49-F238E27FC236}">
                <a16:creationId xmlns:a16="http://schemas.microsoft.com/office/drawing/2014/main" id="{3686B25E-70CF-4354-5CA0-03485B8CFA22}"/>
              </a:ext>
            </a:extLst>
          </p:cNvPr>
          <p:cNvSpPr txBox="1"/>
          <p:nvPr/>
        </p:nvSpPr>
        <p:spPr>
          <a:xfrm>
            <a:off x="7700940" y="3114314"/>
            <a:ext cx="1364863" cy="553998"/>
          </a:xfrm>
          <a:prstGeom prst="rect">
            <a:avLst/>
          </a:prstGeom>
          <a:noFill/>
        </p:spPr>
        <p:txBody>
          <a:bodyPr wrap="square" lIns="0" tIns="0" rIns="0" bIns="0" rtlCol="0">
            <a:spAutoFit/>
          </a:bodyPr>
          <a:lstStyle/>
          <a:p>
            <a:pPr algn="ctr"/>
            <a:r>
              <a:rPr lang="en-US" sz="1200" dirty="0">
                <a:solidFill>
                  <a:schemeClr val="tx2"/>
                </a:solidFill>
              </a:rPr>
              <a:t>Joint angles, </a:t>
            </a:r>
          </a:p>
          <a:p>
            <a:pPr algn="ctr"/>
            <a:r>
              <a:rPr lang="en-US" sz="1200" dirty="0">
                <a:solidFill>
                  <a:schemeClr val="tx2"/>
                </a:solidFill>
              </a:rPr>
              <a:t>velocities, accelerations at </a:t>
            </a:r>
            <a:r>
              <a:rPr lang="en-US" sz="1200" i="1" dirty="0">
                <a:solidFill>
                  <a:schemeClr val="tx2"/>
                </a:solidFill>
              </a:rPr>
              <a:t>t</a:t>
            </a:r>
          </a:p>
        </p:txBody>
      </p:sp>
      <p:cxnSp>
        <p:nvCxnSpPr>
          <p:cNvPr id="8" name="Straight Arrow Connector 7">
            <a:extLst>
              <a:ext uri="{FF2B5EF4-FFF2-40B4-BE49-F238E27FC236}">
                <a16:creationId xmlns:a16="http://schemas.microsoft.com/office/drawing/2014/main" id="{98337B5C-0307-CC93-AFAF-E11F5D860CB7}"/>
              </a:ext>
            </a:extLst>
          </p:cNvPr>
          <p:cNvCxnSpPr/>
          <p:nvPr/>
        </p:nvCxnSpPr>
        <p:spPr>
          <a:xfrm>
            <a:off x="5261624" y="3082980"/>
            <a:ext cx="642303" cy="6413"/>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40696DA-CB4A-EDE5-1F66-CB10A28EE35C}"/>
              </a:ext>
            </a:extLst>
          </p:cNvPr>
          <p:cNvCxnSpPr>
            <a:cxnSpLocks/>
          </p:cNvCxnSpPr>
          <p:nvPr/>
        </p:nvCxnSpPr>
        <p:spPr>
          <a:xfrm>
            <a:off x="4573741" y="2618512"/>
            <a:ext cx="683876" cy="96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6358F49-9A09-D9C9-EA0E-65F5B137E9C4}"/>
              </a:ext>
            </a:extLst>
          </p:cNvPr>
          <p:cNvCxnSpPr>
            <a:cxnSpLocks/>
          </p:cNvCxnSpPr>
          <p:nvPr/>
        </p:nvCxnSpPr>
        <p:spPr>
          <a:xfrm>
            <a:off x="4573740" y="3598680"/>
            <a:ext cx="685881" cy="927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B1E114A-80D1-B435-579B-6DDC699A1C22}"/>
              </a:ext>
            </a:extLst>
          </p:cNvPr>
          <p:cNvCxnSpPr>
            <a:cxnSpLocks/>
          </p:cNvCxnSpPr>
          <p:nvPr/>
        </p:nvCxnSpPr>
        <p:spPr>
          <a:xfrm>
            <a:off x="5257617" y="2619474"/>
            <a:ext cx="0" cy="98847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12AF5E4B-2C47-BB52-682B-B5744E4A67F7}"/>
              </a:ext>
            </a:extLst>
          </p:cNvPr>
          <p:cNvSpPr/>
          <p:nvPr/>
        </p:nvSpPr>
        <p:spPr>
          <a:xfrm>
            <a:off x="10001669" y="4664431"/>
            <a:ext cx="670527" cy="538090"/>
          </a:xfrm>
          <a:custGeom>
            <a:avLst/>
            <a:gdLst>
              <a:gd name="connsiteX0" fmla="*/ 0 w 819150"/>
              <a:gd name="connsiteY0" fmla="*/ 0 h 505609"/>
              <a:gd name="connsiteX1" fmla="*/ 88900 w 819150"/>
              <a:gd name="connsiteY1" fmla="*/ 79375 h 505609"/>
              <a:gd name="connsiteX2" fmla="*/ 66675 w 819150"/>
              <a:gd name="connsiteY2" fmla="*/ 193675 h 505609"/>
              <a:gd name="connsiteX3" fmla="*/ 12700 w 819150"/>
              <a:gd name="connsiteY3" fmla="*/ 339725 h 505609"/>
              <a:gd name="connsiteX4" fmla="*/ 53975 w 819150"/>
              <a:gd name="connsiteY4" fmla="*/ 460375 h 505609"/>
              <a:gd name="connsiteX5" fmla="*/ 196850 w 819150"/>
              <a:gd name="connsiteY5" fmla="*/ 504825 h 505609"/>
              <a:gd name="connsiteX6" fmla="*/ 403225 w 819150"/>
              <a:gd name="connsiteY6" fmla="*/ 428625 h 505609"/>
              <a:gd name="connsiteX7" fmla="*/ 571500 w 819150"/>
              <a:gd name="connsiteY7" fmla="*/ 377825 h 505609"/>
              <a:gd name="connsiteX8" fmla="*/ 819150 w 819150"/>
              <a:gd name="connsiteY8" fmla="*/ 450850 h 505609"/>
              <a:gd name="connsiteX0" fmla="*/ 0 w 692150"/>
              <a:gd name="connsiteY0" fmla="*/ 0 h 505609"/>
              <a:gd name="connsiteX1" fmla="*/ 88900 w 692150"/>
              <a:gd name="connsiteY1" fmla="*/ 79375 h 505609"/>
              <a:gd name="connsiteX2" fmla="*/ 66675 w 692150"/>
              <a:gd name="connsiteY2" fmla="*/ 193675 h 505609"/>
              <a:gd name="connsiteX3" fmla="*/ 12700 w 692150"/>
              <a:gd name="connsiteY3" fmla="*/ 339725 h 505609"/>
              <a:gd name="connsiteX4" fmla="*/ 53975 w 692150"/>
              <a:gd name="connsiteY4" fmla="*/ 460375 h 505609"/>
              <a:gd name="connsiteX5" fmla="*/ 196850 w 692150"/>
              <a:gd name="connsiteY5" fmla="*/ 504825 h 505609"/>
              <a:gd name="connsiteX6" fmla="*/ 403225 w 692150"/>
              <a:gd name="connsiteY6" fmla="*/ 428625 h 505609"/>
              <a:gd name="connsiteX7" fmla="*/ 571500 w 692150"/>
              <a:gd name="connsiteY7" fmla="*/ 377825 h 505609"/>
              <a:gd name="connsiteX8" fmla="*/ 692150 w 692150"/>
              <a:gd name="connsiteY8" fmla="*/ 403225 h 505609"/>
              <a:gd name="connsiteX0" fmla="*/ 0 w 692150"/>
              <a:gd name="connsiteY0" fmla="*/ 0 h 505609"/>
              <a:gd name="connsiteX1" fmla="*/ 88900 w 692150"/>
              <a:gd name="connsiteY1" fmla="*/ 79375 h 505609"/>
              <a:gd name="connsiteX2" fmla="*/ 66675 w 692150"/>
              <a:gd name="connsiteY2" fmla="*/ 193675 h 505609"/>
              <a:gd name="connsiteX3" fmla="*/ 12700 w 692150"/>
              <a:gd name="connsiteY3" fmla="*/ 339725 h 505609"/>
              <a:gd name="connsiteX4" fmla="*/ 53975 w 692150"/>
              <a:gd name="connsiteY4" fmla="*/ 460375 h 505609"/>
              <a:gd name="connsiteX5" fmla="*/ 196850 w 692150"/>
              <a:gd name="connsiteY5" fmla="*/ 504825 h 505609"/>
              <a:gd name="connsiteX6" fmla="*/ 403225 w 692150"/>
              <a:gd name="connsiteY6" fmla="*/ 428625 h 505609"/>
              <a:gd name="connsiteX7" fmla="*/ 571500 w 692150"/>
              <a:gd name="connsiteY7" fmla="*/ 377825 h 505609"/>
              <a:gd name="connsiteX8" fmla="*/ 692150 w 692150"/>
              <a:gd name="connsiteY8" fmla="*/ 403225 h 505609"/>
              <a:gd name="connsiteX0" fmla="*/ 0 w 692150"/>
              <a:gd name="connsiteY0" fmla="*/ 0 h 506323"/>
              <a:gd name="connsiteX1" fmla="*/ 88900 w 692150"/>
              <a:gd name="connsiteY1" fmla="*/ 79375 h 506323"/>
              <a:gd name="connsiteX2" fmla="*/ 66675 w 692150"/>
              <a:gd name="connsiteY2" fmla="*/ 193675 h 506323"/>
              <a:gd name="connsiteX3" fmla="*/ 12700 w 692150"/>
              <a:gd name="connsiteY3" fmla="*/ 339725 h 506323"/>
              <a:gd name="connsiteX4" fmla="*/ 53975 w 692150"/>
              <a:gd name="connsiteY4" fmla="*/ 460375 h 506323"/>
              <a:gd name="connsiteX5" fmla="*/ 196850 w 692150"/>
              <a:gd name="connsiteY5" fmla="*/ 504825 h 506323"/>
              <a:gd name="connsiteX6" fmla="*/ 425450 w 692150"/>
              <a:gd name="connsiteY6" fmla="*/ 412750 h 506323"/>
              <a:gd name="connsiteX7" fmla="*/ 571500 w 692150"/>
              <a:gd name="connsiteY7" fmla="*/ 377825 h 506323"/>
              <a:gd name="connsiteX8" fmla="*/ 692150 w 692150"/>
              <a:gd name="connsiteY8" fmla="*/ 403225 h 506323"/>
              <a:gd name="connsiteX0" fmla="*/ 0 w 692150"/>
              <a:gd name="connsiteY0" fmla="*/ 0 h 519023"/>
              <a:gd name="connsiteX1" fmla="*/ 88900 w 692150"/>
              <a:gd name="connsiteY1" fmla="*/ 92075 h 519023"/>
              <a:gd name="connsiteX2" fmla="*/ 66675 w 692150"/>
              <a:gd name="connsiteY2" fmla="*/ 206375 h 519023"/>
              <a:gd name="connsiteX3" fmla="*/ 12700 w 692150"/>
              <a:gd name="connsiteY3" fmla="*/ 352425 h 519023"/>
              <a:gd name="connsiteX4" fmla="*/ 53975 w 692150"/>
              <a:gd name="connsiteY4" fmla="*/ 473075 h 519023"/>
              <a:gd name="connsiteX5" fmla="*/ 196850 w 692150"/>
              <a:gd name="connsiteY5" fmla="*/ 517525 h 519023"/>
              <a:gd name="connsiteX6" fmla="*/ 425450 w 692150"/>
              <a:gd name="connsiteY6" fmla="*/ 425450 h 519023"/>
              <a:gd name="connsiteX7" fmla="*/ 571500 w 692150"/>
              <a:gd name="connsiteY7" fmla="*/ 390525 h 519023"/>
              <a:gd name="connsiteX8" fmla="*/ 692150 w 692150"/>
              <a:gd name="connsiteY8" fmla="*/ 415925 h 519023"/>
              <a:gd name="connsiteX0" fmla="*/ 0 w 692150"/>
              <a:gd name="connsiteY0" fmla="*/ 0 h 519023"/>
              <a:gd name="connsiteX1" fmla="*/ 104775 w 692150"/>
              <a:gd name="connsiteY1" fmla="*/ 92075 h 519023"/>
              <a:gd name="connsiteX2" fmla="*/ 66675 w 692150"/>
              <a:gd name="connsiteY2" fmla="*/ 206375 h 519023"/>
              <a:gd name="connsiteX3" fmla="*/ 12700 w 692150"/>
              <a:gd name="connsiteY3" fmla="*/ 352425 h 519023"/>
              <a:gd name="connsiteX4" fmla="*/ 53975 w 692150"/>
              <a:gd name="connsiteY4" fmla="*/ 473075 h 519023"/>
              <a:gd name="connsiteX5" fmla="*/ 196850 w 692150"/>
              <a:gd name="connsiteY5" fmla="*/ 517525 h 519023"/>
              <a:gd name="connsiteX6" fmla="*/ 425450 w 692150"/>
              <a:gd name="connsiteY6" fmla="*/ 425450 h 519023"/>
              <a:gd name="connsiteX7" fmla="*/ 571500 w 692150"/>
              <a:gd name="connsiteY7" fmla="*/ 390525 h 519023"/>
              <a:gd name="connsiteX8" fmla="*/ 692150 w 692150"/>
              <a:gd name="connsiteY8" fmla="*/ 415925 h 519023"/>
              <a:gd name="connsiteX0" fmla="*/ 16101 w 679676"/>
              <a:gd name="connsiteY0" fmla="*/ 0 h 538073"/>
              <a:gd name="connsiteX1" fmla="*/ 92301 w 679676"/>
              <a:gd name="connsiteY1" fmla="*/ 111125 h 538073"/>
              <a:gd name="connsiteX2" fmla="*/ 54201 w 679676"/>
              <a:gd name="connsiteY2" fmla="*/ 225425 h 538073"/>
              <a:gd name="connsiteX3" fmla="*/ 226 w 679676"/>
              <a:gd name="connsiteY3" fmla="*/ 371475 h 538073"/>
              <a:gd name="connsiteX4" fmla="*/ 41501 w 679676"/>
              <a:gd name="connsiteY4" fmla="*/ 492125 h 538073"/>
              <a:gd name="connsiteX5" fmla="*/ 184376 w 679676"/>
              <a:gd name="connsiteY5" fmla="*/ 536575 h 538073"/>
              <a:gd name="connsiteX6" fmla="*/ 412976 w 679676"/>
              <a:gd name="connsiteY6" fmla="*/ 444500 h 538073"/>
              <a:gd name="connsiteX7" fmla="*/ 559026 w 679676"/>
              <a:gd name="connsiteY7" fmla="*/ 409575 h 538073"/>
              <a:gd name="connsiteX8" fmla="*/ 679676 w 679676"/>
              <a:gd name="connsiteY8" fmla="*/ 434975 h 538073"/>
              <a:gd name="connsiteX0" fmla="*/ 16204 w 679779"/>
              <a:gd name="connsiteY0" fmla="*/ 0 h 538073"/>
              <a:gd name="connsiteX1" fmla="*/ 92404 w 679779"/>
              <a:gd name="connsiteY1" fmla="*/ 111125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6204 w 679779"/>
              <a:gd name="connsiteY0" fmla="*/ 0 h 538073"/>
              <a:gd name="connsiteX1" fmla="*/ 98754 w 679779"/>
              <a:gd name="connsiteY1" fmla="*/ 88900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6204 w 679779"/>
              <a:gd name="connsiteY0" fmla="*/ 0 h 538073"/>
              <a:gd name="connsiteX1" fmla="*/ 79704 w 679779"/>
              <a:gd name="connsiteY1" fmla="*/ 79375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5880 w 679455"/>
              <a:gd name="connsiteY0" fmla="*/ 0 h 538073"/>
              <a:gd name="connsiteX1" fmla="*/ 79380 w 679455"/>
              <a:gd name="connsiteY1" fmla="*/ 79375 h 538073"/>
              <a:gd name="connsiteX2" fmla="*/ 42868 w 679455"/>
              <a:gd name="connsiteY2" fmla="*/ 219869 h 538073"/>
              <a:gd name="connsiteX3" fmla="*/ 5 w 679455"/>
              <a:gd name="connsiteY3" fmla="*/ 371475 h 538073"/>
              <a:gd name="connsiteX4" fmla="*/ 41280 w 679455"/>
              <a:gd name="connsiteY4" fmla="*/ 492125 h 538073"/>
              <a:gd name="connsiteX5" fmla="*/ 184155 w 679455"/>
              <a:gd name="connsiteY5" fmla="*/ 536575 h 538073"/>
              <a:gd name="connsiteX6" fmla="*/ 412755 w 679455"/>
              <a:gd name="connsiteY6" fmla="*/ 444500 h 538073"/>
              <a:gd name="connsiteX7" fmla="*/ 558805 w 679455"/>
              <a:gd name="connsiteY7" fmla="*/ 409575 h 538073"/>
              <a:gd name="connsiteX8" fmla="*/ 679455 w 679455"/>
              <a:gd name="connsiteY8" fmla="*/ 434975 h 538073"/>
              <a:gd name="connsiteX0" fmla="*/ 15880 w 679455"/>
              <a:gd name="connsiteY0" fmla="*/ 0 h 538073"/>
              <a:gd name="connsiteX1" fmla="*/ 79380 w 679455"/>
              <a:gd name="connsiteY1" fmla="*/ 79375 h 538073"/>
              <a:gd name="connsiteX2" fmla="*/ 42868 w 679455"/>
              <a:gd name="connsiteY2" fmla="*/ 219869 h 538073"/>
              <a:gd name="connsiteX3" fmla="*/ 5 w 679455"/>
              <a:gd name="connsiteY3" fmla="*/ 371475 h 538073"/>
              <a:gd name="connsiteX4" fmla="*/ 41280 w 679455"/>
              <a:gd name="connsiteY4" fmla="*/ 492125 h 538073"/>
              <a:gd name="connsiteX5" fmla="*/ 184155 w 679455"/>
              <a:gd name="connsiteY5" fmla="*/ 536575 h 538073"/>
              <a:gd name="connsiteX6" fmla="*/ 412755 w 679455"/>
              <a:gd name="connsiteY6" fmla="*/ 444500 h 538073"/>
              <a:gd name="connsiteX7" fmla="*/ 558805 w 679455"/>
              <a:gd name="connsiteY7" fmla="*/ 409575 h 538073"/>
              <a:gd name="connsiteX8" fmla="*/ 679455 w 679455"/>
              <a:gd name="connsiteY8" fmla="*/ 434975 h 538073"/>
              <a:gd name="connsiteX0" fmla="*/ 6366 w 669941"/>
              <a:gd name="connsiteY0" fmla="*/ 0 h 538090"/>
              <a:gd name="connsiteX1" fmla="*/ 69866 w 669941"/>
              <a:gd name="connsiteY1" fmla="*/ 79375 h 538090"/>
              <a:gd name="connsiteX2" fmla="*/ 33354 w 669941"/>
              <a:gd name="connsiteY2" fmla="*/ 219869 h 538090"/>
              <a:gd name="connsiteX3" fmla="*/ 16 w 669941"/>
              <a:gd name="connsiteY3" fmla="*/ 369093 h 538090"/>
              <a:gd name="connsiteX4" fmla="*/ 31766 w 669941"/>
              <a:gd name="connsiteY4" fmla="*/ 492125 h 538090"/>
              <a:gd name="connsiteX5" fmla="*/ 174641 w 669941"/>
              <a:gd name="connsiteY5" fmla="*/ 536575 h 538090"/>
              <a:gd name="connsiteX6" fmla="*/ 403241 w 669941"/>
              <a:gd name="connsiteY6" fmla="*/ 444500 h 538090"/>
              <a:gd name="connsiteX7" fmla="*/ 549291 w 669941"/>
              <a:gd name="connsiteY7" fmla="*/ 409575 h 538090"/>
              <a:gd name="connsiteX8" fmla="*/ 669941 w 669941"/>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9018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6952 w 670527"/>
              <a:gd name="connsiteY0" fmla="*/ 0 h 538090"/>
              <a:gd name="connsiteX1" fmla="*/ 89502 w 670527"/>
              <a:gd name="connsiteY1" fmla="*/ 79375 h 538090"/>
              <a:gd name="connsiteX2" fmla="*/ 48228 w 670527"/>
              <a:gd name="connsiteY2" fmla="*/ 207962 h 538090"/>
              <a:gd name="connsiteX3" fmla="*/ 602 w 670527"/>
              <a:gd name="connsiteY3" fmla="*/ 369093 h 538090"/>
              <a:gd name="connsiteX4" fmla="*/ 32352 w 670527"/>
              <a:gd name="connsiteY4" fmla="*/ 492125 h 538090"/>
              <a:gd name="connsiteX5" fmla="*/ 175227 w 670527"/>
              <a:gd name="connsiteY5" fmla="*/ 536575 h 538090"/>
              <a:gd name="connsiteX6" fmla="*/ 403827 w 670527"/>
              <a:gd name="connsiteY6" fmla="*/ 444500 h 538090"/>
              <a:gd name="connsiteX7" fmla="*/ 549877 w 670527"/>
              <a:gd name="connsiteY7" fmla="*/ 409575 h 538090"/>
              <a:gd name="connsiteX8" fmla="*/ 670527 w 670527"/>
              <a:gd name="connsiteY8" fmla="*/ 434975 h 538090"/>
              <a:gd name="connsiteX0" fmla="*/ 6952 w 670527"/>
              <a:gd name="connsiteY0" fmla="*/ 0 h 538090"/>
              <a:gd name="connsiteX1" fmla="*/ 72834 w 670527"/>
              <a:gd name="connsiteY1" fmla="*/ 79375 h 538090"/>
              <a:gd name="connsiteX2" fmla="*/ 48228 w 670527"/>
              <a:gd name="connsiteY2" fmla="*/ 207962 h 538090"/>
              <a:gd name="connsiteX3" fmla="*/ 602 w 670527"/>
              <a:gd name="connsiteY3" fmla="*/ 369093 h 538090"/>
              <a:gd name="connsiteX4" fmla="*/ 32352 w 670527"/>
              <a:gd name="connsiteY4" fmla="*/ 492125 h 538090"/>
              <a:gd name="connsiteX5" fmla="*/ 175227 w 670527"/>
              <a:gd name="connsiteY5" fmla="*/ 536575 h 538090"/>
              <a:gd name="connsiteX6" fmla="*/ 403827 w 670527"/>
              <a:gd name="connsiteY6" fmla="*/ 444500 h 538090"/>
              <a:gd name="connsiteX7" fmla="*/ 549877 w 670527"/>
              <a:gd name="connsiteY7" fmla="*/ 409575 h 538090"/>
              <a:gd name="connsiteX8" fmla="*/ 670527 w 670527"/>
              <a:gd name="connsiteY8" fmla="*/ 434975 h 538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0527" h="538090">
                <a:moveTo>
                  <a:pt x="6952" y="0"/>
                </a:moveTo>
                <a:cubicBezTo>
                  <a:pt x="45846" y="23548"/>
                  <a:pt x="65955" y="44715"/>
                  <a:pt x="72834" y="79375"/>
                </a:cubicBezTo>
                <a:cubicBezTo>
                  <a:pt x="79713" y="114035"/>
                  <a:pt x="60267" y="159676"/>
                  <a:pt x="48228" y="207962"/>
                </a:cubicBezTo>
                <a:cubicBezTo>
                  <a:pt x="36189" y="256248"/>
                  <a:pt x="3248" y="321732"/>
                  <a:pt x="602" y="369093"/>
                </a:cubicBezTo>
                <a:cubicBezTo>
                  <a:pt x="-2044" y="416454"/>
                  <a:pt x="3248" y="464211"/>
                  <a:pt x="32352" y="492125"/>
                </a:cubicBezTo>
                <a:cubicBezTo>
                  <a:pt x="61456" y="520039"/>
                  <a:pt x="113315" y="544512"/>
                  <a:pt x="175227" y="536575"/>
                </a:cubicBezTo>
                <a:cubicBezTo>
                  <a:pt x="237139" y="528638"/>
                  <a:pt x="341385" y="465667"/>
                  <a:pt x="403827" y="444500"/>
                </a:cubicBezTo>
                <a:cubicBezTo>
                  <a:pt x="466269" y="423333"/>
                  <a:pt x="480556" y="405871"/>
                  <a:pt x="549877" y="409575"/>
                </a:cubicBezTo>
                <a:cubicBezTo>
                  <a:pt x="619198" y="413279"/>
                  <a:pt x="600412" y="409839"/>
                  <a:pt x="670527" y="434975"/>
                </a:cubicBezTo>
              </a:path>
            </a:pathLst>
          </a:custGeom>
          <a:noFill/>
          <a:ln w="19050">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Rounded Corners 6">
            <a:extLst>
              <a:ext uri="{FF2B5EF4-FFF2-40B4-BE49-F238E27FC236}">
                <a16:creationId xmlns:a16="http://schemas.microsoft.com/office/drawing/2014/main" id="{6181121B-3ABD-ABED-FF2B-6FE40B3F52D5}"/>
              </a:ext>
            </a:extLst>
          </p:cNvPr>
          <p:cNvSpPr/>
          <p:nvPr/>
        </p:nvSpPr>
        <p:spPr>
          <a:xfrm>
            <a:off x="6046487" y="2733377"/>
            <a:ext cx="1581337" cy="465972"/>
          </a:xfrm>
          <a:prstGeom prst="roundRect">
            <a:avLst/>
          </a:prstGeom>
          <a:solidFill>
            <a:srgbClr val="E1E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Inverse Kinematics</a:t>
            </a:r>
            <a:endParaRPr lang="en-GB" sz="1200" dirty="0">
              <a:solidFill>
                <a:schemeClr val="tx1"/>
              </a:solidFill>
            </a:endParaRPr>
          </a:p>
        </p:txBody>
      </p:sp>
      <p:grpSp>
        <p:nvGrpSpPr>
          <p:cNvPr id="16" name="Group 15">
            <a:extLst>
              <a:ext uri="{FF2B5EF4-FFF2-40B4-BE49-F238E27FC236}">
                <a16:creationId xmlns:a16="http://schemas.microsoft.com/office/drawing/2014/main" id="{392F1FFD-43E5-5778-DCE5-6C8DAA2B8BB8}"/>
              </a:ext>
            </a:extLst>
          </p:cNvPr>
          <p:cNvGrpSpPr/>
          <p:nvPr/>
        </p:nvGrpSpPr>
        <p:grpSpPr>
          <a:xfrm>
            <a:off x="6003167" y="4237297"/>
            <a:ext cx="1727065" cy="945125"/>
            <a:chOff x="6003167" y="4237297"/>
            <a:chExt cx="1727065" cy="945125"/>
          </a:xfrm>
        </p:grpSpPr>
        <p:sp>
          <p:nvSpPr>
            <p:cNvPr id="17" name="Freeform 13">
              <a:extLst>
                <a:ext uri="{FF2B5EF4-FFF2-40B4-BE49-F238E27FC236}">
                  <a16:creationId xmlns:a16="http://schemas.microsoft.com/office/drawing/2014/main" id="{76DDC119-CCE0-865F-AEFE-ED6E07EB070B}"/>
                </a:ext>
              </a:extLst>
            </p:cNvPr>
            <p:cNvSpPr/>
            <p:nvPr/>
          </p:nvSpPr>
          <p:spPr>
            <a:xfrm>
              <a:off x="6782086" y="4237297"/>
              <a:ext cx="948146" cy="945125"/>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dirty="0"/>
            </a:p>
          </p:txBody>
        </p:sp>
        <p:cxnSp>
          <p:nvCxnSpPr>
            <p:cNvPr id="18" name="Straight Connector 17">
              <a:extLst>
                <a:ext uri="{FF2B5EF4-FFF2-40B4-BE49-F238E27FC236}">
                  <a16:creationId xmlns:a16="http://schemas.microsoft.com/office/drawing/2014/main" id="{16066133-8F59-207E-7A62-EFE922C098DE}"/>
                </a:ext>
              </a:extLst>
            </p:cNvPr>
            <p:cNvCxnSpPr>
              <a:cxnSpLocks/>
            </p:cNvCxnSpPr>
            <p:nvPr/>
          </p:nvCxnSpPr>
          <p:spPr>
            <a:xfrm flipH="1">
              <a:off x="6963780" y="4725927"/>
              <a:ext cx="7941" cy="127523"/>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351E46C-1536-339B-43A0-5C22D3DB5626}"/>
                </a:ext>
              </a:extLst>
            </p:cNvPr>
            <p:cNvCxnSpPr>
              <a:cxnSpLocks/>
            </p:cNvCxnSpPr>
            <p:nvPr/>
          </p:nvCxnSpPr>
          <p:spPr>
            <a:xfrm>
              <a:off x="6976150" y="4733737"/>
              <a:ext cx="64799" cy="12421"/>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B3498A2-A246-09B5-ED4F-42B2B77A0362}"/>
                </a:ext>
              </a:extLst>
            </p:cNvPr>
            <p:cNvCxnSpPr>
              <a:cxnSpLocks/>
            </p:cNvCxnSpPr>
            <p:nvPr/>
          </p:nvCxnSpPr>
          <p:spPr>
            <a:xfrm flipH="1">
              <a:off x="7126010" y="4777132"/>
              <a:ext cx="55251" cy="127072"/>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D6FF871-49AC-F262-5A82-B223774AFBF9}"/>
                </a:ext>
              </a:extLst>
            </p:cNvPr>
            <p:cNvCxnSpPr>
              <a:cxnSpLocks/>
            </p:cNvCxnSpPr>
            <p:nvPr/>
          </p:nvCxnSpPr>
          <p:spPr>
            <a:xfrm>
              <a:off x="7084513" y="4754250"/>
              <a:ext cx="109449" cy="18544"/>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2CCC24F-2AA1-A45B-A8BC-D6E8E3063D58}"/>
                </a:ext>
              </a:extLst>
            </p:cNvPr>
            <p:cNvCxnSpPr>
              <a:cxnSpLocks/>
            </p:cNvCxnSpPr>
            <p:nvPr/>
          </p:nvCxnSpPr>
          <p:spPr>
            <a:xfrm>
              <a:off x="7201903" y="4481372"/>
              <a:ext cx="78916" cy="36196"/>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0F3473C-DA64-97AB-5D67-C6D3C0B4B5B6}"/>
                </a:ext>
              </a:extLst>
            </p:cNvPr>
            <p:cNvCxnSpPr>
              <a:cxnSpLocks/>
            </p:cNvCxnSpPr>
            <p:nvPr/>
          </p:nvCxnSpPr>
          <p:spPr>
            <a:xfrm flipV="1">
              <a:off x="7162817" y="4485010"/>
              <a:ext cx="46534" cy="65116"/>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F4B00569-AABE-E72D-0A23-99F67870811E}"/>
                </a:ext>
              </a:extLst>
            </p:cNvPr>
            <p:cNvSpPr/>
            <p:nvPr/>
          </p:nvSpPr>
          <p:spPr>
            <a:xfrm>
              <a:off x="6950033" y="4712049"/>
              <a:ext cx="43375" cy="43375"/>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8" name="Straight Connector 27">
              <a:extLst>
                <a:ext uri="{FF2B5EF4-FFF2-40B4-BE49-F238E27FC236}">
                  <a16:creationId xmlns:a16="http://schemas.microsoft.com/office/drawing/2014/main" id="{7091417D-CC05-0BBA-1B9B-C5955D26DE37}"/>
                </a:ext>
              </a:extLst>
            </p:cNvPr>
            <p:cNvCxnSpPr>
              <a:cxnSpLocks/>
            </p:cNvCxnSpPr>
            <p:nvPr/>
          </p:nvCxnSpPr>
          <p:spPr>
            <a:xfrm flipV="1">
              <a:off x="7401672" y="4643627"/>
              <a:ext cx="113396" cy="2845"/>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1E5E133-B02C-938B-E0D9-8A76C3465440}"/>
                </a:ext>
              </a:extLst>
            </p:cNvPr>
            <p:cNvCxnSpPr>
              <a:cxnSpLocks/>
            </p:cNvCxnSpPr>
            <p:nvPr/>
          </p:nvCxnSpPr>
          <p:spPr>
            <a:xfrm>
              <a:off x="7469276" y="4556907"/>
              <a:ext cx="57331" cy="100327"/>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518E064-EC28-621C-4AC6-1E6CB60BD5E9}"/>
                </a:ext>
              </a:extLst>
            </p:cNvPr>
            <p:cNvCxnSpPr>
              <a:cxnSpLocks/>
            </p:cNvCxnSpPr>
            <p:nvPr/>
          </p:nvCxnSpPr>
          <p:spPr>
            <a:xfrm>
              <a:off x="7280820" y="4384953"/>
              <a:ext cx="105633" cy="37724"/>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6CCCE39-61B6-253A-E99F-8D8A0DB8B962}"/>
                </a:ext>
              </a:extLst>
            </p:cNvPr>
            <p:cNvCxnSpPr>
              <a:cxnSpLocks/>
            </p:cNvCxnSpPr>
            <p:nvPr/>
          </p:nvCxnSpPr>
          <p:spPr>
            <a:xfrm>
              <a:off x="7389709" y="4425967"/>
              <a:ext cx="40938" cy="93847"/>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7D5D189-369E-E141-44A8-B5CAD562DA97}"/>
                </a:ext>
              </a:extLst>
            </p:cNvPr>
            <p:cNvCxnSpPr>
              <a:cxnSpLocks/>
            </p:cNvCxnSpPr>
            <p:nvPr/>
          </p:nvCxnSpPr>
          <p:spPr>
            <a:xfrm flipV="1">
              <a:off x="7376729" y="4915088"/>
              <a:ext cx="79567" cy="71673"/>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9B2F940-9BF5-9454-4BA3-ECBFE67B24E9}"/>
                </a:ext>
              </a:extLst>
            </p:cNvPr>
            <p:cNvCxnSpPr>
              <a:cxnSpLocks/>
            </p:cNvCxnSpPr>
            <p:nvPr/>
          </p:nvCxnSpPr>
          <p:spPr>
            <a:xfrm>
              <a:off x="7314683" y="4899410"/>
              <a:ext cx="128976" cy="12927"/>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35" name="Arc 34">
              <a:extLst>
                <a:ext uri="{FF2B5EF4-FFF2-40B4-BE49-F238E27FC236}">
                  <a16:creationId xmlns:a16="http://schemas.microsoft.com/office/drawing/2014/main" id="{491B6EED-E8A2-55DC-1435-5BC2C7C9B382}"/>
                </a:ext>
              </a:extLst>
            </p:cNvPr>
            <p:cNvSpPr/>
            <p:nvPr/>
          </p:nvSpPr>
          <p:spPr>
            <a:xfrm rot="5400000">
              <a:off x="6941868" y="4715772"/>
              <a:ext cx="72566" cy="72799"/>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6" name="Arc 35">
              <a:extLst>
                <a:ext uri="{FF2B5EF4-FFF2-40B4-BE49-F238E27FC236}">
                  <a16:creationId xmlns:a16="http://schemas.microsoft.com/office/drawing/2014/main" id="{08D4D0D7-B402-878B-81E4-A406FDA87C9F}"/>
                </a:ext>
              </a:extLst>
            </p:cNvPr>
            <p:cNvSpPr/>
            <p:nvPr/>
          </p:nvSpPr>
          <p:spPr>
            <a:xfrm rot="11576616">
              <a:off x="7122937" y="4745409"/>
              <a:ext cx="72566" cy="72799"/>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7" name="Arc 36">
              <a:extLst>
                <a:ext uri="{FF2B5EF4-FFF2-40B4-BE49-F238E27FC236}">
                  <a16:creationId xmlns:a16="http://schemas.microsoft.com/office/drawing/2014/main" id="{0468132E-14C1-2C12-181B-F5351B03F74C}"/>
                </a:ext>
              </a:extLst>
            </p:cNvPr>
            <p:cNvSpPr/>
            <p:nvPr/>
          </p:nvSpPr>
          <p:spPr>
            <a:xfrm rot="7436529">
              <a:off x="7176990" y="4463302"/>
              <a:ext cx="72566" cy="72799"/>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8" name="Arc 37">
              <a:extLst>
                <a:ext uri="{FF2B5EF4-FFF2-40B4-BE49-F238E27FC236}">
                  <a16:creationId xmlns:a16="http://schemas.microsoft.com/office/drawing/2014/main" id="{1967B263-64E9-A85B-ED93-28407574DA35}"/>
                </a:ext>
              </a:extLst>
            </p:cNvPr>
            <p:cNvSpPr/>
            <p:nvPr/>
          </p:nvSpPr>
          <p:spPr>
            <a:xfrm rot="13139162">
              <a:off x="7365644" y="4900144"/>
              <a:ext cx="72566" cy="72799"/>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9" name="Arc 38">
              <a:extLst>
                <a:ext uri="{FF2B5EF4-FFF2-40B4-BE49-F238E27FC236}">
                  <a16:creationId xmlns:a16="http://schemas.microsoft.com/office/drawing/2014/main" id="{DA604541-BEFB-CF65-82D9-037458788E0B}"/>
                </a:ext>
              </a:extLst>
            </p:cNvPr>
            <p:cNvSpPr/>
            <p:nvPr/>
          </p:nvSpPr>
          <p:spPr>
            <a:xfrm rot="16200000">
              <a:off x="7453146" y="4596641"/>
              <a:ext cx="72566" cy="72799"/>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0" name="Arc 39">
              <a:extLst>
                <a:ext uri="{FF2B5EF4-FFF2-40B4-BE49-F238E27FC236}">
                  <a16:creationId xmlns:a16="http://schemas.microsoft.com/office/drawing/2014/main" id="{E97271D5-2999-F3CA-D920-F7955A3FABCE}"/>
                </a:ext>
              </a:extLst>
            </p:cNvPr>
            <p:cNvSpPr/>
            <p:nvPr/>
          </p:nvSpPr>
          <p:spPr>
            <a:xfrm rot="10552793">
              <a:off x="7323317" y="4378018"/>
              <a:ext cx="105273" cy="95897"/>
            </a:xfrm>
            <a:prstGeom prst="arc">
              <a:avLst>
                <a:gd name="adj1" fmla="val 15100244"/>
                <a:gd name="adj2" fmla="val 1766624"/>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1" name="Oval 40">
              <a:extLst>
                <a:ext uri="{FF2B5EF4-FFF2-40B4-BE49-F238E27FC236}">
                  <a16:creationId xmlns:a16="http://schemas.microsoft.com/office/drawing/2014/main" id="{2F09F6B8-7C29-53FE-0FEE-F1EDBD0A20F7}"/>
                </a:ext>
              </a:extLst>
            </p:cNvPr>
            <p:cNvSpPr/>
            <p:nvPr/>
          </p:nvSpPr>
          <p:spPr>
            <a:xfrm>
              <a:off x="7160156" y="4755073"/>
              <a:ext cx="43375" cy="43375"/>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Oval 41">
              <a:extLst>
                <a:ext uri="{FF2B5EF4-FFF2-40B4-BE49-F238E27FC236}">
                  <a16:creationId xmlns:a16="http://schemas.microsoft.com/office/drawing/2014/main" id="{C9B3B349-BF7E-BABD-1036-C872F19CCCD4}"/>
                </a:ext>
              </a:extLst>
            </p:cNvPr>
            <p:cNvSpPr/>
            <p:nvPr/>
          </p:nvSpPr>
          <p:spPr>
            <a:xfrm>
              <a:off x="7180215" y="4467649"/>
              <a:ext cx="43375" cy="43375"/>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Oval 42">
              <a:extLst>
                <a:ext uri="{FF2B5EF4-FFF2-40B4-BE49-F238E27FC236}">
                  <a16:creationId xmlns:a16="http://schemas.microsoft.com/office/drawing/2014/main" id="{961D628E-490D-8A9D-3813-50BA1CB42E42}"/>
                </a:ext>
              </a:extLst>
            </p:cNvPr>
            <p:cNvSpPr/>
            <p:nvPr/>
          </p:nvSpPr>
          <p:spPr>
            <a:xfrm>
              <a:off x="7357482" y="4405058"/>
              <a:ext cx="43375" cy="43375"/>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Oval 43">
              <a:extLst>
                <a:ext uri="{FF2B5EF4-FFF2-40B4-BE49-F238E27FC236}">
                  <a16:creationId xmlns:a16="http://schemas.microsoft.com/office/drawing/2014/main" id="{7496442A-39F7-1D3F-09B9-E9BBB7948354}"/>
                </a:ext>
              </a:extLst>
            </p:cNvPr>
            <p:cNvSpPr/>
            <p:nvPr/>
          </p:nvSpPr>
          <p:spPr>
            <a:xfrm>
              <a:off x="7416127" y="4899410"/>
              <a:ext cx="43375" cy="43375"/>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Oval 44">
              <a:extLst>
                <a:ext uri="{FF2B5EF4-FFF2-40B4-BE49-F238E27FC236}">
                  <a16:creationId xmlns:a16="http://schemas.microsoft.com/office/drawing/2014/main" id="{FF5AD0B8-EC21-7ED4-A1F6-A8988396B4FB}"/>
                </a:ext>
              </a:extLst>
            </p:cNvPr>
            <p:cNvSpPr/>
            <p:nvPr/>
          </p:nvSpPr>
          <p:spPr>
            <a:xfrm>
              <a:off x="7504140" y="4624784"/>
              <a:ext cx="43375" cy="43375"/>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Freeform: Shape 45">
              <a:extLst>
                <a:ext uri="{FF2B5EF4-FFF2-40B4-BE49-F238E27FC236}">
                  <a16:creationId xmlns:a16="http://schemas.microsoft.com/office/drawing/2014/main" id="{EE2B5272-5C2B-9A0A-2D8E-6AB0F629D6EA}"/>
                </a:ext>
              </a:extLst>
            </p:cNvPr>
            <p:cNvSpPr/>
            <p:nvPr/>
          </p:nvSpPr>
          <p:spPr>
            <a:xfrm>
              <a:off x="6338571" y="4695259"/>
              <a:ext cx="581005" cy="464489"/>
            </a:xfrm>
            <a:custGeom>
              <a:avLst/>
              <a:gdLst>
                <a:gd name="connsiteX0" fmla="*/ 0 w 819150"/>
                <a:gd name="connsiteY0" fmla="*/ 0 h 505609"/>
                <a:gd name="connsiteX1" fmla="*/ 88900 w 819150"/>
                <a:gd name="connsiteY1" fmla="*/ 79375 h 505609"/>
                <a:gd name="connsiteX2" fmla="*/ 66675 w 819150"/>
                <a:gd name="connsiteY2" fmla="*/ 193675 h 505609"/>
                <a:gd name="connsiteX3" fmla="*/ 12700 w 819150"/>
                <a:gd name="connsiteY3" fmla="*/ 339725 h 505609"/>
                <a:gd name="connsiteX4" fmla="*/ 53975 w 819150"/>
                <a:gd name="connsiteY4" fmla="*/ 460375 h 505609"/>
                <a:gd name="connsiteX5" fmla="*/ 196850 w 819150"/>
                <a:gd name="connsiteY5" fmla="*/ 504825 h 505609"/>
                <a:gd name="connsiteX6" fmla="*/ 403225 w 819150"/>
                <a:gd name="connsiteY6" fmla="*/ 428625 h 505609"/>
                <a:gd name="connsiteX7" fmla="*/ 571500 w 819150"/>
                <a:gd name="connsiteY7" fmla="*/ 377825 h 505609"/>
                <a:gd name="connsiteX8" fmla="*/ 819150 w 819150"/>
                <a:gd name="connsiteY8" fmla="*/ 450850 h 505609"/>
                <a:gd name="connsiteX0" fmla="*/ 0 w 692150"/>
                <a:gd name="connsiteY0" fmla="*/ 0 h 505609"/>
                <a:gd name="connsiteX1" fmla="*/ 88900 w 692150"/>
                <a:gd name="connsiteY1" fmla="*/ 79375 h 505609"/>
                <a:gd name="connsiteX2" fmla="*/ 66675 w 692150"/>
                <a:gd name="connsiteY2" fmla="*/ 193675 h 505609"/>
                <a:gd name="connsiteX3" fmla="*/ 12700 w 692150"/>
                <a:gd name="connsiteY3" fmla="*/ 339725 h 505609"/>
                <a:gd name="connsiteX4" fmla="*/ 53975 w 692150"/>
                <a:gd name="connsiteY4" fmla="*/ 460375 h 505609"/>
                <a:gd name="connsiteX5" fmla="*/ 196850 w 692150"/>
                <a:gd name="connsiteY5" fmla="*/ 504825 h 505609"/>
                <a:gd name="connsiteX6" fmla="*/ 403225 w 692150"/>
                <a:gd name="connsiteY6" fmla="*/ 428625 h 505609"/>
                <a:gd name="connsiteX7" fmla="*/ 571500 w 692150"/>
                <a:gd name="connsiteY7" fmla="*/ 377825 h 505609"/>
                <a:gd name="connsiteX8" fmla="*/ 692150 w 692150"/>
                <a:gd name="connsiteY8" fmla="*/ 403225 h 505609"/>
                <a:gd name="connsiteX0" fmla="*/ 0 w 692150"/>
                <a:gd name="connsiteY0" fmla="*/ 0 h 505609"/>
                <a:gd name="connsiteX1" fmla="*/ 88900 w 692150"/>
                <a:gd name="connsiteY1" fmla="*/ 79375 h 505609"/>
                <a:gd name="connsiteX2" fmla="*/ 66675 w 692150"/>
                <a:gd name="connsiteY2" fmla="*/ 193675 h 505609"/>
                <a:gd name="connsiteX3" fmla="*/ 12700 w 692150"/>
                <a:gd name="connsiteY3" fmla="*/ 339725 h 505609"/>
                <a:gd name="connsiteX4" fmla="*/ 53975 w 692150"/>
                <a:gd name="connsiteY4" fmla="*/ 460375 h 505609"/>
                <a:gd name="connsiteX5" fmla="*/ 196850 w 692150"/>
                <a:gd name="connsiteY5" fmla="*/ 504825 h 505609"/>
                <a:gd name="connsiteX6" fmla="*/ 403225 w 692150"/>
                <a:gd name="connsiteY6" fmla="*/ 428625 h 505609"/>
                <a:gd name="connsiteX7" fmla="*/ 571500 w 692150"/>
                <a:gd name="connsiteY7" fmla="*/ 377825 h 505609"/>
                <a:gd name="connsiteX8" fmla="*/ 692150 w 692150"/>
                <a:gd name="connsiteY8" fmla="*/ 403225 h 505609"/>
                <a:gd name="connsiteX0" fmla="*/ 0 w 692150"/>
                <a:gd name="connsiteY0" fmla="*/ 0 h 506323"/>
                <a:gd name="connsiteX1" fmla="*/ 88900 w 692150"/>
                <a:gd name="connsiteY1" fmla="*/ 79375 h 506323"/>
                <a:gd name="connsiteX2" fmla="*/ 66675 w 692150"/>
                <a:gd name="connsiteY2" fmla="*/ 193675 h 506323"/>
                <a:gd name="connsiteX3" fmla="*/ 12700 w 692150"/>
                <a:gd name="connsiteY3" fmla="*/ 339725 h 506323"/>
                <a:gd name="connsiteX4" fmla="*/ 53975 w 692150"/>
                <a:gd name="connsiteY4" fmla="*/ 460375 h 506323"/>
                <a:gd name="connsiteX5" fmla="*/ 196850 w 692150"/>
                <a:gd name="connsiteY5" fmla="*/ 504825 h 506323"/>
                <a:gd name="connsiteX6" fmla="*/ 425450 w 692150"/>
                <a:gd name="connsiteY6" fmla="*/ 412750 h 506323"/>
                <a:gd name="connsiteX7" fmla="*/ 571500 w 692150"/>
                <a:gd name="connsiteY7" fmla="*/ 377825 h 506323"/>
                <a:gd name="connsiteX8" fmla="*/ 692150 w 692150"/>
                <a:gd name="connsiteY8" fmla="*/ 403225 h 506323"/>
                <a:gd name="connsiteX0" fmla="*/ 0 w 692150"/>
                <a:gd name="connsiteY0" fmla="*/ 0 h 519023"/>
                <a:gd name="connsiteX1" fmla="*/ 88900 w 692150"/>
                <a:gd name="connsiteY1" fmla="*/ 92075 h 519023"/>
                <a:gd name="connsiteX2" fmla="*/ 66675 w 692150"/>
                <a:gd name="connsiteY2" fmla="*/ 206375 h 519023"/>
                <a:gd name="connsiteX3" fmla="*/ 12700 w 692150"/>
                <a:gd name="connsiteY3" fmla="*/ 352425 h 519023"/>
                <a:gd name="connsiteX4" fmla="*/ 53975 w 692150"/>
                <a:gd name="connsiteY4" fmla="*/ 473075 h 519023"/>
                <a:gd name="connsiteX5" fmla="*/ 196850 w 692150"/>
                <a:gd name="connsiteY5" fmla="*/ 517525 h 519023"/>
                <a:gd name="connsiteX6" fmla="*/ 425450 w 692150"/>
                <a:gd name="connsiteY6" fmla="*/ 425450 h 519023"/>
                <a:gd name="connsiteX7" fmla="*/ 571500 w 692150"/>
                <a:gd name="connsiteY7" fmla="*/ 390525 h 519023"/>
                <a:gd name="connsiteX8" fmla="*/ 692150 w 692150"/>
                <a:gd name="connsiteY8" fmla="*/ 415925 h 519023"/>
                <a:gd name="connsiteX0" fmla="*/ 0 w 692150"/>
                <a:gd name="connsiteY0" fmla="*/ 0 h 519023"/>
                <a:gd name="connsiteX1" fmla="*/ 104775 w 692150"/>
                <a:gd name="connsiteY1" fmla="*/ 92075 h 519023"/>
                <a:gd name="connsiteX2" fmla="*/ 66675 w 692150"/>
                <a:gd name="connsiteY2" fmla="*/ 206375 h 519023"/>
                <a:gd name="connsiteX3" fmla="*/ 12700 w 692150"/>
                <a:gd name="connsiteY3" fmla="*/ 352425 h 519023"/>
                <a:gd name="connsiteX4" fmla="*/ 53975 w 692150"/>
                <a:gd name="connsiteY4" fmla="*/ 473075 h 519023"/>
                <a:gd name="connsiteX5" fmla="*/ 196850 w 692150"/>
                <a:gd name="connsiteY5" fmla="*/ 517525 h 519023"/>
                <a:gd name="connsiteX6" fmla="*/ 425450 w 692150"/>
                <a:gd name="connsiteY6" fmla="*/ 425450 h 519023"/>
                <a:gd name="connsiteX7" fmla="*/ 571500 w 692150"/>
                <a:gd name="connsiteY7" fmla="*/ 390525 h 519023"/>
                <a:gd name="connsiteX8" fmla="*/ 692150 w 692150"/>
                <a:gd name="connsiteY8" fmla="*/ 415925 h 519023"/>
                <a:gd name="connsiteX0" fmla="*/ 16101 w 679676"/>
                <a:gd name="connsiteY0" fmla="*/ 0 h 538073"/>
                <a:gd name="connsiteX1" fmla="*/ 92301 w 679676"/>
                <a:gd name="connsiteY1" fmla="*/ 111125 h 538073"/>
                <a:gd name="connsiteX2" fmla="*/ 54201 w 679676"/>
                <a:gd name="connsiteY2" fmla="*/ 225425 h 538073"/>
                <a:gd name="connsiteX3" fmla="*/ 226 w 679676"/>
                <a:gd name="connsiteY3" fmla="*/ 371475 h 538073"/>
                <a:gd name="connsiteX4" fmla="*/ 41501 w 679676"/>
                <a:gd name="connsiteY4" fmla="*/ 492125 h 538073"/>
                <a:gd name="connsiteX5" fmla="*/ 184376 w 679676"/>
                <a:gd name="connsiteY5" fmla="*/ 536575 h 538073"/>
                <a:gd name="connsiteX6" fmla="*/ 412976 w 679676"/>
                <a:gd name="connsiteY6" fmla="*/ 444500 h 538073"/>
                <a:gd name="connsiteX7" fmla="*/ 559026 w 679676"/>
                <a:gd name="connsiteY7" fmla="*/ 409575 h 538073"/>
                <a:gd name="connsiteX8" fmla="*/ 679676 w 679676"/>
                <a:gd name="connsiteY8" fmla="*/ 434975 h 538073"/>
                <a:gd name="connsiteX0" fmla="*/ 16204 w 679779"/>
                <a:gd name="connsiteY0" fmla="*/ 0 h 538073"/>
                <a:gd name="connsiteX1" fmla="*/ 92404 w 679779"/>
                <a:gd name="connsiteY1" fmla="*/ 111125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6204 w 679779"/>
                <a:gd name="connsiteY0" fmla="*/ 0 h 538073"/>
                <a:gd name="connsiteX1" fmla="*/ 98754 w 679779"/>
                <a:gd name="connsiteY1" fmla="*/ 88900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6204 w 679779"/>
                <a:gd name="connsiteY0" fmla="*/ 0 h 538073"/>
                <a:gd name="connsiteX1" fmla="*/ 79704 w 679779"/>
                <a:gd name="connsiteY1" fmla="*/ 79375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5880 w 679455"/>
                <a:gd name="connsiteY0" fmla="*/ 0 h 538073"/>
                <a:gd name="connsiteX1" fmla="*/ 79380 w 679455"/>
                <a:gd name="connsiteY1" fmla="*/ 79375 h 538073"/>
                <a:gd name="connsiteX2" fmla="*/ 42868 w 679455"/>
                <a:gd name="connsiteY2" fmla="*/ 219869 h 538073"/>
                <a:gd name="connsiteX3" fmla="*/ 5 w 679455"/>
                <a:gd name="connsiteY3" fmla="*/ 371475 h 538073"/>
                <a:gd name="connsiteX4" fmla="*/ 41280 w 679455"/>
                <a:gd name="connsiteY4" fmla="*/ 492125 h 538073"/>
                <a:gd name="connsiteX5" fmla="*/ 184155 w 679455"/>
                <a:gd name="connsiteY5" fmla="*/ 536575 h 538073"/>
                <a:gd name="connsiteX6" fmla="*/ 412755 w 679455"/>
                <a:gd name="connsiteY6" fmla="*/ 444500 h 538073"/>
                <a:gd name="connsiteX7" fmla="*/ 558805 w 679455"/>
                <a:gd name="connsiteY7" fmla="*/ 409575 h 538073"/>
                <a:gd name="connsiteX8" fmla="*/ 679455 w 679455"/>
                <a:gd name="connsiteY8" fmla="*/ 434975 h 538073"/>
                <a:gd name="connsiteX0" fmla="*/ 15880 w 679455"/>
                <a:gd name="connsiteY0" fmla="*/ 0 h 538073"/>
                <a:gd name="connsiteX1" fmla="*/ 79380 w 679455"/>
                <a:gd name="connsiteY1" fmla="*/ 79375 h 538073"/>
                <a:gd name="connsiteX2" fmla="*/ 42868 w 679455"/>
                <a:gd name="connsiteY2" fmla="*/ 219869 h 538073"/>
                <a:gd name="connsiteX3" fmla="*/ 5 w 679455"/>
                <a:gd name="connsiteY3" fmla="*/ 371475 h 538073"/>
                <a:gd name="connsiteX4" fmla="*/ 41280 w 679455"/>
                <a:gd name="connsiteY4" fmla="*/ 492125 h 538073"/>
                <a:gd name="connsiteX5" fmla="*/ 184155 w 679455"/>
                <a:gd name="connsiteY5" fmla="*/ 536575 h 538073"/>
                <a:gd name="connsiteX6" fmla="*/ 412755 w 679455"/>
                <a:gd name="connsiteY6" fmla="*/ 444500 h 538073"/>
                <a:gd name="connsiteX7" fmla="*/ 558805 w 679455"/>
                <a:gd name="connsiteY7" fmla="*/ 409575 h 538073"/>
                <a:gd name="connsiteX8" fmla="*/ 679455 w 679455"/>
                <a:gd name="connsiteY8" fmla="*/ 434975 h 538073"/>
                <a:gd name="connsiteX0" fmla="*/ 6366 w 669941"/>
                <a:gd name="connsiteY0" fmla="*/ 0 h 538090"/>
                <a:gd name="connsiteX1" fmla="*/ 69866 w 669941"/>
                <a:gd name="connsiteY1" fmla="*/ 79375 h 538090"/>
                <a:gd name="connsiteX2" fmla="*/ 33354 w 669941"/>
                <a:gd name="connsiteY2" fmla="*/ 219869 h 538090"/>
                <a:gd name="connsiteX3" fmla="*/ 16 w 669941"/>
                <a:gd name="connsiteY3" fmla="*/ 369093 h 538090"/>
                <a:gd name="connsiteX4" fmla="*/ 31766 w 669941"/>
                <a:gd name="connsiteY4" fmla="*/ 492125 h 538090"/>
                <a:gd name="connsiteX5" fmla="*/ 174641 w 669941"/>
                <a:gd name="connsiteY5" fmla="*/ 536575 h 538090"/>
                <a:gd name="connsiteX6" fmla="*/ 403241 w 669941"/>
                <a:gd name="connsiteY6" fmla="*/ 444500 h 538090"/>
                <a:gd name="connsiteX7" fmla="*/ 549291 w 669941"/>
                <a:gd name="connsiteY7" fmla="*/ 409575 h 538090"/>
                <a:gd name="connsiteX8" fmla="*/ 669941 w 669941"/>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9018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6952 w 670527"/>
                <a:gd name="connsiteY0" fmla="*/ 0 h 538090"/>
                <a:gd name="connsiteX1" fmla="*/ 89502 w 670527"/>
                <a:gd name="connsiteY1" fmla="*/ 79375 h 538090"/>
                <a:gd name="connsiteX2" fmla="*/ 48228 w 670527"/>
                <a:gd name="connsiteY2" fmla="*/ 207962 h 538090"/>
                <a:gd name="connsiteX3" fmla="*/ 602 w 670527"/>
                <a:gd name="connsiteY3" fmla="*/ 369093 h 538090"/>
                <a:gd name="connsiteX4" fmla="*/ 32352 w 670527"/>
                <a:gd name="connsiteY4" fmla="*/ 492125 h 538090"/>
                <a:gd name="connsiteX5" fmla="*/ 175227 w 670527"/>
                <a:gd name="connsiteY5" fmla="*/ 536575 h 538090"/>
                <a:gd name="connsiteX6" fmla="*/ 403827 w 670527"/>
                <a:gd name="connsiteY6" fmla="*/ 444500 h 538090"/>
                <a:gd name="connsiteX7" fmla="*/ 549877 w 670527"/>
                <a:gd name="connsiteY7" fmla="*/ 409575 h 538090"/>
                <a:gd name="connsiteX8" fmla="*/ 670527 w 670527"/>
                <a:gd name="connsiteY8" fmla="*/ 434975 h 538090"/>
                <a:gd name="connsiteX0" fmla="*/ 6952 w 670527"/>
                <a:gd name="connsiteY0" fmla="*/ 0 h 538090"/>
                <a:gd name="connsiteX1" fmla="*/ 72834 w 670527"/>
                <a:gd name="connsiteY1" fmla="*/ 79375 h 538090"/>
                <a:gd name="connsiteX2" fmla="*/ 48228 w 670527"/>
                <a:gd name="connsiteY2" fmla="*/ 207962 h 538090"/>
                <a:gd name="connsiteX3" fmla="*/ 602 w 670527"/>
                <a:gd name="connsiteY3" fmla="*/ 369093 h 538090"/>
                <a:gd name="connsiteX4" fmla="*/ 32352 w 670527"/>
                <a:gd name="connsiteY4" fmla="*/ 492125 h 538090"/>
                <a:gd name="connsiteX5" fmla="*/ 175227 w 670527"/>
                <a:gd name="connsiteY5" fmla="*/ 536575 h 538090"/>
                <a:gd name="connsiteX6" fmla="*/ 403827 w 670527"/>
                <a:gd name="connsiteY6" fmla="*/ 444500 h 538090"/>
                <a:gd name="connsiteX7" fmla="*/ 549877 w 670527"/>
                <a:gd name="connsiteY7" fmla="*/ 409575 h 538090"/>
                <a:gd name="connsiteX8" fmla="*/ 670527 w 670527"/>
                <a:gd name="connsiteY8" fmla="*/ 434975 h 538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0527" h="538090">
                  <a:moveTo>
                    <a:pt x="6952" y="0"/>
                  </a:moveTo>
                  <a:cubicBezTo>
                    <a:pt x="45846" y="23548"/>
                    <a:pt x="65955" y="44715"/>
                    <a:pt x="72834" y="79375"/>
                  </a:cubicBezTo>
                  <a:cubicBezTo>
                    <a:pt x="79713" y="114035"/>
                    <a:pt x="60267" y="159676"/>
                    <a:pt x="48228" y="207962"/>
                  </a:cubicBezTo>
                  <a:cubicBezTo>
                    <a:pt x="36189" y="256248"/>
                    <a:pt x="3248" y="321732"/>
                    <a:pt x="602" y="369093"/>
                  </a:cubicBezTo>
                  <a:cubicBezTo>
                    <a:pt x="-2044" y="416454"/>
                    <a:pt x="3248" y="464211"/>
                    <a:pt x="32352" y="492125"/>
                  </a:cubicBezTo>
                  <a:cubicBezTo>
                    <a:pt x="61456" y="520039"/>
                    <a:pt x="113315" y="544512"/>
                    <a:pt x="175227" y="536575"/>
                  </a:cubicBezTo>
                  <a:cubicBezTo>
                    <a:pt x="237139" y="528638"/>
                    <a:pt x="341385" y="465667"/>
                    <a:pt x="403827" y="444500"/>
                  </a:cubicBezTo>
                  <a:cubicBezTo>
                    <a:pt x="466269" y="423333"/>
                    <a:pt x="480556" y="405871"/>
                    <a:pt x="549877" y="409575"/>
                  </a:cubicBezTo>
                  <a:cubicBezTo>
                    <a:pt x="619198" y="413279"/>
                    <a:pt x="600412" y="409839"/>
                    <a:pt x="670527" y="434975"/>
                  </a:cubicBezTo>
                </a:path>
              </a:pathLst>
            </a:cu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47" name="Group 46">
              <a:extLst>
                <a:ext uri="{FF2B5EF4-FFF2-40B4-BE49-F238E27FC236}">
                  <a16:creationId xmlns:a16="http://schemas.microsoft.com/office/drawing/2014/main" id="{311BFA0F-162F-97A2-43A4-EF093D76AEC9}"/>
                </a:ext>
              </a:extLst>
            </p:cNvPr>
            <p:cNvGrpSpPr/>
            <p:nvPr/>
          </p:nvGrpSpPr>
          <p:grpSpPr>
            <a:xfrm>
              <a:off x="6003167" y="4389673"/>
              <a:ext cx="600285" cy="673373"/>
              <a:chOff x="6003167" y="4389673"/>
              <a:chExt cx="600285" cy="673373"/>
            </a:xfrm>
          </p:grpSpPr>
          <p:sp>
            <p:nvSpPr>
              <p:cNvPr id="66" name="Freeform 15">
                <a:extLst>
                  <a:ext uri="{FF2B5EF4-FFF2-40B4-BE49-F238E27FC236}">
                    <a16:creationId xmlns:a16="http://schemas.microsoft.com/office/drawing/2014/main" id="{EEBD9418-C894-940E-A7E6-FF58D88C2B12}"/>
                  </a:ext>
                </a:extLst>
              </p:cNvPr>
              <p:cNvSpPr/>
              <p:nvPr/>
            </p:nvSpPr>
            <p:spPr>
              <a:xfrm>
                <a:off x="6424417" y="4884011"/>
                <a:ext cx="179035" cy="179035"/>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67" name="Freeform 16">
                <a:extLst>
                  <a:ext uri="{FF2B5EF4-FFF2-40B4-BE49-F238E27FC236}">
                    <a16:creationId xmlns:a16="http://schemas.microsoft.com/office/drawing/2014/main" id="{FA1A3A5C-0A84-BE72-D2E9-287A6D3B3A9D}"/>
                  </a:ext>
                </a:extLst>
              </p:cNvPr>
              <p:cNvSpPr/>
              <p:nvPr/>
            </p:nvSpPr>
            <p:spPr>
              <a:xfrm>
                <a:off x="6003167" y="4771745"/>
                <a:ext cx="254370" cy="254370"/>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68" name="Freeform 17">
                <a:extLst>
                  <a:ext uri="{FF2B5EF4-FFF2-40B4-BE49-F238E27FC236}">
                    <a16:creationId xmlns:a16="http://schemas.microsoft.com/office/drawing/2014/main" id="{0CE3789B-D0E8-0B7C-C21B-C672D7A09461}"/>
                  </a:ext>
                </a:extLst>
              </p:cNvPr>
              <p:cNvSpPr/>
              <p:nvPr/>
            </p:nvSpPr>
            <p:spPr>
              <a:xfrm>
                <a:off x="6078382" y="4389673"/>
                <a:ext cx="304000" cy="346887"/>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grpSp>
        <p:sp>
          <p:nvSpPr>
            <p:cNvPr id="49" name="Oval 48">
              <a:extLst>
                <a:ext uri="{FF2B5EF4-FFF2-40B4-BE49-F238E27FC236}">
                  <a16:creationId xmlns:a16="http://schemas.microsoft.com/office/drawing/2014/main" id="{EE00826E-15F1-7469-4424-9032D82D4377}"/>
                </a:ext>
              </a:extLst>
            </p:cNvPr>
            <p:cNvSpPr/>
            <p:nvPr/>
          </p:nvSpPr>
          <p:spPr>
            <a:xfrm>
              <a:off x="6346804" y="4801891"/>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Oval 57">
              <a:extLst>
                <a:ext uri="{FF2B5EF4-FFF2-40B4-BE49-F238E27FC236}">
                  <a16:creationId xmlns:a16="http://schemas.microsoft.com/office/drawing/2014/main" id="{879D8918-3946-8C26-552F-B61211559006}"/>
                </a:ext>
              </a:extLst>
            </p:cNvPr>
            <p:cNvSpPr/>
            <p:nvPr/>
          </p:nvSpPr>
          <p:spPr>
            <a:xfrm>
              <a:off x="6304390" y="5063992"/>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Oval 61">
              <a:extLst>
                <a:ext uri="{FF2B5EF4-FFF2-40B4-BE49-F238E27FC236}">
                  <a16:creationId xmlns:a16="http://schemas.microsoft.com/office/drawing/2014/main" id="{CCA9BE53-2F30-9F23-59F6-E5875B8DF626}"/>
                </a:ext>
              </a:extLst>
            </p:cNvPr>
            <p:cNvSpPr/>
            <p:nvPr/>
          </p:nvSpPr>
          <p:spPr>
            <a:xfrm>
              <a:off x="6642853" y="5050738"/>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Oval 63">
              <a:extLst>
                <a:ext uri="{FF2B5EF4-FFF2-40B4-BE49-F238E27FC236}">
                  <a16:creationId xmlns:a16="http://schemas.microsoft.com/office/drawing/2014/main" id="{BE44C5AB-00D8-8B63-9623-E80C91448F72}"/>
                </a:ext>
              </a:extLst>
            </p:cNvPr>
            <p:cNvSpPr/>
            <p:nvPr/>
          </p:nvSpPr>
          <p:spPr>
            <a:xfrm>
              <a:off x="6257537" y="4636459"/>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Oval 64">
              <a:extLst>
                <a:ext uri="{FF2B5EF4-FFF2-40B4-BE49-F238E27FC236}">
                  <a16:creationId xmlns:a16="http://schemas.microsoft.com/office/drawing/2014/main" id="{0DF78CD7-F91B-1EBC-34BA-F04D5A892B09}"/>
                </a:ext>
              </a:extLst>
            </p:cNvPr>
            <p:cNvSpPr/>
            <p:nvPr/>
          </p:nvSpPr>
          <p:spPr>
            <a:xfrm>
              <a:off x="6907886" y="5042832"/>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26" name="Titel 2">
            <a:extLst>
              <a:ext uri="{FF2B5EF4-FFF2-40B4-BE49-F238E27FC236}">
                <a16:creationId xmlns:a16="http://schemas.microsoft.com/office/drawing/2014/main" id="{EBE43B70-996A-F064-BA47-BE4CBC3D321B}"/>
              </a:ext>
            </a:extLst>
          </p:cNvPr>
          <p:cNvSpPr>
            <a:spLocks noGrp="1"/>
          </p:cNvSpPr>
          <p:nvPr>
            <p:ph type="title"/>
          </p:nvPr>
        </p:nvSpPr>
        <p:spPr>
          <a:xfrm>
            <a:off x="407988" y="373593"/>
            <a:ext cx="11376025" cy="1065742"/>
          </a:xfrm>
        </p:spPr>
        <p:txBody>
          <a:bodyPr/>
          <a:lstStyle/>
          <a:p>
            <a:r>
              <a:rPr lang="de-AT" dirty="0"/>
              <a:t>Problem Context – Motion Control</a:t>
            </a:r>
          </a:p>
        </p:txBody>
      </p:sp>
    </p:spTree>
    <p:extLst>
      <p:ext uri="{BB962C8B-B14F-4D97-AF65-F5344CB8AC3E}">
        <p14:creationId xmlns:p14="http://schemas.microsoft.com/office/powerpoint/2010/main" val="35673852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16</a:t>
            </a:fld>
            <a:endParaRPr lang="en-US" dirty="0"/>
          </a:p>
        </p:txBody>
      </p:sp>
      <p:sp>
        <p:nvSpPr>
          <p:cNvPr id="51" name="Rectangle 1">
            <a:extLst>
              <a:ext uri="{FF2B5EF4-FFF2-40B4-BE49-F238E27FC236}">
                <a16:creationId xmlns:a16="http://schemas.microsoft.com/office/drawing/2014/main" id="{EC653236-F2AD-1FAC-CDF8-81887320998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2" name="Rectangle 2">
            <a:extLst>
              <a:ext uri="{FF2B5EF4-FFF2-40B4-BE49-F238E27FC236}">
                <a16:creationId xmlns:a16="http://schemas.microsoft.com/office/drawing/2014/main" id="{EE60B068-47B7-E64E-8545-8D38BBDEC69D}"/>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194" name="TextBox 193">
            <a:extLst>
              <a:ext uri="{FF2B5EF4-FFF2-40B4-BE49-F238E27FC236}">
                <a16:creationId xmlns:a16="http://schemas.microsoft.com/office/drawing/2014/main" id="{C5ACF434-8493-DF79-A331-24C284C88AEB}"/>
              </a:ext>
            </a:extLst>
          </p:cNvPr>
          <p:cNvSpPr txBox="1"/>
          <p:nvPr/>
        </p:nvSpPr>
        <p:spPr>
          <a:xfrm>
            <a:off x="5537483" y="1595748"/>
            <a:ext cx="2288351" cy="215444"/>
          </a:xfrm>
          <a:prstGeom prst="rect">
            <a:avLst/>
          </a:prstGeom>
          <a:noFill/>
        </p:spPr>
        <p:txBody>
          <a:bodyPr wrap="square" lIns="0" tIns="0" rIns="0" bIns="0" rtlCol="0">
            <a:spAutoFit/>
          </a:bodyPr>
          <a:lstStyle/>
          <a:p>
            <a:pPr algn="ctr"/>
            <a:r>
              <a:rPr lang="en-US" sz="1400" b="1" dirty="0">
                <a:solidFill>
                  <a:schemeClr val="bg1">
                    <a:lumMod val="50000"/>
                  </a:schemeClr>
                </a:solidFill>
              </a:rPr>
              <a:t>Motion Control Loop</a:t>
            </a:r>
          </a:p>
        </p:txBody>
      </p:sp>
      <p:sp>
        <p:nvSpPr>
          <p:cNvPr id="12" name="Rectangle: Rounded Corners 11">
            <a:extLst>
              <a:ext uri="{FF2B5EF4-FFF2-40B4-BE49-F238E27FC236}">
                <a16:creationId xmlns:a16="http://schemas.microsoft.com/office/drawing/2014/main" id="{7B5664E1-9637-37EB-3A6A-8B572BBD2CDB}"/>
              </a:ext>
            </a:extLst>
          </p:cNvPr>
          <p:cNvSpPr/>
          <p:nvPr/>
        </p:nvSpPr>
        <p:spPr>
          <a:xfrm>
            <a:off x="2233378" y="2288192"/>
            <a:ext cx="2340363" cy="660640"/>
          </a:xfrm>
          <a:prstGeom prst="roundRect">
            <a:avLst/>
          </a:prstGeom>
          <a:solidFill>
            <a:srgbClr val="D6D6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bg1">
                    <a:lumMod val="50000"/>
                  </a:schemeClr>
                </a:solidFill>
              </a:rPr>
              <a:t>JointsTrajectoryGenerator</a:t>
            </a:r>
            <a:endParaRPr lang="en-GB" sz="1400" dirty="0">
              <a:solidFill>
                <a:schemeClr val="bg1">
                  <a:lumMod val="50000"/>
                </a:schemeClr>
              </a:solidFill>
            </a:endParaRPr>
          </a:p>
        </p:txBody>
      </p:sp>
      <p:sp>
        <p:nvSpPr>
          <p:cNvPr id="24" name="TextBox 23">
            <a:extLst>
              <a:ext uri="{FF2B5EF4-FFF2-40B4-BE49-F238E27FC236}">
                <a16:creationId xmlns:a16="http://schemas.microsoft.com/office/drawing/2014/main" id="{2F04EC0C-E936-009D-3F64-5ECC528C62A7}"/>
              </a:ext>
            </a:extLst>
          </p:cNvPr>
          <p:cNvSpPr txBox="1"/>
          <p:nvPr/>
        </p:nvSpPr>
        <p:spPr>
          <a:xfrm>
            <a:off x="401537" y="2511752"/>
            <a:ext cx="864685" cy="215444"/>
          </a:xfrm>
          <a:prstGeom prst="rect">
            <a:avLst/>
          </a:prstGeom>
          <a:noFill/>
        </p:spPr>
        <p:txBody>
          <a:bodyPr wrap="square" lIns="0" tIns="0" rIns="0" bIns="0" rtlCol="0">
            <a:spAutoFit/>
          </a:bodyPr>
          <a:lstStyle/>
          <a:p>
            <a:pPr algn="ctr"/>
            <a:r>
              <a:rPr lang="en-US" sz="1400" dirty="0">
                <a:solidFill>
                  <a:schemeClr val="bg1">
                    <a:lumMod val="50000"/>
                  </a:schemeClr>
                </a:solidFill>
              </a:rPr>
              <a:t>Joint path</a:t>
            </a:r>
            <a:endParaRPr lang="en-GB" sz="1400" dirty="0">
              <a:solidFill>
                <a:schemeClr val="bg1">
                  <a:lumMod val="50000"/>
                </a:schemeClr>
              </a:solidFill>
            </a:endParaRPr>
          </a:p>
        </p:txBody>
      </p:sp>
      <p:sp>
        <p:nvSpPr>
          <p:cNvPr id="26" name="TextBox 25">
            <a:extLst>
              <a:ext uri="{FF2B5EF4-FFF2-40B4-BE49-F238E27FC236}">
                <a16:creationId xmlns:a16="http://schemas.microsoft.com/office/drawing/2014/main" id="{BB008CC9-BD20-22A2-825E-7A577297C16E}"/>
              </a:ext>
            </a:extLst>
          </p:cNvPr>
          <p:cNvSpPr txBox="1"/>
          <p:nvPr/>
        </p:nvSpPr>
        <p:spPr>
          <a:xfrm>
            <a:off x="4463047" y="3679225"/>
            <a:ext cx="1610464" cy="507831"/>
          </a:xfrm>
          <a:prstGeom prst="rect">
            <a:avLst/>
          </a:prstGeom>
          <a:noFill/>
        </p:spPr>
        <p:txBody>
          <a:bodyPr wrap="square" lIns="0" tIns="0" rIns="0" bIns="0" rtlCol="0">
            <a:spAutoFit/>
          </a:bodyPr>
          <a:lstStyle/>
          <a:p>
            <a:pPr algn="ctr"/>
            <a:r>
              <a:rPr lang="en-US" sz="1200" dirty="0">
                <a:solidFill>
                  <a:schemeClr val="tx2"/>
                </a:solidFill>
              </a:rPr>
              <a:t>Trajectory point:</a:t>
            </a:r>
          </a:p>
          <a:p>
            <a:pPr algn="ctr"/>
            <a:r>
              <a:rPr lang="en-US" sz="1000" dirty="0">
                <a:solidFill>
                  <a:schemeClr val="tx2"/>
                </a:solidFill>
              </a:rPr>
              <a:t>Task pose, velocity, acceleration at </a:t>
            </a:r>
            <a:r>
              <a:rPr lang="en-US" sz="1000" i="1" dirty="0">
                <a:solidFill>
                  <a:schemeClr val="tx2"/>
                </a:solidFill>
              </a:rPr>
              <a:t>t</a:t>
            </a:r>
          </a:p>
        </p:txBody>
      </p:sp>
      <p:sp>
        <p:nvSpPr>
          <p:cNvPr id="31" name="TextBox 30">
            <a:extLst>
              <a:ext uri="{FF2B5EF4-FFF2-40B4-BE49-F238E27FC236}">
                <a16:creationId xmlns:a16="http://schemas.microsoft.com/office/drawing/2014/main" id="{84E42186-E29E-9F38-CFBE-A7C905A0B2CB}"/>
              </a:ext>
            </a:extLst>
          </p:cNvPr>
          <p:cNvSpPr txBox="1"/>
          <p:nvPr/>
        </p:nvSpPr>
        <p:spPr>
          <a:xfrm>
            <a:off x="10058335" y="3103703"/>
            <a:ext cx="1522790" cy="553998"/>
          </a:xfrm>
          <a:prstGeom prst="rect">
            <a:avLst/>
          </a:prstGeom>
          <a:noFill/>
        </p:spPr>
        <p:txBody>
          <a:bodyPr wrap="square" lIns="0" tIns="0" rIns="0" bIns="0" rtlCol="0">
            <a:spAutoFit/>
          </a:bodyPr>
          <a:lstStyle/>
          <a:p>
            <a:pPr algn="ctr"/>
            <a:r>
              <a:rPr lang="en-US" sz="1200" dirty="0">
                <a:solidFill>
                  <a:schemeClr val="bg1">
                    <a:lumMod val="50000"/>
                  </a:schemeClr>
                </a:solidFill>
              </a:rPr>
              <a:t>Actual joint angles, velocities, accelerations at </a:t>
            </a:r>
            <a:r>
              <a:rPr lang="en-US" sz="1200" i="1" dirty="0">
                <a:solidFill>
                  <a:schemeClr val="bg1">
                    <a:lumMod val="50000"/>
                  </a:schemeClr>
                </a:solidFill>
              </a:rPr>
              <a:t>t</a:t>
            </a:r>
          </a:p>
        </p:txBody>
      </p:sp>
      <p:cxnSp>
        <p:nvCxnSpPr>
          <p:cNvPr id="48" name="Straight Arrow Connector 47">
            <a:extLst>
              <a:ext uri="{FF2B5EF4-FFF2-40B4-BE49-F238E27FC236}">
                <a16:creationId xmlns:a16="http://schemas.microsoft.com/office/drawing/2014/main" id="{DF76875B-3595-BDFF-DAF6-C5FA00EC56B3}"/>
              </a:ext>
            </a:extLst>
          </p:cNvPr>
          <p:cNvCxnSpPr>
            <a:cxnSpLocks/>
            <a:stCxn id="61" idx="3"/>
          </p:cNvCxnSpPr>
          <p:nvPr/>
        </p:nvCxnSpPr>
        <p:spPr>
          <a:xfrm>
            <a:off x="10123727" y="3089393"/>
            <a:ext cx="1913345" cy="0"/>
          </a:xfrm>
          <a:prstGeom prst="straightConnector1">
            <a:avLst/>
          </a:prstGeom>
          <a:ln>
            <a:solidFill>
              <a:srgbClr val="CBCBCB"/>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58932DBA-BC85-1349-2412-47475D88E2FF}"/>
              </a:ext>
            </a:extLst>
          </p:cNvPr>
          <p:cNvCxnSpPr>
            <a:cxnSpLocks/>
            <a:stCxn id="24" idx="3"/>
            <a:endCxn id="12" idx="1"/>
          </p:cNvCxnSpPr>
          <p:nvPr/>
        </p:nvCxnSpPr>
        <p:spPr>
          <a:xfrm flipV="1">
            <a:off x="1266222" y="2618512"/>
            <a:ext cx="967156" cy="962"/>
          </a:xfrm>
          <a:prstGeom prst="straightConnector1">
            <a:avLst/>
          </a:prstGeom>
          <a:ln>
            <a:solidFill>
              <a:srgbClr val="CBCBCB"/>
            </a:solidFill>
            <a:tailEnd type="triangle"/>
          </a:ln>
        </p:spPr>
        <p:style>
          <a:lnRef idx="1">
            <a:schemeClr val="accent1"/>
          </a:lnRef>
          <a:fillRef idx="0">
            <a:schemeClr val="accent1"/>
          </a:fillRef>
          <a:effectRef idx="0">
            <a:schemeClr val="accent1"/>
          </a:effectRef>
          <a:fontRef idx="minor">
            <a:schemeClr val="tx1"/>
          </a:fontRef>
        </p:style>
      </p:cxnSp>
      <p:grpSp>
        <p:nvGrpSpPr>
          <p:cNvPr id="183" name="Group 182">
            <a:extLst>
              <a:ext uri="{FF2B5EF4-FFF2-40B4-BE49-F238E27FC236}">
                <a16:creationId xmlns:a16="http://schemas.microsoft.com/office/drawing/2014/main" id="{AC62FBFA-1A77-63C6-7ED3-E88F3AABA500}"/>
              </a:ext>
            </a:extLst>
          </p:cNvPr>
          <p:cNvGrpSpPr/>
          <p:nvPr/>
        </p:nvGrpSpPr>
        <p:grpSpPr>
          <a:xfrm>
            <a:off x="2537250" y="4195078"/>
            <a:ext cx="1766536" cy="1112840"/>
            <a:chOff x="2764634" y="4139767"/>
            <a:chExt cx="1766536" cy="1112840"/>
          </a:xfrm>
        </p:grpSpPr>
        <p:grpSp>
          <p:nvGrpSpPr>
            <p:cNvPr id="59" name="Group 58">
              <a:extLst>
                <a:ext uri="{FF2B5EF4-FFF2-40B4-BE49-F238E27FC236}">
                  <a16:creationId xmlns:a16="http://schemas.microsoft.com/office/drawing/2014/main" id="{A5943475-B085-B35A-5263-8F093510124F}"/>
                </a:ext>
              </a:extLst>
            </p:cNvPr>
            <p:cNvGrpSpPr/>
            <p:nvPr/>
          </p:nvGrpSpPr>
          <p:grpSpPr>
            <a:xfrm>
              <a:off x="2764634" y="4139767"/>
              <a:ext cx="1766536" cy="1112840"/>
              <a:chOff x="1279822" y="2270598"/>
              <a:chExt cx="6050258" cy="3811399"/>
            </a:xfrm>
          </p:grpSpPr>
          <p:sp>
            <p:nvSpPr>
              <p:cNvPr id="53" name="Freeform 13">
                <a:extLst>
                  <a:ext uri="{FF2B5EF4-FFF2-40B4-BE49-F238E27FC236}">
                    <a16:creationId xmlns:a16="http://schemas.microsoft.com/office/drawing/2014/main" id="{44D2AACD-115B-47D7-C112-D7465DCE67D9}"/>
                  </a:ext>
                </a:extLst>
              </p:cNvPr>
              <p:cNvSpPr/>
              <p:nvPr/>
            </p:nvSpPr>
            <p:spPr>
              <a:xfrm>
                <a:off x="3907305" y="2270598"/>
                <a:ext cx="3422775" cy="3411874"/>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a:p>
            </p:txBody>
          </p:sp>
          <p:sp>
            <p:nvSpPr>
              <p:cNvPr id="54" name="Freeform 14">
                <a:extLst>
                  <a:ext uri="{FF2B5EF4-FFF2-40B4-BE49-F238E27FC236}">
                    <a16:creationId xmlns:a16="http://schemas.microsoft.com/office/drawing/2014/main" id="{573CC85B-9049-472B-55F1-9ED651A5230E}"/>
                  </a:ext>
                </a:extLst>
              </p:cNvPr>
              <p:cNvSpPr/>
              <p:nvPr/>
            </p:nvSpPr>
            <p:spPr>
              <a:xfrm>
                <a:off x="2048828" y="3976535"/>
                <a:ext cx="2388253" cy="2105462"/>
              </a:xfrm>
              <a:custGeom>
                <a:avLst/>
                <a:gdLst/>
                <a:ahLst/>
                <a:cxnLst/>
                <a:rect l="l" t="t" r="r" b="b"/>
                <a:pathLst>
                  <a:path w="2388253" h="2105462">
                    <a:moveTo>
                      <a:pt x="0" y="0"/>
                    </a:moveTo>
                    <a:lnTo>
                      <a:pt x="2388253" y="0"/>
                    </a:lnTo>
                    <a:lnTo>
                      <a:pt x="2388253" y="2105462"/>
                    </a:lnTo>
                    <a:lnTo>
                      <a:pt x="0" y="2105462"/>
                    </a:lnTo>
                    <a:lnTo>
                      <a:pt x="0" y="0"/>
                    </a:lnTo>
                    <a:close/>
                  </a:path>
                </a:pathLst>
              </a:custGeom>
              <a:blipFill>
                <a:blip r:embed="rId4"/>
                <a:stretch>
                  <a:fillRect l="-16072" t="-8057"/>
                </a:stretch>
              </a:blipFill>
            </p:spPr>
            <p:txBody>
              <a:bodyPr/>
              <a:lstStyle/>
              <a:p>
                <a:endParaRPr lang="en-GB"/>
              </a:p>
            </p:txBody>
          </p:sp>
          <p:sp>
            <p:nvSpPr>
              <p:cNvPr id="55" name="Freeform 15">
                <a:extLst>
                  <a:ext uri="{FF2B5EF4-FFF2-40B4-BE49-F238E27FC236}">
                    <a16:creationId xmlns:a16="http://schemas.microsoft.com/office/drawing/2014/main" id="{BD363C21-221D-56D3-4830-B8D684F4F759}"/>
                  </a:ext>
                </a:extLst>
              </p:cNvPr>
              <p:cNvSpPr/>
              <p:nvPr/>
            </p:nvSpPr>
            <p:spPr>
              <a:xfrm>
                <a:off x="2722572" y="4644763"/>
                <a:ext cx="613182" cy="613182"/>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56" name="Freeform 16">
                <a:extLst>
                  <a:ext uri="{FF2B5EF4-FFF2-40B4-BE49-F238E27FC236}">
                    <a16:creationId xmlns:a16="http://schemas.microsoft.com/office/drawing/2014/main" id="{988AF4C0-DFFE-306C-85F9-66361AE532B6}"/>
                  </a:ext>
                </a:extLst>
              </p:cNvPr>
              <p:cNvSpPr/>
              <p:nvPr/>
            </p:nvSpPr>
            <p:spPr>
              <a:xfrm>
                <a:off x="1279822" y="4260259"/>
                <a:ext cx="871200" cy="871200"/>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57" name="Freeform 17">
                <a:extLst>
                  <a:ext uri="{FF2B5EF4-FFF2-40B4-BE49-F238E27FC236}">
                    <a16:creationId xmlns:a16="http://schemas.microsoft.com/office/drawing/2014/main" id="{E9B138FF-71E0-36CE-834B-8FCA4C048BDD}"/>
                  </a:ext>
                </a:extLst>
              </p:cNvPr>
              <p:cNvSpPr/>
              <p:nvPr/>
            </p:nvSpPr>
            <p:spPr>
              <a:xfrm>
                <a:off x="1537428" y="2951690"/>
                <a:ext cx="1041177" cy="1188065"/>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grpSp>
        <p:sp>
          <p:nvSpPr>
            <p:cNvPr id="70" name="Oval 69">
              <a:extLst>
                <a:ext uri="{FF2B5EF4-FFF2-40B4-BE49-F238E27FC236}">
                  <a16:creationId xmlns:a16="http://schemas.microsoft.com/office/drawing/2014/main" id="{4465AF42-EFFD-94C9-137F-F24C6544CE8D}"/>
                </a:ext>
              </a:extLst>
            </p:cNvPr>
            <p:cNvSpPr/>
            <p:nvPr/>
          </p:nvSpPr>
          <p:spPr>
            <a:xfrm>
              <a:off x="3074762" y="4750848"/>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Oval 73">
              <a:extLst>
                <a:ext uri="{FF2B5EF4-FFF2-40B4-BE49-F238E27FC236}">
                  <a16:creationId xmlns:a16="http://schemas.microsoft.com/office/drawing/2014/main" id="{8EB7E373-558B-1F67-BB57-7C7A591EC271}"/>
                </a:ext>
              </a:extLst>
            </p:cNvPr>
            <p:cNvSpPr/>
            <p:nvPr/>
          </p:nvSpPr>
          <p:spPr>
            <a:xfrm>
              <a:off x="3065857" y="5012949"/>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Oval 74">
              <a:extLst>
                <a:ext uri="{FF2B5EF4-FFF2-40B4-BE49-F238E27FC236}">
                  <a16:creationId xmlns:a16="http://schemas.microsoft.com/office/drawing/2014/main" id="{6AA539B3-AD13-EF54-3FD3-985153C01E93}"/>
                </a:ext>
              </a:extLst>
            </p:cNvPr>
            <p:cNvSpPr/>
            <p:nvPr/>
          </p:nvSpPr>
          <p:spPr>
            <a:xfrm>
              <a:off x="3404320" y="4999695"/>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Oval 75">
              <a:extLst>
                <a:ext uri="{FF2B5EF4-FFF2-40B4-BE49-F238E27FC236}">
                  <a16:creationId xmlns:a16="http://schemas.microsoft.com/office/drawing/2014/main" id="{265CD327-CCA6-C723-6F0C-EAC7FB5751DC}"/>
                </a:ext>
              </a:extLst>
            </p:cNvPr>
            <p:cNvSpPr/>
            <p:nvPr/>
          </p:nvSpPr>
          <p:spPr>
            <a:xfrm>
              <a:off x="3669353" y="4991789"/>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Oval 76">
              <a:extLst>
                <a:ext uri="{FF2B5EF4-FFF2-40B4-BE49-F238E27FC236}">
                  <a16:creationId xmlns:a16="http://schemas.microsoft.com/office/drawing/2014/main" id="{6E158899-C04B-124A-0DBD-614336D6D325}"/>
                </a:ext>
              </a:extLst>
            </p:cNvPr>
            <p:cNvSpPr/>
            <p:nvPr/>
          </p:nvSpPr>
          <p:spPr>
            <a:xfrm>
              <a:off x="3019004" y="4585416"/>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77" name="Group 176">
            <a:extLst>
              <a:ext uri="{FF2B5EF4-FFF2-40B4-BE49-F238E27FC236}">
                <a16:creationId xmlns:a16="http://schemas.microsoft.com/office/drawing/2014/main" id="{687D5065-9A8E-7A30-E4C1-072727CA7275}"/>
              </a:ext>
            </a:extLst>
          </p:cNvPr>
          <p:cNvGrpSpPr/>
          <p:nvPr/>
        </p:nvGrpSpPr>
        <p:grpSpPr>
          <a:xfrm>
            <a:off x="116581" y="4126473"/>
            <a:ext cx="1766536" cy="996188"/>
            <a:chOff x="492958" y="4181396"/>
            <a:chExt cx="1766536" cy="996188"/>
          </a:xfrm>
        </p:grpSpPr>
        <p:sp>
          <p:nvSpPr>
            <p:cNvPr id="79" name="Freeform 13">
              <a:extLst>
                <a:ext uri="{FF2B5EF4-FFF2-40B4-BE49-F238E27FC236}">
                  <a16:creationId xmlns:a16="http://schemas.microsoft.com/office/drawing/2014/main" id="{D0F48302-30D8-A28A-760A-5B10F237F5EA}"/>
                </a:ext>
              </a:extLst>
            </p:cNvPr>
            <p:cNvSpPr/>
            <p:nvPr/>
          </p:nvSpPr>
          <p:spPr>
            <a:xfrm>
              <a:off x="1260123" y="4181396"/>
              <a:ext cx="999371" cy="996188"/>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a:p>
          </p:txBody>
        </p:sp>
        <p:sp>
          <p:nvSpPr>
            <p:cNvPr id="81" name="Freeform 15">
              <a:extLst>
                <a:ext uri="{FF2B5EF4-FFF2-40B4-BE49-F238E27FC236}">
                  <a16:creationId xmlns:a16="http://schemas.microsoft.com/office/drawing/2014/main" id="{55FF864B-82DF-EFAA-D14B-8774E4CDA3F2}"/>
                </a:ext>
              </a:extLst>
            </p:cNvPr>
            <p:cNvSpPr/>
            <p:nvPr/>
          </p:nvSpPr>
          <p:spPr>
            <a:xfrm>
              <a:off x="914208" y="4874597"/>
              <a:ext cx="179035" cy="179035"/>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82" name="Freeform 16">
              <a:extLst>
                <a:ext uri="{FF2B5EF4-FFF2-40B4-BE49-F238E27FC236}">
                  <a16:creationId xmlns:a16="http://schemas.microsoft.com/office/drawing/2014/main" id="{12265872-FC61-83A0-4849-CF0905325610}"/>
                </a:ext>
              </a:extLst>
            </p:cNvPr>
            <p:cNvSpPr/>
            <p:nvPr/>
          </p:nvSpPr>
          <p:spPr>
            <a:xfrm>
              <a:off x="492958" y="4762331"/>
              <a:ext cx="254370" cy="254370"/>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83" name="Freeform 17">
              <a:extLst>
                <a:ext uri="{FF2B5EF4-FFF2-40B4-BE49-F238E27FC236}">
                  <a16:creationId xmlns:a16="http://schemas.microsoft.com/office/drawing/2014/main" id="{01167393-70BC-B27F-7E19-EAC92C61D237}"/>
                </a:ext>
              </a:extLst>
            </p:cNvPr>
            <p:cNvSpPr/>
            <p:nvPr/>
          </p:nvSpPr>
          <p:spPr>
            <a:xfrm>
              <a:off x="568173" y="4380259"/>
              <a:ext cx="304000" cy="346887"/>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dirty="0"/>
            </a:p>
          </p:txBody>
        </p:sp>
        <p:sp>
          <p:nvSpPr>
            <p:cNvPr id="84" name="Oval 83">
              <a:extLst>
                <a:ext uri="{FF2B5EF4-FFF2-40B4-BE49-F238E27FC236}">
                  <a16:creationId xmlns:a16="http://schemas.microsoft.com/office/drawing/2014/main" id="{CAAFA84F-1723-0033-DAC7-331FE98FA0D0}"/>
                </a:ext>
              </a:extLst>
            </p:cNvPr>
            <p:cNvSpPr/>
            <p:nvPr/>
          </p:nvSpPr>
          <p:spPr>
            <a:xfrm>
              <a:off x="803086" y="4792477"/>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Oval 84">
              <a:extLst>
                <a:ext uri="{FF2B5EF4-FFF2-40B4-BE49-F238E27FC236}">
                  <a16:creationId xmlns:a16="http://schemas.microsoft.com/office/drawing/2014/main" id="{EF41D1F5-03DA-CE22-1349-0168990A33AF}"/>
                </a:ext>
              </a:extLst>
            </p:cNvPr>
            <p:cNvSpPr/>
            <p:nvPr/>
          </p:nvSpPr>
          <p:spPr>
            <a:xfrm>
              <a:off x="794181" y="5054578"/>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Oval 85">
              <a:extLst>
                <a:ext uri="{FF2B5EF4-FFF2-40B4-BE49-F238E27FC236}">
                  <a16:creationId xmlns:a16="http://schemas.microsoft.com/office/drawing/2014/main" id="{1909C209-3127-CC27-ACC3-1F85C9267D82}"/>
                </a:ext>
              </a:extLst>
            </p:cNvPr>
            <p:cNvSpPr/>
            <p:nvPr/>
          </p:nvSpPr>
          <p:spPr>
            <a:xfrm>
              <a:off x="1132644" y="5041324"/>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Oval 86">
              <a:extLst>
                <a:ext uri="{FF2B5EF4-FFF2-40B4-BE49-F238E27FC236}">
                  <a16:creationId xmlns:a16="http://schemas.microsoft.com/office/drawing/2014/main" id="{F0FFA216-6B4C-5D97-20D5-0B393167E6E1}"/>
                </a:ext>
              </a:extLst>
            </p:cNvPr>
            <p:cNvSpPr/>
            <p:nvPr/>
          </p:nvSpPr>
          <p:spPr>
            <a:xfrm>
              <a:off x="1397677" y="5033418"/>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Oval 87">
              <a:extLst>
                <a:ext uri="{FF2B5EF4-FFF2-40B4-BE49-F238E27FC236}">
                  <a16:creationId xmlns:a16="http://schemas.microsoft.com/office/drawing/2014/main" id="{1C27609B-FC5B-5224-A344-A7CD5845D105}"/>
                </a:ext>
              </a:extLst>
            </p:cNvPr>
            <p:cNvSpPr/>
            <p:nvPr/>
          </p:nvSpPr>
          <p:spPr>
            <a:xfrm>
              <a:off x="747328" y="4627045"/>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78" name="Group 177">
            <a:extLst>
              <a:ext uri="{FF2B5EF4-FFF2-40B4-BE49-F238E27FC236}">
                <a16:creationId xmlns:a16="http://schemas.microsoft.com/office/drawing/2014/main" id="{D2DF8BF1-8B78-1437-0618-BF2FBAF2A5B9}"/>
              </a:ext>
            </a:extLst>
          </p:cNvPr>
          <p:cNvGrpSpPr/>
          <p:nvPr/>
        </p:nvGrpSpPr>
        <p:grpSpPr>
          <a:xfrm>
            <a:off x="6003167" y="4190810"/>
            <a:ext cx="1766536" cy="1112840"/>
            <a:chOff x="5212732" y="4150002"/>
            <a:chExt cx="1766536" cy="1112840"/>
          </a:xfrm>
        </p:grpSpPr>
        <p:grpSp>
          <p:nvGrpSpPr>
            <p:cNvPr id="89" name="Group 88">
              <a:extLst>
                <a:ext uri="{FF2B5EF4-FFF2-40B4-BE49-F238E27FC236}">
                  <a16:creationId xmlns:a16="http://schemas.microsoft.com/office/drawing/2014/main" id="{49F76B62-C71D-3ACD-16F4-E32187A45504}"/>
                </a:ext>
              </a:extLst>
            </p:cNvPr>
            <p:cNvGrpSpPr/>
            <p:nvPr/>
          </p:nvGrpSpPr>
          <p:grpSpPr>
            <a:xfrm>
              <a:off x="5212732" y="4150002"/>
              <a:ext cx="1766536" cy="1112840"/>
              <a:chOff x="1279822" y="2270598"/>
              <a:chExt cx="6050258" cy="3811399"/>
            </a:xfrm>
          </p:grpSpPr>
          <p:sp>
            <p:nvSpPr>
              <p:cNvPr id="90" name="Freeform 13">
                <a:extLst>
                  <a:ext uri="{FF2B5EF4-FFF2-40B4-BE49-F238E27FC236}">
                    <a16:creationId xmlns:a16="http://schemas.microsoft.com/office/drawing/2014/main" id="{8A365670-37A6-A90C-073F-EB31B3A28004}"/>
                  </a:ext>
                </a:extLst>
              </p:cNvPr>
              <p:cNvSpPr/>
              <p:nvPr/>
            </p:nvSpPr>
            <p:spPr>
              <a:xfrm>
                <a:off x="3907305" y="2270598"/>
                <a:ext cx="3422775" cy="3411874"/>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a:p>
            </p:txBody>
          </p:sp>
          <p:sp>
            <p:nvSpPr>
              <p:cNvPr id="91" name="Freeform 14">
                <a:extLst>
                  <a:ext uri="{FF2B5EF4-FFF2-40B4-BE49-F238E27FC236}">
                    <a16:creationId xmlns:a16="http://schemas.microsoft.com/office/drawing/2014/main" id="{AD16C280-0D70-5ABA-EE9B-B8CA52DD9806}"/>
                  </a:ext>
                </a:extLst>
              </p:cNvPr>
              <p:cNvSpPr/>
              <p:nvPr/>
            </p:nvSpPr>
            <p:spPr>
              <a:xfrm>
                <a:off x="2048828" y="3976535"/>
                <a:ext cx="2388253" cy="2105462"/>
              </a:xfrm>
              <a:custGeom>
                <a:avLst/>
                <a:gdLst/>
                <a:ahLst/>
                <a:cxnLst/>
                <a:rect l="l" t="t" r="r" b="b"/>
                <a:pathLst>
                  <a:path w="2388253" h="2105462">
                    <a:moveTo>
                      <a:pt x="0" y="0"/>
                    </a:moveTo>
                    <a:lnTo>
                      <a:pt x="2388253" y="0"/>
                    </a:lnTo>
                    <a:lnTo>
                      <a:pt x="2388253" y="2105462"/>
                    </a:lnTo>
                    <a:lnTo>
                      <a:pt x="0" y="2105462"/>
                    </a:lnTo>
                    <a:lnTo>
                      <a:pt x="0" y="0"/>
                    </a:lnTo>
                    <a:close/>
                  </a:path>
                </a:pathLst>
              </a:custGeom>
              <a:blipFill>
                <a:blip r:embed="rId4"/>
                <a:stretch>
                  <a:fillRect l="-16072" t="-8057"/>
                </a:stretch>
              </a:blipFill>
            </p:spPr>
            <p:txBody>
              <a:bodyPr/>
              <a:lstStyle/>
              <a:p>
                <a:endParaRPr lang="en-GB"/>
              </a:p>
            </p:txBody>
          </p:sp>
          <p:sp>
            <p:nvSpPr>
              <p:cNvPr id="92" name="Freeform 15">
                <a:extLst>
                  <a:ext uri="{FF2B5EF4-FFF2-40B4-BE49-F238E27FC236}">
                    <a16:creationId xmlns:a16="http://schemas.microsoft.com/office/drawing/2014/main" id="{B8E5FF4D-B07E-C24B-BA18-D4F65078648C}"/>
                  </a:ext>
                </a:extLst>
              </p:cNvPr>
              <p:cNvSpPr/>
              <p:nvPr/>
            </p:nvSpPr>
            <p:spPr>
              <a:xfrm>
                <a:off x="2722572" y="4644763"/>
                <a:ext cx="613182" cy="613182"/>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93" name="Freeform 16">
                <a:extLst>
                  <a:ext uri="{FF2B5EF4-FFF2-40B4-BE49-F238E27FC236}">
                    <a16:creationId xmlns:a16="http://schemas.microsoft.com/office/drawing/2014/main" id="{EB249BE3-7D41-A6BF-523F-F7875AE0ABA3}"/>
                  </a:ext>
                </a:extLst>
              </p:cNvPr>
              <p:cNvSpPr/>
              <p:nvPr/>
            </p:nvSpPr>
            <p:spPr>
              <a:xfrm>
                <a:off x="1279822" y="4260259"/>
                <a:ext cx="871200" cy="871200"/>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94" name="Freeform 17">
                <a:extLst>
                  <a:ext uri="{FF2B5EF4-FFF2-40B4-BE49-F238E27FC236}">
                    <a16:creationId xmlns:a16="http://schemas.microsoft.com/office/drawing/2014/main" id="{36EA9B40-13C7-37A7-1B0A-2A2455F84840}"/>
                  </a:ext>
                </a:extLst>
              </p:cNvPr>
              <p:cNvSpPr/>
              <p:nvPr/>
            </p:nvSpPr>
            <p:spPr>
              <a:xfrm>
                <a:off x="1537428" y="2951690"/>
                <a:ext cx="1041177" cy="1188065"/>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grpSp>
        <p:sp>
          <p:nvSpPr>
            <p:cNvPr id="95" name="Oval 94">
              <a:extLst>
                <a:ext uri="{FF2B5EF4-FFF2-40B4-BE49-F238E27FC236}">
                  <a16:creationId xmlns:a16="http://schemas.microsoft.com/office/drawing/2014/main" id="{5D58B481-B6F6-745B-84B3-D8B5184235D7}"/>
                </a:ext>
              </a:extLst>
            </p:cNvPr>
            <p:cNvSpPr/>
            <p:nvPr/>
          </p:nvSpPr>
          <p:spPr>
            <a:xfrm>
              <a:off x="5522860" y="4761083"/>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Oval 95">
              <a:extLst>
                <a:ext uri="{FF2B5EF4-FFF2-40B4-BE49-F238E27FC236}">
                  <a16:creationId xmlns:a16="http://schemas.microsoft.com/office/drawing/2014/main" id="{F59268A7-1F63-A96E-85D5-CBFDEDA108EA}"/>
                </a:ext>
              </a:extLst>
            </p:cNvPr>
            <p:cNvSpPr/>
            <p:nvPr/>
          </p:nvSpPr>
          <p:spPr>
            <a:xfrm>
              <a:off x="5513955" y="5023184"/>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Oval 96">
              <a:extLst>
                <a:ext uri="{FF2B5EF4-FFF2-40B4-BE49-F238E27FC236}">
                  <a16:creationId xmlns:a16="http://schemas.microsoft.com/office/drawing/2014/main" id="{E6B85DB2-3C50-29FC-B252-DD6AF5ADBA60}"/>
                </a:ext>
              </a:extLst>
            </p:cNvPr>
            <p:cNvSpPr/>
            <p:nvPr/>
          </p:nvSpPr>
          <p:spPr>
            <a:xfrm>
              <a:off x="5852418" y="5009930"/>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Oval 97">
              <a:extLst>
                <a:ext uri="{FF2B5EF4-FFF2-40B4-BE49-F238E27FC236}">
                  <a16:creationId xmlns:a16="http://schemas.microsoft.com/office/drawing/2014/main" id="{706D7D12-209D-04AD-77B2-9DFA28C412B3}"/>
                </a:ext>
              </a:extLst>
            </p:cNvPr>
            <p:cNvSpPr/>
            <p:nvPr/>
          </p:nvSpPr>
          <p:spPr>
            <a:xfrm>
              <a:off x="6117451" y="5002024"/>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Oval 98">
              <a:extLst>
                <a:ext uri="{FF2B5EF4-FFF2-40B4-BE49-F238E27FC236}">
                  <a16:creationId xmlns:a16="http://schemas.microsoft.com/office/drawing/2014/main" id="{2AA3BFCF-03ED-8250-88AA-60AFC35D684D}"/>
                </a:ext>
              </a:extLst>
            </p:cNvPr>
            <p:cNvSpPr/>
            <p:nvPr/>
          </p:nvSpPr>
          <p:spPr>
            <a:xfrm>
              <a:off x="5467102" y="4595651"/>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1" name="Straight Connector 100">
              <a:extLst>
                <a:ext uri="{FF2B5EF4-FFF2-40B4-BE49-F238E27FC236}">
                  <a16:creationId xmlns:a16="http://schemas.microsoft.com/office/drawing/2014/main" id="{2A0F1D12-5890-F5CE-8393-6B54B1E6A0FC}"/>
                </a:ext>
              </a:extLst>
            </p:cNvPr>
            <p:cNvCxnSpPr>
              <a:cxnSpLocks/>
            </p:cNvCxnSpPr>
            <p:nvPr/>
          </p:nvCxnSpPr>
          <p:spPr>
            <a:xfrm flipH="1">
              <a:off x="6171407" y="4665032"/>
              <a:ext cx="8370" cy="134413"/>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AC5CDAD1-D536-6C68-A705-AC48D0E0C5D9}"/>
                </a:ext>
              </a:extLst>
            </p:cNvPr>
            <p:cNvCxnSpPr>
              <a:cxnSpLocks/>
            </p:cNvCxnSpPr>
            <p:nvPr/>
          </p:nvCxnSpPr>
          <p:spPr>
            <a:xfrm>
              <a:off x="6184445" y="4673264"/>
              <a:ext cx="68300" cy="13092"/>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0DAC7F41-0DE3-88D7-E7DB-3AA2E709E7D5}"/>
                </a:ext>
              </a:extLst>
            </p:cNvPr>
            <p:cNvCxnSpPr>
              <a:cxnSpLocks/>
            </p:cNvCxnSpPr>
            <p:nvPr/>
          </p:nvCxnSpPr>
          <p:spPr>
            <a:xfrm flipH="1">
              <a:off x="6342401" y="4719003"/>
              <a:ext cx="58236" cy="133937"/>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57DBFBB3-51B3-D120-C651-3C381798EA8F}"/>
                </a:ext>
              </a:extLst>
            </p:cNvPr>
            <p:cNvCxnSpPr>
              <a:cxnSpLocks/>
            </p:cNvCxnSpPr>
            <p:nvPr/>
          </p:nvCxnSpPr>
          <p:spPr>
            <a:xfrm>
              <a:off x="6298663" y="4694885"/>
              <a:ext cx="115362" cy="19546"/>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B2AC0FB2-7742-F523-1690-AA0E39879A25}"/>
                </a:ext>
              </a:extLst>
            </p:cNvPr>
            <p:cNvCxnSpPr>
              <a:cxnSpLocks/>
            </p:cNvCxnSpPr>
            <p:nvPr/>
          </p:nvCxnSpPr>
          <p:spPr>
            <a:xfrm>
              <a:off x="6422395" y="4407264"/>
              <a:ext cx="83180" cy="38151"/>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E1E9BA0B-47ED-2520-65AB-EC82CAF390E0}"/>
                </a:ext>
              </a:extLst>
            </p:cNvPr>
            <p:cNvCxnSpPr>
              <a:cxnSpLocks/>
            </p:cNvCxnSpPr>
            <p:nvPr/>
          </p:nvCxnSpPr>
          <p:spPr>
            <a:xfrm flipV="1">
              <a:off x="6381197" y="4411098"/>
              <a:ext cx="49048" cy="68634"/>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131" name="Oval 130">
              <a:extLst>
                <a:ext uri="{FF2B5EF4-FFF2-40B4-BE49-F238E27FC236}">
                  <a16:creationId xmlns:a16="http://schemas.microsoft.com/office/drawing/2014/main" id="{4491A349-F0FB-D9C6-8217-1424861C8EAA}"/>
                </a:ext>
              </a:extLst>
            </p:cNvPr>
            <p:cNvSpPr/>
            <p:nvPr/>
          </p:nvSpPr>
          <p:spPr>
            <a:xfrm>
              <a:off x="6156917" y="4650404"/>
              <a:ext cx="45719" cy="4571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35" name="Straight Connector 134">
              <a:extLst>
                <a:ext uri="{FF2B5EF4-FFF2-40B4-BE49-F238E27FC236}">
                  <a16:creationId xmlns:a16="http://schemas.microsoft.com/office/drawing/2014/main" id="{EFC9CBD3-ED12-6209-B509-64A1D749AEE3}"/>
                </a:ext>
              </a:extLst>
            </p:cNvPr>
            <p:cNvCxnSpPr>
              <a:cxnSpLocks/>
            </p:cNvCxnSpPr>
            <p:nvPr/>
          </p:nvCxnSpPr>
          <p:spPr>
            <a:xfrm flipV="1">
              <a:off x="6632957" y="4578285"/>
              <a:ext cx="119522" cy="2999"/>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F6BAB3C5-CEDC-E2D5-A097-184DF9D8FF49}"/>
                </a:ext>
              </a:extLst>
            </p:cNvPr>
            <p:cNvCxnSpPr>
              <a:cxnSpLocks/>
            </p:cNvCxnSpPr>
            <p:nvPr/>
          </p:nvCxnSpPr>
          <p:spPr>
            <a:xfrm>
              <a:off x="6704213" y="4486880"/>
              <a:ext cx="60429" cy="105748"/>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5EFDD028-D81D-42EC-0CE2-123B90D2AB44}"/>
                </a:ext>
              </a:extLst>
            </p:cNvPr>
            <p:cNvCxnSpPr>
              <a:cxnSpLocks/>
            </p:cNvCxnSpPr>
            <p:nvPr/>
          </p:nvCxnSpPr>
          <p:spPr>
            <a:xfrm>
              <a:off x="6505575" y="4305636"/>
              <a:ext cx="111340" cy="39762"/>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08D2AF31-F019-CE99-A1E5-A9C4FE1A0568}"/>
                </a:ext>
              </a:extLst>
            </p:cNvPr>
            <p:cNvCxnSpPr>
              <a:cxnSpLocks/>
            </p:cNvCxnSpPr>
            <p:nvPr/>
          </p:nvCxnSpPr>
          <p:spPr>
            <a:xfrm>
              <a:off x="6620347" y="4348865"/>
              <a:ext cx="43150" cy="98917"/>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307D10AB-CA8A-BC46-A064-F9A56F062442}"/>
                </a:ext>
              </a:extLst>
            </p:cNvPr>
            <p:cNvCxnSpPr>
              <a:cxnSpLocks/>
            </p:cNvCxnSpPr>
            <p:nvPr/>
          </p:nvCxnSpPr>
          <p:spPr>
            <a:xfrm flipV="1">
              <a:off x="6606666" y="4864412"/>
              <a:ext cx="83866" cy="75545"/>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D44B6B34-BCCD-86D3-080C-744FFBDEC135}"/>
                </a:ext>
              </a:extLst>
            </p:cNvPr>
            <p:cNvCxnSpPr>
              <a:cxnSpLocks/>
            </p:cNvCxnSpPr>
            <p:nvPr/>
          </p:nvCxnSpPr>
          <p:spPr>
            <a:xfrm>
              <a:off x="6541268" y="4847887"/>
              <a:ext cx="135944" cy="13625"/>
            </a:xfrm>
            <a:prstGeom prst="line">
              <a:avLst/>
            </a:prstGeom>
            <a:ln w="9525">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166" name="Arc 165">
              <a:extLst>
                <a:ext uri="{FF2B5EF4-FFF2-40B4-BE49-F238E27FC236}">
                  <a16:creationId xmlns:a16="http://schemas.microsoft.com/office/drawing/2014/main" id="{2AEF075C-5395-0193-B40D-2D44BF23D73B}"/>
                </a:ext>
              </a:extLst>
            </p:cNvPr>
            <p:cNvSpPr/>
            <p:nvPr/>
          </p:nvSpPr>
          <p:spPr>
            <a:xfrm rot="5400000">
              <a:off x="6148311" y="4654328"/>
              <a:ext cx="76486" cy="76732"/>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67" name="Arc 166">
              <a:extLst>
                <a:ext uri="{FF2B5EF4-FFF2-40B4-BE49-F238E27FC236}">
                  <a16:creationId xmlns:a16="http://schemas.microsoft.com/office/drawing/2014/main" id="{A60BE39A-77D5-B8C3-B225-C53611B2CEF5}"/>
                </a:ext>
              </a:extLst>
            </p:cNvPr>
            <p:cNvSpPr/>
            <p:nvPr/>
          </p:nvSpPr>
          <p:spPr>
            <a:xfrm rot="11576616">
              <a:off x="6339163" y="4685566"/>
              <a:ext cx="76486" cy="76732"/>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68" name="Arc 167">
              <a:extLst>
                <a:ext uri="{FF2B5EF4-FFF2-40B4-BE49-F238E27FC236}">
                  <a16:creationId xmlns:a16="http://schemas.microsoft.com/office/drawing/2014/main" id="{03F747A3-7FF8-D714-4129-A752BDB92C8E}"/>
                </a:ext>
              </a:extLst>
            </p:cNvPr>
            <p:cNvSpPr/>
            <p:nvPr/>
          </p:nvSpPr>
          <p:spPr>
            <a:xfrm rot="7436529">
              <a:off x="6396136" y="4388218"/>
              <a:ext cx="76486" cy="76732"/>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69" name="Arc 168">
              <a:extLst>
                <a:ext uri="{FF2B5EF4-FFF2-40B4-BE49-F238E27FC236}">
                  <a16:creationId xmlns:a16="http://schemas.microsoft.com/office/drawing/2014/main" id="{D4A15CAB-459A-3633-E9E3-AFBC7F4CB073}"/>
                </a:ext>
              </a:extLst>
            </p:cNvPr>
            <p:cNvSpPr/>
            <p:nvPr/>
          </p:nvSpPr>
          <p:spPr>
            <a:xfrm rot="13139162">
              <a:off x="6594982" y="4848661"/>
              <a:ext cx="76486" cy="76732"/>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70" name="Arc 169">
              <a:extLst>
                <a:ext uri="{FF2B5EF4-FFF2-40B4-BE49-F238E27FC236}">
                  <a16:creationId xmlns:a16="http://schemas.microsoft.com/office/drawing/2014/main" id="{641A8B43-6134-FF12-C17B-F5285C922C11}"/>
                </a:ext>
              </a:extLst>
            </p:cNvPr>
            <p:cNvSpPr/>
            <p:nvPr/>
          </p:nvSpPr>
          <p:spPr>
            <a:xfrm rot="16200000">
              <a:off x="6687212" y="4528760"/>
              <a:ext cx="76486" cy="76732"/>
            </a:xfrm>
            <a:prstGeom prst="arc">
              <a:avLst>
                <a:gd name="adj1" fmla="val 15100244"/>
                <a:gd name="adj2" fmla="val 711132"/>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71" name="Arc 170">
              <a:extLst>
                <a:ext uri="{FF2B5EF4-FFF2-40B4-BE49-F238E27FC236}">
                  <a16:creationId xmlns:a16="http://schemas.microsoft.com/office/drawing/2014/main" id="{5FF7FDF3-EF75-9088-E0F5-6C8B36CB2F81}"/>
                </a:ext>
              </a:extLst>
            </p:cNvPr>
            <p:cNvSpPr/>
            <p:nvPr/>
          </p:nvSpPr>
          <p:spPr>
            <a:xfrm rot="10552793">
              <a:off x="6550369" y="4298326"/>
              <a:ext cx="110960" cy="101079"/>
            </a:xfrm>
            <a:prstGeom prst="arc">
              <a:avLst>
                <a:gd name="adj1" fmla="val 15100244"/>
                <a:gd name="adj2" fmla="val 1766624"/>
              </a:avLst>
            </a:prstGeom>
            <a:ln w="95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72" name="Oval 171">
              <a:extLst>
                <a:ext uri="{FF2B5EF4-FFF2-40B4-BE49-F238E27FC236}">
                  <a16:creationId xmlns:a16="http://schemas.microsoft.com/office/drawing/2014/main" id="{6FCD98F8-CD19-A1DE-A566-41CB930966D5}"/>
                </a:ext>
              </a:extLst>
            </p:cNvPr>
            <p:cNvSpPr/>
            <p:nvPr/>
          </p:nvSpPr>
          <p:spPr>
            <a:xfrm>
              <a:off x="6378392" y="4695752"/>
              <a:ext cx="45719" cy="4571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3" name="Oval 172">
              <a:extLst>
                <a:ext uri="{FF2B5EF4-FFF2-40B4-BE49-F238E27FC236}">
                  <a16:creationId xmlns:a16="http://schemas.microsoft.com/office/drawing/2014/main" id="{694812F1-EA7B-4FCA-323A-B8061D38D94B}"/>
                </a:ext>
              </a:extLst>
            </p:cNvPr>
            <p:cNvSpPr/>
            <p:nvPr/>
          </p:nvSpPr>
          <p:spPr>
            <a:xfrm>
              <a:off x="6399535" y="4392799"/>
              <a:ext cx="45719" cy="4571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4" name="Oval 173">
              <a:extLst>
                <a:ext uri="{FF2B5EF4-FFF2-40B4-BE49-F238E27FC236}">
                  <a16:creationId xmlns:a16="http://schemas.microsoft.com/office/drawing/2014/main" id="{2C8EABB0-1682-9000-5CCB-81E31728C061}"/>
                </a:ext>
              </a:extLst>
            </p:cNvPr>
            <p:cNvSpPr/>
            <p:nvPr/>
          </p:nvSpPr>
          <p:spPr>
            <a:xfrm>
              <a:off x="6586380" y="4326827"/>
              <a:ext cx="45719" cy="4571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5" name="Oval 174">
              <a:extLst>
                <a:ext uri="{FF2B5EF4-FFF2-40B4-BE49-F238E27FC236}">
                  <a16:creationId xmlns:a16="http://schemas.microsoft.com/office/drawing/2014/main" id="{6E5EF4B1-A2EE-CA4E-EFF6-947848313048}"/>
                </a:ext>
              </a:extLst>
            </p:cNvPr>
            <p:cNvSpPr/>
            <p:nvPr/>
          </p:nvSpPr>
          <p:spPr>
            <a:xfrm>
              <a:off x="6648193" y="4847887"/>
              <a:ext cx="45719" cy="4571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6" name="Oval 175">
              <a:extLst>
                <a:ext uri="{FF2B5EF4-FFF2-40B4-BE49-F238E27FC236}">
                  <a16:creationId xmlns:a16="http://schemas.microsoft.com/office/drawing/2014/main" id="{A317BD92-5BBA-51C7-08F0-D7FBC568443E}"/>
                </a:ext>
              </a:extLst>
            </p:cNvPr>
            <p:cNvSpPr/>
            <p:nvPr/>
          </p:nvSpPr>
          <p:spPr>
            <a:xfrm>
              <a:off x="6740961" y="4558424"/>
              <a:ext cx="45719" cy="4571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TextBox 1">
            <a:extLst>
              <a:ext uri="{FF2B5EF4-FFF2-40B4-BE49-F238E27FC236}">
                <a16:creationId xmlns:a16="http://schemas.microsoft.com/office/drawing/2014/main" id="{36F6332F-DBB5-B154-9116-6B1FA39E19DA}"/>
              </a:ext>
            </a:extLst>
          </p:cNvPr>
          <p:cNvSpPr txBox="1"/>
          <p:nvPr/>
        </p:nvSpPr>
        <p:spPr>
          <a:xfrm>
            <a:off x="388516" y="3500230"/>
            <a:ext cx="864685" cy="215444"/>
          </a:xfrm>
          <a:prstGeom prst="rect">
            <a:avLst/>
          </a:prstGeom>
          <a:noFill/>
        </p:spPr>
        <p:txBody>
          <a:bodyPr wrap="square" lIns="0" tIns="0" rIns="0" bIns="0" rtlCol="0">
            <a:spAutoFit/>
          </a:bodyPr>
          <a:lstStyle/>
          <a:p>
            <a:pPr algn="ctr"/>
            <a:r>
              <a:rPr lang="en-US" sz="1400" dirty="0">
                <a:solidFill>
                  <a:schemeClr val="tx2"/>
                </a:solidFill>
              </a:rPr>
              <a:t>Task path</a:t>
            </a:r>
            <a:endParaRPr lang="en-GB" sz="1400" dirty="0">
              <a:solidFill>
                <a:schemeClr val="tx2"/>
              </a:solidFill>
            </a:endParaRPr>
          </a:p>
        </p:txBody>
      </p:sp>
      <p:sp>
        <p:nvSpPr>
          <p:cNvPr id="13" name="Rectangle: Rounded Corners 12">
            <a:extLst>
              <a:ext uri="{FF2B5EF4-FFF2-40B4-BE49-F238E27FC236}">
                <a16:creationId xmlns:a16="http://schemas.microsoft.com/office/drawing/2014/main" id="{CD5B68D5-59ED-CC78-9711-EF3EC0178897}"/>
              </a:ext>
            </a:extLst>
          </p:cNvPr>
          <p:cNvSpPr/>
          <p:nvPr/>
        </p:nvSpPr>
        <p:spPr>
          <a:xfrm>
            <a:off x="2233377" y="3268360"/>
            <a:ext cx="2340363" cy="660640"/>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TaskTrajectoryGenerator</a:t>
            </a:r>
            <a:endParaRPr lang="en-GB" sz="1400" dirty="0">
              <a:solidFill>
                <a:srgbClr val="003399"/>
              </a:solidFill>
            </a:endParaRPr>
          </a:p>
        </p:txBody>
      </p:sp>
      <p:cxnSp>
        <p:nvCxnSpPr>
          <p:cNvPr id="15" name="Straight Arrow Connector 14">
            <a:extLst>
              <a:ext uri="{FF2B5EF4-FFF2-40B4-BE49-F238E27FC236}">
                <a16:creationId xmlns:a16="http://schemas.microsoft.com/office/drawing/2014/main" id="{D74867C2-6B86-32E7-7DD5-47FEBF8FF626}"/>
              </a:ext>
            </a:extLst>
          </p:cNvPr>
          <p:cNvCxnSpPr>
            <a:cxnSpLocks/>
            <a:stCxn id="2" idx="3"/>
            <a:endCxn id="13" idx="1"/>
          </p:cNvCxnSpPr>
          <p:nvPr/>
        </p:nvCxnSpPr>
        <p:spPr>
          <a:xfrm flipV="1">
            <a:off x="1253201" y="3598680"/>
            <a:ext cx="980176" cy="9272"/>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E5990DC0-402D-5ECD-5A70-4D0652B449C9}"/>
              </a:ext>
            </a:extLst>
          </p:cNvPr>
          <p:cNvSpPr txBox="1"/>
          <p:nvPr/>
        </p:nvSpPr>
        <p:spPr>
          <a:xfrm>
            <a:off x="4341006" y="2072376"/>
            <a:ext cx="1861539" cy="507831"/>
          </a:xfrm>
          <a:prstGeom prst="rect">
            <a:avLst/>
          </a:prstGeom>
          <a:noFill/>
        </p:spPr>
        <p:txBody>
          <a:bodyPr wrap="square" lIns="0" tIns="0" rIns="0" bIns="0" rtlCol="0">
            <a:spAutoFit/>
          </a:bodyPr>
          <a:lstStyle/>
          <a:p>
            <a:pPr algn="ctr"/>
            <a:r>
              <a:rPr lang="en-US" sz="1200" dirty="0">
                <a:solidFill>
                  <a:schemeClr val="bg1">
                    <a:lumMod val="50000"/>
                  </a:schemeClr>
                </a:solidFill>
              </a:rPr>
              <a:t>Trajectory point:</a:t>
            </a:r>
          </a:p>
          <a:p>
            <a:pPr algn="ctr"/>
            <a:r>
              <a:rPr lang="en-US" sz="1000" dirty="0">
                <a:solidFill>
                  <a:schemeClr val="bg1">
                    <a:lumMod val="50000"/>
                  </a:schemeClr>
                </a:solidFill>
              </a:rPr>
              <a:t>Joint angles, velocities, accelerations at </a:t>
            </a:r>
            <a:r>
              <a:rPr lang="en-US" sz="1000" i="1" dirty="0">
                <a:solidFill>
                  <a:schemeClr val="bg1">
                    <a:lumMod val="50000"/>
                  </a:schemeClr>
                </a:solidFill>
              </a:rPr>
              <a:t>t</a:t>
            </a:r>
          </a:p>
        </p:txBody>
      </p:sp>
      <p:sp>
        <p:nvSpPr>
          <p:cNvPr id="61" name="Rectangle: Rounded Corners 60">
            <a:extLst>
              <a:ext uri="{FF2B5EF4-FFF2-40B4-BE49-F238E27FC236}">
                <a16:creationId xmlns:a16="http://schemas.microsoft.com/office/drawing/2014/main" id="{803022E2-70A5-5235-01F4-DD4A6F1A1EBB}"/>
              </a:ext>
            </a:extLst>
          </p:cNvPr>
          <p:cNvSpPr/>
          <p:nvPr/>
        </p:nvSpPr>
        <p:spPr>
          <a:xfrm>
            <a:off x="8954637" y="2782020"/>
            <a:ext cx="1169090" cy="614746"/>
          </a:xfrm>
          <a:prstGeom prst="roundRect">
            <a:avLst/>
          </a:prstGeom>
          <a:solidFill>
            <a:srgbClr val="D6D6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bg1">
                    <a:lumMod val="50000"/>
                  </a:schemeClr>
                </a:solidFill>
              </a:rPr>
              <a:t>IRobot</a:t>
            </a:r>
            <a:endParaRPr lang="en-GB" dirty="0">
              <a:solidFill>
                <a:schemeClr val="bg1">
                  <a:lumMod val="50000"/>
                </a:schemeClr>
              </a:solidFill>
            </a:endParaRPr>
          </a:p>
        </p:txBody>
      </p:sp>
      <p:cxnSp>
        <p:nvCxnSpPr>
          <p:cNvPr id="63" name="Straight Arrow Connector 62">
            <a:extLst>
              <a:ext uri="{FF2B5EF4-FFF2-40B4-BE49-F238E27FC236}">
                <a16:creationId xmlns:a16="http://schemas.microsoft.com/office/drawing/2014/main" id="{BC7118E0-4E37-160D-4A62-8EA1B2435B17}"/>
              </a:ext>
            </a:extLst>
          </p:cNvPr>
          <p:cNvCxnSpPr>
            <a:cxnSpLocks/>
            <a:stCxn id="22" idx="3"/>
            <a:endCxn id="61" idx="1"/>
          </p:cNvCxnSpPr>
          <p:nvPr/>
        </p:nvCxnSpPr>
        <p:spPr>
          <a:xfrm>
            <a:off x="7784654" y="3089393"/>
            <a:ext cx="1169983" cy="0"/>
          </a:xfrm>
          <a:prstGeom prst="straightConnector1">
            <a:avLst/>
          </a:prstGeom>
          <a:ln>
            <a:solidFill>
              <a:srgbClr val="CBCBCB"/>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Connector: Elbow 129">
            <a:extLst>
              <a:ext uri="{FF2B5EF4-FFF2-40B4-BE49-F238E27FC236}">
                <a16:creationId xmlns:a16="http://schemas.microsoft.com/office/drawing/2014/main" id="{77BBEC6E-30B0-F137-F289-FE0403443A82}"/>
              </a:ext>
            </a:extLst>
          </p:cNvPr>
          <p:cNvCxnSpPr>
            <a:cxnSpLocks/>
            <a:stCxn id="61" idx="3"/>
            <a:endCxn id="22" idx="0"/>
          </p:cNvCxnSpPr>
          <p:nvPr/>
        </p:nvCxnSpPr>
        <p:spPr>
          <a:xfrm flipH="1" flipV="1">
            <a:off x="6844291" y="2268988"/>
            <a:ext cx="3279436" cy="820405"/>
          </a:xfrm>
          <a:prstGeom prst="bentConnector4">
            <a:avLst>
              <a:gd name="adj1" fmla="val -19460"/>
              <a:gd name="adj2" fmla="val 127864"/>
            </a:avLst>
          </a:prstGeom>
          <a:ln>
            <a:solidFill>
              <a:srgbClr val="CBCBCB"/>
            </a:solidFill>
            <a:tailEnd type="triangle"/>
          </a:ln>
        </p:spPr>
        <p:style>
          <a:lnRef idx="1">
            <a:schemeClr val="accent1"/>
          </a:lnRef>
          <a:fillRef idx="0">
            <a:schemeClr val="accent1"/>
          </a:fillRef>
          <a:effectRef idx="0">
            <a:schemeClr val="accent1"/>
          </a:effectRef>
          <a:fontRef idx="minor">
            <a:schemeClr val="tx1"/>
          </a:fontRef>
        </p:style>
      </p:cxnSp>
      <p:sp>
        <p:nvSpPr>
          <p:cNvPr id="185" name="TextBox 184">
            <a:extLst>
              <a:ext uri="{FF2B5EF4-FFF2-40B4-BE49-F238E27FC236}">
                <a16:creationId xmlns:a16="http://schemas.microsoft.com/office/drawing/2014/main" id="{0121430F-78F0-804F-7C2D-83E5D5F50D2A}"/>
              </a:ext>
            </a:extLst>
          </p:cNvPr>
          <p:cNvSpPr txBox="1"/>
          <p:nvPr/>
        </p:nvSpPr>
        <p:spPr>
          <a:xfrm>
            <a:off x="4765528" y="2975258"/>
            <a:ext cx="496096" cy="215444"/>
          </a:xfrm>
          <a:prstGeom prst="rect">
            <a:avLst/>
          </a:prstGeom>
          <a:noFill/>
        </p:spPr>
        <p:txBody>
          <a:bodyPr wrap="square" lIns="0" tIns="0" rIns="0" bIns="0" rtlCol="0">
            <a:spAutoFit/>
          </a:bodyPr>
          <a:lstStyle/>
          <a:p>
            <a:pPr algn="ctr"/>
            <a:r>
              <a:rPr lang="en-US" sz="1400" dirty="0">
                <a:solidFill>
                  <a:schemeClr val="tx2"/>
                </a:solidFill>
              </a:rPr>
              <a:t>OR</a:t>
            </a:r>
            <a:endParaRPr lang="en-GB" sz="1400" dirty="0">
              <a:solidFill>
                <a:schemeClr val="tx2"/>
              </a:solidFill>
            </a:endParaRPr>
          </a:p>
        </p:txBody>
      </p:sp>
      <p:grpSp>
        <p:nvGrpSpPr>
          <p:cNvPr id="267" name="Group 266">
            <a:extLst>
              <a:ext uri="{FF2B5EF4-FFF2-40B4-BE49-F238E27FC236}">
                <a16:creationId xmlns:a16="http://schemas.microsoft.com/office/drawing/2014/main" id="{EE67F576-27BA-375F-17AD-3845DB1CA7C2}"/>
              </a:ext>
            </a:extLst>
          </p:cNvPr>
          <p:cNvGrpSpPr/>
          <p:nvPr/>
        </p:nvGrpSpPr>
        <p:grpSpPr>
          <a:xfrm>
            <a:off x="5903927" y="2268988"/>
            <a:ext cx="1880727" cy="1640809"/>
            <a:chOff x="5872702" y="2923491"/>
            <a:chExt cx="1880727" cy="1640809"/>
          </a:xfrm>
          <a:solidFill>
            <a:srgbClr val="D6D6D6"/>
          </a:solidFill>
        </p:grpSpPr>
        <p:sp>
          <p:nvSpPr>
            <p:cNvPr id="22" name="Rectangle: Rounded Corners 21">
              <a:extLst>
                <a:ext uri="{FF2B5EF4-FFF2-40B4-BE49-F238E27FC236}">
                  <a16:creationId xmlns:a16="http://schemas.microsoft.com/office/drawing/2014/main" id="{9A919D92-8230-6FF1-2566-05478A8EF652}"/>
                </a:ext>
              </a:extLst>
            </p:cNvPr>
            <p:cNvSpPr/>
            <p:nvPr/>
          </p:nvSpPr>
          <p:spPr>
            <a:xfrm>
              <a:off x="5872702" y="2923491"/>
              <a:ext cx="1880727" cy="1640809"/>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rgbClr val="003399"/>
                </a:solidFill>
              </a:endParaRPr>
            </a:p>
          </p:txBody>
        </p:sp>
        <p:sp>
          <p:nvSpPr>
            <p:cNvPr id="231" name="TextBox 230">
              <a:extLst>
                <a:ext uri="{FF2B5EF4-FFF2-40B4-BE49-F238E27FC236}">
                  <a16:creationId xmlns:a16="http://schemas.microsoft.com/office/drawing/2014/main" id="{EA8A29FD-1F9C-33D7-393E-775D9C78F47C}"/>
                </a:ext>
              </a:extLst>
            </p:cNvPr>
            <p:cNvSpPr txBox="1"/>
            <p:nvPr/>
          </p:nvSpPr>
          <p:spPr>
            <a:xfrm>
              <a:off x="6156403" y="2981589"/>
              <a:ext cx="1263612" cy="307777"/>
            </a:xfrm>
            <a:prstGeom prst="rect">
              <a:avLst/>
            </a:prstGeom>
            <a:grpFill/>
          </p:spPr>
          <p:txBody>
            <a:bodyPr wrap="square">
              <a:spAutoFit/>
            </a:bodyPr>
            <a:lstStyle/>
            <a:p>
              <a:pPr algn="ctr"/>
              <a:r>
                <a:rPr lang="en-US" sz="1400" dirty="0" err="1">
                  <a:solidFill>
                    <a:schemeClr val="bg1">
                      <a:lumMod val="50000"/>
                    </a:schemeClr>
                  </a:solidFill>
                </a:rPr>
                <a:t>IController</a:t>
              </a:r>
              <a:endParaRPr lang="en-GB" sz="1400" dirty="0">
                <a:solidFill>
                  <a:schemeClr val="bg1">
                    <a:lumMod val="50000"/>
                  </a:schemeClr>
                </a:solidFill>
              </a:endParaRPr>
            </a:p>
          </p:txBody>
        </p:sp>
        <p:sp>
          <p:nvSpPr>
            <p:cNvPr id="233" name="Rectangle: Rounded Corners 232">
              <a:extLst>
                <a:ext uri="{FF2B5EF4-FFF2-40B4-BE49-F238E27FC236}">
                  <a16:creationId xmlns:a16="http://schemas.microsoft.com/office/drawing/2014/main" id="{46056832-B6D8-E4D6-D9BB-4798D507D268}"/>
                </a:ext>
              </a:extLst>
            </p:cNvPr>
            <p:cNvSpPr/>
            <p:nvPr/>
          </p:nvSpPr>
          <p:spPr>
            <a:xfrm>
              <a:off x="6015262" y="3991399"/>
              <a:ext cx="1581337" cy="444864"/>
            </a:xfrm>
            <a:prstGeom prst="roundRect">
              <a:avLst/>
            </a:prstGeom>
            <a:grp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lumMod val="50000"/>
                    </a:schemeClr>
                  </a:solidFill>
                </a:rPr>
                <a:t>PID</a:t>
              </a:r>
              <a:endParaRPr lang="en-GB" sz="1200" dirty="0">
                <a:solidFill>
                  <a:schemeClr val="bg1">
                    <a:lumMod val="50000"/>
                  </a:schemeClr>
                </a:solidFill>
              </a:endParaRPr>
            </a:p>
          </p:txBody>
        </p:sp>
      </p:grpSp>
      <p:sp>
        <p:nvSpPr>
          <p:cNvPr id="285" name="Rectangle: Rounded Corners 284">
            <a:extLst>
              <a:ext uri="{FF2B5EF4-FFF2-40B4-BE49-F238E27FC236}">
                <a16:creationId xmlns:a16="http://schemas.microsoft.com/office/drawing/2014/main" id="{B9B9C5F0-D2B3-97EE-9174-9821A634C819}"/>
              </a:ext>
            </a:extLst>
          </p:cNvPr>
          <p:cNvSpPr/>
          <p:nvPr/>
        </p:nvSpPr>
        <p:spPr>
          <a:xfrm>
            <a:off x="1960761" y="1856699"/>
            <a:ext cx="9564489" cy="3733767"/>
          </a:xfrm>
          <a:prstGeom prst="roundRect">
            <a:avLst>
              <a:gd name="adj" fmla="val 9139"/>
            </a:avLst>
          </a:prstGeom>
          <a:noFill/>
          <a:ln w="25400">
            <a:solidFill>
              <a:srgbClr val="CBCB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2" name="Group 301">
            <a:extLst>
              <a:ext uri="{FF2B5EF4-FFF2-40B4-BE49-F238E27FC236}">
                <a16:creationId xmlns:a16="http://schemas.microsoft.com/office/drawing/2014/main" id="{5AABDC37-FF31-649E-EA73-0417347C77B0}"/>
              </a:ext>
            </a:extLst>
          </p:cNvPr>
          <p:cNvGrpSpPr/>
          <p:nvPr/>
        </p:nvGrpSpPr>
        <p:grpSpPr>
          <a:xfrm>
            <a:off x="9702471" y="4197165"/>
            <a:ext cx="1766536" cy="996188"/>
            <a:chOff x="1279822" y="2270598"/>
            <a:chExt cx="6050258" cy="3411874"/>
          </a:xfrm>
        </p:grpSpPr>
        <p:sp>
          <p:nvSpPr>
            <p:cNvPr id="332" name="Freeform 13">
              <a:extLst>
                <a:ext uri="{FF2B5EF4-FFF2-40B4-BE49-F238E27FC236}">
                  <a16:creationId xmlns:a16="http://schemas.microsoft.com/office/drawing/2014/main" id="{3953A0E9-DFF9-F1EF-B0A1-9CB563D33B8D}"/>
                </a:ext>
              </a:extLst>
            </p:cNvPr>
            <p:cNvSpPr/>
            <p:nvPr/>
          </p:nvSpPr>
          <p:spPr>
            <a:xfrm>
              <a:off x="3907305" y="2270598"/>
              <a:ext cx="3422775" cy="3411874"/>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dirty="0"/>
            </a:p>
          </p:txBody>
        </p:sp>
        <p:sp>
          <p:nvSpPr>
            <p:cNvPr id="334" name="Freeform 15">
              <a:extLst>
                <a:ext uri="{FF2B5EF4-FFF2-40B4-BE49-F238E27FC236}">
                  <a16:creationId xmlns:a16="http://schemas.microsoft.com/office/drawing/2014/main" id="{FD6CC5C4-1D56-52BF-5B40-1B1760470574}"/>
                </a:ext>
              </a:extLst>
            </p:cNvPr>
            <p:cNvSpPr/>
            <p:nvPr/>
          </p:nvSpPr>
          <p:spPr>
            <a:xfrm>
              <a:off x="2722572" y="4644763"/>
              <a:ext cx="613182" cy="613182"/>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335" name="Freeform 16">
              <a:extLst>
                <a:ext uri="{FF2B5EF4-FFF2-40B4-BE49-F238E27FC236}">
                  <a16:creationId xmlns:a16="http://schemas.microsoft.com/office/drawing/2014/main" id="{DF8403D7-D5D5-415D-00DB-601AEDA4288A}"/>
                </a:ext>
              </a:extLst>
            </p:cNvPr>
            <p:cNvSpPr/>
            <p:nvPr/>
          </p:nvSpPr>
          <p:spPr>
            <a:xfrm>
              <a:off x="1279822" y="4260259"/>
              <a:ext cx="871200" cy="871200"/>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336" name="Freeform 17">
              <a:extLst>
                <a:ext uri="{FF2B5EF4-FFF2-40B4-BE49-F238E27FC236}">
                  <a16:creationId xmlns:a16="http://schemas.microsoft.com/office/drawing/2014/main" id="{0DE68B71-A28E-85ED-D79F-03979342F637}"/>
                </a:ext>
              </a:extLst>
            </p:cNvPr>
            <p:cNvSpPr/>
            <p:nvPr/>
          </p:nvSpPr>
          <p:spPr>
            <a:xfrm>
              <a:off x="1537428" y="2951690"/>
              <a:ext cx="1041177" cy="1188065"/>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grpSp>
      <p:sp>
        <p:nvSpPr>
          <p:cNvPr id="345" name="TextBox 344">
            <a:extLst>
              <a:ext uri="{FF2B5EF4-FFF2-40B4-BE49-F238E27FC236}">
                <a16:creationId xmlns:a16="http://schemas.microsoft.com/office/drawing/2014/main" id="{3686B25E-70CF-4354-5CA0-03485B8CFA22}"/>
              </a:ext>
            </a:extLst>
          </p:cNvPr>
          <p:cNvSpPr txBox="1"/>
          <p:nvPr/>
        </p:nvSpPr>
        <p:spPr>
          <a:xfrm>
            <a:off x="7700940" y="3114314"/>
            <a:ext cx="1364863" cy="553998"/>
          </a:xfrm>
          <a:prstGeom prst="rect">
            <a:avLst/>
          </a:prstGeom>
          <a:noFill/>
        </p:spPr>
        <p:txBody>
          <a:bodyPr wrap="square" lIns="0" tIns="0" rIns="0" bIns="0" rtlCol="0">
            <a:spAutoFit/>
          </a:bodyPr>
          <a:lstStyle/>
          <a:p>
            <a:pPr algn="ctr"/>
            <a:r>
              <a:rPr lang="en-US" sz="1200" dirty="0">
                <a:solidFill>
                  <a:schemeClr val="bg1">
                    <a:lumMod val="50000"/>
                  </a:schemeClr>
                </a:solidFill>
              </a:rPr>
              <a:t>Joint angles, </a:t>
            </a:r>
          </a:p>
          <a:p>
            <a:pPr algn="ctr"/>
            <a:r>
              <a:rPr lang="en-US" sz="1200" dirty="0">
                <a:solidFill>
                  <a:schemeClr val="bg1">
                    <a:lumMod val="50000"/>
                  </a:schemeClr>
                </a:solidFill>
              </a:rPr>
              <a:t>velocities, accelerations at </a:t>
            </a:r>
            <a:r>
              <a:rPr lang="en-US" sz="1200" i="1" dirty="0">
                <a:solidFill>
                  <a:schemeClr val="bg1">
                    <a:lumMod val="50000"/>
                  </a:schemeClr>
                </a:solidFill>
              </a:rPr>
              <a:t>t</a:t>
            </a:r>
          </a:p>
        </p:txBody>
      </p:sp>
      <p:cxnSp>
        <p:nvCxnSpPr>
          <p:cNvPr id="8" name="Straight Arrow Connector 7">
            <a:extLst>
              <a:ext uri="{FF2B5EF4-FFF2-40B4-BE49-F238E27FC236}">
                <a16:creationId xmlns:a16="http://schemas.microsoft.com/office/drawing/2014/main" id="{98337B5C-0307-CC93-AFAF-E11F5D860CB7}"/>
              </a:ext>
            </a:extLst>
          </p:cNvPr>
          <p:cNvCxnSpPr/>
          <p:nvPr/>
        </p:nvCxnSpPr>
        <p:spPr>
          <a:xfrm>
            <a:off x="5261624" y="3082980"/>
            <a:ext cx="642303" cy="6413"/>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40696DA-CB4A-EDE5-1F66-CB10A28EE35C}"/>
              </a:ext>
            </a:extLst>
          </p:cNvPr>
          <p:cNvCxnSpPr>
            <a:cxnSpLocks/>
          </p:cNvCxnSpPr>
          <p:nvPr/>
        </p:nvCxnSpPr>
        <p:spPr>
          <a:xfrm>
            <a:off x="4573741" y="2618512"/>
            <a:ext cx="683876" cy="96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6358F49-9A09-D9C9-EA0E-65F5B137E9C4}"/>
              </a:ext>
            </a:extLst>
          </p:cNvPr>
          <p:cNvCxnSpPr>
            <a:cxnSpLocks/>
          </p:cNvCxnSpPr>
          <p:nvPr/>
        </p:nvCxnSpPr>
        <p:spPr>
          <a:xfrm>
            <a:off x="4573740" y="3598680"/>
            <a:ext cx="685881" cy="927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B1E114A-80D1-B435-579B-6DDC699A1C22}"/>
              </a:ext>
            </a:extLst>
          </p:cNvPr>
          <p:cNvCxnSpPr>
            <a:cxnSpLocks/>
          </p:cNvCxnSpPr>
          <p:nvPr/>
        </p:nvCxnSpPr>
        <p:spPr>
          <a:xfrm>
            <a:off x="5257617" y="2619474"/>
            <a:ext cx="0" cy="98847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12AF5E4B-2C47-BB52-682B-B5744E4A67F7}"/>
              </a:ext>
            </a:extLst>
          </p:cNvPr>
          <p:cNvSpPr/>
          <p:nvPr/>
        </p:nvSpPr>
        <p:spPr>
          <a:xfrm>
            <a:off x="10001669" y="4664431"/>
            <a:ext cx="670527" cy="538090"/>
          </a:xfrm>
          <a:custGeom>
            <a:avLst/>
            <a:gdLst>
              <a:gd name="connsiteX0" fmla="*/ 0 w 819150"/>
              <a:gd name="connsiteY0" fmla="*/ 0 h 505609"/>
              <a:gd name="connsiteX1" fmla="*/ 88900 w 819150"/>
              <a:gd name="connsiteY1" fmla="*/ 79375 h 505609"/>
              <a:gd name="connsiteX2" fmla="*/ 66675 w 819150"/>
              <a:gd name="connsiteY2" fmla="*/ 193675 h 505609"/>
              <a:gd name="connsiteX3" fmla="*/ 12700 w 819150"/>
              <a:gd name="connsiteY3" fmla="*/ 339725 h 505609"/>
              <a:gd name="connsiteX4" fmla="*/ 53975 w 819150"/>
              <a:gd name="connsiteY4" fmla="*/ 460375 h 505609"/>
              <a:gd name="connsiteX5" fmla="*/ 196850 w 819150"/>
              <a:gd name="connsiteY5" fmla="*/ 504825 h 505609"/>
              <a:gd name="connsiteX6" fmla="*/ 403225 w 819150"/>
              <a:gd name="connsiteY6" fmla="*/ 428625 h 505609"/>
              <a:gd name="connsiteX7" fmla="*/ 571500 w 819150"/>
              <a:gd name="connsiteY7" fmla="*/ 377825 h 505609"/>
              <a:gd name="connsiteX8" fmla="*/ 819150 w 819150"/>
              <a:gd name="connsiteY8" fmla="*/ 450850 h 505609"/>
              <a:gd name="connsiteX0" fmla="*/ 0 w 692150"/>
              <a:gd name="connsiteY0" fmla="*/ 0 h 505609"/>
              <a:gd name="connsiteX1" fmla="*/ 88900 w 692150"/>
              <a:gd name="connsiteY1" fmla="*/ 79375 h 505609"/>
              <a:gd name="connsiteX2" fmla="*/ 66675 w 692150"/>
              <a:gd name="connsiteY2" fmla="*/ 193675 h 505609"/>
              <a:gd name="connsiteX3" fmla="*/ 12700 w 692150"/>
              <a:gd name="connsiteY3" fmla="*/ 339725 h 505609"/>
              <a:gd name="connsiteX4" fmla="*/ 53975 w 692150"/>
              <a:gd name="connsiteY4" fmla="*/ 460375 h 505609"/>
              <a:gd name="connsiteX5" fmla="*/ 196850 w 692150"/>
              <a:gd name="connsiteY5" fmla="*/ 504825 h 505609"/>
              <a:gd name="connsiteX6" fmla="*/ 403225 w 692150"/>
              <a:gd name="connsiteY6" fmla="*/ 428625 h 505609"/>
              <a:gd name="connsiteX7" fmla="*/ 571500 w 692150"/>
              <a:gd name="connsiteY7" fmla="*/ 377825 h 505609"/>
              <a:gd name="connsiteX8" fmla="*/ 692150 w 692150"/>
              <a:gd name="connsiteY8" fmla="*/ 403225 h 505609"/>
              <a:gd name="connsiteX0" fmla="*/ 0 w 692150"/>
              <a:gd name="connsiteY0" fmla="*/ 0 h 505609"/>
              <a:gd name="connsiteX1" fmla="*/ 88900 w 692150"/>
              <a:gd name="connsiteY1" fmla="*/ 79375 h 505609"/>
              <a:gd name="connsiteX2" fmla="*/ 66675 w 692150"/>
              <a:gd name="connsiteY2" fmla="*/ 193675 h 505609"/>
              <a:gd name="connsiteX3" fmla="*/ 12700 w 692150"/>
              <a:gd name="connsiteY3" fmla="*/ 339725 h 505609"/>
              <a:gd name="connsiteX4" fmla="*/ 53975 w 692150"/>
              <a:gd name="connsiteY4" fmla="*/ 460375 h 505609"/>
              <a:gd name="connsiteX5" fmla="*/ 196850 w 692150"/>
              <a:gd name="connsiteY5" fmla="*/ 504825 h 505609"/>
              <a:gd name="connsiteX6" fmla="*/ 403225 w 692150"/>
              <a:gd name="connsiteY6" fmla="*/ 428625 h 505609"/>
              <a:gd name="connsiteX7" fmla="*/ 571500 w 692150"/>
              <a:gd name="connsiteY7" fmla="*/ 377825 h 505609"/>
              <a:gd name="connsiteX8" fmla="*/ 692150 w 692150"/>
              <a:gd name="connsiteY8" fmla="*/ 403225 h 505609"/>
              <a:gd name="connsiteX0" fmla="*/ 0 w 692150"/>
              <a:gd name="connsiteY0" fmla="*/ 0 h 506323"/>
              <a:gd name="connsiteX1" fmla="*/ 88900 w 692150"/>
              <a:gd name="connsiteY1" fmla="*/ 79375 h 506323"/>
              <a:gd name="connsiteX2" fmla="*/ 66675 w 692150"/>
              <a:gd name="connsiteY2" fmla="*/ 193675 h 506323"/>
              <a:gd name="connsiteX3" fmla="*/ 12700 w 692150"/>
              <a:gd name="connsiteY3" fmla="*/ 339725 h 506323"/>
              <a:gd name="connsiteX4" fmla="*/ 53975 w 692150"/>
              <a:gd name="connsiteY4" fmla="*/ 460375 h 506323"/>
              <a:gd name="connsiteX5" fmla="*/ 196850 w 692150"/>
              <a:gd name="connsiteY5" fmla="*/ 504825 h 506323"/>
              <a:gd name="connsiteX6" fmla="*/ 425450 w 692150"/>
              <a:gd name="connsiteY6" fmla="*/ 412750 h 506323"/>
              <a:gd name="connsiteX7" fmla="*/ 571500 w 692150"/>
              <a:gd name="connsiteY7" fmla="*/ 377825 h 506323"/>
              <a:gd name="connsiteX8" fmla="*/ 692150 w 692150"/>
              <a:gd name="connsiteY8" fmla="*/ 403225 h 506323"/>
              <a:gd name="connsiteX0" fmla="*/ 0 w 692150"/>
              <a:gd name="connsiteY0" fmla="*/ 0 h 519023"/>
              <a:gd name="connsiteX1" fmla="*/ 88900 w 692150"/>
              <a:gd name="connsiteY1" fmla="*/ 92075 h 519023"/>
              <a:gd name="connsiteX2" fmla="*/ 66675 w 692150"/>
              <a:gd name="connsiteY2" fmla="*/ 206375 h 519023"/>
              <a:gd name="connsiteX3" fmla="*/ 12700 w 692150"/>
              <a:gd name="connsiteY3" fmla="*/ 352425 h 519023"/>
              <a:gd name="connsiteX4" fmla="*/ 53975 w 692150"/>
              <a:gd name="connsiteY4" fmla="*/ 473075 h 519023"/>
              <a:gd name="connsiteX5" fmla="*/ 196850 w 692150"/>
              <a:gd name="connsiteY5" fmla="*/ 517525 h 519023"/>
              <a:gd name="connsiteX6" fmla="*/ 425450 w 692150"/>
              <a:gd name="connsiteY6" fmla="*/ 425450 h 519023"/>
              <a:gd name="connsiteX7" fmla="*/ 571500 w 692150"/>
              <a:gd name="connsiteY7" fmla="*/ 390525 h 519023"/>
              <a:gd name="connsiteX8" fmla="*/ 692150 w 692150"/>
              <a:gd name="connsiteY8" fmla="*/ 415925 h 519023"/>
              <a:gd name="connsiteX0" fmla="*/ 0 w 692150"/>
              <a:gd name="connsiteY0" fmla="*/ 0 h 519023"/>
              <a:gd name="connsiteX1" fmla="*/ 104775 w 692150"/>
              <a:gd name="connsiteY1" fmla="*/ 92075 h 519023"/>
              <a:gd name="connsiteX2" fmla="*/ 66675 w 692150"/>
              <a:gd name="connsiteY2" fmla="*/ 206375 h 519023"/>
              <a:gd name="connsiteX3" fmla="*/ 12700 w 692150"/>
              <a:gd name="connsiteY3" fmla="*/ 352425 h 519023"/>
              <a:gd name="connsiteX4" fmla="*/ 53975 w 692150"/>
              <a:gd name="connsiteY4" fmla="*/ 473075 h 519023"/>
              <a:gd name="connsiteX5" fmla="*/ 196850 w 692150"/>
              <a:gd name="connsiteY5" fmla="*/ 517525 h 519023"/>
              <a:gd name="connsiteX6" fmla="*/ 425450 w 692150"/>
              <a:gd name="connsiteY6" fmla="*/ 425450 h 519023"/>
              <a:gd name="connsiteX7" fmla="*/ 571500 w 692150"/>
              <a:gd name="connsiteY7" fmla="*/ 390525 h 519023"/>
              <a:gd name="connsiteX8" fmla="*/ 692150 w 692150"/>
              <a:gd name="connsiteY8" fmla="*/ 415925 h 519023"/>
              <a:gd name="connsiteX0" fmla="*/ 16101 w 679676"/>
              <a:gd name="connsiteY0" fmla="*/ 0 h 538073"/>
              <a:gd name="connsiteX1" fmla="*/ 92301 w 679676"/>
              <a:gd name="connsiteY1" fmla="*/ 111125 h 538073"/>
              <a:gd name="connsiteX2" fmla="*/ 54201 w 679676"/>
              <a:gd name="connsiteY2" fmla="*/ 225425 h 538073"/>
              <a:gd name="connsiteX3" fmla="*/ 226 w 679676"/>
              <a:gd name="connsiteY3" fmla="*/ 371475 h 538073"/>
              <a:gd name="connsiteX4" fmla="*/ 41501 w 679676"/>
              <a:gd name="connsiteY4" fmla="*/ 492125 h 538073"/>
              <a:gd name="connsiteX5" fmla="*/ 184376 w 679676"/>
              <a:gd name="connsiteY5" fmla="*/ 536575 h 538073"/>
              <a:gd name="connsiteX6" fmla="*/ 412976 w 679676"/>
              <a:gd name="connsiteY6" fmla="*/ 444500 h 538073"/>
              <a:gd name="connsiteX7" fmla="*/ 559026 w 679676"/>
              <a:gd name="connsiteY7" fmla="*/ 409575 h 538073"/>
              <a:gd name="connsiteX8" fmla="*/ 679676 w 679676"/>
              <a:gd name="connsiteY8" fmla="*/ 434975 h 538073"/>
              <a:gd name="connsiteX0" fmla="*/ 16204 w 679779"/>
              <a:gd name="connsiteY0" fmla="*/ 0 h 538073"/>
              <a:gd name="connsiteX1" fmla="*/ 92404 w 679779"/>
              <a:gd name="connsiteY1" fmla="*/ 111125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6204 w 679779"/>
              <a:gd name="connsiteY0" fmla="*/ 0 h 538073"/>
              <a:gd name="connsiteX1" fmla="*/ 98754 w 679779"/>
              <a:gd name="connsiteY1" fmla="*/ 88900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6204 w 679779"/>
              <a:gd name="connsiteY0" fmla="*/ 0 h 538073"/>
              <a:gd name="connsiteX1" fmla="*/ 79704 w 679779"/>
              <a:gd name="connsiteY1" fmla="*/ 79375 h 538073"/>
              <a:gd name="connsiteX2" fmla="*/ 57479 w 679779"/>
              <a:gd name="connsiteY2" fmla="*/ 212725 h 538073"/>
              <a:gd name="connsiteX3" fmla="*/ 329 w 679779"/>
              <a:gd name="connsiteY3" fmla="*/ 371475 h 538073"/>
              <a:gd name="connsiteX4" fmla="*/ 41604 w 679779"/>
              <a:gd name="connsiteY4" fmla="*/ 492125 h 538073"/>
              <a:gd name="connsiteX5" fmla="*/ 184479 w 679779"/>
              <a:gd name="connsiteY5" fmla="*/ 536575 h 538073"/>
              <a:gd name="connsiteX6" fmla="*/ 413079 w 679779"/>
              <a:gd name="connsiteY6" fmla="*/ 444500 h 538073"/>
              <a:gd name="connsiteX7" fmla="*/ 559129 w 679779"/>
              <a:gd name="connsiteY7" fmla="*/ 409575 h 538073"/>
              <a:gd name="connsiteX8" fmla="*/ 679779 w 679779"/>
              <a:gd name="connsiteY8" fmla="*/ 434975 h 538073"/>
              <a:gd name="connsiteX0" fmla="*/ 15880 w 679455"/>
              <a:gd name="connsiteY0" fmla="*/ 0 h 538073"/>
              <a:gd name="connsiteX1" fmla="*/ 79380 w 679455"/>
              <a:gd name="connsiteY1" fmla="*/ 79375 h 538073"/>
              <a:gd name="connsiteX2" fmla="*/ 42868 w 679455"/>
              <a:gd name="connsiteY2" fmla="*/ 219869 h 538073"/>
              <a:gd name="connsiteX3" fmla="*/ 5 w 679455"/>
              <a:gd name="connsiteY3" fmla="*/ 371475 h 538073"/>
              <a:gd name="connsiteX4" fmla="*/ 41280 w 679455"/>
              <a:gd name="connsiteY4" fmla="*/ 492125 h 538073"/>
              <a:gd name="connsiteX5" fmla="*/ 184155 w 679455"/>
              <a:gd name="connsiteY5" fmla="*/ 536575 h 538073"/>
              <a:gd name="connsiteX6" fmla="*/ 412755 w 679455"/>
              <a:gd name="connsiteY6" fmla="*/ 444500 h 538073"/>
              <a:gd name="connsiteX7" fmla="*/ 558805 w 679455"/>
              <a:gd name="connsiteY7" fmla="*/ 409575 h 538073"/>
              <a:gd name="connsiteX8" fmla="*/ 679455 w 679455"/>
              <a:gd name="connsiteY8" fmla="*/ 434975 h 538073"/>
              <a:gd name="connsiteX0" fmla="*/ 15880 w 679455"/>
              <a:gd name="connsiteY0" fmla="*/ 0 h 538073"/>
              <a:gd name="connsiteX1" fmla="*/ 79380 w 679455"/>
              <a:gd name="connsiteY1" fmla="*/ 79375 h 538073"/>
              <a:gd name="connsiteX2" fmla="*/ 42868 w 679455"/>
              <a:gd name="connsiteY2" fmla="*/ 219869 h 538073"/>
              <a:gd name="connsiteX3" fmla="*/ 5 w 679455"/>
              <a:gd name="connsiteY3" fmla="*/ 371475 h 538073"/>
              <a:gd name="connsiteX4" fmla="*/ 41280 w 679455"/>
              <a:gd name="connsiteY4" fmla="*/ 492125 h 538073"/>
              <a:gd name="connsiteX5" fmla="*/ 184155 w 679455"/>
              <a:gd name="connsiteY5" fmla="*/ 536575 h 538073"/>
              <a:gd name="connsiteX6" fmla="*/ 412755 w 679455"/>
              <a:gd name="connsiteY6" fmla="*/ 444500 h 538073"/>
              <a:gd name="connsiteX7" fmla="*/ 558805 w 679455"/>
              <a:gd name="connsiteY7" fmla="*/ 409575 h 538073"/>
              <a:gd name="connsiteX8" fmla="*/ 679455 w 679455"/>
              <a:gd name="connsiteY8" fmla="*/ 434975 h 538073"/>
              <a:gd name="connsiteX0" fmla="*/ 6366 w 669941"/>
              <a:gd name="connsiteY0" fmla="*/ 0 h 538090"/>
              <a:gd name="connsiteX1" fmla="*/ 69866 w 669941"/>
              <a:gd name="connsiteY1" fmla="*/ 79375 h 538090"/>
              <a:gd name="connsiteX2" fmla="*/ 33354 w 669941"/>
              <a:gd name="connsiteY2" fmla="*/ 219869 h 538090"/>
              <a:gd name="connsiteX3" fmla="*/ 16 w 669941"/>
              <a:gd name="connsiteY3" fmla="*/ 369093 h 538090"/>
              <a:gd name="connsiteX4" fmla="*/ 31766 w 669941"/>
              <a:gd name="connsiteY4" fmla="*/ 492125 h 538090"/>
              <a:gd name="connsiteX5" fmla="*/ 174641 w 669941"/>
              <a:gd name="connsiteY5" fmla="*/ 536575 h 538090"/>
              <a:gd name="connsiteX6" fmla="*/ 403241 w 669941"/>
              <a:gd name="connsiteY6" fmla="*/ 444500 h 538090"/>
              <a:gd name="connsiteX7" fmla="*/ 549291 w 669941"/>
              <a:gd name="connsiteY7" fmla="*/ 409575 h 538090"/>
              <a:gd name="connsiteX8" fmla="*/ 669941 w 669941"/>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7113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7635 w 671210"/>
              <a:gd name="connsiteY0" fmla="*/ 0 h 538090"/>
              <a:gd name="connsiteX1" fmla="*/ 90185 w 671210"/>
              <a:gd name="connsiteY1" fmla="*/ 79375 h 538090"/>
              <a:gd name="connsiteX2" fmla="*/ 60817 w 671210"/>
              <a:gd name="connsiteY2" fmla="*/ 212725 h 538090"/>
              <a:gd name="connsiteX3" fmla="*/ 1285 w 671210"/>
              <a:gd name="connsiteY3" fmla="*/ 369093 h 538090"/>
              <a:gd name="connsiteX4" fmla="*/ 33035 w 671210"/>
              <a:gd name="connsiteY4" fmla="*/ 492125 h 538090"/>
              <a:gd name="connsiteX5" fmla="*/ 175910 w 671210"/>
              <a:gd name="connsiteY5" fmla="*/ 536575 h 538090"/>
              <a:gd name="connsiteX6" fmla="*/ 404510 w 671210"/>
              <a:gd name="connsiteY6" fmla="*/ 444500 h 538090"/>
              <a:gd name="connsiteX7" fmla="*/ 550560 w 671210"/>
              <a:gd name="connsiteY7" fmla="*/ 409575 h 538090"/>
              <a:gd name="connsiteX8" fmla="*/ 671210 w 671210"/>
              <a:gd name="connsiteY8" fmla="*/ 434975 h 538090"/>
              <a:gd name="connsiteX0" fmla="*/ 6952 w 670527"/>
              <a:gd name="connsiteY0" fmla="*/ 0 h 538090"/>
              <a:gd name="connsiteX1" fmla="*/ 89502 w 670527"/>
              <a:gd name="connsiteY1" fmla="*/ 79375 h 538090"/>
              <a:gd name="connsiteX2" fmla="*/ 48228 w 670527"/>
              <a:gd name="connsiteY2" fmla="*/ 207962 h 538090"/>
              <a:gd name="connsiteX3" fmla="*/ 602 w 670527"/>
              <a:gd name="connsiteY3" fmla="*/ 369093 h 538090"/>
              <a:gd name="connsiteX4" fmla="*/ 32352 w 670527"/>
              <a:gd name="connsiteY4" fmla="*/ 492125 h 538090"/>
              <a:gd name="connsiteX5" fmla="*/ 175227 w 670527"/>
              <a:gd name="connsiteY5" fmla="*/ 536575 h 538090"/>
              <a:gd name="connsiteX6" fmla="*/ 403827 w 670527"/>
              <a:gd name="connsiteY6" fmla="*/ 444500 h 538090"/>
              <a:gd name="connsiteX7" fmla="*/ 549877 w 670527"/>
              <a:gd name="connsiteY7" fmla="*/ 409575 h 538090"/>
              <a:gd name="connsiteX8" fmla="*/ 670527 w 670527"/>
              <a:gd name="connsiteY8" fmla="*/ 434975 h 538090"/>
              <a:gd name="connsiteX0" fmla="*/ 6952 w 670527"/>
              <a:gd name="connsiteY0" fmla="*/ 0 h 538090"/>
              <a:gd name="connsiteX1" fmla="*/ 72834 w 670527"/>
              <a:gd name="connsiteY1" fmla="*/ 79375 h 538090"/>
              <a:gd name="connsiteX2" fmla="*/ 48228 w 670527"/>
              <a:gd name="connsiteY2" fmla="*/ 207962 h 538090"/>
              <a:gd name="connsiteX3" fmla="*/ 602 w 670527"/>
              <a:gd name="connsiteY3" fmla="*/ 369093 h 538090"/>
              <a:gd name="connsiteX4" fmla="*/ 32352 w 670527"/>
              <a:gd name="connsiteY4" fmla="*/ 492125 h 538090"/>
              <a:gd name="connsiteX5" fmla="*/ 175227 w 670527"/>
              <a:gd name="connsiteY5" fmla="*/ 536575 h 538090"/>
              <a:gd name="connsiteX6" fmla="*/ 403827 w 670527"/>
              <a:gd name="connsiteY6" fmla="*/ 444500 h 538090"/>
              <a:gd name="connsiteX7" fmla="*/ 549877 w 670527"/>
              <a:gd name="connsiteY7" fmla="*/ 409575 h 538090"/>
              <a:gd name="connsiteX8" fmla="*/ 670527 w 670527"/>
              <a:gd name="connsiteY8" fmla="*/ 434975 h 538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0527" h="538090">
                <a:moveTo>
                  <a:pt x="6952" y="0"/>
                </a:moveTo>
                <a:cubicBezTo>
                  <a:pt x="45846" y="23548"/>
                  <a:pt x="65955" y="44715"/>
                  <a:pt x="72834" y="79375"/>
                </a:cubicBezTo>
                <a:cubicBezTo>
                  <a:pt x="79713" y="114035"/>
                  <a:pt x="60267" y="159676"/>
                  <a:pt x="48228" y="207962"/>
                </a:cubicBezTo>
                <a:cubicBezTo>
                  <a:pt x="36189" y="256248"/>
                  <a:pt x="3248" y="321732"/>
                  <a:pt x="602" y="369093"/>
                </a:cubicBezTo>
                <a:cubicBezTo>
                  <a:pt x="-2044" y="416454"/>
                  <a:pt x="3248" y="464211"/>
                  <a:pt x="32352" y="492125"/>
                </a:cubicBezTo>
                <a:cubicBezTo>
                  <a:pt x="61456" y="520039"/>
                  <a:pt x="113315" y="544512"/>
                  <a:pt x="175227" y="536575"/>
                </a:cubicBezTo>
                <a:cubicBezTo>
                  <a:pt x="237139" y="528638"/>
                  <a:pt x="341385" y="465667"/>
                  <a:pt x="403827" y="444500"/>
                </a:cubicBezTo>
                <a:cubicBezTo>
                  <a:pt x="466269" y="423333"/>
                  <a:pt x="480556" y="405871"/>
                  <a:pt x="549877" y="409575"/>
                </a:cubicBezTo>
                <a:cubicBezTo>
                  <a:pt x="619198" y="413279"/>
                  <a:pt x="600412" y="409839"/>
                  <a:pt x="670527" y="434975"/>
                </a:cubicBezTo>
              </a:path>
            </a:pathLst>
          </a:custGeom>
          <a:noFill/>
          <a:ln w="19050">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Rounded Corners 6">
            <a:extLst>
              <a:ext uri="{FF2B5EF4-FFF2-40B4-BE49-F238E27FC236}">
                <a16:creationId xmlns:a16="http://schemas.microsoft.com/office/drawing/2014/main" id="{356EABE6-4776-C9C0-0E06-418EF221BD00}"/>
              </a:ext>
            </a:extLst>
          </p:cNvPr>
          <p:cNvSpPr/>
          <p:nvPr/>
        </p:nvSpPr>
        <p:spPr>
          <a:xfrm>
            <a:off x="6046487" y="2733377"/>
            <a:ext cx="1581337" cy="465972"/>
          </a:xfrm>
          <a:prstGeom prst="roundRect">
            <a:avLst/>
          </a:prstGeom>
          <a:solidFill>
            <a:srgbClr val="D6D6D6"/>
          </a:solidFill>
          <a:ln>
            <a:solidFill>
              <a:srgbClr val="7F7F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lumMod val="50000"/>
                  </a:schemeClr>
                </a:solidFill>
              </a:rPr>
              <a:t>Inverse Kinematics</a:t>
            </a:r>
            <a:endParaRPr lang="en-GB" sz="1200" dirty="0">
              <a:solidFill>
                <a:schemeClr val="bg1">
                  <a:lumMod val="50000"/>
                </a:schemeClr>
              </a:solidFill>
            </a:endParaRPr>
          </a:p>
        </p:txBody>
      </p:sp>
      <p:sp>
        <p:nvSpPr>
          <p:cNvPr id="18" name="Titel 2">
            <a:extLst>
              <a:ext uri="{FF2B5EF4-FFF2-40B4-BE49-F238E27FC236}">
                <a16:creationId xmlns:a16="http://schemas.microsoft.com/office/drawing/2014/main" id="{F1F36999-EB21-8F81-3104-F4A3545CA6F1}"/>
              </a:ext>
            </a:extLst>
          </p:cNvPr>
          <p:cNvSpPr>
            <a:spLocks noGrp="1"/>
          </p:cNvSpPr>
          <p:nvPr>
            <p:ph type="title"/>
          </p:nvPr>
        </p:nvSpPr>
        <p:spPr>
          <a:xfrm>
            <a:off x="407988" y="373593"/>
            <a:ext cx="11376025" cy="1065742"/>
          </a:xfrm>
        </p:spPr>
        <p:txBody>
          <a:bodyPr/>
          <a:lstStyle/>
          <a:p>
            <a:r>
              <a:rPr lang="de-AT" dirty="0"/>
              <a:t>Problem Context – Motion Control</a:t>
            </a:r>
          </a:p>
        </p:txBody>
      </p:sp>
    </p:spTree>
    <p:extLst>
      <p:ext uri="{BB962C8B-B14F-4D97-AF65-F5344CB8AC3E}">
        <p14:creationId xmlns:p14="http://schemas.microsoft.com/office/powerpoint/2010/main" val="15194220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AEE1D7-E615-7BD8-14E6-5F4C23A7142C}"/>
              </a:ext>
            </a:extLst>
          </p:cNvPr>
          <p:cNvSpPr>
            <a:spLocks noGrp="1"/>
          </p:cNvSpPr>
          <p:nvPr>
            <p:ph idx="1"/>
          </p:nvPr>
        </p:nvSpPr>
        <p:spPr/>
        <p:txBody>
          <a:bodyPr/>
          <a:lstStyle/>
          <a:p>
            <a:pPr marL="457200" indent="-457200">
              <a:buFont typeface="+mj-lt"/>
              <a:buAutoNum type="arabicPeriod"/>
            </a:pPr>
            <a:r>
              <a:rPr lang="en-US" b="0" dirty="0"/>
              <a:t>Problem context – CERN Robotics Framework</a:t>
            </a:r>
          </a:p>
          <a:p>
            <a:pPr marL="457200" indent="-457200">
              <a:buFont typeface="+mj-lt"/>
              <a:buAutoNum type="arabicPeriod"/>
            </a:pPr>
            <a:r>
              <a:rPr lang="en-US" dirty="0"/>
              <a:t>Task Trajectory Generator design</a:t>
            </a:r>
          </a:p>
          <a:p>
            <a:pPr marL="742950" lvl="1" indent="-457200">
              <a:buFont typeface="+mj-lt"/>
              <a:buAutoNum type="arabicPeriod"/>
            </a:pPr>
            <a:r>
              <a:rPr lang="en-US" b="0" dirty="0"/>
              <a:t>Cubic Polynomial algorithm</a:t>
            </a:r>
          </a:p>
          <a:p>
            <a:pPr marL="742950" lvl="1" indent="-457200">
              <a:buFont typeface="+mj-lt"/>
              <a:buAutoNum type="arabicPeriod"/>
            </a:pPr>
            <a:r>
              <a:rPr lang="en-US" dirty="0"/>
              <a:t>Cubic Orientation Spline algorithm</a:t>
            </a:r>
            <a:endParaRPr lang="en-US" b="0" dirty="0"/>
          </a:p>
          <a:p>
            <a:pPr marL="457200" indent="-457200">
              <a:buFont typeface="+mj-lt"/>
              <a:buAutoNum type="arabicPeriod"/>
            </a:pPr>
            <a:r>
              <a:rPr lang="en-US" b="0" dirty="0"/>
              <a:t>Demonstration</a:t>
            </a:r>
          </a:p>
          <a:p>
            <a:pPr marL="457200" indent="-457200">
              <a:buFont typeface="+mj-lt"/>
              <a:buAutoNum type="arabicPeriod"/>
            </a:pPr>
            <a:r>
              <a:rPr lang="en-US" b="0" dirty="0"/>
              <a:t>Future work</a:t>
            </a:r>
          </a:p>
          <a:p>
            <a:pPr marL="457200" indent="-457200">
              <a:buFont typeface="+mj-lt"/>
              <a:buAutoNum type="arabicPeriod"/>
            </a:pPr>
            <a:endParaRPr lang="en-GB" b="0" dirty="0"/>
          </a:p>
        </p:txBody>
      </p:sp>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Content</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17</a:t>
            </a:fld>
            <a:endParaRPr lang="en-US" dirty="0"/>
          </a:p>
        </p:txBody>
      </p:sp>
    </p:spTree>
    <p:extLst>
      <p:ext uri="{BB962C8B-B14F-4D97-AF65-F5344CB8AC3E}">
        <p14:creationId xmlns:p14="http://schemas.microsoft.com/office/powerpoint/2010/main" val="39521567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819CCCB-48FE-E8F5-D74E-F6960C8EE707}"/>
              </a:ext>
            </a:extLst>
          </p:cNvPr>
          <p:cNvSpPr/>
          <p:nvPr/>
        </p:nvSpPr>
        <p:spPr>
          <a:xfrm>
            <a:off x="8281752" y="352077"/>
            <a:ext cx="2340363" cy="660640"/>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TaskTrajectoryGenerator</a:t>
            </a:r>
            <a:endParaRPr lang="en-GB" sz="1400" dirty="0">
              <a:solidFill>
                <a:srgbClr val="003399"/>
              </a:solidFill>
            </a:endParaRPr>
          </a:p>
        </p:txBody>
      </p:sp>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Task Trajectory Generator Design</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18</a:t>
            </a:fld>
            <a:endParaRPr lang="en-US" dirty="0"/>
          </a:p>
        </p:txBody>
      </p:sp>
      <p:sp>
        <p:nvSpPr>
          <p:cNvPr id="10" name="Freeform 13">
            <a:extLst>
              <a:ext uri="{FF2B5EF4-FFF2-40B4-BE49-F238E27FC236}">
                <a16:creationId xmlns:a16="http://schemas.microsoft.com/office/drawing/2014/main" id="{B0F2B27B-F499-4C10-D78A-197646B6439F}"/>
              </a:ext>
            </a:extLst>
          </p:cNvPr>
          <p:cNvSpPr/>
          <p:nvPr/>
        </p:nvSpPr>
        <p:spPr>
          <a:xfrm>
            <a:off x="6880875" y="1759933"/>
            <a:ext cx="3831102" cy="3818900"/>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dirty="0"/>
          </a:p>
        </p:txBody>
      </p:sp>
      <p:cxnSp>
        <p:nvCxnSpPr>
          <p:cNvPr id="14" name="Straight Arrow Connector 13">
            <a:extLst>
              <a:ext uri="{FF2B5EF4-FFF2-40B4-BE49-F238E27FC236}">
                <a16:creationId xmlns:a16="http://schemas.microsoft.com/office/drawing/2014/main" id="{AC74144A-3838-9A8B-D838-E0F09DD08667}"/>
              </a:ext>
            </a:extLst>
          </p:cNvPr>
          <p:cNvCxnSpPr>
            <a:cxnSpLocks/>
          </p:cNvCxnSpPr>
          <p:nvPr/>
        </p:nvCxnSpPr>
        <p:spPr>
          <a:xfrm flipH="1">
            <a:off x="5553933" y="5170738"/>
            <a:ext cx="2047069" cy="529129"/>
          </a:xfrm>
          <a:prstGeom prst="straightConnector1">
            <a:avLst/>
          </a:prstGeom>
          <a:ln w="15875">
            <a:solidFill>
              <a:srgbClr val="003399"/>
            </a:solidFill>
            <a:prstDash val="dash"/>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8183BBF-2498-8E34-1AFC-AF210C13B304}"/>
              </a:ext>
            </a:extLst>
          </p:cNvPr>
          <p:cNvSpPr txBox="1"/>
          <p:nvPr/>
        </p:nvSpPr>
        <p:spPr>
          <a:xfrm>
            <a:off x="6116788" y="5551095"/>
            <a:ext cx="1484214" cy="323605"/>
          </a:xfrm>
          <a:prstGeom prst="rect">
            <a:avLst/>
          </a:prstGeom>
          <a:noFill/>
        </p:spPr>
        <p:txBody>
          <a:bodyPr wrap="square" lIns="0" tIns="0" rIns="0" bIns="0" rtlCol="0">
            <a:spAutoFit/>
          </a:bodyPr>
          <a:lstStyle/>
          <a:p>
            <a:pPr algn="l"/>
            <a:r>
              <a:rPr lang="en-US" dirty="0"/>
              <a:t>Translation</a:t>
            </a:r>
            <a:endParaRPr lang="en-GB" dirty="0"/>
          </a:p>
        </p:txBody>
      </p:sp>
      <p:grpSp>
        <p:nvGrpSpPr>
          <p:cNvPr id="15" name="Group 14">
            <a:extLst>
              <a:ext uri="{FF2B5EF4-FFF2-40B4-BE49-F238E27FC236}">
                <a16:creationId xmlns:a16="http://schemas.microsoft.com/office/drawing/2014/main" id="{C9F31365-0039-9B21-EF31-77EB46123CA1}"/>
              </a:ext>
            </a:extLst>
          </p:cNvPr>
          <p:cNvGrpSpPr/>
          <p:nvPr/>
        </p:nvGrpSpPr>
        <p:grpSpPr>
          <a:xfrm>
            <a:off x="7178379" y="4782047"/>
            <a:ext cx="418579" cy="594214"/>
            <a:chOff x="4557905" y="4542103"/>
            <a:chExt cx="358295" cy="508635"/>
          </a:xfrm>
        </p:grpSpPr>
        <p:cxnSp>
          <p:nvCxnSpPr>
            <p:cNvPr id="20" name="Straight Arrow Connector 19">
              <a:extLst>
                <a:ext uri="{FF2B5EF4-FFF2-40B4-BE49-F238E27FC236}">
                  <a16:creationId xmlns:a16="http://schemas.microsoft.com/office/drawing/2014/main" id="{FF25D08A-0501-3FEE-67BF-742E8060A1D8}"/>
                </a:ext>
              </a:extLst>
            </p:cNvPr>
            <p:cNvCxnSpPr>
              <a:cxnSpLocks/>
            </p:cNvCxnSpPr>
            <p:nvPr/>
          </p:nvCxnSpPr>
          <p:spPr>
            <a:xfrm flipH="1">
              <a:off x="4748214" y="4874814"/>
              <a:ext cx="156378" cy="175924"/>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3E4A72B-1D35-4D61-5DAB-39EEA6D4FE58}"/>
                </a:ext>
              </a:extLst>
            </p:cNvPr>
            <p:cNvCxnSpPr/>
            <p:nvPr/>
          </p:nvCxnSpPr>
          <p:spPr>
            <a:xfrm flipV="1">
              <a:off x="4903097" y="4542103"/>
              <a:ext cx="0" cy="34412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AD394CAE-119F-AF3C-472A-78698965C61B}"/>
                </a:ext>
              </a:extLst>
            </p:cNvPr>
            <p:cNvCxnSpPr>
              <a:cxnSpLocks/>
            </p:cNvCxnSpPr>
            <p:nvPr/>
          </p:nvCxnSpPr>
          <p:spPr>
            <a:xfrm flipH="1">
              <a:off x="4557905" y="4874814"/>
              <a:ext cx="358295"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36" name="Arrow: Curved Up 35">
            <a:extLst>
              <a:ext uri="{FF2B5EF4-FFF2-40B4-BE49-F238E27FC236}">
                <a16:creationId xmlns:a16="http://schemas.microsoft.com/office/drawing/2014/main" id="{BA4CDFD2-7C93-F570-ED6C-11857F9A35F8}"/>
              </a:ext>
            </a:extLst>
          </p:cNvPr>
          <p:cNvSpPr/>
          <p:nvPr/>
        </p:nvSpPr>
        <p:spPr>
          <a:xfrm rot="9982028">
            <a:off x="5346355" y="4470061"/>
            <a:ext cx="2127150" cy="937251"/>
          </a:xfrm>
          <a:prstGeom prst="curvedUpArrow">
            <a:avLst>
              <a:gd name="adj1" fmla="val 0"/>
              <a:gd name="adj2" fmla="val 12921"/>
              <a:gd name="adj3" fmla="val 13732"/>
            </a:avLst>
          </a:prstGeom>
          <a:solidFill>
            <a:srgbClr val="003399"/>
          </a:solidFill>
          <a:ln>
            <a:solidFill>
              <a:srgbClr val="00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7" name="TextBox 36">
            <a:extLst>
              <a:ext uri="{FF2B5EF4-FFF2-40B4-BE49-F238E27FC236}">
                <a16:creationId xmlns:a16="http://schemas.microsoft.com/office/drawing/2014/main" id="{CC2A78D1-DD99-74BB-2B9D-3E25C70C6FFC}"/>
              </a:ext>
            </a:extLst>
          </p:cNvPr>
          <p:cNvSpPr txBox="1"/>
          <p:nvPr/>
        </p:nvSpPr>
        <p:spPr>
          <a:xfrm>
            <a:off x="5865332" y="4068428"/>
            <a:ext cx="1126542" cy="323605"/>
          </a:xfrm>
          <a:prstGeom prst="rect">
            <a:avLst/>
          </a:prstGeom>
          <a:noFill/>
        </p:spPr>
        <p:txBody>
          <a:bodyPr wrap="square" lIns="0" tIns="0" rIns="0" bIns="0" rtlCol="0">
            <a:spAutoFit/>
          </a:bodyPr>
          <a:lstStyle/>
          <a:p>
            <a:pPr algn="l"/>
            <a:r>
              <a:rPr lang="en-US" dirty="0"/>
              <a:t>Rotation</a:t>
            </a:r>
            <a:endParaRPr lang="en-GB" dirty="0"/>
          </a:p>
        </p:txBody>
      </p:sp>
      <p:grpSp>
        <p:nvGrpSpPr>
          <p:cNvPr id="16" name="Group 15">
            <a:extLst>
              <a:ext uri="{FF2B5EF4-FFF2-40B4-BE49-F238E27FC236}">
                <a16:creationId xmlns:a16="http://schemas.microsoft.com/office/drawing/2014/main" id="{144F5A7B-D878-1F11-F98A-02A5C1F9A7DD}"/>
              </a:ext>
            </a:extLst>
          </p:cNvPr>
          <p:cNvGrpSpPr/>
          <p:nvPr/>
        </p:nvGrpSpPr>
        <p:grpSpPr>
          <a:xfrm rot="18075836">
            <a:off x="5163721" y="5523538"/>
            <a:ext cx="418579" cy="594214"/>
            <a:chOff x="4557905" y="4542103"/>
            <a:chExt cx="358295" cy="508635"/>
          </a:xfrm>
        </p:grpSpPr>
        <p:cxnSp>
          <p:nvCxnSpPr>
            <p:cNvPr id="18" name="Straight Arrow Connector 17">
              <a:extLst>
                <a:ext uri="{FF2B5EF4-FFF2-40B4-BE49-F238E27FC236}">
                  <a16:creationId xmlns:a16="http://schemas.microsoft.com/office/drawing/2014/main" id="{879C0380-574E-FE09-B27A-F62D39244E27}"/>
                </a:ext>
              </a:extLst>
            </p:cNvPr>
            <p:cNvCxnSpPr>
              <a:cxnSpLocks/>
            </p:cNvCxnSpPr>
            <p:nvPr/>
          </p:nvCxnSpPr>
          <p:spPr>
            <a:xfrm flipH="1">
              <a:off x="4748214" y="4874814"/>
              <a:ext cx="156378" cy="175924"/>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593C6F3-AA27-383A-6D1C-78730B466A18}"/>
                </a:ext>
              </a:extLst>
            </p:cNvPr>
            <p:cNvCxnSpPr/>
            <p:nvPr/>
          </p:nvCxnSpPr>
          <p:spPr>
            <a:xfrm flipV="1">
              <a:off x="4903097" y="4542103"/>
              <a:ext cx="0" cy="34412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FBC3ADB5-2544-9A69-4D1A-CBACC675BD87}"/>
                </a:ext>
              </a:extLst>
            </p:cNvPr>
            <p:cNvCxnSpPr>
              <a:cxnSpLocks/>
            </p:cNvCxnSpPr>
            <p:nvPr/>
          </p:nvCxnSpPr>
          <p:spPr>
            <a:xfrm flipH="1">
              <a:off x="4557905" y="4874814"/>
              <a:ext cx="358295"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5" name="TextBox 24">
            <a:extLst>
              <a:ext uri="{FF2B5EF4-FFF2-40B4-BE49-F238E27FC236}">
                <a16:creationId xmlns:a16="http://schemas.microsoft.com/office/drawing/2014/main" id="{C03EB202-5042-A9D0-8370-F6B485689D94}"/>
              </a:ext>
            </a:extLst>
          </p:cNvPr>
          <p:cNvSpPr txBox="1"/>
          <p:nvPr/>
        </p:nvSpPr>
        <p:spPr>
          <a:xfrm>
            <a:off x="412776" y="1540228"/>
            <a:ext cx="2041818" cy="364202"/>
          </a:xfrm>
          <a:prstGeom prst="rect">
            <a:avLst/>
          </a:prstGeom>
          <a:noFill/>
        </p:spPr>
        <p:txBody>
          <a:bodyPr wrap="square" lIns="0" tIns="0" rIns="0" bIns="0" rtlCol="0">
            <a:spAutoFit/>
          </a:bodyPr>
          <a:lstStyle/>
          <a:p>
            <a:pPr algn="l">
              <a:lnSpc>
                <a:spcPct val="150000"/>
              </a:lnSpc>
            </a:pPr>
            <a:r>
              <a:rPr lang="en-US" dirty="0">
                <a:solidFill>
                  <a:schemeClr val="tx2"/>
                </a:solidFill>
              </a:rPr>
              <a:t> </a:t>
            </a:r>
            <a:endParaRPr lang="en-GB" dirty="0">
              <a:solidFill>
                <a:schemeClr val="tx2"/>
              </a:solidFill>
            </a:endParaRPr>
          </a:p>
        </p:txBody>
      </p:sp>
      <p:sp>
        <p:nvSpPr>
          <p:cNvPr id="29" name="Rectangle 4">
            <a:extLst>
              <a:ext uri="{FF2B5EF4-FFF2-40B4-BE49-F238E27FC236}">
                <a16:creationId xmlns:a16="http://schemas.microsoft.com/office/drawing/2014/main" id="{7741F247-A90E-8CEA-B6B1-97A57D3233DF}"/>
              </a:ext>
            </a:extLst>
          </p:cNvPr>
          <p:cNvSpPr>
            <a:spLocks noChangeArrowheads="1"/>
          </p:cNvSpPr>
          <p:nvPr/>
        </p:nvSpPr>
        <p:spPr bwMode="auto">
          <a:xfrm>
            <a:off x="488951" y="1305290"/>
            <a:ext cx="548446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struct </a:t>
            </a:r>
            <a:r>
              <a:rPr kumimoji="0" lang="en-US" altLang="en-US" sz="1200" b="1" i="0" strike="noStrike" cap="none" normalizeH="0" baseline="0" dirty="0" err="1">
                <a:ln>
                  <a:noFill/>
                </a:ln>
                <a:effectLst/>
                <a:latin typeface="Cascadia Code" panose="020B0609020000020004" pitchFamily="49" charset="0"/>
                <a:cs typeface="Cascadia Code" panose="020B0609020000020004" pitchFamily="49" charset="0"/>
              </a:rPr>
              <a:t>TaskTrajectory</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  public:</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rgbClr val="303030"/>
                </a:solidFill>
                <a:latin typeface="Cascadia Code" panose="020B0609020000020004" pitchFamily="49" charset="0"/>
                <a:cs typeface="Cascadia Code" panose="020B0609020000020004" pitchFamily="49" charset="0"/>
              </a:rPr>
              <a:t>    </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std::</a:t>
            </a:r>
            <a:r>
              <a:rPr kumimoji="0" lang="en-US" altLang="en-US" sz="1200" b="0" i="0" u="none" strike="noStrike" cap="none" normalizeH="0" baseline="0" dirty="0" err="1">
                <a:ln>
                  <a:noFill/>
                </a:ln>
                <a:solidFill>
                  <a:srgbClr val="303030"/>
                </a:solidFill>
                <a:effectLst/>
                <a:latin typeface="Cascadia Code" panose="020B0609020000020004" pitchFamily="49" charset="0"/>
                <a:cs typeface="Cascadia Code" panose="020B0609020000020004" pitchFamily="49" charset="0"/>
              </a:rPr>
              <a:t>shared_ptr</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&lt;std::array&lt;</a:t>
            </a:r>
            <a:r>
              <a:rPr kumimoji="0" lang="en-US" altLang="en-US" sz="1200" b="0" i="0" u="none" strike="noStrike" cap="none" normalizeH="0" baseline="0" dirty="0" err="1">
                <a:ln>
                  <a:noFill/>
                </a:ln>
                <a:solidFill>
                  <a:srgbClr val="303030"/>
                </a:solidFill>
                <a:effectLst/>
                <a:latin typeface="Cascadia Code" panose="020B0609020000020004" pitchFamily="49" charset="0"/>
                <a:cs typeface="Cascadia Code" panose="020B0609020000020004" pitchFamily="49" charset="0"/>
              </a:rPr>
              <a:t>CubicPolynomial</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 3&gt;&gt; </a:t>
            </a:r>
            <a:r>
              <a:rPr kumimoji="0" lang="en-US" altLang="en-US" sz="1200" b="1" i="0" u="none" strike="noStrike" cap="none" normalizeH="0" baseline="0" dirty="0">
                <a:ln>
                  <a:noFill/>
                </a:ln>
                <a:effectLst/>
                <a:latin typeface="Cascadia Code" panose="020B0609020000020004" pitchFamily="49" charset="0"/>
                <a:cs typeface="Cascadia Code" panose="020B0609020000020004" pitchFamily="49" charset="0"/>
              </a:rPr>
              <a:t>linear</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rgbClr val="303030"/>
                </a:solidFill>
                <a:latin typeface="Cascadia Code" panose="020B0609020000020004" pitchFamily="49" charset="0"/>
                <a:cs typeface="Cascadia Code" panose="020B0609020000020004" pitchFamily="49" charset="0"/>
              </a:rPr>
              <a:t>   </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 std::</a:t>
            </a:r>
            <a:r>
              <a:rPr kumimoji="0" lang="en-US" altLang="en-US" sz="1200" b="0" i="0" u="none" strike="noStrike" cap="none" normalizeH="0" baseline="0" dirty="0" err="1">
                <a:ln>
                  <a:noFill/>
                </a:ln>
                <a:solidFill>
                  <a:srgbClr val="303030"/>
                </a:solidFill>
                <a:effectLst/>
                <a:latin typeface="Cascadia Code" panose="020B0609020000020004" pitchFamily="49" charset="0"/>
                <a:cs typeface="Cascadia Code" panose="020B0609020000020004" pitchFamily="49" charset="0"/>
              </a:rPr>
              <a:t>shared_ptr</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&lt;</a:t>
            </a:r>
            <a:r>
              <a:rPr kumimoji="0" lang="en-US" altLang="en-US" sz="1200" b="0" i="0" u="none" strike="noStrike" cap="none" normalizeH="0" baseline="0" dirty="0" err="1">
                <a:ln>
                  <a:noFill/>
                </a:ln>
                <a:solidFill>
                  <a:srgbClr val="303030"/>
                </a:solidFill>
                <a:effectLst/>
                <a:latin typeface="Cascadia Code" panose="020B0609020000020004" pitchFamily="49" charset="0"/>
                <a:cs typeface="Cascadia Code" panose="020B0609020000020004" pitchFamily="49" charset="0"/>
              </a:rPr>
              <a:t>CubicOrientationSpline</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&gt; </a:t>
            </a:r>
            <a:r>
              <a:rPr kumimoji="0" lang="en-US" altLang="en-US" sz="1200" b="1" i="0" u="none" strike="noStrike" cap="none" normalizeH="0" baseline="0" dirty="0">
                <a:ln>
                  <a:noFill/>
                </a:ln>
                <a:effectLst/>
                <a:latin typeface="Cascadia Code" panose="020B0609020000020004" pitchFamily="49" charset="0"/>
                <a:cs typeface="Cascadia Code" panose="020B0609020000020004" pitchFamily="49" charset="0"/>
              </a:rPr>
              <a:t>angular</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rgbClr val="303030"/>
                </a:solidFill>
                <a:latin typeface="Cascadia Code" panose="020B0609020000020004" pitchFamily="49" charset="0"/>
                <a:cs typeface="Cascadia Code" panose="020B0609020000020004" pitchFamily="49" charset="0"/>
              </a:rPr>
              <a:t>};</a:t>
            </a:r>
            <a:endPar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22781525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reeform 13">
            <a:extLst>
              <a:ext uri="{FF2B5EF4-FFF2-40B4-BE49-F238E27FC236}">
                <a16:creationId xmlns:a16="http://schemas.microsoft.com/office/drawing/2014/main" id="{B9D38D4B-0F20-B39F-2D0E-04E28C079E4F}"/>
              </a:ext>
            </a:extLst>
          </p:cNvPr>
          <p:cNvSpPr/>
          <p:nvPr/>
        </p:nvSpPr>
        <p:spPr>
          <a:xfrm>
            <a:off x="6880875" y="1759933"/>
            <a:ext cx="3831102" cy="3818900"/>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dirty="0"/>
          </a:p>
        </p:txBody>
      </p:sp>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Task Trajectory Generator Design</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19</a:t>
            </a:fld>
            <a:endParaRPr lang="en-US" dirty="0"/>
          </a:p>
        </p:txBody>
      </p:sp>
      <p:sp>
        <p:nvSpPr>
          <p:cNvPr id="50" name="Rectangle 4">
            <a:extLst>
              <a:ext uri="{FF2B5EF4-FFF2-40B4-BE49-F238E27FC236}">
                <a16:creationId xmlns:a16="http://schemas.microsoft.com/office/drawing/2014/main" id="{793AA8BF-5CF0-3298-6941-BBF49A70245E}"/>
              </a:ext>
            </a:extLst>
          </p:cNvPr>
          <p:cNvSpPr>
            <a:spLocks noChangeArrowheads="1"/>
          </p:cNvSpPr>
          <p:nvPr/>
        </p:nvSpPr>
        <p:spPr bwMode="auto">
          <a:xfrm>
            <a:off x="488952" y="1305290"/>
            <a:ext cx="6026148"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struct </a:t>
            </a:r>
            <a:r>
              <a:rPr kumimoji="0" lang="en-US" altLang="en-US" sz="1200" i="0" u="none" strike="noStrike" cap="none" normalizeH="0" baseline="0" dirty="0" err="1">
                <a:ln>
                  <a:noFill/>
                </a:ln>
                <a:solidFill>
                  <a:srgbClr val="303030"/>
                </a:solidFill>
                <a:effectLst/>
                <a:latin typeface="Cascadia Code" panose="020B0609020000020004" pitchFamily="49" charset="0"/>
                <a:cs typeface="Cascadia Code" panose="020B0609020000020004" pitchFamily="49" charset="0"/>
              </a:rPr>
              <a:t>TaskTrajectory</a:t>
            </a:r>
            <a:r>
              <a:rPr kumimoji="0" lang="en-US" altLang="en-US" sz="120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  public:</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rgbClr val="303030"/>
                </a:solidFill>
                <a:latin typeface="Cascadia Code" panose="020B0609020000020004" pitchFamily="49" charset="0"/>
                <a:cs typeface="Cascadia Code" panose="020B0609020000020004" pitchFamily="49" charset="0"/>
              </a:rPr>
              <a:t>    </a:t>
            </a:r>
            <a:r>
              <a:rPr kumimoji="0" lang="en-US" altLang="en-US" sz="120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std::</a:t>
            </a:r>
            <a:r>
              <a:rPr kumimoji="0" lang="en-US" altLang="en-US" sz="1200" i="0" u="none" strike="noStrike" cap="none" normalizeH="0" baseline="0" dirty="0" err="1">
                <a:ln>
                  <a:noFill/>
                </a:ln>
                <a:solidFill>
                  <a:srgbClr val="303030"/>
                </a:solidFill>
                <a:effectLst/>
                <a:latin typeface="Cascadia Code" panose="020B0609020000020004" pitchFamily="49" charset="0"/>
                <a:cs typeface="Cascadia Code" panose="020B0609020000020004" pitchFamily="49" charset="0"/>
              </a:rPr>
              <a:t>shared_ptr</a:t>
            </a:r>
            <a:r>
              <a:rPr kumimoji="0" lang="en-US" altLang="en-US" sz="120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&lt;std::array&lt;</a:t>
            </a:r>
            <a:r>
              <a:rPr kumimoji="0" lang="en-US" altLang="en-US" sz="1200" b="1" i="0" u="none" strike="noStrike" cap="none" normalizeH="0" baseline="0" dirty="0" err="1">
                <a:ln>
                  <a:noFill/>
                </a:ln>
                <a:solidFill>
                  <a:srgbClr val="003399"/>
                </a:solidFill>
                <a:effectLst/>
                <a:latin typeface="Cascadia Code" panose="020B0609020000020004" pitchFamily="49" charset="0"/>
                <a:cs typeface="Cascadia Code" panose="020B0609020000020004" pitchFamily="49" charset="0"/>
              </a:rPr>
              <a:t>CubicPolynomial</a:t>
            </a:r>
            <a:r>
              <a:rPr kumimoji="0" lang="en-US" altLang="en-US" sz="120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 </a:t>
            </a:r>
            <a:r>
              <a:rPr kumimoji="0" lang="en-US" altLang="en-US" sz="1200" b="1" i="0" u="none" strike="noStrike" cap="none" normalizeH="0" baseline="0" dirty="0">
                <a:ln>
                  <a:noFill/>
                </a:ln>
                <a:effectLst/>
                <a:latin typeface="Cascadia Code" panose="020B0609020000020004" pitchFamily="49" charset="0"/>
                <a:cs typeface="Cascadia Code" panose="020B0609020000020004" pitchFamily="49" charset="0"/>
              </a:rPr>
              <a:t>3</a:t>
            </a:r>
            <a:r>
              <a:rPr kumimoji="0" lang="en-US" altLang="en-US" sz="120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&gt;&gt; </a:t>
            </a:r>
            <a:r>
              <a:rPr kumimoji="0" lang="en-US" altLang="en-US" sz="1200" b="1" i="0" u="none" strike="noStrike" cap="none" normalizeH="0" baseline="0" dirty="0">
                <a:ln>
                  <a:noFill/>
                </a:ln>
                <a:effectLst/>
                <a:latin typeface="Cascadia Code" panose="020B0609020000020004" pitchFamily="49" charset="0"/>
                <a:cs typeface="Cascadia Code" panose="020B0609020000020004" pitchFamily="49" charset="0"/>
              </a:rPr>
              <a:t>linear</a:t>
            </a:r>
            <a:r>
              <a:rPr kumimoji="0" lang="en-US" altLang="en-US" sz="120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rgbClr val="303030"/>
                </a:solidFill>
                <a:latin typeface="Cascadia Code" panose="020B0609020000020004" pitchFamily="49" charset="0"/>
                <a:cs typeface="Cascadia Code" panose="020B0609020000020004" pitchFamily="49" charset="0"/>
              </a:rPr>
              <a:t>   </a:t>
            </a:r>
            <a:r>
              <a:rPr kumimoji="0" lang="en-US" altLang="en-US" sz="120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 std::</a:t>
            </a:r>
            <a:r>
              <a:rPr kumimoji="0" lang="en-US" altLang="en-US" sz="1200" i="0" u="none" strike="noStrike" cap="none" normalizeH="0" baseline="0" dirty="0" err="1">
                <a:ln>
                  <a:noFill/>
                </a:ln>
                <a:solidFill>
                  <a:srgbClr val="303030"/>
                </a:solidFill>
                <a:effectLst/>
                <a:latin typeface="Cascadia Code" panose="020B0609020000020004" pitchFamily="49" charset="0"/>
                <a:cs typeface="Cascadia Code" panose="020B0609020000020004" pitchFamily="49" charset="0"/>
              </a:rPr>
              <a:t>shared_ptr</a:t>
            </a:r>
            <a:r>
              <a:rPr kumimoji="0" lang="en-US" altLang="en-US" sz="120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&lt;</a:t>
            </a:r>
            <a:r>
              <a:rPr kumimoji="0" lang="en-US" altLang="en-US" sz="1200" i="0" u="none" strike="noStrike" cap="none" normalizeH="0" baseline="0" dirty="0" err="1">
                <a:ln>
                  <a:noFill/>
                </a:ln>
                <a:solidFill>
                  <a:srgbClr val="303030"/>
                </a:solidFill>
                <a:effectLst/>
                <a:latin typeface="Cascadia Code" panose="020B0609020000020004" pitchFamily="49" charset="0"/>
                <a:cs typeface="Cascadia Code" panose="020B0609020000020004" pitchFamily="49" charset="0"/>
              </a:rPr>
              <a:t>CubicOrientationSpline</a:t>
            </a:r>
            <a:r>
              <a:rPr kumimoji="0" lang="en-US" altLang="en-US" sz="120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&gt; angular;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rgbClr val="303030"/>
                </a:solidFill>
                <a:latin typeface="Cascadia Code" panose="020B0609020000020004" pitchFamily="49" charset="0"/>
                <a:cs typeface="Cascadia Code" panose="020B0609020000020004" pitchFamily="49" charset="0"/>
              </a:rPr>
              <a:t>};</a:t>
            </a:r>
            <a:endPar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endParaRPr>
          </a:p>
        </p:txBody>
      </p:sp>
      <p:sp>
        <p:nvSpPr>
          <p:cNvPr id="8" name="Rectangle: Rounded Corners 7">
            <a:extLst>
              <a:ext uri="{FF2B5EF4-FFF2-40B4-BE49-F238E27FC236}">
                <a16:creationId xmlns:a16="http://schemas.microsoft.com/office/drawing/2014/main" id="{82CA5EE9-9F2A-3619-8911-E9E3AAD59BA9}"/>
              </a:ext>
            </a:extLst>
          </p:cNvPr>
          <p:cNvSpPr/>
          <p:nvPr/>
        </p:nvSpPr>
        <p:spPr>
          <a:xfrm>
            <a:off x="8281752" y="352077"/>
            <a:ext cx="2340363" cy="660640"/>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TaskTrajectoryGenerator</a:t>
            </a:r>
            <a:endParaRPr lang="en-GB" sz="1400" dirty="0">
              <a:solidFill>
                <a:srgbClr val="003399"/>
              </a:solidFill>
            </a:endParaRPr>
          </a:p>
        </p:txBody>
      </p:sp>
      <p:cxnSp>
        <p:nvCxnSpPr>
          <p:cNvPr id="2" name="Straight Arrow Connector 1">
            <a:extLst>
              <a:ext uri="{FF2B5EF4-FFF2-40B4-BE49-F238E27FC236}">
                <a16:creationId xmlns:a16="http://schemas.microsoft.com/office/drawing/2014/main" id="{5CE5C25E-FC88-D516-F181-9FF1069F362F}"/>
              </a:ext>
            </a:extLst>
          </p:cNvPr>
          <p:cNvCxnSpPr>
            <a:cxnSpLocks/>
          </p:cNvCxnSpPr>
          <p:nvPr/>
        </p:nvCxnSpPr>
        <p:spPr>
          <a:xfrm flipH="1">
            <a:off x="6851650" y="5170870"/>
            <a:ext cx="744412" cy="792823"/>
          </a:xfrm>
          <a:prstGeom prst="straightConnector1">
            <a:avLst/>
          </a:prstGeom>
          <a:ln w="15875">
            <a:solidFill>
              <a:srgbClr val="00B050"/>
            </a:solidFill>
            <a:prstDash val="dash"/>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910BE34-6E39-1738-8F5D-6ABDD6E9F369}"/>
              </a:ext>
            </a:extLst>
          </p:cNvPr>
          <p:cNvCxnSpPr>
            <a:cxnSpLocks/>
          </p:cNvCxnSpPr>
          <p:nvPr/>
        </p:nvCxnSpPr>
        <p:spPr>
          <a:xfrm flipH="1">
            <a:off x="5854811" y="5169758"/>
            <a:ext cx="1736677" cy="14794"/>
          </a:xfrm>
          <a:prstGeom prst="straightConnector1">
            <a:avLst/>
          </a:prstGeom>
          <a:ln w="15875">
            <a:solidFill>
              <a:srgbClr val="FF0000"/>
            </a:solidFill>
            <a:prstDash val="dash"/>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9332F1B4-6A56-F4D9-DC63-5DA2CE413CCC}"/>
              </a:ext>
            </a:extLst>
          </p:cNvPr>
          <p:cNvCxnSpPr>
            <a:cxnSpLocks/>
          </p:cNvCxnSpPr>
          <p:nvPr/>
        </p:nvCxnSpPr>
        <p:spPr>
          <a:xfrm>
            <a:off x="7596062" y="5176665"/>
            <a:ext cx="10467" cy="582513"/>
          </a:xfrm>
          <a:prstGeom prst="straightConnector1">
            <a:avLst/>
          </a:prstGeom>
          <a:ln w="15875">
            <a:solidFill>
              <a:srgbClr val="00B0F0"/>
            </a:solidFill>
            <a:prstDash val="dash"/>
            <a:headEnd w="lg" len="lg"/>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D0751BCC-D79A-B86D-854D-01F9A9571CC1}"/>
                  </a:ext>
                </a:extLst>
              </p:cNvPr>
              <p:cNvSpPr txBox="1"/>
              <p:nvPr/>
            </p:nvSpPr>
            <p:spPr>
              <a:xfrm>
                <a:off x="6161254" y="4825640"/>
                <a:ext cx="1249455" cy="358912"/>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𝑥</m:t>
                      </m:r>
                    </m:oMath>
                  </m:oMathPara>
                </a14:m>
                <a:endParaRPr lang="en-GB" dirty="0">
                  <a:solidFill>
                    <a:schemeClr val="tx2"/>
                  </a:solidFill>
                </a:endParaRPr>
              </a:p>
            </p:txBody>
          </p:sp>
        </mc:Choice>
        <mc:Fallback xmlns="">
          <p:sp>
            <p:nvSpPr>
              <p:cNvPr id="43" name="TextBox 42">
                <a:extLst>
                  <a:ext uri="{FF2B5EF4-FFF2-40B4-BE49-F238E27FC236}">
                    <a16:creationId xmlns:a16="http://schemas.microsoft.com/office/drawing/2014/main" id="{D0751BCC-D79A-B86D-854D-01F9A9571CC1}"/>
                  </a:ext>
                </a:extLst>
              </p:cNvPr>
              <p:cNvSpPr txBox="1">
                <a:spLocks noRot="1" noChangeAspect="1" noMove="1" noResize="1" noEditPoints="1" noAdjustHandles="1" noChangeArrowheads="1" noChangeShapeType="1" noTextEdit="1"/>
              </p:cNvSpPr>
              <p:nvPr/>
            </p:nvSpPr>
            <p:spPr>
              <a:xfrm>
                <a:off x="6161254" y="4825640"/>
                <a:ext cx="1249455" cy="358912"/>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AC27DD22-384E-A3A3-078A-9EA232CE9D11}"/>
                  </a:ext>
                </a:extLst>
              </p:cNvPr>
              <p:cNvSpPr txBox="1"/>
              <p:nvPr/>
            </p:nvSpPr>
            <p:spPr>
              <a:xfrm>
                <a:off x="6701463" y="5510455"/>
                <a:ext cx="1249455" cy="358912"/>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𝑦</m:t>
                      </m:r>
                    </m:oMath>
                  </m:oMathPara>
                </a14:m>
                <a:endParaRPr lang="en-GB" dirty="0">
                  <a:solidFill>
                    <a:srgbClr val="00B050"/>
                  </a:solidFill>
                </a:endParaRPr>
              </a:p>
            </p:txBody>
          </p:sp>
        </mc:Choice>
        <mc:Fallback xmlns="">
          <p:sp>
            <p:nvSpPr>
              <p:cNvPr id="45" name="TextBox 44">
                <a:extLst>
                  <a:ext uri="{FF2B5EF4-FFF2-40B4-BE49-F238E27FC236}">
                    <a16:creationId xmlns:a16="http://schemas.microsoft.com/office/drawing/2014/main" id="{AC27DD22-384E-A3A3-078A-9EA232CE9D11}"/>
                  </a:ext>
                </a:extLst>
              </p:cNvPr>
              <p:cNvSpPr txBox="1">
                <a:spLocks noRot="1" noChangeAspect="1" noMove="1" noResize="1" noEditPoints="1" noAdjustHandles="1" noChangeArrowheads="1" noChangeShapeType="1" noTextEdit="1"/>
              </p:cNvSpPr>
              <p:nvPr/>
            </p:nvSpPr>
            <p:spPr>
              <a:xfrm>
                <a:off x="6701463" y="5510455"/>
                <a:ext cx="1249455" cy="358912"/>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B24AD072-1B9F-E269-AD74-18FD7009DC81}"/>
                  </a:ext>
                </a:extLst>
              </p:cNvPr>
              <p:cNvSpPr txBox="1"/>
              <p:nvPr/>
            </p:nvSpPr>
            <p:spPr>
              <a:xfrm>
                <a:off x="7517867" y="5263560"/>
                <a:ext cx="486911" cy="358912"/>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a:rPr lang="en-US" b="0" i="1" dirty="0" smtClean="0">
                          <a:solidFill>
                            <a:srgbClr val="00B0F0"/>
                          </a:solidFill>
                          <a:latin typeface="Cambria Math" panose="02040503050406030204" pitchFamily="18" charset="0"/>
                        </a:rPr>
                        <m:t>𝑧</m:t>
                      </m:r>
                    </m:oMath>
                  </m:oMathPara>
                </a14:m>
                <a:endParaRPr lang="en-GB" dirty="0">
                  <a:solidFill>
                    <a:srgbClr val="00B0F0"/>
                  </a:solidFill>
                </a:endParaRPr>
              </a:p>
            </p:txBody>
          </p:sp>
        </mc:Choice>
        <mc:Fallback xmlns="">
          <p:sp>
            <p:nvSpPr>
              <p:cNvPr id="46" name="TextBox 45">
                <a:extLst>
                  <a:ext uri="{FF2B5EF4-FFF2-40B4-BE49-F238E27FC236}">
                    <a16:creationId xmlns:a16="http://schemas.microsoft.com/office/drawing/2014/main" id="{B24AD072-1B9F-E269-AD74-18FD7009DC81}"/>
                  </a:ext>
                </a:extLst>
              </p:cNvPr>
              <p:cNvSpPr txBox="1">
                <a:spLocks noRot="1" noChangeAspect="1" noMove="1" noResize="1" noEditPoints="1" noAdjustHandles="1" noChangeArrowheads="1" noChangeShapeType="1" noTextEdit="1"/>
              </p:cNvSpPr>
              <p:nvPr/>
            </p:nvSpPr>
            <p:spPr>
              <a:xfrm>
                <a:off x="7517867" y="5263560"/>
                <a:ext cx="486911" cy="358912"/>
              </a:xfrm>
              <a:prstGeom prst="rect">
                <a:avLst/>
              </a:prstGeom>
              <a:blipFill>
                <a:blip r:embed="rId6"/>
                <a:stretch>
                  <a:fillRect/>
                </a:stretch>
              </a:blipFill>
            </p:spPr>
            <p:txBody>
              <a:bodyPr/>
              <a:lstStyle/>
              <a:p>
                <a:r>
                  <a:rPr lang="en-GB">
                    <a:noFill/>
                  </a:rPr>
                  <a:t> </a:t>
                </a:r>
              </a:p>
            </p:txBody>
          </p:sp>
        </mc:Fallback>
      </mc:AlternateContent>
      <p:grpSp>
        <p:nvGrpSpPr>
          <p:cNvPr id="19" name="Group 18">
            <a:extLst>
              <a:ext uri="{FF2B5EF4-FFF2-40B4-BE49-F238E27FC236}">
                <a16:creationId xmlns:a16="http://schemas.microsoft.com/office/drawing/2014/main" id="{A0165BDF-8B63-968F-0589-630A533146FE}"/>
              </a:ext>
            </a:extLst>
          </p:cNvPr>
          <p:cNvGrpSpPr/>
          <p:nvPr/>
        </p:nvGrpSpPr>
        <p:grpSpPr>
          <a:xfrm>
            <a:off x="7178379" y="4782047"/>
            <a:ext cx="418579" cy="594214"/>
            <a:chOff x="4557905" y="4542103"/>
            <a:chExt cx="358295" cy="508635"/>
          </a:xfrm>
        </p:grpSpPr>
        <p:cxnSp>
          <p:nvCxnSpPr>
            <p:cNvPr id="20" name="Straight Arrow Connector 19">
              <a:extLst>
                <a:ext uri="{FF2B5EF4-FFF2-40B4-BE49-F238E27FC236}">
                  <a16:creationId xmlns:a16="http://schemas.microsoft.com/office/drawing/2014/main" id="{1109CA2B-F4CF-7BD4-7E21-03BBA7E3F428}"/>
                </a:ext>
              </a:extLst>
            </p:cNvPr>
            <p:cNvCxnSpPr>
              <a:cxnSpLocks/>
            </p:cNvCxnSpPr>
            <p:nvPr/>
          </p:nvCxnSpPr>
          <p:spPr>
            <a:xfrm flipH="1">
              <a:off x="4748214" y="4874814"/>
              <a:ext cx="156378" cy="175924"/>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A0C06DC-2B44-569D-8DA7-4096DFF58504}"/>
                </a:ext>
              </a:extLst>
            </p:cNvPr>
            <p:cNvCxnSpPr/>
            <p:nvPr/>
          </p:nvCxnSpPr>
          <p:spPr>
            <a:xfrm flipV="1">
              <a:off x="4903097" y="4542103"/>
              <a:ext cx="0" cy="34412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D61F1B5-1829-3DAB-BEEB-691FB6B86281}"/>
                </a:ext>
              </a:extLst>
            </p:cNvPr>
            <p:cNvCxnSpPr>
              <a:cxnSpLocks/>
            </p:cNvCxnSpPr>
            <p:nvPr/>
          </p:nvCxnSpPr>
          <p:spPr>
            <a:xfrm flipH="1">
              <a:off x="4557905" y="4874814"/>
              <a:ext cx="358295"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CD3C9C39-9F62-F5F7-B077-5939CE09F75C}"/>
              </a:ext>
            </a:extLst>
          </p:cNvPr>
          <p:cNvGrpSpPr/>
          <p:nvPr/>
        </p:nvGrpSpPr>
        <p:grpSpPr>
          <a:xfrm rot="18075836">
            <a:off x="5163721" y="5523538"/>
            <a:ext cx="418579" cy="594214"/>
            <a:chOff x="4557905" y="4542103"/>
            <a:chExt cx="358295" cy="508635"/>
          </a:xfrm>
        </p:grpSpPr>
        <p:cxnSp>
          <p:nvCxnSpPr>
            <p:cNvPr id="25" name="Straight Arrow Connector 24">
              <a:extLst>
                <a:ext uri="{FF2B5EF4-FFF2-40B4-BE49-F238E27FC236}">
                  <a16:creationId xmlns:a16="http://schemas.microsoft.com/office/drawing/2014/main" id="{806D160E-B622-E867-431B-34CA535D12A4}"/>
                </a:ext>
              </a:extLst>
            </p:cNvPr>
            <p:cNvCxnSpPr>
              <a:cxnSpLocks/>
            </p:cNvCxnSpPr>
            <p:nvPr/>
          </p:nvCxnSpPr>
          <p:spPr>
            <a:xfrm flipH="1">
              <a:off x="4748214" y="4874814"/>
              <a:ext cx="156378" cy="175924"/>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526ECB4-33AA-984A-A82A-34F38273D742}"/>
                </a:ext>
              </a:extLst>
            </p:cNvPr>
            <p:cNvCxnSpPr/>
            <p:nvPr/>
          </p:nvCxnSpPr>
          <p:spPr>
            <a:xfrm flipV="1">
              <a:off x="4903097" y="4542103"/>
              <a:ext cx="0" cy="34412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E85030B-FF70-C6D4-50F5-6D90710120E7}"/>
                </a:ext>
              </a:extLst>
            </p:cNvPr>
            <p:cNvCxnSpPr>
              <a:cxnSpLocks/>
            </p:cNvCxnSpPr>
            <p:nvPr/>
          </p:nvCxnSpPr>
          <p:spPr>
            <a:xfrm flipH="1">
              <a:off x="4557905" y="4874814"/>
              <a:ext cx="358295"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666946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AEE1D7-E615-7BD8-14E6-5F4C23A7142C}"/>
              </a:ext>
            </a:extLst>
          </p:cNvPr>
          <p:cNvSpPr>
            <a:spLocks noGrp="1"/>
          </p:cNvSpPr>
          <p:nvPr>
            <p:ph idx="1"/>
          </p:nvPr>
        </p:nvSpPr>
        <p:spPr/>
        <p:txBody>
          <a:bodyPr/>
          <a:lstStyle/>
          <a:p>
            <a:pPr marL="457200" indent="-457200">
              <a:buFont typeface="+mj-lt"/>
              <a:buAutoNum type="arabicPeriod"/>
            </a:pPr>
            <a:r>
              <a:rPr lang="en-US" b="0" dirty="0"/>
              <a:t>Problem context – CERN Robotics Framework</a:t>
            </a:r>
          </a:p>
          <a:p>
            <a:pPr marL="457200" indent="-457200">
              <a:buFont typeface="+mj-lt"/>
              <a:buAutoNum type="arabicPeriod"/>
            </a:pPr>
            <a:r>
              <a:rPr lang="en-US" b="0" dirty="0"/>
              <a:t>Task Trajectory Generator design</a:t>
            </a:r>
          </a:p>
          <a:p>
            <a:pPr marL="742950" lvl="1" indent="-457200">
              <a:buFont typeface="+mj-lt"/>
              <a:buAutoNum type="arabicPeriod"/>
            </a:pPr>
            <a:r>
              <a:rPr lang="en-US" b="1" dirty="0"/>
              <a:t>Cubic Polynomial algorithm</a:t>
            </a:r>
          </a:p>
          <a:p>
            <a:pPr marL="742950" lvl="1" indent="-457200">
              <a:buFont typeface="+mj-lt"/>
              <a:buAutoNum type="arabicPeriod"/>
            </a:pPr>
            <a:r>
              <a:rPr lang="en-US" dirty="0"/>
              <a:t>Cubic Orientation Spline algorithm</a:t>
            </a:r>
            <a:endParaRPr lang="en-US" b="0" dirty="0"/>
          </a:p>
          <a:p>
            <a:pPr marL="457200" indent="-457200">
              <a:buFont typeface="+mj-lt"/>
              <a:buAutoNum type="arabicPeriod"/>
            </a:pPr>
            <a:r>
              <a:rPr lang="en-US" b="0" dirty="0"/>
              <a:t>Demonstration</a:t>
            </a:r>
          </a:p>
          <a:p>
            <a:pPr marL="457200" indent="-457200">
              <a:buFont typeface="+mj-lt"/>
              <a:buAutoNum type="arabicPeriod"/>
            </a:pPr>
            <a:r>
              <a:rPr lang="en-US" b="0" dirty="0"/>
              <a:t>Future work</a:t>
            </a:r>
          </a:p>
          <a:p>
            <a:pPr marL="457200" indent="-457200">
              <a:buFont typeface="+mj-lt"/>
              <a:buAutoNum type="arabicPeriod"/>
            </a:pPr>
            <a:endParaRPr lang="en-GB" b="0" dirty="0"/>
          </a:p>
        </p:txBody>
      </p:sp>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Content</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20</a:t>
            </a:fld>
            <a:endParaRPr lang="en-US" dirty="0"/>
          </a:p>
        </p:txBody>
      </p:sp>
    </p:spTree>
    <p:extLst>
      <p:ext uri="{BB962C8B-B14F-4D97-AF65-F5344CB8AC3E}">
        <p14:creationId xmlns:p14="http://schemas.microsoft.com/office/powerpoint/2010/main" val="16942108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Task Trajectory Generator Design</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21</a:t>
            </a:fld>
            <a:endParaRPr lang="en-US" dirty="0"/>
          </a:p>
        </p:txBody>
      </p:sp>
      <p:sp>
        <p:nvSpPr>
          <p:cNvPr id="50" name="Rectangle 4">
            <a:extLst>
              <a:ext uri="{FF2B5EF4-FFF2-40B4-BE49-F238E27FC236}">
                <a16:creationId xmlns:a16="http://schemas.microsoft.com/office/drawing/2014/main" id="{793AA8BF-5CF0-3298-6941-BBF49A70245E}"/>
              </a:ext>
            </a:extLst>
          </p:cNvPr>
          <p:cNvSpPr>
            <a:spLocks noChangeArrowheads="1"/>
          </p:cNvSpPr>
          <p:nvPr/>
        </p:nvSpPr>
        <p:spPr bwMode="auto">
          <a:xfrm>
            <a:off x="488952" y="1305290"/>
            <a:ext cx="6026148"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i="0" u="none" strike="noStrike" cap="none" normalizeH="0" baseline="0" dirty="0">
                <a:ln>
                  <a:noFill/>
                </a:ln>
                <a:solidFill>
                  <a:srgbClr val="D6D6D6"/>
                </a:solidFill>
                <a:effectLst/>
                <a:latin typeface="Cascadia Code" panose="020B0609020000020004" pitchFamily="49" charset="0"/>
                <a:cs typeface="Cascadia Code" panose="020B0609020000020004" pitchFamily="49" charset="0"/>
              </a:rPr>
              <a:t>struct </a:t>
            </a:r>
            <a:r>
              <a:rPr kumimoji="0" lang="en-US" altLang="en-US" sz="1200" i="0" u="none" strike="noStrike" cap="none" normalizeH="0" baseline="0" dirty="0" err="1">
                <a:ln>
                  <a:noFill/>
                </a:ln>
                <a:solidFill>
                  <a:srgbClr val="D6D6D6"/>
                </a:solidFill>
                <a:effectLst/>
                <a:latin typeface="Cascadia Code" panose="020B0609020000020004" pitchFamily="49" charset="0"/>
                <a:cs typeface="Cascadia Code" panose="020B0609020000020004" pitchFamily="49" charset="0"/>
              </a:rPr>
              <a:t>TaskTrajectory</a:t>
            </a:r>
            <a:r>
              <a:rPr kumimoji="0" lang="en-US" altLang="en-US" sz="1200" i="0" u="none" strike="noStrike" cap="none" normalizeH="0" baseline="0" dirty="0">
                <a:ln>
                  <a:noFill/>
                </a:ln>
                <a:solidFill>
                  <a:srgbClr val="D6D6D6"/>
                </a:solidFill>
                <a:effectLst/>
                <a:latin typeface="Cascadia Code" panose="020B0609020000020004" pitchFamily="49" charset="0"/>
                <a:cs typeface="Cascadia Code" panose="020B06090200000200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D6D6D6"/>
                </a:solidFill>
                <a:effectLst/>
                <a:latin typeface="Cascadia Code" panose="020B0609020000020004" pitchFamily="49" charset="0"/>
                <a:cs typeface="Cascadia Code" panose="020B0609020000020004" pitchFamily="49" charset="0"/>
              </a:rPr>
              <a:t>  public:</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rgbClr val="D6D6D6"/>
                </a:solidFill>
                <a:latin typeface="Cascadia Code" panose="020B0609020000020004" pitchFamily="49" charset="0"/>
                <a:cs typeface="Cascadia Code" panose="020B0609020000020004" pitchFamily="49" charset="0"/>
              </a:rPr>
              <a:t>    </a:t>
            </a:r>
            <a:r>
              <a:rPr kumimoji="0" lang="en-US" altLang="en-US" sz="1200" i="0" u="none" strike="noStrike" cap="none" normalizeH="0" baseline="0" dirty="0">
                <a:ln>
                  <a:noFill/>
                </a:ln>
                <a:solidFill>
                  <a:srgbClr val="D6D6D6"/>
                </a:solidFill>
                <a:effectLst/>
                <a:latin typeface="Cascadia Code" panose="020B0609020000020004" pitchFamily="49" charset="0"/>
                <a:cs typeface="Cascadia Code" panose="020B0609020000020004" pitchFamily="49" charset="0"/>
              </a:rPr>
              <a:t>std::</a:t>
            </a:r>
            <a:r>
              <a:rPr kumimoji="0" lang="en-US" altLang="en-US" sz="1200" i="0" u="none" strike="noStrike" cap="none" normalizeH="0" baseline="0" dirty="0" err="1">
                <a:ln>
                  <a:noFill/>
                </a:ln>
                <a:solidFill>
                  <a:srgbClr val="D6D6D6"/>
                </a:solidFill>
                <a:effectLst/>
                <a:latin typeface="Cascadia Code" panose="020B0609020000020004" pitchFamily="49" charset="0"/>
                <a:cs typeface="Cascadia Code" panose="020B0609020000020004" pitchFamily="49" charset="0"/>
              </a:rPr>
              <a:t>shared_ptr</a:t>
            </a:r>
            <a:r>
              <a:rPr kumimoji="0" lang="en-US" altLang="en-US" sz="1200" i="0" u="none" strike="noStrike" cap="none" normalizeH="0" baseline="0" dirty="0">
                <a:ln>
                  <a:noFill/>
                </a:ln>
                <a:solidFill>
                  <a:srgbClr val="D6D6D6"/>
                </a:solidFill>
                <a:effectLst/>
                <a:latin typeface="Cascadia Code" panose="020B0609020000020004" pitchFamily="49" charset="0"/>
                <a:cs typeface="Cascadia Code" panose="020B0609020000020004" pitchFamily="49" charset="0"/>
              </a:rPr>
              <a:t>&lt;std::array&lt;</a:t>
            </a:r>
            <a:r>
              <a:rPr kumimoji="0" lang="en-US" altLang="en-US" sz="1200" b="1" i="0" u="none" strike="noStrike" cap="none" normalizeH="0" baseline="0" dirty="0" err="1">
                <a:ln>
                  <a:noFill/>
                </a:ln>
                <a:solidFill>
                  <a:srgbClr val="003399"/>
                </a:solidFill>
                <a:effectLst/>
                <a:latin typeface="Cascadia Code" panose="020B0609020000020004" pitchFamily="49" charset="0"/>
                <a:cs typeface="Cascadia Code" panose="020B0609020000020004" pitchFamily="49" charset="0"/>
              </a:rPr>
              <a:t>CubicPolynomial</a:t>
            </a:r>
            <a:r>
              <a:rPr kumimoji="0" lang="en-US" altLang="en-US" sz="1200" i="0" u="none" strike="noStrike" cap="none" normalizeH="0" baseline="0" dirty="0">
                <a:ln>
                  <a:noFill/>
                </a:ln>
                <a:solidFill>
                  <a:srgbClr val="D6D6D6"/>
                </a:solidFill>
                <a:effectLst/>
                <a:latin typeface="Cascadia Code" panose="020B0609020000020004" pitchFamily="49" charset="0"/>
                <a:cs typeface="Cascadia Code" panose="020B0609020000020004" pitchFamily="49" charset="0"/>
              </a:rPr>
              <a:t>, 3&gt;&gt; linear;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rgbClr val="D6D6D6"/>
                </a:solidFill>
                <a:latin typeface="Cascadia Code" panose="020B0609020000020004" pitchFamily="49" charset="0"/>
                <a:cs typeface="Cascadia Code" panose="020B0609020000020004" pitchFamily="49" charset="0"/>
              </a:rPr>
              <a:t>   </a:t>
            </a:r>
            <a:r>
              <a:rPr kumimoji="0" lang="en-US" altLang="en-US" sz="1200" i="0" u="none" strike="noStrike" cap="none" normalizeH="0" baseline="0" dirty="0">
                <a:ln>
                  <a:noFill/>
                </a:ln>
                <a:solidFill>
                  <a:srgbClr val="D6D6D6"/>
                </a:solidFill>
                <a:effectLst/>
                <a:latin typeface="Cascadia Code" panose="020B0609020000020004" pitchFamily="49" charset="0"/>
                <a:cs typeface="Cascadia Code" panose="020B0609020000020004" pitchFamily="49" charset="0"/>
              </a:rPr>
              <a:t> std::</a:t>
            </a:r>
            <a:r>
              <a:rPr kumimoji="0" lang="en-US" altLang="en-US" sz="1200" i="0" u="none" strike="noStrike" cap="none" normalizeH="0" baseline="0" dirty="0" err="1">
                <a:ln>
                  <a:noFill/>
                </a:ln>
                <a:solidFill>
                  <a:srgbClr val="D6D6D6"/>
                </a:solidFill>
                <a:effectLst/>
                <a:latin typeface="Cascadia Code" panose="020B0609020000020004" pitchFamily="49" charset="0"/>
                <a:cs typeface="Cascadia Code" panose="020B0609020000020004" pitchFamily="49" charset="0"/>
              </a:rPr>
              <a:t>shared_ptr</a:t>
            </a:r>
            <a:r>
              <a:rPr kumimoji="0" lang="en-US" altLang="en-US" sz="1200" i="0" u="none" strike="noStrike" cap="none" normalizeH="0" baseline="0" dirty="0">
                <a:ln>
                  <a:noFill/>
                </a:ln>
                <a:solidFill>
                  <a:srgbClr val="D6D6D6"/>
                </a:solidFill>
                <a:effectLst/>
                <a:latin typeface="Cascadia Code" panose="020B0609020000020004" pitchFamily="49" charset="0"/>
                <a:cs typeface="Cascadia Code" panose="020B0609020000020004" pitchFamily="49" charset="0"/>
              </a:rPr>
              <a:t>&lt;</a:t>
            </a:r>
            <a:r>
              <a:rPr kumimoji="0" lang="en-US" altLang="en-US" sz="1200" i="0" u="none" strike="noStrike" cap="none" normalizeH="0" baseline="0" dirty="0" err="1">
                <a:ln>
                  <a:noFill/>
                </a:ln>
                <a:solidFill>
                  <a:srgbClr val="D6D6D6"/>
                </a:solidFill>
                <a:effectLst/>
                <a:latin typeface="Cascadia Code" panose="020B0609020000020004" pitchFamily="49" charset="0"/>
                <a:cs typeface="Cascadia Code" panose="020B0609020000020004" pitchFamily="49" charset="0"/>
              </a:rPr>
              <a:t>CubicOrientationSpline</a:t>
            </a:r>
            <a:r>
              <a:rPr kumimoji="0" lang="en-US" altLang="en-US" sz="1200" i="0" u="none" strike="noStrike" cap="none" normalizeH="0" baseline="0" dirty="0">
                <a:ln>
                  <a:noFill/>
                </a:ln>
                <a:solidFill>
                  <a:srgbClr val="D6D6D6"/>
                </a:solidFill>
                <a:effectLst/>
                <a:latin typeface="Cascadia Code" panose="020B0609020000020004" pitchFamily="49" charset="0"/>
                <a:cs typeface="Cascadia Code" panose="020B0609020000020004" pitchFamily="49" charset="0"/>
              </a:rPr>
              <a:t>&gt; angular;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rgbClr val="D6D6D6"/>
                </a:solidFill>
                <a:latin typeface="Cascadia Code" panose="020B0609020000020004" pitchFamily="49" charset="0"/>
                <a:cs typeface="Cascadia Code" panose="020B0609020000020004" pitchFamily="49" charset="0"/>
              </a:rPr>
              <a:t>};</a:t>
            </a:r>
            <a:endParaRPr kumimoji="0" lang="en-US" altLang="en-US" sz="1200" b="0" i="0" u="none" strike="noStrike" cap="none" normalizeH="0" baseline="0" dirty="0">
              <a:ln>
                <a:noFill/>
              </a:ln>
              <a:solidFill>
                <a:srgbClr val="D6D6D6"/>
              </a:solidFill>
              <a:effectLst/>
              <a:latin typeface="Cascadia Code" panose="020B0609020000020004" pitchFamily="49" charset="0"/>
              <a:cs typeface="Cascadia Code" panose="020B0609020000020004" pitchFamily="49" charset="0"/>
            </a:endParaRPr>
          </a:p>
        </p:txBody>
      </p:sp>
      <p:sp>
        <p:nvSpPr>
          <p:cNvPr id="52" name="Rectangle: Rounded Corners 51">
            <a:extLst>
              <a:ext uri="{FF2B5EF4-FFF2-40B4-BE49-F238E27FC236}">
                <a16:creationId xmlns:a16="http://schemas.microsoft.com/office/drawing/2014/main" id="{49564466-CFE4-760C-F5F9-888420D28254}"/>
              </a:ext>
            </a:extLst>
          </p:cNvPr>
          <p:cNvSpPr/>
          <p:nvPr/>
        </p:nvSpPr>
        <p:spPr>
          <a:xfrm>
            <a:off x="3279463" y="1367566"/>
            <a:ext cx="1478348" cy="333383"/>
          </a:xfrm>
          <a:prstGeom prst="roundRect">
            <a:avLst/>
          </a:prstGeom>
          <a:solidFill>
            <a:srgbClr val="CDDCF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solidFill>
                  <a:srgbClr val="003399"/>
                </a:solidFill>
              </a:rPr>
              <a:t>CubicPolynomial</a:t>
            </a:r>
            <a:endParaRPr lang="en-GB" sz="1200" dirty="0">
              <a:solidFill>
                <a:srgbClr val="003399"/>
              </a:solidFill>
            </a:endParaRPr>
          </a:p>
        </p:txBody>
      </p:sp>
      <p:sp>
        <p:nvSpPr>
          <p:cNvPr id="8" name="Rectangle: Rounded Corners 7">
            <a:extLst>
              <a:ext uri="{FF2B5EF4-FFF2-40B4-BE49-F238E27FC236}">
                <a16:creationId xmlns:a16="http://schemas.microsoft.com/office/drawing/2014/main" id="{82CA5EE9-9F2A-3619-8911-E9E3AAD59BA9}"/>
              </a:ext>
            </a:extLst>
          </p:cNvPr>
          <p:cNvSpPr/>
          <p:nvPr/>
        </p:nvSpPr>
        <p:spPr>
          <a:xfrm>
            <a:off x="8281752" y="352077"/>
            <a:ext cx="2340363" cy="660640"/>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TaskTrajectoryGenerator</a:t>
            </a:r>
            <a:endParaRPr lang="en-GB" sz="1400" dirty="0">
              <a:solidFill>
                <a:srgbClr val="003399"/>
              </a:solidFill>
            </a:endParaRPr>
          </a:p>
        </p:txBody>
      </p:sp>
      <p:sp>
        <p:nvSpPr>
          <p:cNvPr id="40" name="Freeform 13">
            <a:extLst>
              <a:ext uri="{FF2B5EF4-FFF2-40B4-BE49-F238E27FC236}">
                <a16:creationId xmlns:a16="http://schemas.microsoft.com/office/drawing/2014/main" id="{58A2BE98-AC67-9E71-77B2-97F7AE7162A5}"/>
              </a:ext>
            </a:extLst>
          </p:cNvPr>
          <p:cNvSpPr/>
          <p:nvPr/>
        </p:nvSpPr>
        <p:spPr>
          <a:xfrm>
            <a:off x="6880875" y="1759933"/>
            <a:ext cx="3831102" cy="3818900"/>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dirty="0"/>
          </a:p>
        </p:txBody>
      </p:sp>
      <p:cxnSp>
        <p:nvCxnSpPr>
          <p:cNvPr id="41" name="Straight Arrow Connector 40">
            <a:extLst>
              <a:ext uri="{FF2B5EF4-FFF2-40B4-BE49-F238E27FC236}">
                <a16:creationId xmlns:a16="http://schemas.microsoft.com/office/drawing/2014/main" id="{DBE835DE-74BA-9404-53E6-5E5DE95A3A0B}"/>
              </a:ext>
            </a:extLst>
          </p:cNvPr>
          <p:cNvCxnSpPr>
            <a:cxnSpLocks/>
          </p:cNvCxnSpPr>
          <p:nvPr/>
        </p:nvCxnSpPr>
        <p:spPr>
          <a:xfrm flipH="1">
            <a:off x="6851650" y="5170870"/>
            <a:ext cx="744412" cy="792823"/>
          </a:xfrm>
          <a:prstGeom prst="straightConnector1">
            <a:avLst/>
          </a:prstGeom>
          <a:ln w="15875">
            <a:solidFill>
              <a:srgbClr val="00B050"/>
            </a:solidFill>
            <a:prstDash val="dash"/>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B977DF4A-2D01-E721-F6BA-D86EE743B903}"/>
              </a:ext>
            </a:extLst>
          </p:cNvPr>
          <p:cNvCxnSpPr>
            <a:cxnSpLocks/>
          </p:cNvCxnSpPr>
          <p:nvPr/>
        </p:nvCxnSpPr>
        <p:spPr>
          <a:xfrm flipH="1">
            <a:off x="5854811" y="5169758"/>
            <a:ext cx="1736677" cy="14794"/>
          </a:xfrm>
          <a:prstGeom prst="straightConnector1">
            <a:avLst/>
          </a:prstGeom>
          <a:ln w="15875">
            <a:solidFill>
              <a:srgbClr val="FF0000"/>
            </a:solidFill>
            <a:prstDash val="dash"/>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DA5091B-48E9-9DA4-932E-2D0CAF22E9F1}"/>
              </a:ext>
            </a:extLst>
          </p:cNvPr>
          <p:cNvCxnSpPr>
            <a:cxnSpLocks/>
          </p:cNvCxnSpPr>
          <p:nvPr/>
        </p:nvCxnSpPr>
        <p:spPr>
          <a:xfrm>
            <a:off x="7596062" y="5176665"/>
            <a:ext cx="10467" cy="582513"/>
          </a:xfrm>
          <a:prstGeom prst="straightConnector1">
            <a:avLst/>
          </a:prstGeom>
          <a:ln w="15875">
            <a:solidFill>
              <a:srgbClr val="00B0F0"/>
            </a:solidFill>
            <a:prstDash val="dash"/>
            <a:headEnd w="lg" len="lg"/>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D0790E12-3049-B12E-C229-1E3A4EBD2426}"/>
                  </a:ext>
                </a:extLst>
              </p:cNvPr>
              <p:cNvSpPr txBox="1"/>
              <p:nvPr/>
            </p:nvSpPr>
            <p:spPr>
              <a:xfrm>
                <a:off x="6161254" y="4825640"/>
                <a:ext cx="1249455" cy="358912"/>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𝑥</m:t>
                      </m:r>
                    </m:oMath>
                  </m:oMathPara>
                </a14:m>
                <a:endParaRPr lang="en-GB" dirty="0">
                  <a:solidFill>
                    <a:schemeClr val="tx2"/>
                  </a:solidFill>
                </a:endParaRPr>
              </a:p>
            </p:txBody>
          </p:sp>
        </mc:Choice>
        <mc:Fallback xmlns="">
          <p:sp>
            <p:nvSpPr>
              <p:cNvPr id="47" name="TextBox 46">
                <a:extLst>
                  <a:ext uri="{FF2B5EF4-FFF2-40B4-BE49-F238E27FC236}">
                    <a16:creationId xmlns:a16="http://schemas.microsoft.com/office/drawing/2014/main" id="{D0790E12-3049-B12E-C229-1E3A4EBD2426}"/>
                  </a:ext>
                </a:extLst>
              </p:cNvPr>
              <p:cNvSpPr txBox="1">
                <a:spLocks noRot="1" noChangeAspect="1" noMove="1" noResize="1" noEditPoints="1" noAdjustHandles="1" noChangeArrowheads="1" noChangeShapeType="1" noTextEdit="1"/>
              </p:cNvSpPr>
              <p:nvPr/>
            </p:nvSpPr>
            <p:spPr>
              <a:xfrm>
                <a:off x="6161254" y="4825640"/>
                <a:ext cx="1249455" cy="358912"/>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6145BDC9-5453-623F-7D98-CE7123FE92D3}"/>
                  </a:ext>
                </a:extLst>
              </p:cNvPr>
              <p:cNvSpPr txBox="1"/>
              <p:nvPr/>
            </p:nvSpPr>
            <p:spPr>
              <a:xfrm>
                <a:off x="6701463" y="5510455"/>
                <a:ext cx="1249455" cy="358912"/>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𝑦</m:t>
                      </m:r>
                    </m:oMath>
                  </m:oMathPara>
                </a14:m>
                <a:endParaRPr lang="en-GB" dirty="0">
                  <a:solidFill>
                    <a:srgbClr val="00B050"/>
                  </a:solidFill>
                </a:endParaRPr>
              </a:p>
            </p:txBody>
          </p:sp>
        </mc:Choice>
        <mc:Fallback xmlns="">
          <p:sp>
            <p:nvSpPr>
              <p:cNvPr id="48" name="TextBox 47">
                <a:extLst>
                  <a:ext uri="{FF2B5EF4-FFF2-40B4-BE49-F238E27FC236}">
                    <a16:creationId xmlns:a16="http://schemas.microsoft.com/office/drawing/2014/main" id="{6145BDC9-5453-623F-7D98-CE7123FE92D3}"/>
                  </a:ext>
                </a:extLst>
              </p:cNvPr>
              <p:cNvSpPr txBox="1">
                <a:spLocks noRot="1" noChangeAspect="1" noMove="1" noResize="1" noEditPoints="1" noAdjustHandles="1" noChangeArrowheads="1" noChangeShapeType="1" noTextEdit="1"/>
              </p:cNvSpPr>
              <p:nvPr/>
            </p:nvSpPr>
            <p:spPr>
              <a:xfrm>
                <a:off x="6701463" y="5510455"/>
                <a:ext cx="1249455" cy="358912"/>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1448B14D-A9E4-F9B6-A643-C5D9CA8F240F}"/>
                  </a:ext>
                </a:extLst>
              </p:cNvPr>
              <p:cNvSpPr txBox="1"/>
              <p:nvPr/>
            </p:nvSpPr>
            <p:spPr>
              <a:xfrm>
                <a:off x="7517867" y="5263560"/>
                <a:ext cx="486911" cy="358912"/>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a:rPr lang="en-US" b="0" i="1" dirty="0" smtClean="0">
                          <a:solidFill>
                            <a:srgbClr val="00B0F0"/>
                          </a:solidFill>
                          <a:latin typeface="Cambria Math" panose="02040503050406030204" pitchFamily="18" charset="0"/>
                        </a:rPr>
                        <m:t>𝑧</m:t>
                      </m:r>
                    </m:oMath>
                  </m:oMathPara>
                </a14:m>
                <a:endParaRPr lang="en-GB" dirty="0">
                  <a:solidFill>
                    <a:srgbClr val="00B0F0"/>
                  </a:solidFill>
                </a:endParaRPr>
              </a:p>
            </p:txBody>
          </p:sp>
        </mc:Choice>
        <mc:Fallback xmlns="">
          <p:sp>
            <p:nvSpPr>
              <p:cNvPr id="49" name="TextBox 48">
                <a:extLst>
                  <a:ext uri="{FF2B5EF4-FFF2-40B4-BE49-F238E27FC236}">
                    <a16:creationId xmlns:a16="http://schemas.microsoft.com/office/drawing/2014/main" id="{1448B14D-A9E4-F9B6-A643-C5D9CA8F240F}"/>
                  </a:ext>
                </a:extLst>
              </p:cNvPr>
              <p:cNvSpPr txBox="1">
                <a:spLocks noRot="1" noChangeAspect="1" noMove="1" noResize="1" noEditPoints="1" noAdjustHandles="1" noChangeArrowheads="1" noChangeShapeType="1" noTextEdit="1"/>
              </p:cNvSpPr>
              <p:nvPr/>
            </p:nvSpPr>
            <p:spPr>
              <a:xfrm>
                <a:off x="7517867" y="5263560"/>
                <a:ext cx="486911" cy="358912"/>
              </a:xfrm>
              <a:prstGeom prst="rect">
                <a:avLst/>
              </a:prstGeom>
              <a:blipFill>
                <a:blip r:embed="rId6"/>
                <a:stretch>
                  <a:fillRect/>
                </a:stretch>
              </a:blipFill>
            </p:spPr>
            <p:txBody>
              <a:bodyPr/>
              <a:lstStyle/>
              <a:p>
                <a:r>
                  <a:rPr lang="en-GB">
                    <a:noFill/>
                  </a:rPr>
                  <a:t> </a:t>
                </a:r>
              </a:p>
            </p:txBody>
          </p:sp>
        </mc:Fallback>
      </mc:AlternateContent>
      <p:grpSp>
        <p:nvGrpSpPr>
          <p:cNvPr id="51" name="Group 50">
            <a:extLst>
              <a:ext uri="{FF2B5EF4-FFF2-40B4-BE49-F238E27FC236}">
                <a16:creationId xmlns:a16="http://schemas.microsoft.com/office/drawing/2014/main" id="{776CBD3A-BF9B-7AB1-DD1B-4411309D1F5B}"/>
              </a:ext>
            </a:extLst>
          </p:cNvPr>
          <p:cNvGrpSpPr/>
          <p:nvPr/>
        </p:nvGrpSpPr>
        <p:grpSpPr>
          <a:xfrm>
            <a:off x="7178379" y="4782047"/>
            <a:ext cx="418579" cy="594214"/>
            <a:chOff x="4557905" y="4542103"/>
            <a:chExt cx="358295" cy="508635"/>
          </a:xfrm>
        </p:grpSpPr>
        <p:cxnSp>
          <p:nvCxnSpPr>
            <p:cNvPr id="53" name="Straight Arrow Connector 52">
              <a:extLst>
                <a:ext uri="{FF2B5EF4-FFF2-40B4-BE49-F238E27FC236}">
                  <a16:creationId xmlns:a16="http://schemas.microsoft.com/office/drawing/2014/main" id="{4810B43C-81E9-8867-7EF5-07CD9CFA4779}"/>
                </a:ext>
              </a:extLst>
            </p:cNvPr>
            <p:cNvCxnSpPr>
              <a:cxnSpLocks/>
            </p:cNvCxnSpPr>
            <p:nvPr/>
          </p:nvCxnSpPr>
          <p:spPr>
            <a:xfrm flipH="1">
              <a:off x="4748214" y="4874814"/>
              <a:ext cx="156378" cy="175924"/>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51B35F94-DB11-97F6-3D79-1116292F1A3E}"/>
                </a:ext>
              </a:extLst>
            </p:cNvPr>
            <p:cNvCxnSpPr/>
            <p:nvPr/>
          </p:nvCxnSpPr>
          <p:spPr>
            <a:xfrm flipV="1">
              <a:off x="4903097" y="4542103"/>
              <a:ext cx="0" cy="34412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97841E2E-3C30-9C6F-D5BE-F7B0A6DE7ACB}"/>
                </a:ext>
              </a:extLst>
            </p:cNvPr>
            <p:cNvCxnSpPr>
              <a:cxnSpLocks/>
            </p:cNvCxnSpPr>
            <p:nvPr/>
          </p:nvCxnSpPr>
          <p:spPr>
            <a:xfrm flipH="1">
              <a:off x="4557905" y="4874814"/>
              <a:ext cx="358295"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6" name="Group 55">
            <a:extLst>
              <a:ext uri="{FF2B5EF4-FFF2-40B4-BE49-F238E27FC236}">
                <a16:creationId xmlns:a16="http://schemas.microsoft.com/office/drawing/2014/main" id="{C2D1E71F-45C7-123B-4AB3-3948FB147E80}"/>
              </a:ext>
            </a:extLst>
          </p:cNvPr>
          <p:cNvGrpSpPr/>
          <p:nvPr/>
        </p:nvGrpSpPr>
        <p:grpSpPr>
          <a:xfrm rot="18075836">
            <a:off x="5163721" y="5523538"/>
            <a:ext cx="418579" cy="594214"/>
            <a:chOff x="4557905" y="4542103"/>
            <a:chExt cx="358295" cy="508635"/>
          </a:xfrm>
        </p:grpSpPr>
        <p:cxnSp>
          <p:nvCxnSpPr>
            <p:cNvPr id="57" name="Straight Arrow Connector 56">
              <a:extLst>
                <a:ext uri="{FF2B5EF4-FFF2-40B4-BE49-F238E27FC236}">
                  <a16:creationId xmlns:a16="http://schemas.microsoft.com/office/drawing/2014/main" id="{462DF677-340E-59A3-6823-8CF9EA5E23EF}"/>
                </a:ext>
              </a:extLst>
            </p:cNvPr>
            <p:cNvCxnSpPr>
              <a:cxnSpLocks/>
            </p:cNvCxnSpPr>
            <p:nvPr/>
          </p:nvCxnSpPr>
          <p:spPr>
            <a:xfrm flipH="1">
              <a:off x="4748214" y="4874814"/>
              <a:ext cx="156378" cy="175924"/>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BF12773D-AEE0-BD54-640C-E2ACE93A4478}"/>
                </a:ext>
              </a:extLst>
            </p:cNvPr>
            <p:cNvCxnSpPr/>
            <p:nvPr/>
          </p:nvCxnSpPr>
          <p:spPr>
            <a:xfrm flipV="1">
              <a:off x="4903097" y="4542103"/>
              <a:ext cx="0" cy="34412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5E73C7F1-17B5-AC8B-6C0E-06EC5D039035}"/>
                </a:ext>
              </a:extLst>
            </p:cNvPr>
            <p:cNvCxnSpPr>
              <a:cxnSpLocks/>
            </p:cNvCxnSpPr>
            <p:nvPr/>
          </p:nvCxnSpPr>
          <p:spPr>
            <a:xfrm flipH="1">
              <a:off x="4557905" y="4874814"/>
              <a:ext cx="358295"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769806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Rounded Corners 49">
            <a:extLst>
              <a:ext uri="{FF2B5EF4-FFF2-40B4-BE49-F238E27FC236}">
                <a16:creationId xmlns:a16="http://schemas.microsoft.com/office/drawing/2014/main" id="{C12CF174-25E6-A4D7-3729-558C9F2192D1}"/>
              </a:ext>
            </a:extLst>
          </p:cNvPr>
          <p:cNvSpPr/>
          <p:nvPr/>
        </p:nvSpPr>
        <p:spPr>
          <a:xfrm>
            <a:off x="8292352" y="338085"/>
            <a:ext cx="2303929" cy="622422"/>
          </a:xfrm>
          <a:prstGeom prst="roundRect">
            <a:avLst/>
          </a:prstGeom>
          <a:solidFill>
            <a:srgbClr val="CDDCF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CubicPolynomial</a:t>
            </a:r>
            <a:endParaRPr lang="en-GB" sz="1400" dirty="0">
              <a:solidFill>
                <a:srgbClr val="003399"/>
              </a:solidFill>
            </a:endParaRPr>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22</a:t>
            </a:fld>
            <a:endParaRPr lang="en-US" dirty="0"/>
          </a:p>
        </p:txBody>
      </p:sp>
      <p:pic>
        <p:nvPicPr>
          <p:cNvPr id="8" name="Picture 7">
            <a:extLst>
              <a:ext uri="{FF2B5EF4-FFF2-40B4-BE49-F238E27FC236}">
                <a16:creationId xmlns:a16="http://schemas.microsoft.com/office/drawing/2014/main" id="{B7C62E76-168C-FDCE-A548-98936FF2A86A}"/>
              </a:ext>
            </a:extLst>
          </p:cNvPr>
          <p:cNvPicPr>
            <a:picLocks noChangeAspect="1"/>
          </p:cNvPicPr>
          <p:nvPr/>
        </p:nvPicPr>
        <p:blipFill rotWithShape="1">
          <a:blip r:embed="rId3"/>
          <a:srcRect l="5982" t="3899" r="3838" b="67773"/>
          <a:stretch/>
        </p:blipFill>
        <p:spPr>
          <a:xfrm>
            <a:off x="2281381" y="1149087"/>
            <a:ext cx="7379856" cy="4172785"/>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895BDE9-01C3-C791-ECF6-9C18D726A380}"/>
                  </a:ext>
                </a:extLst>
              </p:cNvPr>
              <p:cNvSpPr txBox="1"/>
              <p:nvPr/>
            </p:nvSpPr>
            <p:spPr>
              <a:xfrm>
                <a:off x="2890983" y="5183372"/>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𝑇</m:t>
                          </m:r>
                        </m:e>
                        <m:sub>
                          <m:r>
                            <a:rPr lang="en-US" b="0" i="1" smtClean="0">
                              <a:solidFill>
                                <a:schemeClr val="tx2"/>
                              </a:solidFill>
                              <a:latin typeface="Cambria Math" panose="02040503050406030204" pitchFamily="18" charset="0"/>
                            </a:rPr>
                            <m:t>1</m:t>
                          </m:r>
                        </m:sub>
                      </m:sSub>
                    </m:oMath>
                  </m:oMathPara>
                </a14:m>
                <a:endParaRPr lang="en-GB" dirty="0">
                  <a:solidFill>
                    <a:schemeClr val="tx2"/>
                  </a:solidFill>
                </a:endParaRPr>
              </a:p>
            </p:txBody>
          </p:sp>
        </mc:Choice>
        <mc:Fallback xmlns="">
          <p:sp>
            <p:nvSpPr>
              <p:cNvPr id="10" name="TextBox 9">
                <a:extLst>
                  <a:ext uri="{FF2B5EF4-FFF2-40B4-BE49-F238E27FC236}">
                    <a16:creationId xmlns:a16="http://schemas.microsoft.com/office/drawing/2014/main" id="{6895BDE9-01C3-C791-ECF6-9C18D726A380}"/>
                  </a:ext>
                </a:extLst>
              </p:cNvPr>
              <p:cNvSpPr txBox="1">
                <a:spLocks noRot="1" noChangeAspect="1" noMove="1" noResize="1" noEditPoints="1" noAdjustHandles="1" noChangeArrowheads="1" noChangeShapeType="1" noTextEdit="1"/>
              </p:cNvSpPr>
              <p:nvPr/>
            </p:nvSpPr>
            <p:spPr>
              <a:xfrm>
                <a:off x="2890983" y="5183372"/>
                <a:ext cx="424873" cy="276999"/>
              </a:xfrm>
              <a:prstGeom prst="rect">
                <a:avLst/>
              </a:prstGeom>
              <a:blipFill>
                <a:blip r:embed="rId4"/>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B068AC-5C5A-8B8E-FBDC-16F9AFD787A3}"/>
                  </a:ext>
                </a:extLst>
              </p:cNvPr>
              <p:cNvSpPr txBox="1"/>
              <p:nvPr/>
            </p:nvSpPr>
            <p:spPr>
              <a:xfrm>
                <a:off x="4345707" y="5183105"/>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𝑇</m:t>
                          </m:r>
                        </m:e>
                        <m:sub>
                          <m:r>
                            <a:rPr lang="en-US" b="0" i="1" smtClean="0">
                              <a:solidFill>
                                <a:schemeClr val="tx2"/>
                              </a:solidFill>
                              <a:latin typeface="Cambria Math" panose="02040503050406030204" pitchFamily="18" charset="0"/>
                            </a:rPr>
                            <m:t>2</m:t>
                          </m:r>
                        </m:sub>
                      </m:sSub>
                    </m:oMath>
                  </m:oMathPara>
                </a14:m>
                <a:endParaRPr lang="en-GB" dirty="0">
                  <a:solidFill>
                    <a:schemeClr val="tx2"/>
                  </a:solidFill>
                </a:endParaRPr>
              </a:p>
            </p:txBody>
          </p:sp>
        </mc:Choice>
        <mc:Fallback xmlns="">
          <p:sp>
            <p:nvSpPr>
              <p:cNvPr id="11" name="TextBox 10">
                <a:extLst>
                  <a:ext uri="{FF2B5EF4-FFF2-40B4-BE49-F238E27FC236}">
                    <a16:creationId xmlns:a16="http://schemas.microsoft.com/office/drawing/2014/main" id="{EDB068AC-5C5A-8B8E-FBDC-16F9AFD787A3}"/>
                  </a:ext>
                </a:extLst>
              </p:cNvPr>
              <p:cNvSpPr txBox="1">
                <a:spLocks noRot="1" noChangeAspect="1" noMove="1" noResize="1" noEditPoints="1" noAdjustHandles="1" noChangeArrowheads="1" noChangeShapeType="1" noTextEdit="1"/>
              </p:cNvSpPr>
              <p:nvPr/>
            </p:nvSpPr>
            <p:spPr>
              <a:xfrm>
                <a:off x="4345707" y="5183105"/>
                <a:ext cx="424873" cy="276999"/>
              </a:xfrm>
              <a:prstGeom prst="rect">
                <a:avLst/>
              </a:prstGeom>
              <a:blipFill>
                <a:blip r:embed="rId5"/>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2A9F42A-BA0C-B5EA-AC2A-B313231783B2}"/>
                  </a:ext>
                </a:extLst>
              </p:cNvPr>
              <p:cNvSpPr txBox="1"/>
              <p:nvPr/>
            </p:nvSpPr>
            <p:spPr>
              <a:xfrm>
                <a:off x="7216903" y="5182930"/>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𝑇</m:t>
                          </m:r>
                        </m:e>
                        <m:sub>
                          <m:r>
                            <a:rPr lang="en-US" b="0" i="1" smtClean="0">
                              <a:solidFill>
                                <a:schemeClr val="tx2"/>
                              </a:solidFill>
                              <a:latin typeface="Cambria Math" panose="02040503050406030204" pitchFamily="18" charset="0"/>
                            </a:rPr>
                            <m:t>4</m:t>
                          </m:r>
                        </m:sub>
                      </m:sSub>
                    </m:oMath>
                  </m:oMathPara>
                </a14:m>
                <a:endParaRPr lang="en-GB" dirty="0">
                  <a:solidFill>
                    <a:schemeClr val="tx2"/>
                  </a:solidFill>
                </a:endParaRPr>
              </a:p>
            </p:txBody>
          </p:sp>
        </mc:Choice>
        <mc:Fallback xmlns="">
          <p:sp>
            <p:nvSpPr>
              <p:cNvPr id="13" name="TextBox 12">
                <a:extLst>
                  <a:ext uri="{FF2B5EF4-FFF2-40B4-BE49-F238E27FC236}">
                    <a16:creationId xmlns:a16="http://schemas.microsoft.com/office/drawing/2014/main" id="{02A9F42A-BA0C-B5EA-AC2A-B313231783B2}"/>
                  </a:ext>
                </a:extLst>
              </p:cNvPr>
              <p:cNvSpPr txBox="1">
                <a:spLocks noRot="1" noChangeAspect="1" noMove="1" noResize="1" noEditPoints="1" noAdjustHandles="1" noChangeArrowheads="1" noChangeShapeType="1" noTextEdit="1"/>
              </p:cNvSpPr>
              <p:nvPr/>
            </p:nvSpPr>
            <p:spPr>
              <a:xfrm>
                <a:off x="7216903" y="5182930"/>
                <a:ext cx="424873" cy="276999"/>
              </a:xfrm>
              <a:prstGeom prst="rect">
                <a:avLst/>
              </a:prstGeom>
              <a:blipFill>
                <a:blip r:embed="rId6"/>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77EF17F-3904-74F8-27F4-046C3FA94068}"/>
                  </a:ext>
                </a:extLst>
              </p:cNvPr>
              <p:cNvSpPr txBox="1"/>
              <p:nvPr/>
            </p:nvSpPr>
            <p:spPr>
              <a:xfrm>
                <a:off x="8654312" y="5182929"/>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𝑇</m:t>
                          </m:r>
                        </m:e>
                        <m:sub>
                          <m:r>
                            <a:rPr lang="en-US" b="0" i="1" smtClean="0">
                              <a:solidFill>
                                <a:schemeClr val="tx2"/>
                              </a:solidFill>
                              <a:latin typeface="Cambria Math" panose="02040503050406030204" pitchFamily="18" charset="0"/>
                            </a:rPr>
                            <m:t>5</m:t>
                          </m:r>
                        </m:sub>
                      </m:sSub>
                    </m:oMath>
                  </m:oMathPara>
                </a14:m>
                <a:endParaRPr lang="en-GB" dirty="0">
                  <a:solidFill>
                    <a:schemeClr val="tx2"/>
                  </a:solidFill>
                </a:endParaRPr>
              </a:p>
            </p:txBody>
          </p:sp>
        </mc:Choice>
        <mc:Fallback xmlns="">
          <p:sp>
            <p:nvSpPr>
              <p:cNvPr id="14" name="TextBox 13">
                <a:extLst>
                  <a:ext uri="{FF2B5EF4-FFF2-40B4-BE49-F238E27FC236}">
                    <a16:creationId xmlns:a16="http://schemas.microsoft.com/office/drawing/2014/main" id="{C77EF17F-3904-74F8-27F4-046C3FA94068}"/>
                  </a:ext>
                </a:extLst>
              </p:cNvPr>
              <p:cNvSpPr txBox="1">
                <a:spLocks noRot="1" noChangeAspect="1" noMove="1" noResize="1" noEditPoints="1" noAdjustHandles="1" noChangeArrowheads="1" noChangeShapeType="1" noTextEdit="1"/>
              </p:cNvSpPr>
              <p:nvPr/>
            </p:nvSpPr>
            <p:spPr>
              <a:xfrm>
                <a:off x="8654312" y="5182929"/>
                <a:ext cx="424873" cy="276999"/>
              </a:xfrm>
              <a:prstGeom prst="rect">
                <a:avLst/>
              </a:prstGeom>
              <a:blipFill>
                <a:blip r:embed="rId7"/>
                <a:stretch>
                  <a:fillRect b="-17391"/>
                </a:stretch>
              </a:blipFill>
            </p:spPr>
            <p:txBody>
              <a:bodyPr/>
              <a:lstStyle/>
              <a:p>
                <a:r>
                  <a:rPr lang="en-GB">
                    <a:noFill/>
                  </a:rPr>
                  <a:t> </a:t>
                </a:r>
              </a:p>
            </p:txBody>
          </p:sp>
        </mc:Fallback>
      </mc:AlternateContent>
      <p:sp>
        <p:nvSpPr>
          <p:cNvPr id="16" name="Left Brace 15">
            <a:extLst>
              <a:ext uri="{FF2B5EF4-FFF2-40B4-BE49-F238E27FC236}">
                <a16:creationId xmlns:a16="http://schemas.microsoft.com/office/drawing/2014/main" id="{80F08AAC-EE95-80CB-929F-F6DD7C182CF0}"/>
              </a:ext>
            </a:extLst>
          </p:cNvPr>
          <p:cNvSpPr/>
          <p:nvPr/>
        </p:nvSpPr>
        <p:spPr>
          <a:xfrm rot="16200000">
            <a:off x="3690227" y="4857546"/>
            <a:ext cx="271137" cy="1475903"/>
          </a:xfrm>
          <a:prstGeom prst="leftBrace">
            <a:avLst/>
          </a:prstGeom>
          <a:ln>
            <a:solidFill>
              <a:srgbClr val="30303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3" name="Left Brace 22">
            <a:extLst>
              <a:ext uri="{FF2B5EF4-FFF2-40B4-BE49-F238E27FC236}">
                <a16:creationId xmlns:a16="http://schemas.microsoft.com/office/drawing/2014/main" id="{FFCF4BF6-1390-F75B-E856-950D27890B01}"/>
              </a:ext>
            </a:extLst>
          </p:cNvPr>
          <p:cNvSpPr/>
          <p:nvPr/>
        </p:nvSpPr>
        <p:spPr>
          <a:xfrm rot="16200000">
            <a:off x="5130099" y="4894018"/>
            <a:ext cx="270695" cy="1403399"/>
          </a:xfrm>
          <a:prstGeom prst="leftBrace">
            <a:avLst/>
          </a:prstGeom>
          <a:ln>
            <a:solidFill>
              <a:srgbClr val="30303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4" name="Left Brace 23">
            <a:extLst>
              <a:ext uri="{FF2B5EF4-FFF2-40B4-BE49-F238E27FC236}">
                <a16:creationId xmlns:a16="http://schemas.microsoft.com/office/drawing/2014/main" id="{9945BCB2-6066-A680-F595-AC8B663D5059}"/>
              </a:ext>
            </a:extLst>
          </p:cNvPr>
          <p:cNvSpPr/>
          <p:nvPr/>
        </p:nvSpPr>
        <p:spPr>
          <a:xfrm rot="16200000">
            <a:off x="6571394" y="4857546"/>
            <a:ext cx="271137" cy="1475904"/>
          </a:xfrm>
          <a:prstGeom prst="leftBrace">
            <a:avLst/>
          </a:prstGeom>
          <a:ln>
            <a:solidFill>
              <a:srgbClr val="30303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6" name="Left Brace 25">
            <a:extLst>
              <a:ext uri="{FF2B5EF4-FFF2-40B4-BE49-F238E27FC236}">
                <a16:creationId xmlns:a16="http://schemas.microsoft.com/office/drawing/2014/main" id="{F59322BC-E92B-AE5A-E0EF-73C85A9F3C96}"/>
              </a:ext>
            </a:extLst>
          </p:cNvPr>
          <p:cNvSpPr/>
          <p:nvPr/>
        </p:nvSpPr>
        <p:spPr>
          <a:xfrm rot="16200000">
            <a:off x="8008292" y="4889183"/>
            <a:ext cx="278506" cy="1405261"/>
          </a:xfrm>
          <a:prstGeom prst="leftBrace">
            <a:avLst/>
          </a:prstGeom>
          <a:ln>
            <a:solidFill>
              <a:srgbClr val="30303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4866DD2F-E681-1BCB-4F30-1E26F7C05A4B}"/>
                  </a:ext>
                </a:extLst>
              </p:cNvPr>
              <p:cNvSpPr txBox="1"/>
              <p:nvPr/>
            </p:nvSpPr>
            <p:spPr>
              <a:xfrm>
                <a:off x="2775530" y="4397590"/>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𝑃</m:t>
                          </m:r>
                        </m:e>
                        <m:sub>
                          <m:r>
                            <a:rPr lang="en-US" b="0" i="1" smtClean="0">
                              <a:solidFill>
                                <a:schemeClr val="tx2"/>
                              </a:solidFill>
                              <a:latin typeface="Cambria Math" panose="02040503050406030204" pitchFamily="18" charset="0"/>
                            </a:rPr>
                            <m:t>1</m:t>
                          </m:r>
                        </m:sub>
                      </m:sSub>
                    </m:oMath>
                  </m:oMathPara>
                </a14:m>
                <a:endParaRPr lang="en-GB" dirty="0">
                  <a:solidFill>
                    <a:schemeClr val="tx2"/>
                  </a:solidFill>
                </a:endParaRPr>
              </a:p>
            </p:txBody>
          </p:sp>
        </mc:Choice>
        <mc:Fallback xmlns="">
          <p:sp>
            <p:nvSpPr>
              <p:cNvPr id="27" name="TextBox 26">
                <a:extLst>
                  <a:ext uri="{FF2B5EF4-FFF2-40B4-BE49-F238E27FC236}">
                    <a16:creationId xmlns:a16="http://schemas.microsoft.com/office/drawing/2014/main" id="{4866DD2F-E681-1BCB-4F30-1E26F7C05A4B}"/>
                  </a:ext>
                </a:extLst>
              </p:cNvPr>
              <p:cNvSpPr txBox="1">
                <a:spLocks noRot="1" noChangeAspect="1" noMove="1" noResize="1" noEditPoints="1" noAdjustHandles="1" noChangeArrowheads="1" noChangeShapeType="1" noTextEdit="1"/>
              </p:cNvSpPr>
              <p:nvPr/>
            </p:nvSpPr>
            <p:spPr>
              <a:xfrm>
                <a:off x="2775530" y="4397590"/>
                <a:ext cx="424873" cy="276999"/>
              </a:xfrm>
              <a:prstGeom prst="rect">
                <a:avLst/>
              </a:prstGeom>
              <a:blipFill>
                <a:blip r:embed="rId8"/>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AC3543CA-1683-D978-C4B4-AC452CBD135C}"/>
                  </a:ext>
                </a:extLst>
              </p:cNvPr>
              <p:cNvSpPr txBox="1"/>
              <p:nvPr/>
            </p:nvSpPr>
            <p:spPr>
              <a:xfrm>
                <a:off x="4496718" y="2732092"/>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𝑃</m:t>
                          </m:r>
                        </m:e>
                        <m:sub>
                          <m:r>
                            <a:rPr lang="en-US" b="0" i="1" smtClean="0">
                              <a:solidFill>
                                <a:schemeClr val="tx2"/>
                              </a:solidFill>
                              <a:latin typeface="Cambria Math" panose="02040503050406030204" pitchFamily="18" charset="0"/>
                            </a:rPr>
                            <m:t>2</m:t>
                          </m:r>
                        </m:sub>
                      </m:sSub>
                    </m:oMath>
                  </m:oMathPara>
                </a14:m>
                <a:endParaRPr lang="en-GB" dirty="0">
                  <a:solidFill>
                    <a:schemeClr val="tx2"/>
                  </a:solidFill>
                </a:endParaRPr>
              </a:p>
            </p:txBody>
          </p:sp>
        </mc:Choice>
        <mc:Fallback xmlns="">
          <p:sp>
            <p:nvSpPr>
              <p:cNvPr id="28" name="TextBox 27">
                <a:extLst>
                  <a:ext uri="{FF2B5EF4-FFF2-40B4-BE49-F238E27FC236}">
                    <a16:creationId xmlns:a16="http://schemas.microsoft.com/office/drawing/2014/main" id="{AC3543CA-1683-D978-C4B4-AC452CBD135C}"/>
                  </a:ext>
                </a:extLst>
              </p:cNvPr>
              <p:cNvSpPr txBox="1">
                <a:spLocks noRot="1" noChangeAspect="1" noMove="1" noResize="1" noEditPoints="1" noAdjustHandles="1" noChangeArrowheads="1" noChangeShapeType="1" noTextEdit="1"/>
              </p:cNvSpPr>
              <p:nvPr/>
            </p:nvSpPr>
            <p:spPr>
              <a:xfrm>
                <a:off x="4496718" y="2732092"/>
                <a:ext cx="424873" cy="276999"/>
              </a:xfrm>
              <a:prstGeom prst="rect">
                <a:avLst/>
              </a:prstGeom>
              <a:blipFill>
                <a:blip r:embed="rId9"/>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72B0CB2-9E64-7599-F620-F0F7DEB274DB}"/>
                  </a:ext>
                </a:extLst>
              </p:cNvPr>
              <p:cNvSpPr txBox="1"/>
              <p:nvPr/>
            </p:nvSpPr>
            <p:spPr>
              <a:xfrm>
                <a:off x="5922831" y="4379118"/>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𝑃</m:t>
                          </m:r>
                        </m:e>
                        <m:sub>
                          <m:r>
                            <a:rPr lang="en-US" b="0" i="1" smtClean="0">
                              <a:solidFill>
                                <a:schemeClr val="tx2"/>
                              </a:solidFill>
                              <a:latin typeface="Cambria Math" panose="02040503050406030204" pitchFamily="18" charset="0"/>
                            </a:rPr>
                            <m:t>3</m:t>
                          </m:r>
                        </m:sub>
                      </m:sSub>
                    </m:oMath>
                  </m:oMathPara>
                </a14:m>
                <a:endParaRPr lang="en-GB" dirty="0">
                  <a:solidFill>
                    <a:schemeClr val="tx2"/>
                  </a:solidFill>
                </a:endParaRPr>
              </a:p>
            </p:txBody>
          </p:sp>
        </mc:Choice>
        <mc:Fallback xmlns="">
          <p:sp>
            <p:nvSpPr>
              <p:cNvPr id="29" name="TextBox 28">
                <a:extLst>
                  <a:ext uri="{FF2B5EF4-FFF2-40B4-BE49-F238E27FC236}">
                    <a16:creationId xmlns:a16="http://schemas.microsoft.com/office/drawing/2014/main" id="{D72B0CB2-9E64-7599-F620-F0F7DEB274DB}"/>
                  </a:ext>
                </a:extLst>
              </p:cNvPr>
              <p:cNvSpPr txBox="1">
                <a:spLocks noRot="1" noChangeAspect="1" noMove="1" noResize="1" noEditPoints="1" noAdjustHandles="1" noChangeArrowheads="1" noChangeShapeType="1" noTextEdit="1"/>
              </p:cNvSpPr>
              <p:nvPr/>
            </p:nvSpPr>
            <p:spPr>
              <a:xfrm>
                <a:off x="5922831" y="4379118"/>
                <a:ext cx="424873" cy="276999"/>
              </a:xfrm>
              <a:prstGeom prst="rect">
                <a:avLst/>
              </a:prstGeom>
              <a:blipFill>
                <a:blip r:embed="rId10"/>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501D573-D7A4-1616-D81F-40AD367A4A6E}"/>
                  </a:ext>
                </a:extLst>
              </p:cNvPr>
              <p:cNvSpPr txBox="1"/>
              <p:nvPr/>
            </p:nvSpPr>
            <p:spPr>
              <a:xfrm>
                <a:off x="7203051" y="1376140"/>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𝑃</m:t>
                          </m:r>
                        </m:e>
                        <m:sub>
                          <m:r>
                            <a:rPr lang="en-US" b="0" i="1" smtClean="0">
                              <a:solidFill>
                                <a:schemeClr val="tx2"/>
                              </a:solidFill>
                              <a:latin typeface="Cambria Math" panose="02040503050406030204" pitchFamily="18" charset="0"/>
                            </a:rPr>
                            <m:t>4</m:t>
                          </m:r>
                        </m:sub>
                      </m:sSub>
                    </m:oMath>
                  </m:oMathPara>
                </a14:m>
                <a:endParaRPr lang="en-GB" dirty="0">
                  <a:solidFill>
                    <a:schemeClr val="tx2"/>
                  </a:solidFill>
                </a:endParaRPr>
              </a:p>
            </p:txBody>
          </p:sp>
        </mc:Choice>
        <mc:Fallback xmlns="">
          <p:sp>
            <p:nvSpPr>
              <p:cNvPr id="30" name="TextBox 29">
                <a:extLst>
                  <a:ext uri="{FF2B5EF4-FFF2-40B4-BE49-F238E27FC236}">
                    <a16:creationId xmlns:a16="http://schemas.microsoft.com/office/drawing/2014/main" id="{C501D573-D7A4-1616-D81F-40AD367A4A6E}"/>
                  </a:ext>
                </a:extLst>
              </p:cNvPr>
              <p:cNvSpPr txBox="1">
                <a:spLocks noRot="1" noChangeAspect="1" noMove="1" noResize="1" noEditPoints="1" noAdjustHandles="1" noChangeArrowheads="1" noChangeShapeType="1" noTextEdit="1"/>
              </p:cNvSpPr>
              <p:nvPr/>
            </p:nvSpPr>
            <p:spPr>
              <a:xfrm>
                <a:off x="7203051" y="1376140"/>
                <a:ext cx="424873" cy="276999"/>
              </a:xfrm>
              <a:prstGeom prst="rect">
                <a:avLst/>
              </a:prstGeom>
              <a:blipFill>
                <a:blip r:embed="rId11"/>
                <a:stretch>
                  <a:fillRect b="-1777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D65239CA-334D-74BE-292B-105D4B6AE772}"/>
                  </a:ext>
                </a:extLst>
              </p:cNvPr>
              <p:cNvSpPr txBox="1"/>
              <p:nvPr/>
            </p:nvSpPr>
            <p:spPr>
              <a:xfrm>
                <a:off x="8543638" y="3932292"/>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𝑃</m:t>
                          </m:r>
                        </m:e>
                        <m:sub>
                          <m:r>
                            <a:rPr lang="en-US" b="0" i="1" smtClean="0">
                              <a:solidFill>
                                <a:schemeClr val="tx2"/>
                              </a:solidFill>
                              <a:latin typeface="Cambria Math" panose="02040503050406030204" pitchFamily="18" charset="0"/>
                            </a:rPr>
                            <m:t>5</m:t>
                          </m:r>
                        </m:sub>
                      </m:sSub>
                    </m:oMath>
                  </m:oMathPara>
                </a14:m>
                <a:endParaRPr lang="en-GB" dirty="0">
                  <a:solidFill>
                    <a:schemeClr val="tx2"/>
                  </a:solidFill>
                </a:endParaRPr>
              </a:p>
            </p:txBody>
          </p:sp>
        </mc:Choice>
        <mc:Fallback xmlns="">
          <p:sp>
            <p:nvSpPr>
              <p:cNvPr id="31" name="TextBox 30">
                <a:extLst>
                  <a:ext uri="{FF2B5EF4-FFF2-40B4-BE49-F238E27FC236}">
                    <a16:creationId xmlns:a16="http://schemas.microsoft.com/office/drawing/2014/main" id="{D65239CA-334D-74BE-292B-105D4B6AE772}"/>
                  </a:ext>
                </a:extLst>
              </p:cNvPr>
              <p:cNvSpPr txBox="1">
                <a:spLocks noRot="1" noChangeAspect="1" noMove="1" noResize="1" noEditPoints="1" noAdjustHandles="1" noChangeArrowheads="1" noChangeShapeType="1" noTextEdit="1"/>
              </p:cNvSpPr>
              <p:nvPr/>
            </p:nvSpPr>
            <p:spPr>
              <a:xfrm>
                <a:off x="8543638" y="3932292"/>
                <a:ext cx="424873" cy="276999"/>
              </a:xfrm>
              <a:prstGeom prst="rect">
                <a:avLst/>
              </a:prstGeom>
              <a:blipFill>
                <a:blip r:embed="rId12"/>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4FC0201-330E-4218-1C83-2C673FD77614}"/>
                  </a:ext>
                </a:extLst>
              </p:cNvPr>
              <p:cNvSpPr txBox="1"/>
              <p:nvPr/>
            </p:nvSpPr>
            <p:spPr>
              <a:xfrm>
                <a:off x="3644737" y="5702691"/>
                <a:ext cx="338627"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𝑝</m:t>
                          </m:r>
                        </m:e>
                        <m:sub>
                          <m:r>
                            <a:rPr lang="en-US" sz="1400" b="0" i="1" smtClean="0">
                              <a:solidFill>
                                <a:schemeClr val="tx2"/>
                              </a:solidFill>
                              <a:latin typeface="Cambria Math" panose="02040503050406030204" pitchFamily="18" charset="0"/>
                            </a:rPr>
                            <m:t>1</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m:t>
                      </m:r>
                    </m:oMath>
                  </m:oMathPara>
                </a14:m>
                <a:endParaRPr lang="en-GB" sz="1400" dirty="0">
                  <a:solidFill>
                    <a:schemeClr val="tx2"/>
                  </a:solidFill>
                </a:endParaRPr>
              </a:p>
            </p:txBody>
          </p:sp>
        </mc:Choice>
        <mc:Fallback xmlns="">
          <p:sp>
            <p:nvSpPr>
              <p:cNvPr id="32" name="TextBox 31">
                <a:extLst>
                  <a:ext uri="{FF2B5EF4-FFF2-40B4-BE49-F238E27FC236}">
                    <a16:creationId xmlns:a16="http://schemas.microsoft.com/office/drawing/2014/main" id="{44FC0201-330E-4218-1C83-2C673FD77614}"/>
                  </a:ext>
                </a:extLst>
              </p:cNvPr>
              <p:cNvSpPr txBox="1">
                <a:spLocks noRot="1" noChangeAspect="1" noMove="1" noResize="1" noEditPoints="1" noAdjustHandles="1" noChangeArrowheads="1" noChangeShapeType="1" noTextEdit="1"/>
              </p:cNvSpPr>
              <p:nvPr/>
            </p:nvSpPr>
            <p:spPr>
              <a:xfrm>
                <a:off x="3644737" y="5702691"/>
                <a:ext cx="338627" cy="215444"/>
              </a:xfrm>
              <a:prstGeom prst="rect">
                <a:avLst/>
              </a:prstGeom>
              <a:blipFill>
                <a:blip r:embed="rId13"/>
                <a:stretch>
                  <a:fillRect l="-20000" r="-40000" b="-3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22B00216-C540-A3AF-338D-574E5DC22B48}"/>
                  </a:ext>
                </a:extLst>
              </p:cNvPr>
              <p:cNvSpPr txBox="1"/>
              <p:nvPr/>
            </p:nvSpPr>
            <p:spPr>
              <a:xfrm>
                <a:off x="5096133" y="5702691"/>
                <a:ext cx="338627"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𝑝</m:t>
                          </m:r>
                        </m:e>
                        <m:sub>
                          <m:r>
                            <a:rPr lang="en-US" sz="1400" b="0" i="1" smtClean="0">
                              <a:solidFill>
                                <a:schemeClr val="tx2"/>
                              </a:solidFill>
                              <a:latin typeface="Cambria Math" panose="02040503050406030204" pitchFamily="18" charset="0"/>
                            </a:rPr>
                            <m:t>2</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m:t>
                      </m:r>
                    </m:oMath>
                  </m:oMathPara>
                </a14:m>
                <a:endParaRPr lang="en-GB" sz="1400" dirty="0">
                  <a:solidFill>
                    <a:schemeClr val="tx2"/>
                  </a:solidFill>
                </a:endParaRPr>
              </a:p>
            </p:txBody>
          </p:sp>
        </mc:Choice>
        <mc:Fallback xmlns="">
          <p:sp>
            <p:nvSpPr>
              <p:cNvPr id="33" name="TextBox 32">
                <a:extLst>
                  <a:ext uri="{FF2B5EF4-FFF2-40B4-BE49-F238E27FC236}">
                    <a16:creationId xmlns:a16="http://schemas.microsoft.com/office/drawing/2014/main" id="{22B00216-C540-A3AF-338D-574E5DC22B48}"/>
                  </a:ext>
                </a:extLst>
              </p:cNvPr>
              <p:cNvSpPr txBox="1">
                <a:spLocks noRot="1" noChangeAspect="1" noMove="1" noResize="1" noEditPoints="1" noAdjustHandles="1" noChangeArrowheads="1" noChangeShapeType="1" noTextEdit="1"/>
              </p:cNvSpPr>
              <p:nvPr/>
            </p:nvSpPr>
            <p:spPr>
              <a:xfrm>
                <a:off x="5096133" y="5702691"/>
                <a:ext cx="338627" cy="215444"/>
              </a:xfrm>
              <a:prstGeom prst="rect">
                <a:avLst/>
              </a:prstGeom>
              <a:blipFill>
                <a:blip r:embed="rId14"/>
                <a:stretch>
                  <a:fillRect l="-19643" r="-39286" b="-3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3FA5B86-6AA5-6526-16D6-AA2CE93141E6}"/>
                  </a:ext>
                </a:extLst>
              </p:cNvPr>
              <p:cNvSpPr txBox="1"/>
              <p:nvPr/>
            </p:nvSpPr>
            <p:spPr>
              <a:xfrm>
                <a:off x="6537648" y="5707756"/>
                <a:ext cx="338627"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𝑝</m:t>
                          </m:r>
                        </m:e>
                        <m:sub>
                          <m:r>
                            <a:rPr lang="en-US" sz="1400" b="0" i="1" smtClean="0">
                              <a:solidFill>
                                <a:schemeClr val="tx2"/>
                              </a:solidFill>
                              <a:latin typeface="Cambria Math" panose="02040503050406030204" pitchFamily="18" charset="0"/>
                            </a:rPr>
                            <m:t>3</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m:t>
                      </m:r>
                    </m:oMath>
                  </m:oMathPara>
                </a14:m>
                <a:endParaRPr lang="en-GB" sz="1400" dirty="0">
                  <a:solidFill>
                    <a:schemeClr val="tx2"/>
                  </a:solidFill>
                </a:endParaRPr>
              </a:p>
            </p:txBody>
          </p:sp>
        </mc:Choice>
        <mc:Fallback xmlns="">
          <p:sp>
            <p:nvSpPr>
              <p:cNvPr id="34" name="TextBox 33">
                <a:extLst>
                  <a:ext uri="{FF2B5EF4-FFF2-40B4-BE49-F238E27FC236}">
                    <a16:creationId xmlns:a16="http://schemas.microsoft.com/office/drawing/2014/main" id="{F3FA5B86-6AA5-6526-16D6-AA2CE93141E6}"/>
                  </a:ext>
                </a:extLst>
              </p:cNvPr>
              <p:cNvSpPr txBox="1">
                <a:spLocks noRot="1" noChangeAspect="1" noMove="1" noResize="1" noEditPoints="1" noAdjustHandles="1" noChangeArrowheads="1" noChangeShapeType="1" noTextEdit="1"/>
              </p:cNvSpPr>
              <p:nvPr/>
            </p:nvSpPr>
            <p:spPr>
              <a:xfrm>
                <a:off x="6537648" y="5707756"/>
                <a:ext cx="338627" cy="215444"/>
              </a:xfrm>
              <a:prstGeom prst="rect">
                <a:avLst/>
              </a:prstGeom>
              <a:blipFill>
                <a:blip r:embed="rId15"/>
                <a:stretch>
                  <a:fillRect l="-17857" r="-41071" b="-3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AEEA177F-E463-5910-D2E6-BFD4EEC350F8}"/>
                  </a:ext>
                </a:extLst>
              </p:cNvPr>
              <p:cNvSpPr txBox="1"/>
              <p:nvPr/>
            </p:nvSpPr>
            <p:spPr>
              <a:xfrm>
                <a:off x="7980178" y="5700746"/>
                <a:ext cx="338627"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𝑝</m:t>
                          </m:r>
                        </m:e>
                        <m:sub>
                          <m:r>
                            <a:rPr lang="en-US" sz="1400" b="0" i="1" smtClean="0">
                              <a:solidFill>
                                <a:schemeClr val="tx2"/>
                              </a:solidFill>
                              <a:latin typeface="Cambria Math" panose="02040503050406030204" pitchFamily="18" charset="0"/>
                            </a:rPr>
                            <m:t>4</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m:t>
                      </m:r>
                    </m:oMath>
                  </m:oMathPara>
                </a14:m>
                <a:endParaRPr lang="en-GB" sz="1400" dirty="0">
                  <a:solidFill>
                    <a:schemeClr val="tx2"/>
                  </a:solidFill>
                </a:endParaRPr>
              </a:p>
            </p:txBody>
          </p:sp>
        </mc:Choice>
        <mc:Fallback xmlns="">
          <p:sp>
            <p:nvSpPr>
              <p:cNvPr id="35" name="TextBox 34">
                <a:extLst>
                  <a:ext uri="{FF2B5EF4-FFF2-40B4-BE49-F238E27FC236}">
                    <a16:creationId xmlns:a16="http://schemas.microsoft.com/office/drawing/2014/main" id="{AEEA177F-E463-5910-D2E6-BFD4EEC350F8}"/>
                  </a:ext>
                </a:extLst>
              </p:cNvPr>
              <p:cNvSpPr txBox="1">
                <a:spLocks noRot="1" noChangeAspect="1" noMove="1" noResize="1" noEditPoints="1" noAdjustHandles="1" noChangeArrowheads="1" noChangeShapeType="1" noTextEdit="1"/>
              </p:cNvSpPr>
              <p:nvPr/>
            </p:nvSpPr>
            <p:spPr>
              <a:xfrm>
                <a:off x="7980178" y="5700746"/>
                <a:ext cx="338627" cy="215444"/>
              </a:xfrm>
              <a:prstGeom prst="rect">
                <a:avLst/>
              </a:prstGeom>
              <a:blipFill>
                <a:blip r:embed="rId16"/>
                <a:stretch>
                  <a:fillRect l="-17857" r="-41071" b="-3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CE18FE4D-91A8-1214-4ACF-25C7CE393BCA}"/>
                  </a:ext>
                </a:extLst>
              </p:cNvPr>
              <p:cNvSpPr txBox="1"/>
              <p:nvPr/>
            </p:nvSpPr>
            <p:spPr>
              <a:xfrm>
                <a:off x="3347953" y="5945454"/>
                <a:ext cx="955683"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1</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&lt;</m:t>
                      </m:r>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2</m:t>
                          </m:r>
                        </m:sub>
                      </m:sSub>
                    </m:oMath>
                  </m:oMathPara>
                </a14:m>
                <a:endParaRPr lang="en-GB" sz="1400" dirty="0">
                  <a:solidFill>
                    <a:schemeClr val="tx2"/>
                  </a:solidFill>
                </a:endParaRPr>
              </a:p>
            </p:txBody>
          </p:sp>
        </mc:Choice>
        <mc:Fallback xmlns="">
          <p:sp>
            <p:nvSpPr>
              <p:cNvPr id="36" name="TextBox 35">
                <a:extLst>
                  <a:ext uri="{FF2B5EF4-FFF2-40B4-BE49-F238E27FC236}">
                    <a16:creationId xmlns:a16="http://schemas.microsoft.com/office/drawing/2014/main" id="{CE18FE4D-91A8-1214-4ACF-25C7CE393BCA}"/>
                  </a:ext>
                </a:extLst>
              </p:cNvPr>
              <p:cNvSpPr txBox="1">
                <a:spLocks noRot="1" noChangeAspect="1" noMove="1" noResize="1" noEditPoints="1" noAdjustHandles="1" noChangeArrowheads="1" noChangeShapeType="1" noTextEdit="1"/>
              </p:cNvSpPr>
              <p:nvPr/>
            </p:nvSpPr>
            <p:spPr>
              <a:xfrm>
                <a:off x="3347953" y="5945454"/>
                <a:ext cx="955683" cy="215444"/>
              </a:xfrm>
              <a:prstGeom prst="rect">
                <a:avLst/>
              </a:prstGeom>
              <a:blipFill>
                <a:blip r:embed="rId17"/>
                <a:stretch>
                  <a:fillRect l="-1911" b="-1388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9847B72-B25F-84D9-9486-B2EFA80DB050}"/>
                  </a:ext>
                </a:extLst>
              </p:cNvPr>
              <p:cNvSpPr txBox="1"/>
              <p:nvPr/>
            </p:nvSpPr>
            <p:spPr>
              <a:xfrm>
                <a:off x="4787604" y="5945013"/>
                <a:ext cx="955683"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2</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&lt;</m:t>
                      </m:r>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3</m:t>
                          </m:r>
                        </m:sub>
                      </m:sSub>
                    </m:oMath>
                  </m:oMathPara>
                </a14:m>
                <a:endParaRPr lang="en-GB" sz="1400" dirty="0">
                  <a:solidFill>
                    <a:schemeClr val="tx2"/>
                  </a:solidFill>
                </a:endParaRPr>
              </a:p>
            </p:txBody>
          </p:sp>
        </mc:Choice>
        <mc:Fallback xmlns="">
          <p:sp>
            <p:nvSpPr>
              <p:cNvPr id="37" name="TextBox 36">
                <a:extLst>
                  <a:ext uri="{FF2B5EF4-FFF2-40B4-BE49-F238E27FC236}">
                    <a16:creationId xmlns:a16="http://schemas.microsoft.com/office/drawing/2014/main" id="{49847B72-B25F-84D9-9486-B2EFA80DB050}"/>
                  </a:ext>
                </a:extLst>
              </p:cNvPr>
              <p:cNvSpPr txBox="1">
                <a:spLocks noRot="1" noChangeAspect="1" noMove="1" noResize="1" noEditPoints="1" noAdjustHandles="1" noChangeArrowheads="1" noChangeShapeType="1" noTextEdit="1"/>
              </p:cNvSpPr>
              <p:nvPr/>
            </p:nvSpPr>
            <p:spPr>
              <a:xfrm>
                <a:off x="4787604" y="5945013"/>
                <a:ext cx="955683" cy="215444"/>
              </a:xfrm>
              <a:prstGeom prst="rect">
                <a:avLst/>
              </a:prstGeom>
              <a:blipFill>
                <a:blip r:embed="rId18"/>
                <a:stretch>
                  <a:fillRect l="-2548" b="-1388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CFA34671-6758-E6CC-AC41-A34FDFB63207}"/>
                  </a:ext>
                </a:extLst>
              </p:cNvPr>
              <p:cNvSpPr txBox="1"/>
              <p:nvPr/>
            </p:nvSpPr>
            <p:spPr>
              <a:xfrm>
                <a:off x="6227255" y="5945013"/>
                <a:ext cx="955683"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1</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&lt;</m:t>
                      </m:r>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2</m:t>
                          </m:r>
                        </m:sub>
                      </m:sSub>
                    </m:oMath>
                  </m:oMathPara>
                </a14:m>
                <a:endParaRPr lang="en-GB" sz="1400" dirty="0">
                  <a:solidFill>
                    <a:schemeClr val="tx2"/>
                  </a:solidFill>
                </a:endParaRPr>
              </a:p>
            </p:txBody>
          </p:sp>
        </mc:Choice>
        <mc:Fallback xmlns="">
          <p:sp>
            <p:nvSpPr>
              <p:cNvPr id="38" name="TextBox 37">
                <a:extLst>
                  <a:ext uri="{FF2B5EF4-FFF2-40B4-BE49-F238E27FC236}">
                    <a16:creationId xmlns:a16="http://schemas.microsoft.com/office/drawing/2014/main" id="{CFA34671-6758-E6CC-AC41-A34FDFB63207}"/>
                  </a:ext>
                </a:extLst>
              </p:cNvPr>
              <p:cNvSpPr txBox="1">
                <a:spLocks noRot="1" noChangeAspect="1" noMove="1" noResize="1" noEditPoints="1" noAdjustHandles="1" noChangeArrowheads="1" noChangeShapeType="1" noTextEdit="1"/>
              </p:cNvSpPr>
              <p:nvPr/>
            </p:nvSpPr>
            <p:spPr>
              <a:xfrm>
                <a:off x="6227255" y="5945013"/>
                <a:ext cx="955683" cy="215444"/>
              </a:xfrm>
              <a:prstGeom prst="rect">
                <a:avLst/>
              </a:prstGeom>
              <a:blipFill>
                <a:blip r:embed="rId19"/>
                <a:stretch>
                  <a:fillRect l="-1923" b="-1388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8A2B03CD-6AF8-070E-DD47-045487979CAF}"/>
                  </a:ext>
                </a:extLst>
              </p:cNvPr>
              <p:cNvSpPr txBox="1"/>
              <p:nvPr/>
            </p:nvSpPr>
            <p:spPr>
              <a:xfrm>
                <a:off x="7666906" y="5945013"/>
                <a:ext cx="955683"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1</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&lt;</m:t>
                      </m:r>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2</m:t>
                          </m:r>
                        </m:sub>
                      </m:sSub>
                    </m:oMath>
                  </m:oMathPara>
                </a14:m>
                <a:endParaRPr lang="en-GB" sz="1400" dirty="0">
                  <a:solidFill>
                    <a:schemeClr val="tx2"/>
                  </a:solidFill>
                </a:endParaRPr>
              </a:p>
            </p:txBody>
          </p:sp>
        </mc:Choice>
        <mc:Fallback xmlns="">
          <p:sp>
            <p:nvSpPr>
              <p:cNvPr id="39" name="TextBox 38">
                <a:extLst>
                  <a:ext uri="{FF2B5EF4-FFF2-40B4-BE49-F238E27FC236}">
                    <a16:creationId xmlns:a16="http://schemas.microsoft.com/office/drawing/2014/main" id="{8A2B03CD-6AF8-070E-DD47-045487979CAF}"/>
                  </a:ext>
                </a:extLst>
              </p:cNvPr>
              <p:cNvSpPr txBox="1">
                <a:spLocks noRot="1" noChangeAspect="1" noMove="1" noResize="1" noEditPoints="1" noAdjustHandles="1" noChangeArrowheads="1" noChangeShapeType="1" noTextEdit="1"/>
              </p:cNvSpPr>
              <p:nvPr/>
            </p:nvSpPr>
            <p:spPr>
              <a:xfrm>
                <a:off x="7666906" y="5945013"/>
                <a:ext cx="955683" cy="215444"/>
              </a:xfrm>
              <a:prstGeom prst="rect">
                <a:avLst/>
              </a:prstGeom>
              <a:blipFill>
                <a:blip r:embed="rId19"/>
                <a:stretch>
                  <a:fillRect l="-1923" b="-13889"/>
                </a:stretch>
              </a:blipFill>
            </p:spPr>
            <p:txBody>
              <a:bodyPr/>
              <a:lstStyle/>
              <a:p>
                <a:r>
                  <a:rPr lang="en-GB">
                    <a:noFill/>
                  </a:rPr>
                  <a:t> </a:t>
                </a:r>
              </a:p>
            </p:txBody>
          </p:sp>
        </mc:Fallback>
      </mc:AlternateContent>
      <p:cxnSp>
        <p:nvCxnSpPr>
          <p:cNvPr id="41" name="Straight Arrow Connector 40">
            <a:extLst>
              <a:ext uri="{FF2B5EF4-FFF2-40B4-BE49-F238E27FC236}">
                <a16:creationId xmlns:a16="http://schemas.microsoft.com/office/drawing/2014/main" id="{AC474824-4D17-2E45-6F0F-FDE1868A8DE9}"/>
              </a:ext>
            </a:extLst>
          </p:cNvPr>
          <p:cNvCxnSpPr>
            <a:cxnSpLocks/>
          </p:cNvCxnSpPr>
          <p:nvPr/>
        </p:nvCxnSpPr>
        <p:spPr>
          <a:xfrm>
            <a:off x="3103719" y="4775200"/>
            <a:ext cx="556893" cy="0"/>
          </a:xfrm>
          <a:prstGeom prst="straightConnector1">
            <a:avLst/>
          </a:prstGeom>
          <a:ln w="28575">
            <a:solidFill>
              <a:srgbClr val="ED7D3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2ED3609-D1C0-C937-13C6-BBA4EFF70A22}"/>
              </a:ext>
            </a:extLst>
          </p:cNvPr>
          <p:cNvCxnSpPr>
            <a:cxnSpLocks/>
          </p:cNvCxnSpPr>
          <p:nvPr/>
        </p:nvCxnSpPr>
        <p:spPr>
          <a:xfrm>
            <a:off x="8871605" y="3914136"/>
            <a:ext cx="556893" cy="0"/>
          </a:xfrm>
          <a:prstGeom prst="straightConnector1">
            <a:avLst/>
          </a:prstGeom>
          <a:ln w="28575">
            <a:solidFill>
              <a:srgbClr val="ED7D3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928CF617-B1A7-3E07-2E72-900275044A7F}"/>
                  </a:ext>
                </a:extLst>
              </p:cNvPr>
              <p:cNvSpPr txBox="1"/>
              <p:nvPr/>
            </p:nvSpPr>
            <p:spPr>
              <a:xfrm>
                <a:off x="3388715" y="4501470"/>
                <a:ext cx="543793"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rgbClr val="ED7D31"/>
                              </a:solidFill>
                              <a:latin typeface="Cambria Math" panose="02040503050406030204" pitchFamily="18" charset="0"/>
                            </a:rPr>
                          </m:ctrlPr>
                        </m:sSubPr>
                        <m:e>
                          <m:r>
                            <a:rPr lang="en-US" sz="1400" b="0" i="1" smtClean="0">
                              <a:solidFill>
                                <a:srgbClr val="ED7D31"/>
                              </a:solidFill>
                              <a:latin typeface="Cambria Math" panose="02040503050406030204" pitchFamily="18" charset="0"/>
                            </a:rPr>
                            <m:t>𝑣</m:t>
                          </m:r>
                        </m:e>
                        <m:sub>
                          <m:r>
                            <a:rPr lang="en-US" sz="1400" b="0" i="1" smtClean="0">
                              <a:solidFill>
                                <a:srgbClr val="ED7D31"/>
                              </a:solidFill>
                              <a:latin typeface="Cambria Math" panose="02040503050406030204" pitchFamily="18" charset="0"/>
                            </a:rPr>
                            <m:t>𝑖𝑛𝑖𝑡𝑖𝑎𝑙</m:t>
                          </m:r>
                        </m:sub>
                      </m:sSub>
                    </m:oMath>
                  </m:oMathPara>
                </a14:m>
                <a:endParaRPr lang="en-GB" sz="1400" dirty="0">
                  <a:solidFill>
                    <a:srgbClr val="ED7D31"/>
                  </a:solidFill>
                </a:endParaRPr>
              </a:p>
            </p:txBody>
          </p:sp>
        </mc:Choice>
        <mc:Fallback xmlns="">
          <p:sp>
            <p:nvSpPr>
              <p:cNvPr id="45" name="TextBox 44">
                <a:extLst>
                  <a:ext uri="{FF2B5EF4-FFF2-40B4-BE49-F238E27FC236}">
                    <a16:creationId xmlns:a16="http://schemas.microsoft.com/office/drawing/2014/main" id="{928CF617-B1A7-3E07-2E72-900275044A7F}"/>
                  </a:ext>
                </a:extLst>
              </p:cNvPr>
              <p:cNvSpPr txBox="1">
                <a:spLocks noRot="1" noChangeAspect="1" noMove="1" noResize="1" noEditPoints="1" noAdjustHandles="1" noChangeArrowheads="1" noChangeShapeType="1" noTextEdit="1"/>
              </p:cNvSpPr>
              <p:nvPr/>
            </p:nvSpPr>
            <p:spPr>
              <a:xfrm>
                <a:off x="3388715" y="4501470"/>
                <a:ext cx="543793" cy="215444"/>
              </a:xfrm>
              <a:prstGeom prst="rect">
                <a:avLst/>
              </a:prstGeom>
              <a:blipFill>
                <a:blip r:embed="rId20"/>
                <a:stretch>
                  <a:fillRect l="-6742" r="-2247"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2090E47-A474-EDE8-E20A-70EC6FE01A65}"/>
                  </a:ext>
                </a:extLst>
              </p:cNvPr>
              <p:cNvSpPr txBox="1"/>
              <p:nvPr/>
            </p:nvSpPr>
            <p:spPr>
              <a:xfrm>
                <a:off x="9271355" y="3921940"/>
                <a:ext cx="543793" cy="232692"/>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rgbClr val="ED7D31"/>
                              </a:solidFill>
                              <a:latin typeface="Cambria Math" panose="02040503050406030204" pitchFamily="18" charset="0"/>
                            </a:rPr>
                          </m:ctrlPr>
                        </m:sSubPr>
                        <m:e>
                          <m:r>
                            <a:rPr lang="en-US" sz="1400" b="0" i="1" smtClean="0">
                              <a:solidFill>
                                <a:srgbClr val="ED7D31"/>
                              </a:solidFill>
                              <a:latin typeface="Cambria Math" panose="02040503050406030204" pitchFamily="18" charset="0"/>
                            </a:rPr>
                            <m:t>𝑣</m:t>
                          </m:r>
                        </m:e>
                        <m:sub>
                          <m:r>
                            <a:rPr lang="en-US" sz="1400" b="0" i="1" smtClean="0">
                              <a:solidFill>
                                <a:srgbClr val="ED7D31"/>
                              </a:solidFill>
                              <a:latin typeface="Cambria Math" panose="02040503050406030204" pitchFamily="18" charset="0"/>
                            </a:rPr>
                            <m:t>𝑓𝑖𝑛𝑎𝑙</m:t>
                          </m:r>
                        </m:sub>
                      </m:sSub>
                    </m:oMath>
                  </m:oMathPara>
                </a14:m>
                <a:endParaRPr lang="en-GB" sz="1400" dirty="0">
                  <a:solidFill>
                    <a:srgbClr val="ED7D31"/>
                  </a:solidFill>
                </a:endParaRPr>
              </a:p>
            </p:txBody>
          </p:sp>
        </mc:Choice>
        <mc:Fallback xmlns="">
          <p:sp>
            <p:nvSpPr>
              <p:cNvPr id="47" name="TextBox 46">
                <a:extLst>
                  <a:ext uri="{FF2B5EF4-FFF2-40B4-BE49-F238E27FC236}">
                    <a16:creationId xmlns:a16="http://schemas.microsoft.com/office/drawing/2014/main" id="{52090E47-A474-EDE8-E20A-70EC6FE01A65}"/>
                  </a:ext>
                </a:extLst>
              </p:cNvPr>
              <p:cNvSpPr txBox="1">
                <a:spLocks noRot="1" noChangeAspect="1" noMove="1" noResize="1" noEditPoints="1" noAdjustHandles="1" noChangeArrowheads="1" noChangeShapeType="1" noTextEdit="1"/>
              </p:cNvSpPr>
              <p:nvPr/>
            </p:nvSpPr>
            <p:spPr>
              <a:xfrm>
                <a:off x="9271355" y="3921940"/>
                <a:ext cx="543793" cy="232692"/>
              </a:xfrm>
              <a:prstGeom prst="rect">
                <a:avLst/>
              </a:prstGeom>
              <a:blipFill>
                <a:blip r:embed="rId21"/>
                <a:stretch>
                  <a:fillRect b="-2307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E4549B2E-8B98-4141-0AF8-BEF78DB6C1BF}"/>
                  </a:ext>
                </a:extLst>
              </p:cNvPr>
              <p:cNvSpPr txBox="1"/>
              <p:nvPr/>
            </p:nvSpPr>
            <p:spPr>
              <a:xfrm>
                <a:off x="9236405" y="1428697"/>
                <a:ext cx="2977228" cy="246221"/>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a:rPr lang="en-US" sz="1600" b="0" i="1" smtClean="0">
                          <a:solidFill>
                            <a:schemeClr val="tx2"/>
                          </a:solidFill>
                          <a:latin typeface="Cambria Math" panose="02040503050406030204" pitchFamily="18" charset="0"/>
                        </a:rPr>
                        <m:t>𝑝</m:t>
                      </m:r>
                      <m:d>
                        <m:dPr>
                          <m:ctrlPr>
                            <a:rPr lang="en-US" sz="1600" b="0" i="1" smtClean="0">
                              <a:solidFill>
                                <a:schemeClr val="tx2"/>
                              </a:solidFill>
                              <a:latin typeface="Cambria Math" panose="02040503050406030204" pitchFamily="18" charset="0"/>
                            </a:rPr>
                          </m:ctrlPr>
                        </m:dPr>
                        <m:e>
                          <m:r>
                            <a:rPr lang="en-US" sz="1600" b="0" i="1" smtClean="0">
                              <a:solidFill>
                                <a:schemeClr val="tx2"/>
                              </a:solidFill>
                              <a:latin typeface="Cambria Math" panose="02040503050406030204" pitchFamily="18" charset="0"/>
                            </a:rPr>
                            <m:t>𝑡</m:t>
                          </m:r>
                        </m:e>
                      </m:d>
                      <m:r>
                        <a:rPr lang="en-US" sz="1600" b="0" i="1" smtClean="0">
                          <a:solidFill>
                            <a:schemeClr val="tx2"/>
                          </a:solidFill>
                          <a:latin typeface="Cambria Math" panose="02040503050406030204" pitchFamily="18" charset="0"/>
                        </a:rPr>
                        <m:t>=</m:t>
                      </m:r>
                      <m:sSub>
                        <m:sSubPr>
                          <m:ctrlPr>
                            <a:rPr lang="en-US" sz="1600" b="0" i="1" smtClean="0">
                              <a:solidFill>
                                <a:schemeClr val="tx2"/>
                              </a:solidFill>
                              <a:latin typeface="Cambria Math" panose="02040503050406030204" pitchFamily="18" charset="0"/>
                            </a:rPr>
                          </m:ctrlPr>
                        </m:sSubPr>
                        <m:e>
                          <m:r>
                            <a:rPr lang="en-US" sz="1600" b="0" i="1" smtClean="0">
                              <a:solidFill>
                                <a:schemeClr val="tx2"/>
                              </a:solidFill>
                              <a:latin typeface="Cambria Math" panose="02040503050406030204" pitchFamily="18" charset="0"/>
                            </a:rPr>
                            <m:t>𝑎</m:t>
                          </m:r>
                        </m:e>
                        <m:sub>
                          <m:r>
                            <a:rPr lang="en-US" sz="1600" b="0" i="1" smtClean="0">
                              <a:solidFill>
                                <a:schemeClr val="tx2"/>
                              </a:solidFill>
                              <a:latin typeface="Cambria Math" panose="02040503050406030204" pitchFamily="18" charset="0"/>
                            </a:rPr>
                            <m:t>1</m:t>
                          </m:r>
                        </m:sub>
                      </m:sSub>
                      <m:r>
                        <a:rPr lang="en-US" sz="1600" b="0" i="1" smtClean="0">
                          <a:solidFill>
                            <a:schemeClr val="tx2"/>
                          </a:solidFill>
                          <a:latin typeface="Cambria Math" panose="02040503050406030204" pitchFamily="18" charset="0"/>
                        </a:rPr>
                        <m:t>+</m:t>
                      </m:r>
                      <m:sSub>
                        <m:sSubPr>
                          <m:ctrlPr>
                            <a:rPr lang="en-US" sz="1600" b="0" i="1" smtClean="0">
                              <a:solidFill>
                                <a:schemeClr val="tx2"/>
                              </a:solidFill>
                              <a:latin typeface="Cambria Math" panose="02040503050406030204" pitchFamily="18" charset="0"/>
                            </a:rPr>
                          </m:ctrlPr>
                        </m:sSubPr>
                        <m:e>
                          <m:r>
                            <a:rPr lang="en-US" sz="1600" b="0" i="1" smtClean="0">
                              <a:solidFill>
                                <a:schemeClr val="tx2"/>
                              </a:solidFill>
                              <a:latin typeface="Cambria Math" panose="02040503050406030204" pitchFamily="18" charset="0"/>
                            </a:rPr>
                            <m:t>𝑎</m:t>
                          </m:r>
                        </m:e>
                        <m:sub>
                          <m:r>
                            <a:rPr lang="en-US" sz="1600" b="0" i="1" smtClean="0">
                              <a:solidFill>
                                <a:schemeClr val="tx2"/>
                              </a:solidFill>
                              <a:latin typeface="Cambria Math" panose="02040503050406030204" pitchFamily="18" charset="0"/>
                            </a:rPr>
                            <m:t>2</m:t>
                          </m:r>
                        </m:sub>
                      </m:sSub>
                      <m:r>
                        <a:rPr lang="en-US" sz="1600" b="0" i="1" smtClean="0">
                          <a:solidFill>
                            <a:schemeClr val="tx2"/>
                          </a:solidFill>
                          <a:latin typeface="Cambria Math" panose="02040503050406030204" pitchFamily="18" charset="0"/>
                        </a:rPr>
                        <m:t>𝑡</m:t>
                      </m:r>
                      <m:r>
                        <a:rPr lang="en-US" sz="1600" b="0" i="1" smtClean="0">
                          <a:solidFill>
                            <a:schemeClr val="tx2"/>
                          </a:solidFill>
                          <a:latin typeface="Cambria Math" panose="02040503050406030204" pitchFamily="18" charset="0"/>
                        </a:rPr>
                        <m:t>+</m:t>
                      </m:r>
                      <m:sSub>
                        <m:sSubPr>
                          <m:ctrlPr>
                            <a:rPr lang="en-US" sz="1600" b="0" i="1" smtClean="0">
                              <a:solidFill>
                                <a:schemeClr val="tx2"/>
                              </a:solidFill>
                              <a:latin typeface="Cambria Math" panose="02040503050406030204" pitchFamily="18" charset="0"/>
                            </a:rPr>
                          </m:ctrlPr>
                        </m:sSubPr>
                        <m:e>
                          <m:r>
                            <a:rPr lang="en-US" sz="1600" b="0" i="1" smtClean="0">
                              <a:solidFill>
                                <a:schemeClr val="tx2"/>
                              </a:solidFill>
                              <a:latin typeface="Cambria Math" panose="02040503050406030204" pitchFamily="18" charset="0"/>
                            </a:rPr>
                            <m:t>𝑎</m:t>
                          </m:r>
                        </m:e>
                        <m:sub>
                          <m:r>
                            <a:rPr lang="en-US" sz="1600" b="0" i="1" smtClean="0">
                              <a:solidFill>
                                <a:schemeClr val="tx2"/>
                              </a:solidFill>
                              <a:latin typeface="Cambria Math" panose="02040503050406030204" pitchFamily="18" charset="0"/>
                            </a:rPr>
                            <m:t>3</m:t>
                          </m:r>
                        </m:sub>
                      </m:sSub>
                      <m:sSup>
                        <m:sSupPr>
                          <m:ctrlPr>
                            <a:rPr lang="en-US" sz="1600" b="0" i="1" smtClean="0">
                              <a:solidFill>
                                <a:schemeClr val="tx2"/>
                              </a:solidFill>
                              <a:latin typeface="Cambria Math" panose="02040503050406030204" pitchFamily="18" charset="0"/>
                            </a:rPr>
                          </m:ctrlPr>
                        </m:sSupPr>
                        <m:e>
                          <m:r>
                            <a:rPr lang="en-US" sz="1600" b="0" i="1" smtClean="0">
                              <a:solidFill>
                                <a:schemeClr val="tx2"/>
                              </a:solidFill>
                              <a:latin typeface="Cambria Math" panose="02040503050406030204" pitchFamily="18" charset="0"/>
                            </a:rPr>
                            <m:t>𝑡</m:t>
                          </m:r>
                        </m:e>
                        <m:sup>
                          <m:r>
                            <a:rPr lang="en-US" sz="1600" b="0" i="1" smtClean="0">
                              <a:solidFill>
                                <a:schemeClr val="tx2"/>
                              </a:solidFill>
                              <a:latin typeface="Cambria Math" panose="02040503050406030204" pitchFamily="18" charset="0"/>
                            </a:rPr>
                            <m:t>2</m:t>
                          </m:r>
                        </m:sup>
                      </m:sSup>
                      <m:r>
                        <a:rPr lang="en-US" sz="1600" b="0" i="1" smtClean="0">
                          <a:solidFill>
                            <a:schemeClr val="tx2"/>
                          </a:solidFill>
                          <a:latin typeface="Cambria Math" panose="02040503050406030204" pitchFamily="18" charset="0"/>
                        </a:rPr>
                        <m:t>+</m:t>
                      </m:r>
                      <m:sSub>
                        <m:sSubPr>
                          <m:ctrlPr>
                            <a:rPr lang="en-US" sz="1600" b="0" i="1" smtClean="0">
                              <a:solidFill>
                                <a:schemeClr val="tx2"/>
                              </a:solidFill>
                              <a:latin typeface="Cambria Math" panose="02040503050406030204" pitchFamily="18" charset="0"/>
                            </a:rPr>
                          </m:ctrlPr>
                        </m:sSubPr>
                        <m:e>
                          <m:r>
                            <a:rPr lang="en-US" sz="1600" b="0" i="1" smtClean="0">
                              <a:solidFill>
                                <a:schemeClr val="tx2"/>
                              </a:solidFill>
                              <a:latin typeface="Cambria Math" panose="02040503050406030204" pitchFamily="18" charset="0"/>
                            </a:rPr>
                            <m:t>𝑎</m:t>
                          </m:r>
                        </m:e>
                        <m:sub>
                          <m:r>
                            <a:rPr lang="en-US" sz="1600" b="0" i="1" smtClean="0">
                              <a:solidFill>
                                <a:schemeClr val="tx2"/>
                              </a:solidFill>
                              <a:latin typeface="Cambria Math" panose="02040503050406030204" pitchFamily="18" charset="0"/>
                            </a:rPr>
                            <m:t>4</m:t>
                          </m:r>
                        </m:sub>
                      </m:sSub>
                      <m:sSup>
                        <m:sSupPr>
                          <m:ctrlPr>
                            <a:rPr lang="en-US" sz="1600" b="0" i="1" smtClean="0">
                              <a:solidFill>
                                <a:schemeClr val="tx2"/>
                              </a:solidFill>
                              <a:latin typeface="Cambria Math" panose="02040503050406030204" pitchFamily="18" charset="0"/>
                            </a:rPr>
                          </m:ctrlPr>
                        </m:sSupPr>
                        <m:e>
                          <m:r>
                            <a:rPr lang="en-US" sz="1600" b="0" i="1" smtClean="0">
                              <a:solidFill>
                                <a:schemeClr val="tx2"/>
                              </a:solidFill>
                              <a:latin typeface="Cambria Math" panose="02040503050406030204" pitchFamily="18" charset="0"/>
                            </a:rPr>
                            <m:t>𝑡</m:t>
                          </m:r>
                        </m:e>
                        <m:sup>
                          <m:r>
                            <a:rPr lang="en-US" sz="1600" b="0" i="1" smtClean="0">
                              <a:solidFill>
                                <a:schemeClr val="tx2"/>
                              </a:solidFill>
                              <a:latin typeface="Cambria Math" panose="02040503050406030204" pitchFamily="18" charset="0"/>
                            </a:rPr>
                            <m:t>3</m:t>
                          </m:r>
                        </m:sup>
                      </m:sSup>
                    </m:oMath>
                  </m:oMathPara>
                </a14:m>
                <a:endParaRPr lang="en-GB" sz="1600" dirty="0">
                  <a:solidFill>
                    <a:schemeClr val="tx2"/>
                  </a:solidFill>
                </a:endParaRPr>
              </a:p>
            </p:txBody>
          </p:sp>
        </mc:Choice>
        <mc:Fallback xmlns="">
          <p:sp>
            <p:nvSpPr>
              <p:cNvPr id="48" name="TextBox 47">
                <a:extLst>
                  <a:ext uri="{FF2B5EF4-FFF2-40B4-BE49-F238E27FC236}">
                    <a16:creationId xmlns:a16="http://schemas.microsoft.com/office/drawing/2014/main" id="{E4549B2E-8B98-4141-0AF8-BEF78DB6C1BF}"/>
                  </a:ext>
                </a:extLst>
              </p:cNvPr>
              <p:cNvSpPr txBox="1">
                <a:spLocks noRot="1" noChangeAspect="1" noMove="1" noResize="1" noEditPoints="1" noAdjustHandles="1" noChangeArrowheads="1" noChangeShapeType="1" noTextEdit="1"/>
              </p:cNvSpPr>
              <p:nvPr/>
            </p:nvSpPr>
            <p:spPr>
              <a:xfrm>
                <a:off x="9236405" y="1428697"/>
                <a:ext cx="2977228" cy="246221"/>
              </a:xfrm>
              <a:prstGeom prst="rect">
                <a:avLst/>
              </a:prstGeom>
              <a:blipFill>
                <a:blip r:embed="rId22"/>
                <a:stretch>
                  <a:fillRect b="-24390"/>
                </a:stretch>
              </a:blipFill>
            </p:spPr>
            <p:txBody>
              <a:bodyPr/>
              <a:lstStyle/>
              <a:p>
                <a:r>
                  <a:rPr lang="en-GB">
                    <a:noFill/>
                  </a:rPr>
                  <a:t> </a:t>
                </a:r>
              </a:p>
            </p:txBody>
          </p:sp>
        </mc:Fallback>
      </mc:AlternateContent>
      <p:sp>
        <p:nvSpPr>
          <p:cNvPr id="54" name="Title 2">
            <a:extLst>
              <a:ext uri="{FF2B5EF4-FFF2-40B4-BE49-F238E27FC236}">
                <a16:creationId xmlns:a16="http://schemas.microsoft.com/office/drawing/2014/main" id="{B587624D-9588-1550-D7D0-6A10D7BBFB9A}"/>
              </a:ext>
            </a:extLst>
          </p:cNvPr>
          <p:cNvSpPr>
            <a:spLocks noGrp="1"/>
          </p:cNvSpPr>
          <p:nvPr>
            <p:ph type="title"/>
          </p:nvPr>
        </p:nvSpPr>
        <p:spPr>
          <a:xfrm>
            <a:off x="412776" y="408519"/>
            <a:ext cx="11376025" cy="1065742"/>
          </a:xfrm>
        </p:spPr>
        <p:txBody>
          <a:bodyPr/>
          <a:lstStyle/>
          <a:p>
            <a:r>
              <a:rPr lang="de-AT" dirty="0"/>
              <a:t>Cubic Polynomial Algorithm</a:t>
            </a:r>
            <a:endParaRPr lang="en-GB" dirty="0"/>
          </a:p>
        </p:txBody>
      </p:sp>
    </p:spTree>
    <p:extLst>
      <p:ext uri="{BB962C8B-B14F-4D97-AF65-F5344CB8AC3E}">
        <p14:creationId xmlns:p14="http://schemas.microsoft.com/office/powerpoint/2010/main" val="26650602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23</a:t>
            </a:fld>
            <a:endParaRPr lang="en-US" dirty="0"/>
          </a:p>
        </p:txBody>
      </p:sp>
      <p:pic>
        <p:nvPicPr>
          <p:cNvPr id="8" name="Picture 7">
            <a:extLst>
              <a:ext uri="{FF2B5EF4-FFF2-40B4-BE49-F238E27FC236}">
                <a16:creationId xmlns:a16="http://schemas.microsoft.com/office/drawing/2014/main" id="{B7C62E76-168C-FDCE-A548-98936FF2A86A}"/>
              </a:ext>
            </a:extLst>
          </p:cNvPr>
          <p:cNvPicPr>
            <a:picLocks noChangeAspect="1"/>
          </p:cNvPicPr>
          <p:nvPr/>
        </p:nvPicPr>
        <p:blipFill rotWithShape="1">
          <a:blip r:embed="rId3"/>
          <a:srcRect l="5982" t="3899" r="3838" b="67773"/>
          <a:stretch/>
        </p:blipFill>
        <p:spPr>
          <a:xfrm>
            <a:off x="2281381" y="1149087"/>
            <a:ext cx="7379856" cy="4172785"/>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895BDE9-01C3-C791-ECF6-9C18D726A380}"/>
                  </a:ext>
                </a:extLst>
              </p:cNvPr>
              <p:cNvSpPr txBox="1"/>
              <p:nvPr/>
            </p:nvSpPr>
            <p:spPr>
              <a:xfrm>
                <a:off x="2890983" y="5183372"/>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𝑇</m:t>
                          </m:r>
                        </m:e>
                        <m:sub>
                          <m:r>
                            <a:rPr lang="en-US" b="0" i="1" smtClean="0">
                              <a:solidFill>
                                <a:schemeClr val="tx2"/>
                              </a:solidFill>
                              <a:latin typeface="Cambria Math" panose="02040503050406030204" pitchFamily="18" charset="0"/>
                            </a:rPr>
                            <m:t>1</m:t>
                          </m:r>
                        </m:sub>
                      </m:sSub>
                    </m:oMath>
                  </m:oMathPara>
                </a14:m>
                <a:endParaRPr lang="en-GB" dirty="0">
                  <a:solidFill>
                    <a:schemeClr val="tx2"/>
                  </a:solidFill>
                </a:endParaRPr>
              </a:p>
            </p:txBody>
          </p:sp>
        </mc:Choice>
        <mc:Fallback xmlns="">
          <p:sp>
            <p:nvSpPr>
              <p:cNvPr id="10" name="TextBox 9">
                <a:extLst>
                  <a:ext uri="{FF2B5EF4-FFF2-40B4-BE49-F238E27FC236}">
                    <a16:creationId xmlns:a16="http://schemas.microsoft.com/office/drawing/2014/main" id="{6895BDE9-01C3-C791-ECF6-9C18D726A380}"/>
                  </a:ext>
                </a:extLst>
              </p:cNvPr>
              <p:cNvSpPr txBox="1">
                <a:spLocks noRot="1" noChangeAspect="1" noMove="1" noResize="1" noEditPoints="1" noAdjustHandles="1" noChangeArrowheads="1" noChangeShapeType="1" noTextEdit="1"/>
              </p:cNvSpPr>
              <p:nvPr/>
            </p:nvSpPr>
            <p:spPr>
              <a:xfrm>
                <a:off x="2890983" y="5183372"/>
                <a:ext cx="424873" cy="276999"/>
              </a:xfrm>
              <a:prstGeom prst="rect">
                <a:avLst/>
              </a:prstGeom>
              <a:blipFill>
                <a:blip r:embed="rId4"/>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B068AC-5C5A-8B8E-FBDC-16F9AFD787A3}"/>
                  </a:ext>
                </a:extLst>
              </p:cNvPr>
              <p:cNvSpPr txBox="1"/>
              <p:nvPr/>
            </p:nvSpPr>
            <p:spPr>
              <a:xfrm>
                <a:off x="4345707" y="5183105"/>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𝑇</m:t>
                          </m:r>
                        </m:e>
                        <m:sub>
                          <m:r>
                            <a:rPr lang="en-US" b="0" i="1" smtClean="0">
                              <a:solidFill>
                                <a:schemeClr val="tx2"/>
                              </a:solidFill>
                              <a:latin typeface="Cambria Math" panose="02040503050406030204" pitchFamily="18" charset="0"/>
                            </a:rPr>
                            <m:t>2</m:t>
                          </m:r>
                        </m:sub>
                      </m:sSub>
                    </m:oMath>
                  </m:oMathPara>
                </a14:m>
                <a:endParaRPr lang="en-GB" dirty="0">
                  <a:solidFill>
                    <a:schemeClr val="tx2"/>
                  </a:solidFill>
                </a:endParaRPr>
              </a:p>
            </p:txBody>
          </p:sp>
        </mc:Choice>
        <mc:Fallback xmlns="">
          <p:sp>
            <p:nvSpPr>
              <p:cNvPr id="11" name="TextBox 10">
                <a:extLst>
                  <a:ext uri="{FF2B5EF4-FFF2-40B4-BE49-F238E27FC236}">
                    <a16:creationId xmlns:a16="http://schemas.microsoft.com/office/drawing/2014/main" id="{EDB068AC-5C5A-8B8E-FBDC-16F9AFD787A3}"/>
                  </a:ext>
                </a:extLst>
              </p:cNvPr>
              <p:cNvSpPr txBox="1">
                <a:spLocks noRot="1" noChangeAspect="1" noMove="1" noResize="1" noEditPoints="1" noAdjustHandles="1" noChangeArrowheads="1" noChangeShapeType="1" noTextEdit="1"/>
              </p:cNvSpPr>
              <p:nvPr/>
            </p:nvSpPr>
            <p:spPr>
              <a:xfrm>
                <a:off x="4345707" y="5183105"/>
                <a:ext cx="424873" cy="276999"/>
              </a:xfrm>
              <a:prstGeom prst="rect">
                <a:avLst/>
              </a:prstGeom>
              <a:blipFill>
                <a:blip r:embed="rId5"/>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2A9F42A-BA0C-B5EA-AC2A-B313231783B2}"/>
                  </a:ext>
                </a:extLst>
              </p:cNvPr>
              <p:cNvSpPr txBox="1"/>
              <p:nvPr/>
            </p:nvSpPr>
            <p:spPr>
              <a:xfrm>
                <a:off x="7216903" y="5182930"/>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𝑇</m:t>
                          </m:r>
                        </m:e>
                        <m:sub>
                          <m:r>
                            <a:rPr lang="en-US" b="0" i="1" smtClean="0">
                              <a:solidFill>
                                <a:schemeClr val="tx2"/>
                              </a:solidFill>
                              <a:latin typeface="Cambria Math" panose="02040503050406030204" pitchFamily="18" charset="0"/>
                            </a:rPr>
                            <m:t>4</m:t>
                          </m:r>
                        </m:sub>
                      </m:sSub>
                    </m:oMath>
                  </m:oMathPara>
                </a14:m>
                <a:endParaRPr lang="en-GB" dirty="0">
                  <a:solidFill>
                    <a:schemeClr val="tx2"/>
                  </a:solidFill>
                </a:endParaRPr>
              </a:p>
            </p:txBody>
          </p:sp>
        </mc:Choice>
        <mc:Fallback xmlns="">
          <p:sp>
            <p:nvSpPr>
              <p:cNvPr id="13" name="TextBox 12">
                <a:extLst>
                  <a:ext uri="{FF2B5EF4-FFF2-40B4-BE49-F238E27FC236}">
                    <a16:creationId xmlns:a16="http://schemas.microsoft.com/office/drawing/2014/main" id="{02A9F42A-BA0C-B5EA-AC2A-B313231783B2}"/>
                  </a:ext>
                </a:extLst>
              </p:cNvPr>
              <p:cNvSpPr txBox="1">
                <a:spLocks noRot="1" noChangeAspect="1" noMove="1" noResize="1" noEditPoints="1" noAdjustHandles="1" noChangeArrowheads="1" noChangeShapeType="1" noTextEdit="1"/>
              </p:cNvSpPr>
              <p:nvPr/>
            </p:nvSpPr>
            <p:spPr>
              <a:xfrm>
                <a:off x="7216903" y="5182930"/>
                <a:ext cx="424873" cy="276999"/>
              </a:xfrm>
              <a:prstGeom prst="rect">
                <a:avLst/>
              </a:prstGeom>
              <a:blipFill>
                <a:blip r:embed="rId6"/>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77EF17F-3904-74F8-27F4-046C3FA94068}"/>
                  </a:ext>
                </a:extLst>
              </p:cNvPr>
              <p:cNvSpPr txBox="1"/>
              <p:nvPr/>
            </p:nvSpPr>
            <p:spPr>
              <a:xfrm>
                <a:off x="8654312" y="5182929"/>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𝑇</m:t>
                          </m:r>
                        </m:e>
                        <m:sub>
                          <m:r>
                            <a:rPr lang="en-US" b="0" i="1" smtClean="0">
                              <a:solidFill>
                                <a:schemeClr val="tx2"/>
                              </a:solidFill>
                              <a:latin typeface="Cambria Math" panose="02040503050406030204" pitchFamily="18" charset="0"/>
                            </a:rPr>
                            <m:t>5</m:t>
                          </m:r>
                        </m:sub>
                      </m:sSub>
                    </m:oMath>
                  </m:oMathPara>
                </a14:m>
                <a:endParaRPr lang="en-GB" dirty="0">
                  <a:solidFill>
                    <a:schemeClr val="tx2"/>
                  </a:solidFill>
                </a:endParaRPr>
              </a:p>
            </p:txBody>
          </p:sp>
        </mc:Choice>
        <mc:Fallback xmlns="">
          <p:sp>
            <p:nvSpPr>
              <p:cNvPr id="14" name="TextBox 13">
                <a:extLst>
                  <a:ext uri="{FF2B5EF4-FFF2-40B4-BE49-F238E27FC236}">
                    <a16:creationId xmlns:a16="http://schemas.microsoft.com/office/drawing/2014/main" id="{C77EF17F-3904-74F8-27F4-046C3FA94068}"/>
                  </a:ext>
                </a:extLst>
              </p:cNvPr>
              <p:cNvSpPr txBox="1">
                <a:spLocks noRot="1" noChangeAspect="1" noMove="1" noResize="1" noEditPoints="1" noAdjustHandles="1" noChangeArrowheads="1" noChangeShapeType="1" noTextEdit="1"/>
              </p:cNvSpPr>
              <p:nvPr/>
            </p:nvSpPr>
            <p:spPr>
              <a:xfrm>
                <a:off x="8654312" y="5182929"/>
                <a:ext cx="424873" cy="276999"/>
              </a:xfrm>
              <a:prstGeom prst="rect">
                <a:avLst/>
              </a:prstGeom>
              <a:blipFill>
                <a:blip r:embed="rId7"/>
                <a:stretch>
                  <a:fillRect b="-17391"/>
                </a:stretch>
              </a:blipFill>
            </p:spPr>
            <p:txBody>
              <a:bodyPr/>
              <a:lstStyle/>
              <a:p>
                <a:r>
                  <a:rPr lang="en-GB">
                    <a:noFill/>
                  </a:rPr>
                  <a:t> </a:t>
                </a:r>
              </a:p>
            </p:txBody>
          </p:sp>
        </mc:Fallback>
      </mc:AlternateContent>
      <p:sp>
        <p:nvSpPr>
          <p:cNvPr id="16" name="Left Brace 15">
            <a:extLst>
              <a:ext uri="{FF2B5EF4-FFF2-40B4-BE49-F238E27FC236}">
                <a16:creationId xmlns:a16="http://schemas.microsoft.com/office/drawing/2014/main" id="{80F08AAC-EE95-80CB-929F-F6DD7C182CF0}"/>
              </a:ext>
            </a:extLst>
          </p:cNvPr>
          <p:cNvSpPr/>
          <p:nvPr/>
        </p:nvSpPr>
        <p:spPr>
          <a:xfrm rot="16200000">
            <a:off x="3690227" y="4857546"/>
            <a:ext cx="271137" cy="1475903"/>
          </a:xfrm>
          <a:prstGeom prst="leftBrace">
            <a:avLst/>
          </a:prstGeom>
          <a:ln>
            <a:solidFill>
              <a:srgbClr val="30303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3" name="Left Brace 22">
            <a:extLst>
              <a:ext uri="{FF2B5EF4-FFF2-40B4-BE49-F238E27FC236}">
                <a16:creationId xmlns:a16="http://schemas.microsoft.com/office/drawing/2014/main" id="{FFCF4BF6-1390-F75B-E856-950D27890B01}"/>
              </a:ext>
            </a:extLst>
          </p:cNvPr>
          <p:cNvSpPr/>
          <p:nvPr/>
        </p:nvSpPr>
        <p:spPr>
          <a:xfrm rot="16200000">
            <a:off x="5130099" y="4894018"/>
            <a:ext cx="270695" cy="1403399"/>
          </a:xfrm>
          <a:prstGeom prst="leftBrace">
            <a:avLst/>
          </a:prstGeom>
          <a:ln>
            <a:solidFill>
              <a:srgbClr val="30303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4" name="Left Brace 23">
            <a:extLst>
              <a:ext uri="{FF2B5EF4-FFF2-40B4-BE49-F238E27FC236}">
                <a16:creationId xmlns:a16="http://schemas.microsoft.com/office/drawing/2014/main" id="{9945BCB2-6066-A680-F595-AC8B663D5059}"/>
              </a:ext>
            </a:extLst>
          </p:cNvPr>
          <p:cNvSpPr/>
          <p:nvPr/>
        </p:nvSpPr>
        <p:spPr>
          <a:xfrm rot="16200000">
            <a:off x="6571394" y="4857546"/>
            <a:ext cx="271137" cy="1475904"/>
          </a:xfrm>
          <a:prstGeom prst="leftBrace">
            <a:avLst/>
          </a:prstGeom>
          <a:ln>
            <a:solidFill>
              <a:srgbClr val="30303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6" name="Left Brace 25">
            <a:extLst>
              <a:ext uri="{FF2B5EF4-FFF2-40B4-BE49-F238E27FC236}">
                <a16:creationId xmlns:a16="http://schemas.microsoft.com/office/drawing/2014/main" id="{F59322BC-E92B-AE5A-E0EF-73C85A9F3C96}"/>
              </a:ext>
            </a:extLst>
          </p:cNvPr>
          <p:cNvSpPr/>
          <p:nvPr/>
        </p:nvSpPr>
        <p:spPr>
          <a:xfrm rot="16200000">
            <a:off x="8008292" y="4889183"/>
            <a:ext cx="278506" cy="1405261"/>
          </a:xfrm>
          <a:prstGeom prst="leftBrace">
            <a:avLst/>
          </a:prstGeom>
          <a:ln>
            <a:solidFill>
              <a:srgbClr val="30303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4866DD2F-E681-1BCB-4F30-1E26F7C05A4B}"/>
                  </a:ext>
                </a:extLst>
              </p:cNvPr>
              <p:cNvSpPr txBox="1"/>
              <p:nvPr/>
            </p:nvSpPr>
            <p:spPr>
              <a:xfrm>
                <a:off x="2775530" y="4397590"/>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𝑃</m:t>
                          </m:r>
                        </m:e>
                        <m:sub>
                          <m:r>
                            <a:rPr lang="en-US" b="0" i="1" smtClean="0">
                              <a:solidFill>
                                <a:schemeClr val="tx2"/>
                              </a:solidFill>
                              <a:latin typeface="Cambria Math" panose="02040503050406030204" pitchFamily="18" charset="0"/>
                            </a:rPr>
                            <m:t>1</m:t>
                          </m:r>
                        </m:sub>
                      </m:sSub>
                    </m:oMath>
                  </m:oMathPara>
                </a14:m>
                <a:endParaRPr lang="en-GB" dirty="0">
                  <a:solidFill>
                    <a:schemeClr val="tx2"/>
                  </a:solidFill>
                </a:endParaRPr>
              </a:p>
            </p:txBody>
          </p:sp>
        </mc:Choice>
        <mc:Fallback xmlns="">
          <p:sp>
            <p:nvSpPr>
              <p:cNvPr id="27" name="TextBox 26">
                <a:extLst>
                  <a:ext uri="{FF2B5EF4-FFF2-40B4-BE49-F238E27FC236}">
                    <a16:creationId xmlns:a16="http://schemas.microsoft.com/office/drawing/2014/main" id="{4866DD2F-E681-1BCB-4F30-1E26F7C05A4B}"/>
                  </a:ext>
                </a:extLst>
              </p:cNvPr>
              <p:cNvSpPr txBox="1">
                <a:spLocks noRot="1" noChangeAspect="1" noMove="1" noResize="1" noEditPoints="1" noAdjustHandles="1" noChangeArrowheads="1" noChangeShapeType="1" noTextEdit="1"/>
              </p:cNvSpPr>
              <p:nvPr/>
            </p:nvSpPr>
            <p:spPr>
              <a:xfrm>
                <a:off x="2775530" y="4397590"/>
                <a:ext cx="424873" cy="276999"/>
              </a:xfrm>
              <a:prstGeom prst="rect">
                <a:avLst/>
              </a:prstGeom>
              <a:blipFill>
                <a:blip r:embed="rId8"/>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72B0CB2-9E64-7599-F620-F0F7DEB274DB}"/>
                  </a:ext>
                </a:extLst>
              </p:cNvPr>
              <p:cNvSpPr txBox="1"/>
              <p:nvPr/>
            </p:nvSpPr>
            <p:spPr>
              <a:xfrm>
                <a:off x="5922831" y="4379118"/>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𝑃</m:t>
                          </m:r>
                        </m:e>
                        <m:sub>
                          <m:r>
                            <a:rPr lang="en-US" b="0" i="1" smtClean="0">
                              <a:solidFill>
                                <a:schemeClr val="tx2"/>
                              </a:solidFill>
                              <a:latin typeface="Cambria Math" panose="02040503050406030204" pitchFamily="18" charset="0"/>
                            </a:rPr>
                            <m:t>3</m:t>
                          </m:r>
                        </m:sub>
                      </m:sSub>
                    </m:oMath>
                  </m:oMathPara>
                </a14:m>
                <a:endParaRPr lang="en-GB" dirty="0">
                  <a:solidFill>
                    <a:schemeClr val="tx2"/>
                  </a:solidFill>
                </a:endParaRPr>
              </a:p>
            </p:txBody>
          </p:sp>
        </mc:Choice>
        <mc:Fallback xmlns="">
          <p:sp>
            <p:nvSpPr>
              <p:cNvPr id="29" name="TextBox 28">
                <a:extLst>
                  <a:ext uri="{FF2B5EF4-FFF2-40B4-BE49-F238E27FC236}">
                    <a16:creationId xmlns:a16="http://schemas.microsoft.com/office/drawing/2014/main" id="{D72B0CB2-9E64-7599-F620-F0F7DEB274DB}"/>
                  </a:ext>
                </a:extLst>
              </p:cNvPr>
              <p:cNvSpPr txBox="1">
                <a:spLocks noRot="1" noChangeAspect="1" noMove="1" noResize="1" noEditPoints="1" noAdjustHandles="1" noChangeArrowheads="1" noChangeShapeType="1" noTextEdit="1"/>
              </p:cNvSpPr>
              <p:nvPr/>
            </p:nvSpPr>
            <p:spPr>
              <a:xfrm>
                <a:off x="5922831" y="4379118"/>
                <a:ext cx="424873" cy="276999"/>
              </a:xfrm>
              <a:prstGeom prst="rect">
                <a:avLst/>
              </a:prstGeom>
              <a:blipFill>
                <a:blip r:embed="rId9"/>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501D573-D7A4-1616-D81F-40AD367A4A6E}"/>
                  </a:ext>
                </a:extLst>
              </p:cNvPr>
              <p:cNvSpPr txBox="1"/>
              <p:nvPr/>
            </p:nvSpPr>
            <p:spPr>
              <a:xfrm>
                <a:off x="7203051" y="1376140"/>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𝑃</m:t>
                          </m:r>
                        </m:e>
                        <m:sub>
                          <m:r>
                            <a:rPr lang="en-US" b="0" i="1" smtClean="0">
                              <a:solidFill>
                                <a:schemeClr val="tx2"/>
                              </a:solidFill>
                              <a:latin typeface="Cambria Math" panose="02040503050406030204" pitchFamily="18" charset="0"/>
                            </a:rPr>
                            <m:t>4</m:t>
                          </m:r>
                        </m:sub>
                      </m:sSub>
                    </m:oMath>
                  </m:oMathPara>
                </a14:m>
                <a:endParaRPr lang="en-GB" dirty="0">
                  <a:solidFill>
                    <a:schemeClr val="tx2"/>
                  </a:solidFill>
                </a:endParaRPr>
              </a:p>
            </p:txBody>
          </p:sp>
        </mc:Choice>
        <mc:Fallback xmlns="">
          <p:sp>
            <p:nvSpPr>
              <p:cNvPr id="30" name="TextBox 29">
                <a:extLst>
                  <a:ext uri="{FF2B5EF4-FFF2-40B4-BE49-F238E27FC236}">
                    <a16:creationId xmlns:a16="http://schemas.microsoft.com/office/drawing/2014/main" id="{C501D573-D7A4-1616-D81F-40AD367A4A6E}"/>
                  </a:ext>
                </a:extLst>
              </p:cNvPr>
              <p:cNvSpPr txBox="1">
                <a:spLocks noRot="1" noChangeAspect="1" noMove="1" noResize="1" noEditPoints="1" noAdjustHandles="1" noChangeArrowheads="1" noChangeShapeType="1" noTextEdit="1"/>
              </p:cNvSpPr>
              <p:nvPr/>
            </p:nvSpPr>
            <p:spPr>
              <a:xfrm>
                <a:off x="7203051" y="1376140"/>
                <a:ext cx="424873" cy="276999"/>
              </a:xfrm>
              <a:prstGeom prst="rect">
                <a:avLst/>
              </a:prstGeom>
              <a:blipFill>
                <a:blip r:embed="rId10"/>
                <a:stretch>
                  <a:fillRect b="-1777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D65239CA-334D-74BE-292B-105D4B6AE772}"/>
                  </a:ext>
                </a:extLst>
              </p:cNvPr>
              <p:cNvSpPr txBox="1"/>
              <p:nvPr/>
            </p:nvSpPr>
            <p:spPr>
              <a:xfrm>
                <a:off x="8543638" y="3932292"/>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𝑃</m:t>
                          </m:r>
                        </m:e>
                        <m:sub>
                          <m:r>
                            <a:rPr lang="en-US" b="0" i="1" smtClean="0">
                              <a:solidFill>
                                <a:schemeClr val="tx2"/>
                              </a:solidFill>
                              <a:latin typeface="Cambria Math" panose="02040503050406030204" pitchFamily="18" charset="0"/>
                            </a:rPr>
                            <m:t>5</m:t>
                          </m:r>
                        </m:sub>
                      </m:sSub>
                    </m:oMath>
                  </m:oMathPara>
                </a14:m>
                <a:endParaRPr lang="en-GB" dirty="0">
                  <a:solidFill>
                    <a:schemeClr val="tx2"/>
                  </a:solidFill>
                </a:endParaRPr>
              </a:p>
            </p:txBody>
          </p:sp>
        </mc:Choice>
        <mc:Fallback xmlns="">
          <p:sp>
            <p:nvSpPr>
              <p:cNvPr id="31" name="TextBox 30">
                <a:extLst>
                  <a:ext uri="{FF2B5EF4-FFF2-40B4-BE49-F238E27FC236}">
                    <a16:creationId xmlns:a16="http://schemas.microsoft.com/office/drawing/2014/main" id="{D65239CA-334D-74BE-292B-105D4B6AE772}"/>
                  </a:ext>
                </a:extLst>
              </p:cNvPr>
              <p:cNvSpPr txBox="1">
                <a:spLocks noRot="1" noChangeAspect="1" noMove="1" noResize="1" noEditPoints="1" noAdjustHandles="1" noChangeArrowheads="1" noChangeShapeType="1" noTextEdit="1"/>
              </p:cNvSpPr>
              <p:nvPr/>
            </p:nvSpPr>
            <p:spPr>
              <a:xfrm>
                <a:off x="8543638" y="3932292"/>
                <a:ext cx="424873" cy="276999"/>
              </a:xfrm>
              <a:prstGeom prst="rect">
                <a:avLst/>
              </a:prstGeom>
              <a:blipFill>
                <a:blip r:embed="rId11"/>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4FC0201-330E-4218-1C83-2C673FD77614}"/>
                  </a:ext>
                </a:extLst>
              </p:cNvPr>
              <p:cNvSpPr txBox="1"/>
              <p:nvPr/>
            </p:nvSpPr>
            <p:spPr>
              <a:xfrm>
                <a:off x="3644737" y="5702691"/>
                <a:ext cx="338627"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𝑝</m:t>
                          </m:r>
                        </m:e>
                        <m:sub>
                          <m:r>
                            <a:rPr lang="en-US" sz="1400" b="0" i="1" smtClean="0">
                              <a:solidFill>
                                <a:schemeClr val="tx2"/>
                              </a:solidFill>
                              <a:latin typeface="Cambria Math" panose="02040503050406030204" pitchFamily="18" charset="0"/>
                            </a:rPr>
                            <m:t>1</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m:t>
                      </m:r>
                    </m:oMath>
                  </m:oMathPara>
                </a14:m>
                <a:endParaRPr lang="en-GB" sz="1400" dirty="0">
                  <a:solidFill>
                    <a:schemeClr val="tx2"/>
                  </a:solidFill>
                </a:endParaRPr>
              </a:p>
            </p:txBody>
          </p:sp>
        </mc:Choice>
        <mc:Fallback xmlns="">
          <p:sp>
            <p:nvSpPr>
              <p:cNvPr id="32" name="TextBox 31">
                <a:extLst>
                  <a:ext uri="{FF2B5EF4-FFF2-40B4-BE49-F238E27FC236}">
                    <a16:creationId xmlns:a16="http://schemas.microsoft.com/office/drawing/2014/main" id="{44FC0201-330E-4218-1C83-2C673FD77614}"/>
                  </a:ext>
                </a:extLst>
              </p:cNvPr>
              <p:cNvSpPr txBox="1">
                <a:spLocks noRot="1" noChangeAspect="1" noMove="1" noResize="1" noEditPoints="1" noAdjustHandles="1" noChangeArrowheads="1" noChangeShapeType="1" noTextEdit="1"/>
              </p:cNvSpPr>
              <p:nvPr/>
            </p:nvSpPr>
            <p:spPr>
              <a:xfrm>
                <a:off x="3644737" y="5702691"/>
                <a:ext cx="338627" cy="215444"/>
              </a:xfrm>
              <a:prstGeom prst="rect">
                <a:avLst/>
              </a:prstGeom>
              <a:blipFill>
                <a:blip r:embed="rId12"/>
                <a:stretch>
                  <a:fillRect l="-20000" r="-40000" b="-3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22B00216-C540-A3AF-338D-574E5DC22B48}"/>
                  </a:ext>
                </a:extLst>
              </p:cNvPr>
              <p:cNvSpPr txBox="1"/>
              <p:nvPr/>
            </p:nvSpPr>
            <p:spPr>
              <a:xfrm>
                <a:off x="5096133" y="5702691"/>
                <a:ext cx="338627"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𝑝</m:t>
                          </m:r>
                        </m:e>
                        <m:sub>
                          <m:r>
                            <a:rPr lang="en-US" sz="1400" b="0" i="1" smtClean="0">
                              <a:solidFill>
                                <a:schemeClr val="tx2"/>
                              </a:solidFill>
                              <a:latin typeface="Cambria Math" panose="02040503050406030204" pitchFamily="18" charset="0"/>
                            </a:rPr>
                            <m:t>2</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m:t>
                      </m:r>
                    </m:oMath>
                  </m:oMathPara>
                </a14:m>
                <a:endParaRPr lang="en-GB" sz="1400" dirty="0">
                  <a:solidFill>
                    <a:schemeClr val="tx2"/>
                  </a:solidFill>
                </a:endParaRPr>
              </a:p>
            </p:txBody>
          </p:sp>
        </mc:Choice>
        <mc:Fallback xmlns="">
          <p:sp>
            <p:nvSpPr>
              <p:cNvPr id="33" name="TextBox 32">
                <a:extLst>
                  <a:ext uri="{FF2B5EF4-FFF2-40B4-BE49-F238E27FC236}">
                    <a16:creationId xmlns:a16="http://schemas.microsoft.com/office/drawing/2014/main" id="{22B00216-C540-A3AF-338D-574E5DC22B48}"/>
                  </a:ext>
                </a:extLst>
              </p:cNvPr>
              <p:cNvSpPr txBox="1">
                <a:spLocks noRot="1" noChangeAspect="1" noMove="1" noResize="1" noEditPoints="1" noAdjustHandles="1" noChangeArrowheads="1" noChangeShapeType="1" noTextEdit="1"/>
              </p:cNvSpPr>
              <p:nvPr/>
            </p:nvSpPr>
            <p:spPr>
              <a:xfrm>
                <a:off x="5096133" y="5702691"/>
                <a:ext cx="338627" cy="215444"/>
              </a:xfrm>
              <a:prstGeom prst="rect">
                <a:avLst/>
              </a:prstGeom>
              <a:blipFill>
                <a:blip r:embed="rId13"/>
                <a:stretch>
                  <a:fillRect l="-19643" r="-39286" b="-3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3FA5B86-6AA5-6526-16D6-AA2CE93141E6}"/>
                  </a:ext>
                </a:extLst>
              </p:cNvPr>
              <p:cNvSpPr txBox="1"/>
              <p:nvPr/>
            </p:nvSpPr>
            <p:spPr>
              <a:xfrm>
                <a:off x="6537648" y="5707756"/>
                <a:ext cx="338627"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𝑝</m:t>
                          </m:r>
                        </m:e>
                        <m:sub>
                          <m:r>
                            <a:rPr lang="en-US" sz="1400" b="0" i="1" smtClean="0">
                              <a:solidFill>
                                <a:schemeClr val="tx2"/>
                              </a:solidFill>
                              <a:latin typeface="Cambria Math" panose="02040503050406030204" pitchFamily="18" charset="0"/>
                            </a:rPr>
                            <m:t>3</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m:t>
                      </m:r>
                    </m:oMath>
                  </m:oMathPara>
                </a14:m>
                <a:endParaRPr lang="en-GB" sz="1400" dirty="0">
                  <a:solidFill>
                    <a:schemeClr val="tx2"/>
                  </a:solidFill>
                </a:endParaRPr>
              </a:p>
            </p:txBody>
          </p:sp>
        </mc:Choice>
        <mc:Fallback xmlns="">
          <p:sp>
            <p:nvSpPr>
              <p:cNvPr id="34" name="TextBox 33">
                <a:extLst>
                  <a:ext uri="{FF2B5EF4-FFF2-40B4-BE49-F238E27FC236}">
                    <a16:creationId xmlns:a16="http://schemas.microsoft.com/office/drawing/2014/main" id="{F3FA5B86-6AA5-6526-16D6-AA2CE93141E6}"/>
                  </a:ext>
                </a:extLst>
              </p:cNvPr>
              <p:cNvSpPr txBox="1">
                <a:spLocks noRot="1" noChangeAspect="1" noMove="1" noResize="1" noEditPoints="1" noAdjustHandles="1" noChangeArrowheads="1" noChangeShapeType="1" noTextEdit="1"/>
              </p:cNvSpPr>
              <p:nvPr/>
            </p:nvSpPr>
            <p:spPr>
              <a:xfrm>
                <a:off x="6537648" y="5707756"/>
                <a:ext cx="338627" cy="215444"/>
              </a:xfrm>
              <a:prstGeom prst="rect">
                <a:avLst/>
              </a:prstGeom>
              <a:blipFill>
                <a:blip r:embed="rId14"/>
                <a:stretch>
                  <a:fillRect l="-17857" r="-41071" b="-3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AEEA177F-E463-5910-D2E6-BFD4EEC350F8}"/>
                  </a:ext>
                </a:extLst>
              </p:cNvPr>
              <p:cNvSpPr txBox="1"/>
              <p:nvPr/>
            </p:nvSpPr>
            <p:spPr>
              <a:xfrm>
                <a:off x="7980178" y="5700746"/>
                <a:ext cx="338627"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𝑝</m:t>
                          </m:r>
                        </m:e>
                        <m:sub>
                          <m:r>
                            <a:rPr lang="en-US" sz="1400" b="0" i="1" smtClean="0">
                              <a:solidFill>
                                <a:schemeClr val="tx2"/>
                              </a:solidFill>
                              <a:latin typeface="Cambria Math" panose="02040503050406030204" pitchFamily="18" charset="0"/>
                            </a:rPr>
                            <m:t>4</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m:t>
                      </m:r>
                    </m:oMath>
                  </m:oMathPara>
                </a14:m>
                <a:endParaRPr lang="en-GB" sz="1400" dirty="0">
                  <a:solidFill>
                    <a:schemeClr val="tx2"/>
                  </a:solidFill>
                </a:endParaRPr>
              </a:p>
            </p:txBody>
          </p:sp>
        </mc:Choice>
        <mc:Fallback xmlns="">
          <p:sp>
            <p:nvSpPr>
              <p:cNvPr id="35" name="TextBox 34">
                <a:extLst>
                  <a:ext uri="{FF2B5EF4-FFF2-40B4-BE49-F238E27FC236}">
                    <a16:creationId xmlns:a16="http://schemas.microsoft.com/office/drawing/2014/main" id="{AEEA177F-E463-5910-D2E6-BFD4EEC350F8}"/>
                  </a:ext>
                </a:extLst>
              </p:cNvPr>
              <p:cNvSpPr txBox="1">
                <a:spLocks noRot="1" noChangeAspect="1" noMove="1" noResize="1" noEditPoints="1" noAdjustHandles="1" noChangeArrowheads="1" noChangeShapeType="1" noTextEdit="1"/>
              </p:cNvSpPr>
              <p:nvPr/>
            </p:nvSpPr>
            <p:spPr>
              <a:xfrm>
                <a:off x="7980178" y="5700746"/>
                <a:ext cx="338627" cy="215444"/>
              </a:xfrm>
              <a:prstGeom prst="rect">
                <a:avLst/>
              </a:prstGeom>
              <a:blipFill>
                <a:blip r:embed="rId15"/>
                <a:stretch>
                  <a:fillRect l="-17857" r="-41071" b="-3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CE18FE4D-91A8-1214-4ACF-25C7CE393BCA}"/>
                  </a:ext>
                </a:extLst>
              </p:cNvPr>
              <p:cNvSpPr txBox="1"/>
              <p:nvPr/>
            </p:nvSpPr>
            <p:spPr>
              <a:xfrm>
                <a:off x="3347953" y="5945454"/>
                <a:ext cx="955683"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1</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&lt;</m:t>
                      </m:r>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2</m:t>
                          </m:r>
                        </m:sub>
                      </m:sSub>
                    </m:oMath>
                  </m:oMathPara>
                </a14:m>
                <a:endParaRPr lang="en-GB" sz="1400" dirty="0">
                  <a:solidFill>
                    <a:schemeClr val="tx2"/>
                  </a:solidFill>
                </a:endParaRPr>
              </a:p>
            </p:txBody>
          </p:sp>
        </mc:Choice>
        <mc:Fallback xmlns="">
          <p:sp>
            <p:nvSpPr>
              <p:cNvPr id="36" name="TextBox 35">
                <a:extLst>
                  <a:ext uri="{FF2B5EF4-FFF2-40B4-BE49-F238E27FC236}">
                    <a16:creationId xmlns:a16="http://schemas.microsoft.com/office/drawing/2014/main" id="{CE18FE4D-91A8-1214-4ACF-25C7CE393BCA}"/>
                  </a:ext>
                </a:extLst>
              </p:cNvPr>
              <p:cNvSpPr txBox="1">
                <a:spLocks noRot="1" noChangeAspect="1" noMove="1" noResize="1" noEditPoints="1" noAdjustHandles="1" noChangeArrowheads="1" noChangeShapeType="1" noTextEdit="1"/>
              </p:cNvSpPr>
              <p:nvPr/>
            </p:nvSpPr>
            <p:spPr>
              <a:xfrm>
                <a:off x="3347953" y="5945454"/>
                <a:ext cx="955683" cy="215444"/>
              </a:xfrm>
              <a:prstGeom prst="rect">
                <a:avLst/>
              </a:prstGeom>
              <a:blipFill>
                <a:blip r:embed="rId16"/>
                <a:stretch>
                  <a:fillRect l="-1911" b="-1388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9847B72-B25F-84D9-9486-B2EFA80DB050}"/>
                  </a:ext>
                </a:extLst>
              </p:cNvPr>
              <p:cNvSpPr txBox="1"/>
              <p:nvPr/>
            </p:nvSpPr>
            <p:spPr>
              <a:xfrm>
                <a:off x="4787604" y="5945013"/>
                <a:ext cx="955683"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2</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&lt;</m:t>
                      </m:r>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3</m:t>
                          </m:r>
                        </m:sub>
                      </m:sSub>
                    </m:oMath>
                  </m:oMathPara>
                </a14:m>
                <a:endParaRPr lang="en-GB" sz="1400" dirty="0">
                  <a:solidFill>
                    <a:schemeClr val="tx2"/>
                  </a:solidFill>
                </a:endParaRPr>
              </a:p>
            </p:txBody>
          </p:sp>
        </mc:Choice>
        <mc:Fallback xmlns="">
          <p:sp>
            <p:nvSpPr>
              <p:cNvPr id="37" name="TextBox 36">
                <a:extLst>
                  <a:ext uri="{FF2B5EF4-FFF2-40B4-BE49-F238E27FC236}">
                    <a16:creationId xmlns:a16="http://schemas.microsoft.com/office/drawing/2014/main" id="{49847B72-B25F-84D9-9486-B2EFA80DB050}"/>
                  </a:ext>
                </a:extLst>
              </p:cNvPr>
              <p:cNvSpPr txBox="1">
                <a:spLocks noRot="1" noChangeAspect="1" noMove="1" noResize="1" noEditPoints="1" noAdjustHandles="1" noChangeArrowheads="1" noChangeShapeType="1" noTextEdit="1"/>
              </p:cNvSpPr>
              <p:nvPr/>
            </p:nvSpPr>
            <p:spPr>
              <a:xfrm>
                <a:off x="4787604" y="5945013"/>
                <a:ext cx="955683" cy="215444"/>
              </a:xfrm>
              <a:prstGeom prst="rect">
                <a:avLst/>
              </a:prstGeom>
              <a:blipFill>
                <a:blip r:embed="rId17"/>
                <a:stretch>
                  <a:fillRect l="-2548" b="-1388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CFA34671-6758-E6CC-AC41-A34FDFB63207}"/>
                  </a:ext>
                </a:extLst>
              </p:cNvPr>
              <p:cNvSpPr txBox="1"/>
              <p:nvPr/>
            </p:nvSpPr>
            <p:spPr>
              <a:xfrm>
                <a:off x="6227255" y="5945013"/>
                <a:ext cx="955683"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1</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&lt;</m:t>
                      </m:r>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2</m:t>
                          </m:r>
                        </m:sub>
                      </m:sSub>
                    </m:oMath>
                  </m:oMathPara>
                </a14:m>
                <a:endParaRPr lang="en-GB" sz="1400" dirty="0">
                  <a:solidFill>
                    <a:schemeClr val="tx2"/>
                  </a:solidFill>
                </a:endParaRPr>
              </a:p>
            </p:txBody>
          </p:sp>
        </mc:Choice>
        <mc:Fallback xmlns="">
          <p:sp>
            <p:nvSpPr>
              <p:cNvPr id="38" name="TextBox 37">
                <a:extLst>
                  <a:ext uri="{FF2B5EF4-FFF2-40B4-BE49-F238E27FC236}">
                    <a16:creationId xmlns:a16="http://schemas.microsoft.com/office/drawing/2014/main" id="{CFA34671-6758-E6CC-AC41-A34FDFB63207}"/>
                  </a:ext>
                </a:extLst>
              </p:cNvPr>
              <p:cNvSpPr txBox="1">
                <a:spLocks noRot="1" noChangeAspect="1" noMove="1" noResize="1" noEditPoints="1" noAdjustHandles="1" noChangeArrowheads="1" noChangeShapeType="1" noTextEdit="1"/>
              </p:cNvSpPr>
              <p:nvPr/>
            </p:nvSpPr>
            <p:spPr>
              <a:xfrm>
                <a:off x="6227255" y="5945013"/>
                <a:ext cx="955683" cy="215444"/>
              </a:xfrm>
              <a:prstGeom prst="rect">
                <a:avLst/>
              </a:prstGeom>
              <a:blipFill>
                <a:blip r:embed="rId18"/>
                <a:stretch>
                  <a:fillRect l="-1923" b="-1388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8A2B03CD-6AF8-070E-DD47-045487979CAF}"/>
                  </a:ext>
                </a:extLst>
              </p:cNvPr>
              <p:cNvSpPr txBox="1"/>
              <p:nvPr/>
            </p:nvSpPr>
            <p:spPr>
              <a:xfrm>
                <a:off x="7666906" y="5945013"/>
                <a:ext cx="955683"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1</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&lt;</m:t>
                      </m:r>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2</m:t>
                          </m:r>
                        </m:sub>
                      </m:sSub>
                    </m:oMath>
                  </m:oMathPara>
                </a14:m>
                <a:endParaRPr lang="en-GB" sz="1400" dirty="0">
                  <a:solidFill>
                    <a:schemeClr val="tx2"/>
                  </a:solidFill>
                </a:endParaRPr>
              </a:p>
            </p:txBody>
          </p:sp>
        </mc:Choice>
        <mc:Fallback xmlns="">
          <p:sp>
            <p:nvSpPr>
              <p:cNvPr id="39" name="TextBox 38">
                <a:extLst>
                  <a:ext uri="{FF2B5EF4-FFF2-40B4-BE49-F238E27FC236}">
                    <a16:creationId xmlns:a16="http://schemas.microsoft.com/office/drawing/2014/main" id="{8A2B03CD-6AF8-070E-DD47-045487979CAF}"/>
                  </a:ext>
                </a:extLst>
              </p:cNvPr>
              <p:cNvSpPr txBox="1">
                <a:spLocks noRot="1" noChangeAspect="1" noMove="1" noResize="1" noEditPoints="1" noAdjustHandles="1" noChangeArrowheads="1" noChangeShapeType="1" noTextEdit="1"/>
              </p:cNvSpPr>
              <p:nvPr/>
            </p:nvSpPr>
            <p:spPr>
              <a:xfrm>
                <a:off x="7666906" y="5945013"/>
                <a:ext cx="955683" cy="215444"/>
              </a:xfrm>
              <a:prstGeom prst="rect">
                <a:avLst/>
              </a:prstGeom>
              <a:blipFill>
                <a:blip r:embed="rId18"/>
                <a:stretch>
                  <a:fillRect l="-1923" b="-13889"/>
                </a:stretch>
              </a:blipFill>
            </p:spPr>
            <p:txBody>
              <a:bodyPr/>
              <a:lstStyle/>
              <a:p>
                <a:r>
                  <a:rPr lang="en-GB">
                    <a:noFill/>
                  </a:rPr>
                  <a:t> </a:t>
                </a:r>
              </a:p>
            </p:txBody>
          </p:sp>
        </mc:Fallback>
      </mc:AlternateContent>
      <p:cxnSp>
        <p:nvCxnSpPr>
          <p:cNvPr id="41" name="Straight Arrow Connector 40">
            <a:extLst>
              <a:ext uri="{FF2B5EF4-FFF2-40B4-BE49-F238E27FC236}">
                <a16:creationId xmlns:a16="http://schemas.microsoft.com/office/drawing/2014/main" id="{AC474824-4D17-2E45-6F0F-FDE1868A8DE9}"/>
              </a:ext>
            </a:extLst>
          </p:cNvPr>
          <p:cNvCxnSpPr>
            <a:cxnSpLocks/>
          </p:cNvCxnSpPr>
          <p:nvPr/>
        </p:nvCxnSpPr>
        <p:spPr>
          <a:xfrm>
            <a:off x="3103719" y="4775200"/>
            <a:ext cx="556893" cy="0"/>
          </a:xfrm>
          <a:prstGeom prst="straightConnector1">
            <a:avLst/>
          </a:prstGeom>
          <a:ln w="28575">
            <a:solidFill>
              <a:srgbClr val="ED7D3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2ED3609-D1C0-C937-13C6-BBA4EFF70A22}"/>
              </a:ext>
            </a:extLst>
          </p:cNvPr>
          <p:cNvCxnSpPr>
            <a:cxnSpLocks/>
          </p:cNvCxnSpPr>
          <p:nvPr/>
        </p:nvCxnSpPr>
        <p:spPr>
          <a:xfrm>
            <a:off x="8871605" y="3914136"/>
            <a:ext cx="556893" cy="0"/>
          </a:xfrm>
          <a:prstGeom prst="straightConnector1">
            <a:avLst/>
          </a:prstGeom>
          <a:ln w="28575">
            <a:solidFill>
              <a:srgbClr val="ED7D3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928CF617-B1A7-3E07-2E72-900275044A7F}"/>
                  </a:ext>
                </a:extLst>
              </p:cNvPr>
              <p:cNvSpPr txBox="1"/>
              <p:nvPr/>
            </p:nvSpPr>
            <p:spPr>
              <a:xfrm>
                <a:off x="3388715" y="4501470"/>
                <a:ext cx="543793"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rgbClr val="ED7D31"/>
                              </a:solidFill>
                              <a:latin typeface="Cambria Math" panose="02040503050406030204" pitchFamily="18" charset="0"/>
                            </a:rPr>
                          </m:ctrlPr>
                        </m:sSubPr>
                        <m:e>
                          <m:r>
                            <a:rPr lang="en-US" sz="1400" b="0" i="1" smtClean="0">
                              <a:solidFill>
                                <a:srgbClr val="ED7D31"/>
                              </a:solidFill>
                              <a:latin typeface="Cambria Math" panose="02040503050406030204" pitchFamily="18" charset="0"/>
                            </a:rPr>
                            <m:t>𝑣</m:t>
                          </m:r>
                        </m:e>
                        <m:sub>
                          <m:r>
                            <a:rPr lang="en-US" sz="1400" b="0" i="1" smtClean="0">
                              <a:solidFill>
                                <a:srgbClr val="ED7D31"/>
                              </a:solidFill>
                              <a:latin typeface="Cambria Math" panose="02040503050406030204" pitchFamily="18" charset="0"/>
                            </a:rPr>
                            <m:t>𝑖𝑛𝑖𝑡𝑖𝑎𝑙</m:t>
                          </m:r>
                        </m:sub>
                      </m:sSub>
                    </m:oMath>
                  </m:oMathPara>
                </a14:m>
                <a:endParaRPr lang="en-GB" sz="1400" dirty="0">
                  <a:solidFill>
                    <a:srgbClr val="ED7D31"/>
                  </a:solidFill>
                </a:endParaRPr>
              </a:p>
            </p:txBody>
          </p:sp>
        </mc:Choice>
        <mc:Fallback xmlns="">
          <p:sp>
            <p:nvSpPr>
              <p:cNvPr id="45" name="TextBox 44">
                <a:extLst>
                  <a:ext uri="{FF2B5EF4-FFF2-40B4-BE49-F238E27FC236}">
                    <a16:creationId xmlns:a16="http://schemas.microsoft.com/office/drawing/2014/main" id="{928CF617-B1A7-3E07-2E72-900275044A7F}"/>
                  </a:ext>
                </a:extLst>
              </p:cNvPr>
              <p:cNvSpPr txBox="1">
                <a:spLocks noRot="1" noChangeAspect="1" noMove="1" noResize="1" noEditPoints="1" noAdjustHandles="1" noChangeArrowheads="1" noChangeShapeType="1" noTextEdit="1"/>
              </p:cNvSpPr>
              <p:nvPr/>
            </p:nvSpPr>
            <p:spPr>
              <a:xfrm>
                <a:off x="3388715" y="4501470"/>
                <a:ext cx="543793" cy="215444"/>
              </a:xfrm>
              <a:prstGeom prst="rect">
                <a:avLst/>
              </a:prstGeom>
              <a:blipFill>
                <a:blip r:embed="rId19"/>
                <a:stretch>
                  <a:fillRect l="-6742" r="-2247"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2090E47-A474-EDE8-E20A-70EC6FE01A65}"/>
                  </a:ext>
                </a:extLst>
              </p:cNvPr>
              <p:cNvSpPr txBox="1"/>
              <p:nvPr/>
            </p:nvSpPr>
            <p:spPr>
              <a:xfrm>
                <a:off x="9271355" y="3921940"/>
                <a:ext cx="543793" cy="232692"/>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rgbClr val="ED7D31"/>
                              </a:solidFill>
                              <a:latin typeface="Cambria Math" panose="02040503050406030204" pitchFamily="18" charset="0"/>
                            </a:rPr>
                          </m:ctrlPr>
                        </m:sSubPr>
                        <m:e>
                          <m:r>
                            <a:rPr lang="en-US" sz="1400" b="0" i="1" smtClean="0">
                              <a:solidFill>
                                <a:srgbClr val="ED7D31"/>
                              </a:solidFill>
                              <a:latin typeface="Cambria Math" panose="02040503050406030204" pitchFamily="18" charset="0"/>
                            </a:rPr>
                            <m:t>𝑣</m:t>
                          </m:r>
                        </m:e>
                        <m:sub>
                          <m:r>
                            <a:rPr lang="en-US" sz="1400" b="0" i="1" smtClean="0">
                              <a:solidFill>
                                <a:srgbClr val="ED7D31"/>
                              </a:solidFill>
                              <a:latin typeface="Cambria Math" panose="02040503050406030204" pitchFamily="18" charset="0"/>
                            </a:rPr>
                            <m:t>𝑓𝑖𝑛𝑎𝑙</m:t>
                          </m:r>
                        </m:sub>
                      </m:sSub>
                    </m:oMath>
                  </m:oMathPara>
                </a14:m>
                <a:endParaRPr lang="en-GB" sz="1400" dirty="0">
                  <a:solidFill>
                    <a:srgbClr val="ED7D31"/>
                  </a:solidFill>
                </a:endParaRPr>
              </a:p>
            </p:txBody>
          </p:sp>
        </mc:Choice>
        <mc:Fallback xmlns="">
          <p:sp>
            <p:nvSpPr>
              <p:cNvPr id="47" name="TextBox 46">
                <a:extLst>
                  <a:ext uri="{FF2B5EF4-FFF2-40B4-BE49-F238E27FC236}">
                    <a16:creationId xmlns:a16="http://schemas.microsoft.com/office/drawing/2014/main" id="{52090E47-A474-EDE8-E20A-70EC6FE01A65}"/>
                  </a:ext>
                </a:extLst>
              </p:cNvPr>
              <p:cNvSpPr txBox="1">
                <a:spLocks noRot="1" noChangeAspect="1" noMove="1" noResize="1" noEditPoints="1" noAdjustHandles="1" noChangeArrowheads="1" noChangeShapeType="1" noTextEdit="1"/>
              </p:cNvSpPr>
              <p:nvPr/>
            </p:nvSpPr>
            <p:spPr>
              <a:xfrm>
                <a:off x="9271355" y="3921940"/>
                <a:ext cx="543793" cy="232692"/>
              </a:xfrm>
              <a:prstGeom prst="rect">
                <a:avLst/>
              </a:prstGeom>
              <a:blipFill>
                <a:blip r:embed="rId20"/>
                <a:stretch>
                  <a:fillRect b="-23077"/>
                </a:stretch>
              </a:blipFill>
            </p:spPr>
            <p:txBody>
              <a:bodyPr/>
              <a:lstStyle/>
              <a:p>
                <a:r>
                  <a:rPr lang="en-GB">
                    <a:noFill/>
                  </a:rPr>
                  <a:t> </a:t>
                </a:r>
              </a:p>
            </p:txBody>
          </p:sp>
        </mc:Fallback>
      </mc:AlternateContent>
      <p:cxnSp>
        <p:nvCxnSpPr>
          <p:cNvPr id="7" name="Straight Connector 6">
            <a:extLst>
              <a:ext uri="{FF2B5EF4-FFF2-40B4-BE49-F238E27FC236}">
                <a16:creationId xmlns:a16="http://schemas.microsoft.com/office/drawing/2014/main" id="{C07F2226-C5E0-9EF1-3117-D3A7CCB7D58B}"/>
              </a:ext>
            </a:extLst>
          </p:cNvPr>
          <p:cNvCxnSpPr/>
          <p:nvPr/>
        </p:nvCxnSpPr>
        <p:spPr>
          <a:xfrm>
            <a:off x="4540887" y="1149087"/>
            <a:ext cx="0" cy="3811533"/>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218DA4C9-34DD-6E7D-4F32-D27890E35E50}"/>
              </a:ext>
            </a:extLst>
          </p:cNvPr>
          <p:cNvGrpSpPr/>
          <p:nvPr/>
        </p:nvGrpSpPr>
        <p:grpSpPr>
          <a:xfrm>
            <a:off x="3485228" y="2234844"/>
            <a:ext cx="2131168" cy="512279"/>
            <a:chOff x="412776" y="2636520"/>
            <a:chExt cx="1621517" cy="512279"/>
          </a:xfrm>
          <a:effectLst>
            <a:outerShdw blurRad="50800" dist="38100" dir="2700000" algn="tl" rotWithShape="0">
              <a:prstClr val="black">
                <a:alpha val="40000"/>
              </a:prstClr>
            </a:outerShdw>
          </a:effectLst>
        </p:grpSpPr>
        <p:sp>
          <p:nvSpPr>
            <p:cNvPr id="17" name="Rectangle: Rounded Corners 16">
              <a:extLst>
                <a:ext uri="{FF2B5EF4-FFF2-40B4-BE49-F238E27FC236}">
                  <a16:creationId xmlns:a16="http://schemas.microsoft.com/office/drawing/2014/main" id="{B17EC386-4190-4EBC-053A-65036DD03714}"/>
                </a:ext>
              </a:extLst>
            </p:cNvPr>
            <p:cNvSpPr/>
            <p:nvPr/>
          </p:nvSpPr>
          <p:spPr>
            <a:xfrm>
              <a:off x="412776" y="2636520"/>
              <a:ext cx="1621517" cy="312420"/>
            </a:xfrm>
            <a:prstGeom prst="round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C22C97A-63BA-BBA1-C939-86F8FE2E10F1}"/>
                    </a:ext>
                  </a:extLst>
                </p:cNvPr>
                <p:cNvSpPr txBox="1"/>
                <p:nvPr/>
              </p:nvSpPr>
              <p:spPr>
                <a:xfrm>
                  <a:off x="431348" y="2661999"/>
                  <a:ext cx="1584372" cy="486800"/>
                </a:xfrm>
                <a:prstGeom prst="rect">
                  <a:avLst/>
                </a:prstGeom>
                <a:noFill/>
                <a:ln w="12700">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rgbClr val="FF0000"/>
                                </a:solidFill>
                                <a:latin typeface="Cambria Math" panose="02040503050406030204" pitchFamily="18" charset="0"/>
                              </a:rPr>
                            </m:ctrlPr>
                          </m:sSubPr>
                          <m:e>
                            <m:acc>
                              <m:accPr>
                                <m:chr m:val="̇"/>
                                <m:ctrlPr>
                                  <a:rPr lang="en-US" sz="1600" b="0" i="1" smtClean="0">
                                    <a:solidFill>
                                      <a:srgbClr val="FF0000"/>
                                    </a:solidFill>
                                    <a:latin typeface="Cambria Math" panose="02040503050406030204" pitchFamily="18" charset="0"/>
                                  </a:rPr>
                                </m:ctrlPr>
                              </m:accPr>
                              <m:e>
                                <m:r>
                                  <a:rPr lang="en-US" sz="1600" b="0" i="1" smtClean="0">
                                    <a:solidFill>
                                      <a:srgbClr val="FF0000"/>
                                    </a:solidFill>
                                    <a:latin typeface="Cambria Math" panose="02040503050406030204" pitchFamily="18" charset="0"/>
                                  </a:rPr>
                                  <m:t>𝑝</m:t>
                                </m:r>
                              </m:e>
                            </m:acc>
                          </m:e>
                          <m:sub>
                            <m:r>
                              <a:rPr lang="en-US" sz="1600" b="0" i="1" smtClean="0">
                                <a:solidFill>
                                  <a:srgbClr val="FF0000"/>
                                </a:solidFill>
                                <a:latin typeface="Cambria Math" panose="02040503050406030204" pitchFamily="18" charset="0"/>
                              </a:rPr>
                              <m:t>𝑖</m:t>
                            </m:r>
                          </m:sub>
                        </m:sSub>
                        <m:d>
                          <m:dPr>
                            <m:ctrlPr>
                              <a:rPr lang="en-US" sz="1600" b="0" i="1" smtClean="0">
                                <a:solidFill>
                                  <a:srgbClr val="FF0000"/>
                                </a:solidFill>
                                <a:latin typeface="Cambria Math" panose="02040503050406030204" pitchFamily="18" charset="0"/>
                              </a:rPr>
                            </m:ctrlPr>
                          </m:dPr>
                          <m:e>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𝑇</m:t>
                                </m:r>
                              </m:e>
                              <m:sub>
                                <m:r>
                                  <a:rPr lang="en-US" sz="1600" b="0" i="1" smtClean="0">
                                    <a:solidFill>
                                      <a:srgbClr val="FF0000"/>
                                    </a:solidFill>
                                    <a:latin typeface="Cambria Math" panose="02040503050406030204" pitchFamily="18" charset="0"/>
                                  </a:rPr>
                                  <m:t>𝑖</m:t>
                                </m:r>
                                <m:r>
                                  <a:rPr lang="en-US" sz="1600" b="0" i="1" smtClean="0">
                                    <a:solidFill>
                                      <a:srgbClr val="FF0000"/>
                                    </a:solidFill>
                                    <a:latin typeface="Cambria Math" panose="02040503050406030204" pitchFamily="18" charset="0"/>
                                  </a:rPr>
                                  <m:t>+1</m:t>
                                </m:r>
                              </m:sub>
                            </m:sSub>
                          </m:e>
                        </m:d>
                        <m:r>
                          <a:rPr lang="en-US" sz="1600" b="0" i="1" smtClean="0">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acc>
                              <m:accPr>
                                <m:chr m:val="̇"/>
                                <m:ctrlPr>
                                  <a:rPr lang="en-US" sz="1600" i="1">
                                    <a:solidFill>
                                      <a:srgbClr val="FF0000"/>
                                    </a:solidFill>
                                    <a:latin typeface="Cambria Math" panose="02040503050406030204" pitchFamily="18" charset="0"/>
                                  </a:rPr>
                                </m:ctrlPr>
                              </m:accPr>
                              <m:e>
                                <m:r>
                                  <a:rPr lang="en-US" sz="1600" i="1">
                                    <a:solidFill>
                                      <a:srgbClr val="FF0000"/>
                                    </a:solidFill>
                                    <a:latin typeface="Cambria Math" panose="02040503050406030204" pitchFamily="18" charset="0"/>
                                  </a:rPr>
                                  <m:t>𝑝</m:t>
                                </m:r>
                              </m:e>
                            </m:acc>
                          </m:e>
                          <m:sub>
                            <m:r>
                              <a:rPr lang="en-US" sz="1600" b="0" i="1" smtClean="0">
                                <a:solidFill>
                                  <a:srgbClr val="FF0000"/>
                                </a:solidFill>
                                <a:latin typeface="Cambria Math" panose="02040503050406030204" pitchFamily="18" charset="0"/>
                              </a:rPr>
                              <m:t>𝑖</m:t>
                            </m:r>
                            <m:r>
                              <a:rPr lang="en-US" sz="1600" b="0" i="1" smtClean="0">
                                <a:solidFill>
                                  <a:srgbClr val="FF0000"/>
                                </a:solidFill>
                                <a:latin typeface="Cambria Math" panose="02040503050406030204" pitchFamily="18" charset="0"/>
                              </a:rPr>
                              <m:t>+1</m:t>
                            </m:r>
                          </m:sub>
                        </m:sSub>
                        <m:d>
                          <m:dPr>
                            <m:ctrlPr>
                              <a:rPr lang="en-US" sz="1600" b="0" i="1" smtClean="0">
                                <a:solidFill>
                                  <a:srgbClr val="FF0000"/>
                                </a:solidFill>
                                <a:latin typeface="Cambria Math" panose="02040503050406030204" pitchFamily="18" charset="0"/>
                              </a:rPr>
                            </m:ctrlPr>
                          </m:dPr>
                          <m:e>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𝑇</m:t>
                                </m:r>
                              </m:e>
                              <m:sub>
                                <m:r>
                                  <a:rPr lang="en-US" sz="1600" b="0" i="1" smtClean="0">
                                    <a:solidFill>
                                      <a:srgbClr val="FF0000"/>
                                    </a:solidFill>
                                    <a:latin typeface="Cambria Math" panose="02040503050406030204" pitchFamily="18" charset="0"/>
                                  </a:rPr>
                                  <m:t>𝑖</m:t>
                                </m:r>
                                <m:r>
                                  <a:rPr lang="en-US" sz="1600" b="0" i="1" smtClean="0">
                                    <a:solidFill>
                                      <a:srgbClr val="FF0000"/>
                                    </a:solidFill>
                                    <a:latin typeface="Cambria Math" panose="02040503050406030204" pitchFamily="18" charset="0"/>
                                  </a:rPr>
                                  <m:t>+1</m:t>
                                </m:r>
                              </m:sub>
                            </m:sSub>
                          </m:e>
                        </m:d>
                      </m:oMath>
                    </m:oMathPara>
                  </a14:m>
                  <a:endParaRPr lang="en-US" sz="1600" b="0" dirty="0">
                    <a:solidFill>
                      <a:srgbClr val="FF0000"/>
                    </a:solidFill>
                  </a:endParaRPr>
                </a:p>
              </p:txBody>
            </p:sp>
          </mc:Choice>
          <mc:Fallback xmlns="">
            <p:sp>
              <p:nvSpPr>
                <p:cNvPr id="12" name="TextBox 11">
                  <a:extLst>
                    <a:ext uri="{FF2B5EF4-FFF2-40B4-BE49-F238E27FC236}">
                      <a16:creationId xmlns:a16="http://schemas.microsoft.com/office/drawing/2014/main" id="{EC22C97A-63BA-BBA1-C939-86F8FE2E10F1}"/>
                    </a:ext>
                  </a:extLst>
                </p:cNvPr>
                <p:cNvSpPr txBox="1">
                  <a:spLocks noRot="1" noChangeAspect="1" noMove="1" noResize="1" noEditPoints="1" noAdjustHandles="1" noChangeArrowheads="1" noChangeShapeType="1" noTextEdit="1"/>
                </p:cNvSpPr>
                <p:nvPr/>
              </p:nvSpPr>
              <p:spPr>
                <a:xfrm>
                  <a:off x="431348" y="2661999"/>
                  <a:ext cx="1584372" cy="486800"/>
                </a:xfrm>
                <a:prstGeom prst="rect">
                  <a:avLst/>
                </a:prstGeom>
                <a:blipFill>
                  <a:blip r:embed="rId21"/>
                  <a:stretch>
                    <a:fillRect t="-1250"/>
                  </a:stretch>
                </a:blipFill>
                <a:ln w="12700">
                  <a:noFill/>
                </a:ln>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A582463-6CCD-680F-9D40-AAFD0B80A188}"/>
                  </a:ext>
                </a:extLst>
              </p:cNvPr>
              <p:cNvSpPr txBox="1"/>
              <p:nvPr/>
            </p:nvSpPr>
            <p:spPr>
              <a:xfrm>
                <a:off x="4496718" y="2732092"/>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𝑃</m:t>
                          </m:r>
                        </m:e>
                        <m:sub>
                          <m:r>
                            <a:rPr lang="en-US" b="0" i="1" smtClean="0">
                              <a:solidFill>
                                <a:schemeClr val="tx2"/>
                              </a:solidFill>
                              <a:latin typeface="Cambria Math" panose="02040503050406030204" pitchFamily="18" charset="0"/>
                            </a:rPr>
                            <m:t>2</m:t>
                          </m:r>
                        </m:sub>
                      </m:sSub>
                    </m:oMath>
                  </m:oMathPara>
                </a14:m>
                <a:endParaRPr lang="en-GB" dirty="0">
                  <a:solidFill>
                    <a:schemeClr val="tx2"/>
                  </a:solidFill>
                </a:endParaRPr>
              </a:p>
            </p:txBody>
          </p:sp>
        </mc:Choice>
        <mc:Fallback xmlns="">
          <p:sp>
            <p:nvSpPr>
              <p:cNvPr id="2" name="TextBox 1">
                <a:extLst>
                  <a:ext uri="{FF2B5EF4-FFF2-40B4-BE49-F238E27FC236}">
                    <a16:creationId xmlns:a16="http://schemas.microsoft.com/office/drawing/2014/main" id="{CA582463-6CCD-680F-9D40-AAFD0B80A188}"/>
                  </a:ext>
                </a:extLst>
              </p:cNvPr>
              <p:cNvSpPr txBox="1">
                <a:spLocks noRot="1" noChangeAspect="1" noMove="1" noResize="1" noEditPoints="1" noAdjustHandles="1" noChangeArrowheads="1" noChangeShapeType="1" noTextEdit="1"/>
              </p:cNvSpPr>
              <p:nvPr/>
            </p:nvSpPr>
            <p:spPr>
              <a:xfrm>
                <a:off x="4496718" y="2732092"/>
                <a:ext cx="424873" cy="276999"/>
              </a:xfrm>
              <a:prstGeom prst="rect">
                <a:avLst/>
              </a:prstGeom>
              <a:blipFill>
                <a:blip r:embed="rId22"/>
                <a:stretch>
                  <a:fillRect b="-17391"/>
                </a:stretch>
              </a:blipFill>
            </p:spPr>
            <p:txBody>
              <a:bodyPr/>
              <a:lstStyle/>
              <a:p>
                <a:r>
                  <a:rPr lang="en-GB">
                    <a:noFill/>
                  </a:rPr>
                  <a:t> </a:t>
                </a:r>
              </a:p>
            </p:txBody>
          </p:sp>
        </mc:Fallback>
      </mc:AlternateContent>
      <p:cxnSp>
        <p:nvCxnSpPr>
          <p:cNvPr id="19" name="Straight Arrow Connector 18">
            <a:extLst>
              <a:ext uri="{FF2B5EF4-FFF2-40B4-BE49-F238E27FC236}">
                <a16:creationId xmlns:a16="http://schemas.microsoft.com/office/drawing/2014/main" id="{22761207-2DCC-ED0F-26C7-3928CDBDBB44}"/>
              </a:ext>
            </a:extLst>
          </p:cNvPr>
          <p:cNvCxnSpPr>
            <a:cxnSpLocks/>
          </p:cNvCxnSpPr>
          <p:nvPr/>
        </p:nvCxnSpPr>
        <p:spPr>
          <a:xfrm>
            <a:off x="3822700" y="3053541"/>
            <a:ext cx="718187" cy="0"/>
          </a:xfrm>
          <a:prstGeom prst="straightConnector1">
            <a:avLst/>
          </a:prstGeom>
          <a:ln w="28575">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FCC9196-D6CD-ABA8-0696-2A2DCD54A646}"/>
              </a:ext>
            </a:extLst>
          </p:cNvPr>
          <p:cNvCxnSpPr>
            <a:cxnSpLocks/>
          </p:cNvCxnSpPr>
          <p:nvPr/>
        </p:nvCxnSpPr>
        <p:spPr>
          <a:xfrm>
            <a:off x="4546858" y="3053541"/>
            <a:ext cx="718187" cy="0"/>
          </a:xfrm>
          <a:prstGeom prst="straightConnector1">
            <a:avLst/>
          </a:prstGeom>
          <a:ln w="28575">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14202F27-AA8F-CA5C-943E-1D93BD18717F}"/>
                  </a:ext>
                </a:extLst>
              </p:cNvPr>
              <p:cNvSpPr txBox="1"/>
              <p:nvPr/>
            </p:nvSpPr>
            <p:spPr>
              <a:xfrm>
                <a:off x="9236405" y="1428697"/>
                <a:ext cx="2977228" cy="246221"/>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a:rPr lang="en-US" sz="1600" b="0" i="1" smtClean="0">
                          <a:solidFill>
                            <a:schemeClr val="tx2"/>
                          </a:solidFill>
                          <a:latin typeface="Cambria Math" panose="02040503050406030204" pitchFamily="18" charset="0"/>
                        </a:rPr>
                        <m:t>𝑝</m:t>
                      </m:r>
                      <m:d>
                        <m:dPr>
                          <m:ctrlPr>
                            <a:rPr lang="en-US" sz="1600" b="0" i="1" smtClean="0">
                              <a:solidFill>
                                <a:schemeClr val="tx2"/>
                              </a:solidFill>
                              <a:latin typeface="Cambria Math" panose="02040503050406030204" pitchFamily="18" charset="0"/>
                            </a:rPr>
                          </m:ctrlPr>
                        </m:dPr>
                        <m:e>
                          <m:r>
                            <a:rPr lang="en-US" sz="1600" b="0" i="1" smtClean="0">
                              <a:solidFill>
                                <a:schemeClr val="tx2"/>
                              </a:solidFill>
                              <a:latin typeface="Cambria Math" panose="02040503050406030204" pitchFamily="18" charset="0"/>
                            </a:rPr>
                            <m:t>𝑡</m:t>
                          </m:r>
                        </m:e>
                      </m:d>
                      <m:r>
                        <a:rPr lang="en-US" sz="1600" b="0" i="1" smtClean="0">
                          <a:solidFill>
                            <a:schemeClr val="tx2"/>
                          </a:solidFill>
                          <a:latin typeface="Cambria Math" panose="02040503050406030204" pitchFamily="18" charset="0"/>
                        </a:rPr>
                        <m:t>=</m:t>
                      </m:r>
                      <m:sSub>
                        <m:sSubPr>
                          <m:ctrlPr>
                            <a:rPr lang="en-US" sz="1600" b="0" i="1" smtClean="0">
                              <a:solidFill>
                                <a:schemeClr val="tx2"/>
                              </a:solidFill>
                              <a:latin typeface="Cambria Math" panose="02040503050406030204" pitchFamily="18" charset="0"/>
                            </a:rPr>
                          </m:ctrlPr>
                        </m:sSubPr>
                        <m:e>
                          <m:r>
                            <a:rPr lang="en-US" sz="1600" b="0" i="1" smtClean="0">
                              <a:solidFill>
                                <a:schemeClr val="tx2"/>
                              </a:solidFill>
                              <a:latin typeface="Cambria Math" panose="02040503050406030204" pitchFamily="18" charset="0"/>
                            </a:rPr>
                            <m:t>𝑎</m:t>
                          </m:r>
                        </m:e>
                        <m:sub>
                          <m:r>
                            <a:rPr lang="en-US" sz="1600" b="0" i="1" smtClean="0">
                              <a:solidFill>
                                <a:schemeClr val="tx2"/>
                              </a:solidFill>
                              <a:latin typeface="Cambria Math" panose="02040503050406030204" pitchFamily="18" charset="0"/>
                            </a:rPr>
                            <m:t>1</m:t>
                          </m:r>
                        </m:sub>
                      </m:sSub>
                      <m:r>
                        <a:rPr lang="en-US" sz="1600" b="0" i="1" smtClean="0">
                          <a:solidFill>
                            <a:schemeClr val="tx2"/>
                          </a:solidFill>
                          <a:latin typeface="Cambria Math" panose="02040503050406030204" pitchFamily="18" charset="0"/>
                        </a:rPr>
                        <m:t>+</m:t>
                      </m:r>
                      <m:sSub>
                        <m:sSubPr>
                          <m:ctrlPr>
                            <a:rPr lang="en-US" sz="1600" b="0" i="1" smtClean="0">
                              <a:solidFill>
                                <a:schemeClr val="tx2"/>
                              </a:solidFill>
                              <a:latin typeface="Cambria Math" panose="02040503050406030204" pitchFamily="18" charset="0"/>
                            </a:rPr>
                          </m:ctrlPr>
                        </m:sSubPr>
                        <m:e>
                          <m:r>
                            <a:rPr lang="en-US" sz="1600" b="0" i="1" smtClean="0">
                              <a:solidFill>
                                <a:schemeClr val="tx2"/>
                              </a:solidFill>
                              <a:latin typeface="Cambria Math" panose="02040503050406030204" pitchFamily="18" charset="0"/>
                            </a:rPr>
                            <m:t>𝑎</m:t>
                          </m:r>
                        </m:e>
                        <m:sub>
                          <m:r>
                            <a:rPr lang="en-US" sz="1600" b="0" i="1" smtClean="0">
                              <a:solidFill>
                                <a:schemeClr val="tx2"/>
                              </a:solidFill>
                              <a:latin typeface="Cambria Math" panose="02040503050406030204" pitchFamily="18" charset="0"/>
                            </a:rPr>
                            <m:t>2</m:t>
                          </m:r>
                        </m:sub>
                      </m:sSub>
                      <m:r>
                        <a:rPr lang="en-US" sz="1600" b="0" i="1" smtClean="0">
                          <a:solidFill>
                            <a:schemeClr val="tx2"/>
                          </a:solidFill>
                          <a:latin typeface="Cambria Math" panose="02040503050406030204" pitchFamily="18" charset="0"/>
                        </a:rPr>
                        <m:t>𝑡</m:t>
                      </m:r>
                      <m:r>
                        <a:rPr lang="en-US" sz="1600" b="0" i="1" smtClean="0">
                          <a:solidFill>
                            <a:schemeClr val="tx2"/>
                          </a:solidFill>
                          <a:latin typeface="Cambria Math" panose="02040503050406030204" pitchFamily="18" charset="0"/>
                        </a:rPr>
                        <m:t>+</m:t>
                      </m:r>
                      <m:sSub>
                        <m:sSubPr>
                          <m:ctrlPr>
                            <a:rPr lang="en-US" sz="1600" b="0" i="1" smtClean="0">
                              <a:solidFill>
                                <a:schemeClr val="tx2"/>
                              </a:solidFill>
                              <a:latin typeface="Cambria Math" panose="02040503050406030204" pitchFamily="18" charset="0"/>
                            </a:rPr>
                          </m:ctrlPr>
                        </m:sSubPr>
                        <m:e>
                          <m:r>
                            <a:rPr lang="en-US" sz="1600" b="0" i="1" smtClean="0">
                              <a:solidFill>
                                <a:schemeClr val="tx2"/>
                              </a:solidFill>
                              <a:latin typeface="Cambria Math" panose="02040503050406030204" pitchFamily="18" charset="0"/>
                            </a:rPr>
                            <m:t>𝑎</m:t>
                          </m:r>
                        </m:e>
                        <m:sub>
                          <m:r>
                            <a:rPr lang="en-US" sz="1600" b="0" i="1" smtClean="0">
                              <a:solidFill>
                                <a:schemeClr val="tx2"/>
                              </a:solidFill>
                              <a:latin typeface="Cambria Math" panose="02040503050406030204" pitchFamily="18" charset="0"/>
                            </a:rPr>
                            <m:t>3</m:t>
                          </m:r>
                        </m:sub>
                      </m:sSub>
                      <m:sSup>
                        <m:sSupPr>
                          <m:ctrlPr>
                            <a:rPr lang="en-US" sz="1600" b="0" i="1" smtClean="0">
                              <a:solidFill>
                                <a:schemeClr val="tx2"/>
                              </a:solidFill>
                              <a:latin typeface="Cambria Math" panose="02040503050406030204" pitchFamily="18" charset="0"/>
                            </a:rPr>
                          </m:ctrlPr>
                        </m:sSupPr>
                        <m:e>
                          <m:r>
                            <a:rPr lang="en-US" sz="1600" b="0" i="1" smtClean="0">
                              <a:solidFill>
                                <a:schemeClr val="tx2"/>
                              </a:solidFill>
                              <a:latin typeface="Cambria Math" panose="02040503050406030204" pitchFamily="18" charset="0"/>
                            </a:rPr>
                            <m:t>𝑡</m:t>
                          </m:r>
                        </m:e>
                        <m:sup>
                          <m:r>
                            <a:rPr lang="en-US" sz="1600" b="0" i="1" smtClean="0">
                              <a:solidFill>
                                <a:schemeClr val="tx2"/>
                              </a:solidFill>
                              <a:latin typeface="Cambria Math" panose="02040503050406030204" pitchFamily="18" charset="0"/>
                            </a:rPr>
                            <m:t>2</m:t>
                          </m:r>
                        </m:sup>
                      </m:sSup>
                      <m:r>
                        <a:rPr lang="en-US" sz="1600" b="0" i="1" smtClean="0">
                          <a:solidFill>
                            <a:schemeClr val="tx2"/>
                          </a:solidFill>
                          <a:latin typeface="Cambria Math" panose="02040503050406030204" pitchFamily="18" charset="0"/>
                        </a:rPr>
                        <m:t>+</m:t>
                      </m:r>
                      <m:sSub>
                        <m:sSubPr>
                          <m:ctrlPr>
                            <a:rPr lang="en-US" sz="1600" b="0" i="1" smtClean="0">
                              <a:solidFill>
                                <a:schemeClr val="tx2"/>
                              </a:solidFill>
                              <a:latin typeface="Cambria Math" panose="02040503050406030204" pitchFamily="18" charset="0"/>
                            </a:rPr>
                          </m:ctrlPr>
                        </m:sSubPr>
                        <m:e>
                          <m:r>
                            <a:rPr lang="en-US" sz="1600" b="0" i="1" smtClean="0">
                              <a:solidFill>
                                <a:schemeClr val="tx2"/>
                              </a:solidFill>
                              <a:latin typeface="Cambria Math" panose="02040503050406030204" pitchFamily="18" charset="0"/>
                            </a:rPr>
                            <m:t>𝑎</m:t>
                          </m:r>
                        </m:e>
                        <m:sub>
                          <m:r>
                            <a:rPr lang="en-US" sz="1600" b="0" i="1" smtClean="0">
                              <a:solidFill>
                                <a:schemeClr val="tx2"/>
                              </a:solidFill>
                              <a:latin typeface="Cambria Math" panose="02040503050406030204" pitchFamily="18" charset="0"/>
                            </a:rPr>
                            <m:t>4</m:t>
                          </m:r>
                        </m:sub>
                      </m:sSub>
                      <m:sSup>
                        <m:sSupPr>
                          <m:ctrlPr>
                            <a:rPr lang="en-US" sz="1600" b="0" i="1" smtClean="0">
                              <a:solidFill>
                                <a:schemeClr val="tx2"/>
                              </a:solidFill>
                              <a:latin typeface="Cambria Math" panose="02040503050406030204" pitchFamily="18" charset="0"/>
                            </a:rPr>
                          </m:ctrlPr>
                        </m:sSupPr>
                        <m:e>
                          <m:r>
                            <a:rPr lang="en-US" sz="1600" b="0" i="1" smtClean="0">
                              <a:solidFill>
                                <a:schemeClr val="tx2"/>
                              </a:solidFill>
                              <a:latin typeface="Cambria Math" panose="02040503050406030204" pitchFamily="18" charset="0"/>
                            </a:rPr>
                            <m:t>𝑡</m:t>
                          </m:r>
                        </m:e>
                        <m:sup>
                          <m:r>
                            <a:rPr lang="en-US" sz="1600" b="0" i="1" smtClean="0">
                              <a:solidFill>
                                <a:schemeClr val="tx2"/>
                              </a:solidFill>
                              <a:latin typeface="Cambria Math" panose="02040503050406030204" pitchFamily="18" charset="0"/>
                            </a:rPr>
                            <m:t>3</m:t>
                          </m:r>
                        </m:sup>
                      </m:sSup>
                    </m:oMath>
                  </m:oMathPara>
                </a14:m>
                <a:endParaRPr lang="en-GB" sz="1600" dirty="0">
                  <a:solidFill>
                    <a:schemeClr val="tx2"/>
                  </a:solidFill>
                </a:endParaRPr>
              </a:p>
            </p:txBody>
          </p:sp>
        </mc:Choice>
        <mc:Fallback xmlns="">
          <p:sp>
            <p:nvSpPr>
              <p:cNvPr id="46" name="TextBox 45">
                <a:extLst>
                  <a:ext uri="{FF2B5EF4-FFF2-40B4-BE49-F238E27FC236}">
                    <a16:creationId xmlns:a16="http://schemas.microsoft.com/office/drawing/2014/main" id="{14202F27-AA8F-CA5C-943E-1D93BD18717F}"/>
                  </a:ext>
                </a:extLst>
              </p:cNvPr>
              <p:cNvSpPr txBox="1">
                <a:spLocks noRot="1" noChangeAspect="1" noMove="1" noResize="1" noEditPoints="1" noAdjustHandles="1" noChangeArrowheads="1" noChangeShapeType="1" noTextEdit="1"/>
              </p:cNvSpPr>
              <p:nvPr/>
            </p:nvSpPr>
            <p:spPr>
              <a:xfrm>
                <a:off x="9236405" y="1428697"/>
                <a:ext cx="2977228" cy="246221"/>
              </a:xfrm>
              <a:prstGeom prst="rect">
                <a:avLst/>
              </a:prstGeom>
              <a:blipFill>
                <a:blip r:embed="rId23"/>
                <a:stretch>
                  <a:fillRect b="-24390"/>
                </a:stretch>
              </a:blipFill>
            </p:spPr>
            <p:txBody>
              <a:bodyPr/>
              <a:lstStyle/>
              <a:p>
                <a:r>
                  <a:rPr lang="en-GB">
                    <a:noFill/>
                  </a:rPr>
                  <a:t> </a:t>
                </a:r>
              </a:p>
            </p:txBody>
          </p:sp>
        </mc:Fallback>
      </mc:AlternateContent>
      <p:sp>
        <p:nvSpPr>
          <p:cNvPr id="49" name="Rectangle: Rounded Corners 48">
            <a:extLst>
              <a:ext uri="{FF2B5EF4-FFF2-40B4-BE49-F238E27FC236}">
                <a16:creationId xmlns:a16="http://schemas.microsoft.com/office/drawing/2014/main" id="{4629B100-0085-AF55-550D-C74DC364DDA9}"/>
              </a:ext>
            </a:extLst>
          </p:cNvPr>
          <p:cNvSpPr/>
          <p:nvPr/>
        </p:nvSpPr>
        <p:spPr>
          <a:xfrm>
            <a:off x="8292352" y="338085"/>
            <a:ext cx="2303929" cy="622422"/>
          </a:xfrm>
          <a:prstGeom prst="roundRect">
            <a:avLst/>
          </a:prstGeom>
          <a:solidFill>
            <a:srgbClr val="CDDCF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CubicPolynomial</a:t>
            </a:r>
            <a:endParaRPr lang="en-GB" sz="1400" dirty="0">
              <a:solidFill>
                <a:srgbClr val="003399"/>
              </a:solidFill>
            </a:endParaRPr>
          </a:p>
        </p:txBody>
      </p:sp>
      <p:sp>
        <p:nvSpPr>
          <p:cNvPr id="52" name="Title 2">
            <a:extLst>
              <a:ext uri="{FF2B5EF4-FFF2-40B4-BE49-F238E27FC236}">
                <a16:creationId xmlns:a16="http://schemas.microsoft.com/office/drawing/2014/main" id="{B9CD8CF2-BF99-CF0D-0A4E-2A5B77713533}"/>
              </a:ext>
            </a:extLst>
          </p:cNvPr>
          <p:cNvSpPr>
            <a:spLocks noGrp="1"/>
          </p:cNvSpPr>
          <p:nvPr>
            <p:ph type="title"/>
          </p:nvPr>
        </p:nvSpPr>
        <p:spPr>
          <a:xfrm>
            <a:off x="412776" y="408519"/>
            <a:ext cx="11376025" cy="1065742"/>
          </a:xfrm>
        </p:spPr>
        <p:txBody>
          <a:bodyPr/>
          <a:lstStyle/>
          <a:p>
            <a:r>
              <a:rPr lang="de-AT" dirty="0"/>
              <a:t>Cubic Polynomial Algorithm</a:t>
            </a:r>
            <a:endParaRPr lang="en-GB" dirty="0"/>
          </a:p>
        </p:txBody>
      </p:sp>
    </p:spTree>
    <p:extLst>
      <p:ext uri="{BB962C8B-B14F-4D97-AF65-F5344CB8AC3E}">
        <p14:creationId xmlns:p14="http://schemas.microsoft.com/office/powerpoint/2010/main" val="40164099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24</a:t>
            </a:fld>
            <a:endParaRPr lang="en-US" dirty="0"/>
          </a:p>
        </p:txBody>
      </p:sp>
      <p:pic>
        <p:nvPicPr>
          <p:cNvPr id="8" name="Picture 7">
            <a:extLst>
              <a:ext uri="{FF2B5EF4-FFF2-40B4-BE49-F238E27FC236}">
                <a16:creationId xmlns:a16="http://schemas.microsoft.com/office/drawing/2014/main" id="{B7C62E76-168C-FDCE-A548-98936FF2A86A}"/>
              </a:ext>
            </a:extLst>
          </p:cNvPr>
          <p:cNvPicPr>
            <a:picLocks noChangeAspect="1"/>
          </p:cNvPicPr>
          <p:nvPr/>
        </p:nvPicPr>
        <p:blipFill rotWithShape="1">
          <a:blip r:embed="rId3"/>
          <a:srcRect l="5982" t="3899" r="3838" b="67773"/>
          <a:stretch/>
        </p:blipFill>
        <p:spPr>
          <a:xfrm>
            <a:off x="2281381" y="1149087"/>
            <a:ext cx="7379856" cy="4172785"/>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895BDE9-01C3-C791-ECF6-9C18D726A380}"/>
                  </a:ext>
                </a:extLst>
              </p:cNvPr>
              <p:cNvSpPr txBox="1"/>
              <p:nvPr/>
            </p:nvSpPr>
            <p:spPr>
              <a:xfrm>
                <a:off x="2890983" y="5183372"/>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𝑇</m:t>
                          </m:r>
                        </m:e>
                        <m:sub>
                          <m:r>
                            <a:rPr lang="en-US" b="0" i="1" smtClean="0">
                              <a:solidFill>
                                <a:schemeClr val="tx2"/>
                              </a:solidFill>
                              <a:latin typeface="Cambria Math" panose="02040503050406030204" pitchFamily="18" charset="0"/>
                            </a:rPr>
                            <m:t>1</m:t>
                          </m:r>
                        </m:sub>
                      </m:sSub>
                    </m:oMath>
                  </m:oMathPara>
                </a14:m>
                <a:endParaRPr lang="en-GB" dirty="0">
                  <a:solidFill>
                    <a:schemeClr val="tx2"/>
                  </a:solidFill>
                </a:endParaRPr>
              </a:p>
            </p:txBody>
          </p:sp>
        </mc:Choice>
        <mc:Fallback xmlns="">
          <p:sp>
            <p:nvSpPr>
              <p:cNvPr id="10" name="TextBox 9">
                <a:extLst>
                  <a:ext uri="{FF2B5EF4-FFF2-40B4-BE49-F238E27FC236}">
                    <a16:creationId xmlns:a16="http://schemas.microsoft.com/office/drawing/2014/main" id="{6895BDE9-01C3-C791-ECF6-9C18D726A380}"/>
                  </a:ext>
                </a:extLst>
              </p:cNvPr>
              <p:cNvSpPr txBox="1">
                <a:spLocks noRot="1" noChangeAspect="1" noMove="1" noResize="1" noEditPoints="1" noAdjustHandles="1" noChangeArrowheads="1" noChangeShapeType="1" noTextEdit="1"/>
              </p:cNvSpPr>
              <p:nvPr/>
            </p:nvSpPr>
            <p:spPr>
              <a:xfrm>
                <a:off x="2890983" y="5183372"/>
                <a:ext cx="424873" cy="276999"/>
              </a:xfrm>
              <a:prstGeom prst="rect">
                <a:avLst/>
              </a:prstGeom>
              <a:blipFill>
                <a:blip r:embed="rId4"/>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B068AC-5C5A-8B8E-FBDC-16F9AFD787A3}"/>
                  </a:ext>
                </a:extLst>
              </p:cNvPr>
              <p:cNvSpPr txBox="1"/>
              <p:nvPr/>
            </p:nvSpPr>
            <p:spPr>
              <a:xfrm>
                <a:off x="4345707" y="5183105"/>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𝑇</m:t>
                          </m:r>
                        </m:e>
                        <m:sub>
                          <m:r>
                            <a:rPr lang="en-US" b="0" i="1" smtClean="0">
                              <a:solidFill>
                                <a:schemeClr val="tx2"/>
                              </a:solidFill>
                              <a:latin typeface="Cambria Math" panose="02040503050406030204" pitchFamily="18" charset="0"/>
                            </a:rPr>
                            <m:t>2</m:t>
                          </m:r>
                        </m:sub>
                      </m:sSub>
                    </m:oMath>
                  </m:oMathPara>
                </a14:m>
                <a:endParaRPr lang="en-GB" dirty="0">
                  <a:solidFill>
                    <a:schemeClr val="tx2"/>
                  </a:solidFill>
                </a:endParaRPr>
              </a:p>
            </p:txBody>
          </p:sp>
        </mc:Choice>
        <mc:Fallback xmlns="">
          <p:sp>
            <p:nvSpPr>
              <p:cNvPr id="11" name="TextBox 10">
                <a:extLst>
                  <a:ext uri="{FF2B5EF4-FFF2-40B4-BE49-F238E27FC236}">
                    <a16:creationId xmlns:a16="http://schemas.microsoft.com/office/drawing/2014/main" id="{EDB068AC-5C5A-8B8E-FBDC-16F9AFD787A3}"/>
                  </a:ext>
                </a:extLst>
              </p:cNvPr>
              <p:cNvSpPr txBox="1">
                <a:spLocks noRot="1" noChangeAspect="1" noMove="1" noResize="1" noEditPoints="1" noAdjustHandles="1" noChangeArrowheads="1" noChangeShapeType="1" noTextEdit="1"/>
              </p:cNvSpPr>
              <p:nvPr/>
            </p:nvSpPr>
            <p:spPr>
              <a:xfrm>
                <a:off x="4345707" y="5183105"/>
                <a:ext cx="424873" cy="276999"/>
              </a:xfrm>
              <a:prstGeom prst="rect">
                <a:avLst/>
              </a:prstGeom>
              <a:blipFill>
                <a:blip r:embed="rId5"/>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2A9F42A-BA0C-B5EA-AC2A-B313231783B2}"/>
                  </a:ext>
                </a:extLst>
              </p:cNvPr>
              <p:cNvSpPr txBox="1"/>
              <p:nvPr/>
            </p:nvSpPr>
            <p:spPr>
              <a:xfrm>
                <a:off x="7216903" y="5182930"/>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𝑇</m:t>
                          </m:r>
                        </m:e>
                        <m:sub>
                          <m:r>
                            <a:rPr lang="en-US" b="0" i="1" smtClean="0">
                              <a:solidFill>
                                <a:schemeClr val="tx2"/>
                              </a:solidFill>
                              <a:latin typeface="Cambria Math" panose="02040503050406030204" pitchFamily="18" charset="0"/>
                            </a:rPr>
                            <m:t>4</m:t>
                          </m:r>
                        </m:sub>
                      </m:sSub>
                    </m:oMath>
                  </m:oMathPara>
                </a14:m>
                <a:endParaRPr lang="en-GB" dirty="0">
                  <a:solidFill>
                    <a:schemeClr val="tx2"/>
                  </a:solidFill>
                </a:endParaRPr>
              </a:p>
            </p:txBody>
          </p:sp>
        </mc:Choice>
        <mc:Fallback xmlns="">
          <p:sp>
            <p:nvSpPr>
              <p:cNvPr id="13" name="TextBox 12">
                <a:extLst>
                  <a:ext uri="{FF2B5EF4-FFF2-40B4-BE49-F238E27FC236}">
                    <a16:creationId xmlns:a16="http://schemas.microsoft.com/office/drawing/2014/main" id="{02A9F42A-BA0C-B5EA-AC2A-B313231783B2}"/>
                  </a:ext>
                </a:extLst>
              </p:cNvPr>
              <p:cNvSpPr txBox="1">
                <a:spLocks noRot="1" noChangeAspect="1" noMove="1" noResize="1" noEditPoints="1" noAdjustHandles="1" noChangeArrowheads="1" noChangeShapeType="1" noTextEdit="1"/>
              </p:cNvSpPr>
              <p:nvPr/>
            </p:nvSpPr>
            <p:spPr>
              <a:xfrm>
                <a:off x="7216903" y="5182930"/>
                <a:ext cx="424873" cy="276999"/>
              </a:xfrm>
              <a:prstGeom prst="rect">
                <a:avLst/>
              </a:prstGeom>
              <a:blipFill>
                <a:blip r:embed="rId6"/>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77EF17F-3904-74F8-27F4-046C3FA94068}"/>
                  </a:ext>
                </a:extLst>
              </p:cNvPr>
              <p:cNvSpPr txBox="1"/>
              <p:nvPr/>
            </p:nvSpPr>
            <p:spPr>
              <a:xfrm>
                <a:off x="8654312" y="5182929"/>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𝑇</m:t>
                          </m:r>
                        </m:e>
                        <m:sub>
                          <m:r>
                            <a:rPr lang="en-US" b="0" i="1" smtClean="0">
                              <a:solidFill>
                                <a:schemeClr val="tx2"/>
                              </a:solidFill>
                              <a:latin typeface="Cambria Math" panose="02040503050406030204" pitchFamily="18" charset="0"/>
                            </a:rPr>
                            <m:t>5</m:t>
                          </m:r>
                        </m:sub>
                      </m:sSub>
                    </m:oMath>
                  </m:oMathPara>
                </a14:m>
                <a:endParaRPr lang="en-GB" dirty="0">
                  <a:solidFill>
                    <a:schemeClr val="tx2"/>
                  </a:solidFill>
                </a:endParaRPr>
              </a:p>
            </p:txBody>
          </p:sp>
        </mc:Choice>
        <mc:Fallback xmlns="">
          <p:sp>
            <p:nvSpPr>
              <p:cNvPr id="14" name="TextBox 13">
                <a:extLst>
                  <a:ext uri="{FF2B5EF4-FFF2-40B4-BE49-F238E27FC236}">
                    <a16:creationId xmlns:a16="http://schemas.microsoft.com/office/drawing/2014/main" id="{C77EF17F-3904-74F8-27F4-046C3FA94068}"/>
                  </a:ext>
                </a:extLst>
              </p:cNvPr>
              <p:cNvSpPr txBox="1">
                <a:spLocks noRot="1" noChangeAspect="1" noMove="1" noResize="1" noEditPoints="1" noAdjustHandles="1" noChangeArrowheads="1" noChangeShapeType="1" noTextEdit="1"/>
              </p:cNvSpPr>
              <p:nvPr/>
            </p:nvSpPr>
            <p:spPr>
              <a:xfrm>
                <a:off x="8654312" y="5182929"/>
                <a:ext cx="424873" cy="276999"/>
              </a:xfrm>
              <a:prstGeom prst="rect">
                <a:avLst/>
              </a:prstGeom>
              <a:blipFill>
                <a:blip r:embed="rId7"/>
                <a:stretch>
                  <a:fillRect b="-17391"/>
                </a:stretch>
              </a:blipFill>
            </p:spPr>
            <p:txBody>
              <a:bodyPr/>
              <a:lstStyle/>
              <a:p>
                <a:r>
                  <a:rPr lang="en-GB">
                    <a:noFill/>
                  </a:rPr>
                  <a:t> </a:t>
                </a:r>
              </a:p>
            </p:txBody>
          </p:sp>
        </mc:Fallback>
      </mc:AlternateContent>
      <p:sp>
        <p:nvSpPr>
          <p:cNvPr id="16" name="Left Brace 15">
            <a:extLst>
              <a:ext uri="{FF2B5EF4-FFF2-40B4-BE49-F238E27FC236}">
                <a16:creationId xmlns:a16="http://schemas.microsoft.com/office/drawing/2014/main" id="{80F08AAC-EE95-80CB-929F-F6DD7C182CF0}"/>
              </a:ext>
            </a:extLst>
          </p:cNvPr>
          <p:cNvSpPr/>
          <p:nvPr/>
        </p:nvSpPr>
        <p:spPr>
          <a:xfrm rot="16200000">
            <a:off x="3690227" y="4857546"/>
            <a:ext cx="271137" cy="1475903"/>
          </a:xfrm>
          <a:prstGeom prst="leftBrace">
            <a:avLst/>
          </a:prstGeom>
          <a:ln>
            <a:solidFill>
              <a:srgbClr val="30303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3" name="Left Brace 22">
            <a:extLst>
              <a:ext uri="{FF2B5EF4-FFF2-40B4-BE49-F238E27FC236}">
                <a16:creationId xmlns:a16="http://schemas.microsoft.com/office/drawing/2014/main" id="{FFCF4BF6-1390-F75B-E856-950D27890B01}"/>
              </a:ext>
            </a:extLst>
          </p:cNvPr>
          <p:cNvSpPr/>
          <p:nvPr/>
        </p:nvSpPr>
        <p:spPr>
          <a:xfrm rot="16200000">
            <a:off x="5130099" y="4894018"/>
            <a:ext cx="270695" cy="1403399"/>
          </a:xfrm>
          <a:prstGeom prst="leftBrace">
            <a:avLst/>
          </a:prstGeom>
          <a:ln>
            <a:solidFill>
              <a:srgbClr val="30303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4" name="Left Brace 23">
            <a:extLst>
              <a:ext uri="{FF2B5EF4-FFF2-40B4-BE49-F238E27FC236}">
                <a16:creationId xmlns:a16="http://schemas.microsoft.com/office/drawing/2014/main" id="{9945BCB2-6066-A680-F595-AC8B663D5059}"/>
              </a:ext>
            </a:extLst>
          </p:cNvPr>
          <p:cNvSpPr/>
          <p:nvPr/>
        </p:nvSpPr>
        <p:spPr>
          <a:xfrm rot="16200000">
            <a:off x="6571394" y="4857546"/>
            <a:ext cx="271137" cy="1475904"/>
          </a:xfrm>
          <a:prstGeom prst="leftBrace">
            <a:avLst/>
          </a:prstGeom>
          <a:ln>
            <a:solidFill>
              <a:srgbClr val="30303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6" name="Left Brace 25">
            <a:extLst>
              <a:ext uri="{FF2B5EF4-FFF2-40B4-BE49-F238E27FC236}">
                <a16:creationId xmlns:a16="http://schemas.microsoft.com/office/drawing/2014/main" id="{F59322BC-E92B-AE5A-E0EF-73C85A9F3C96}"/>
              </a:ext>
            </a:extLst>
          </p:cNvPr>
          <p:cNvSpPr/>
          <p:nvPr/>
        </p:nvSpPr>
        <p:spPr>
          <a:xfrm rot="16200000">
            <a:off x="8008292" y="4889183"/>
            <a:ext cx="278506" cy="1405261"/>
          </a:xfrm>
          <a:prstGeom prst="leftBrace">
            <a:avLst/>
          </a:prstGeom>
          <a:ln>
            <a:solidFill>
              <a:srgbClr val="30303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4866DD2F-E681-1BCB-4F30-1E26F7C05A4B}"/>
                  </a:ext>
                </a:extLst>
              </p:cNvPr>
              <p:cNvSpPr txBox="1"/>
              <p:nvPr/>
            </p:nvSpPr>
            <p:spPr>
              <a:xfrm>
                <a:off x="2775530" y="4397590"/>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𝑃</m:t>
                          </m:r>
                        </m:e>
                        <m:sub>
                          <m:r>
                            <a:rPr lang="en-US" b="0" i="1" smtClean="0">
                              <a:solidFill>
                                <a:schemeClr val="tx2"/>
                              </a:solidFill>
                              <a:latin typeface="Cambria Math" panose="02040503050406030204" pitchFamily="18" charset="0"/>
                            </a:rPr>
                            <m:t>1</m:t>
                          </m:r>
                        </m:sub>
                      </m:sSub>
                    </m:oMath>
                  </m:oMathPara>
                </a14:m>
                <a:endParaRPr lang="en-GB" dirty="0">
                  <a:solidFill>
                    <a:schemeClr val="tx2"/>
                  </a:solidFill>
                </a:endParaRPr>
              </a:p>
            </p:txBody>
          </p:sp>
        </mc:Choice>
        <mc:Fallback xmlns="">
          <p:sp>
            <p:nvSpPr>
              <p:cNvPr id="27" name="TextBox 26">
                <a:extLst>
                  <a:ext uri="{FF2B5EF4-FFF2-40B4-BE49-F238E27FC236}">
                    <a16:creationId xmlns:a16="http://schemas.microsoft.com/office/drawing/2014/main" id="{4866DD2F-E681-1BCB-4F30-1E26F7C05A4B}"/>
                  </a:ext>
                </a:extLst>
              </p:cNvPr>
              <p:cNvSpPr txBox="1">
                <a:spLocks noRot="1" noChangeAspect="1" noMove="1" noResize="1" noEditPoints="1" noAdjustHandles="1" noChangeArrowheads="1" noChangeShapeType="1" noTextEdit="1"/>
              </p:cNvSpPr>
              <p:nvPr/>
            </p:nvSpPr>
            <p:spPr>
              <a:xfrm>
                <a:off x="2775530" y="4397590"/>
                <a:ext cx="424873" cy="276999"/>
              </a:xfrm>
              <a:prstGeom prst="rect">
                <a:avLst/>
              </a:prstGeom>
              <a:blipFill>
                <a:blip r:embed="rId8"/>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72B0CB2-9E64-7599-F620-F0F7DEB274DB}"/>
                  </a:ext>
                </a:extLst>
              </p:cNvPr>
              <p:cNvSpPr txBox="1"/>
              <p:nvPr/>
            </p:nvSpPr>
            <p:spPr>
              <a:xfrm>
                <a:off x="5922831" y="4379118"/>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𝑃</m:t>
                          </m:r>
                        </m:e>
                        <m:sub>
                          <m:r>
                            <a:rPr lang="en-US" b="0" i="1" smtClean="0">
                              <a:solidFill>
                                <a:schemeClr val="tx2"/>
                              </a:solidFill>
                              <a:latin typeface="Cambria Math" panose="02040503050406030204" pitchFamily="18" charset="0"/>
                            </a:rPr>
                            <m:t>3</m:t>
                          </m:r>
                        </m:sub>
                      </m:sSub>
                    </m:oMath>
                  </m:oMathPara>
                </a14:m>
                <a:endParaRPr lang="en-GB" dirty="0">
                  <a:solidFill>
                    <a:schemeClr val="tx2"/>
                  </a:solidFill>
                </a:endParaRPr>
              </a:p>
            </p:txBody>
          </p:sp>
        </mc:Choice>
        <mc:Fallback xmlns="">
          <p:sp>
            <p:nvSpPr>
              <p:cNvPr id="29" name="TextBox 28">
                <a:extLst>
                  <a:ext uri="{FF2B5EF4-FFF2-40B4-BE49-F238E27FC236}">
                    <a16:creationId xmlns:a16="http://schemas.microsoft.com/office/drawing/2014/main" id="{D72B0CB2-9E64-7599-F620-F0F7DEB274DB}"/>
                  </a:ext>
                </a:extLst>
              </p:cNvPr>
              <p:cNvSpPr txBox="1">
                <a:spLocks noRot="1" noChangeAspect="1" noMove="1" noResize="1" noEditPoints="1" noAdjustHandles="1" noChangeArrowheads="1" noChangeShapeType="1" noTextEdit="1"/>
              </p:cNvSpPr>
              <p:nvPr/>
            </p:nvSpPr>
            <p:spPr>
              <a:xfrm>
                <a:off x="5922831" y="4379118"/>
                <a:ext cx="424873" cy="276999"/>
              </a:xfrm>
              <a:prstGeom prst="rect">
                <a:avLst/>
              </a:prstGeom>
              <a:blipFill>
                <a:blip r:embed="rId9"/>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501D573-D7A4-1616-D81F-40AD367A4A6E}"/>
                  </a:ext>
                </a:extLst>
              </p:cNvPr>
              <p:cNvSpPr txBox="1"/>
              <p:nvPr/>
            </p:nvSpPr>
            <p:spPr>
              <a:xfrm>
                <a:off x="7203051" y="1376140"/>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𝑃</m:t>
                          </m:r>
                        </m:e>
                        <m:sub>
                          <m:r>
                            <a:rPr lang="en-US" b="0" i="1" smtClean="0">
                              <a:solidFill>
                                <a:schemeClr val="tx2"/>
                              </a:solidFill>
                              <a:latin typeface="Cambria Math" panose="02040503050406030204" pitchFamily="18" charset="0"/>
                            </a:rPr>
                            <m:t>4</m:t>
                          </m:r>
                        </m:sub>
                      </m:sSub>
                    </m:oMath>
                  </m:oMathPara>
                </a14:m>
                <a:endParaRPr lang="en-GB" dirty="0">
                  <a:solidFill>
                    <a:schemeClr val="tx2"/>
                  </a:solidFill>
                </a:endParaRPr>
              </a:p>
            </p:txBody>
          </p:sp>
        </mc:Choice>
        <mc:Fallback xmlns="">
          <p:sp>
            <p:nvSpPr>
              <p:cNvPr id="30" name="TextBox 29">
                <a:extLst>
                  <a:ext uri="{FF2B5EF4-FFF2-40B4-BE49-F238E27FC236}">
                    <a16:creationId xmlns:a16="http://schemas.microsoft.com/office/drawing/2014/main" id="{C501D573-D7A4-1616-D81F-40AD367A4A6E}"/>
                  </a:ext>
                </a:extLst>
              </p:cNvPr>
              <p:cNvSpPr txBox="1">
                <a:spLocks noRot="1" noChangeAspect="1" noMove="1" noResize="1" noEditPoints="1" noAdjustHandles="1" noChangeArrowheads="1" noChangeShapeType="1" noTextEdit="1"/>
              </p:cNvSpPr>
              <p:nvPr/>
            </p:nvSpPr>
            <p:spPr>
              <a:xfrm>
                <a:off x="7203051" y="1376140"/>
                <a:ext cx="424873" cy="276999"/>
              </a:xfrm>
              <a:prstGeom prst="rect">
                <a:avLst/>
              </a:prstGeom>
              <a:blipFill>
                <a:blip r:embed="rId10"/>
                <a:stretch>
                  <a:fillRect b="-1777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D65239CA-334D-74BE-292B-105D4B6AE772}"/>
                  </a:ext>
                </a:extLst>
              </p:cNvPr>
              <p:cNvSpPr txBox="1"/>
              <p:nvPr/>
            </p:nvSpPr>
            <p:spPr>
              <a:xfrm>
                <a:off x="8543638" y="3932292"/>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𝑃</m:t>
                          </m:r>
                        </m:e>
                        <m:sub>
                          <m:r>
                            <a:rPr lang="en-US" b="0" i="1" smtClean="0">
                              <a:solidFill>
                                <a:schemeClr val="tx2"/>
                              </a:solidFill>
                              <a:latin typeface="Cambria Math" panose="02040503050406030204" pitchFamily="18" charset="0"/>
                            </a:rPr>
                            <m:t>5</m:t>
                          </m:r>
                        </m:sub>
                      </m:sSub>
                    </m:oMath>
                  </m:oMathPara>
                </a14:m>
                <a:endParaRPr lang="en-GB" dirty="0">
                  <a:solidFill>
                    <a:schemeClr val="tx2"/>
                  </a:solidFill>
                </a:endParaRPr>
              </a:p>
            </p:txBody>
          </p:sp>
        </mc:Choice>
        <mc:Fallback xmlns="">
          <p:sp>
            <p:nvSpPr>
              <p:cNvPr id="31" name="TextBox 30">
                <a:extLst>
                  <a:ext uri="{FF2B5EF4-FFF2-40B4-BE49-F238E27FC236}">
                    <a16:creationId xmlns:a16="http://schemas.microsoft.com/office/drawing/2014/main" id="{D65239CA-334D-74BE-292B-105D4B6AE772}"/>
                  </a:ext>
                </a:extLst>
              </p:cNvPr>
              <p:cNvSpPr txBox="1">
                <a:spLocks noRot="1" noChangeAspect="1" noMove="1" noResize="1" noEditPoints="1" noAdjustHandles="1" noChangeArrowheads="1" noChangeShapeType="1" noTextEdit="1"/>
              </p:cNvSpPr>
              <p:nvPr/>
            </p:nvSpPr>
            <p:spPr>
              <a:xfrm>
                <a:off x="8543638" y="3932292"/>
                <a:ext cx="424873" cy="276999"/>
              </a:xfrm>
              <a:prstGeom prst="rect">
                <a:avLst/>
              </a:prstGeom>
              <a:blipFill>
                <a:blip r:embed="rId11"/>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4FC0201-330E-4218-1C83-2C673FD77614}"/>
                  </a:ext>
                </a:extLst>
              </p:cNvPr>
              <p:cNvSpPr txBox="1"/>
              <p:nvPr/>
            </p:nvSpPr>
            <p:spPr>
              <a:xfrm>
                <a:off x="3644737" y="5702691"/>
                <a:ext cx="338627"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𝑝</m:t>
                          </m:r>
                        </m:e>
                        <m:sub>
                          <m:r>
                            <a:rPr lang="en-US" sz="1400" b="0" i="1" smtClean="0">
                              <a:solidFill>
                                <a:schemeClr val="tx2"/>
                              </a:solidFill>
                              <a:latin typeface="Cambria Math" panose="02040503050406030204" pitchFamily="18" charset="0"/>
                            </a:rPr>
                            <m:t>1</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m:t>
                      </m:r>
                    </m:oMath>
                  </m:oMathPara>
                </a14:m>
                <a:endParaRPr lang="en-GB" sz="1400" dirty="0">
                  <a:solidFill>
                    <a:schemeClr val="tx2"/>
                  </a:solidFill>
                </a:endParaRPr>
              </a:p>
            </p:txBody>
          </p:sp>
        </mc:Choice>
        <mc:Fallback xmlns="">
          <p:sp>
            <p:nvSpPr>
              <p:cNvPr id="32" name="TextBox 31">
                <a:extLst>
                  <a:ext uri="{FF2B5EF4-FFF2-40B4-BE49-F238E27FC236}">
                    <a16:creationId xmlns:a16="http://schemas.microsoft.com/office/drawing/2014/main" id="{44FC0201-330E-4218-1C83-2C673FD77614}"/>
                  </a:ext>
                </a:extLst>
              </p:cNvPr>
              <p:cNvSpPr txBox="1">
                <a:spLocks noRot="1" noChangeAspect="1" noMove="1" noResize="1" noEditPoints="1" noAdjustHandles="1" noChangeArrowheads="1" noChangeShapeType="1" noTextEdit="1"/>
              </p:cNvSpPr>
              <p:nvPr/>
            </p:nvSpPr>
            <p:spPr>
              <a:xfrm>
                <a:off x="3644737" y="5702691"/>
                <a:ext cx="338627" cy="215444"/>
              </a:xfrm>
              <a:prstGeom prst="rect">
                <a:avLst/>
              </a:prstGeom>
              <a:blipFill>
                <a:blip r:embed="rId12"/>
                <a:stretch>
                  <a:fillRect l="-20000" r="-40000" b="-3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22B00216-C540-A3AF-338D-574E5DC22B48}"/>
                  </a:ext>
                </a:extLst>
              </p:cNvPr>
              <p:cNvSpPr txBox="1"/>
              <p:nvPr/>
            </p:nvSpPr>
            <p:spPr>
              <a:xfrm>
                <a:off x="5096133" y="5702691"/>
                <a:ext cx="338627"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𝑝</m:t>
                          </m:r>
                        </m:e>
                        <m:sub>
                          <m:r>
                            <a:rPr lang="en-US" sz="1400" b="0" i="1" smtClean="0">
                              <a:solidFill>
                                <a:schemeClr val="tx2"/>
                              </a:solidFill>
                              <a:latin typeface="Cambria Math" panose="02040503050406030204" pitchFamily="18" charset="0"/>
                            </a:rPr>
                            <m:t>2</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m:t>
                      </m:r>
                    </m:oMath>
                  </m:oMathPara>
                </a14:m>
                <a:endParaRPr lang="en-GB" sz="1400" dirty="0">
                  <a:solidFill>
                    <a:schemeClr val="tx2"/>
                  </a:solidFill>
                </a:endParaRPr>
              </a:p>
            </p:txBody>
          </p:sp>
        </mc:Choice>
        <mc:Fallback xmlns="">
          <p:sp>
            <p:nvSpPr>
              <p:cNvPr id="33" name="TextBox 32">
                <a:extLst>
                  <a:ext uri="{FF2B5EF4-FFF2-40B4-BE49-F238E27FC236}">
                    <a16:creationId xmlns:a16="http://schemas.microsoft.com/office/drawing/2014/main" id="{22B00216-C540-A3AF-338D-574E5DC22B48}"/>
                  </a:ext>
                </a:extLst>
              </p:cNvPr>
              <p:cNvSpPr txBox="1">
                <a:spLocks noRot="1" noChangeAspect="1" noMove="1" noResize="1" noEditPoints="1" noAdjustHandles="1" noChangeArrowheads="1" noChangeShapeType="1" noTextEdit="1"/>
              </p:cNvSpPr>
              <p:nvPr/>
            </p:nvSpPr>
            <p:spPr>
              <a:xfrm>
                <a:off x="5096133" y="5702691"/>
                <a:ext cx="338627" cy="215444"/>
              </a:xfrm>
              <a:prstGeom prst="rect">
                <a:avLst/>
              </a:prstGeom>
              <a:blipFill>
                <a:blip r:embed="rId13"/>
                <a:stretch>
                  <a:fillRect l="-19643" r="-39286" b="-3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3FA5B86-6AA5-6526-16D6-AA2CE93141E6}"/>
                  </a:ext>
                </a:extLst>
              </p:cNvPr>
              <p:cNvSpPr txBox="1"/>
              <p:nvPr/>
            </p:nvSpPr>
            <p:spPr>
              <a:xfrm>
                <a:off x="6537648" y="5707756"/>
                <a:ext cx="338627"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𝑝</m:t>
                          </m:r>
                        </m:e>
                        <m:sub>
                          <m:r>
                            <a:rPr lang="en-US" sz="1400" b="0" i="1" smtClean="0">
                              <a:solidFill>
                                <a:schemeClr val="tx2"/>
                              </a:solidFill>
                              <a:latin typeface="Cambria Math" panose="02040503050406030204" pitchFamily="18" charset="0"/>
                            </a:rPr>
                            <m:t>3</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m:t>
                      </m:r>
                    </m:oMath>
                  </m:oMathPara>
                </a14:m>
                <a:endParaRPr lang="en-GB" sz="1400" dirty="0">
                  <a:solidFill>
                    <a:schemeClr val="tx2"/>
                  </a:solidFill>
                </a:endParaRPr>
              </a:p>
            </p:txBody>
          </p:sp>
        </mc:Choice>
        <mc:Fallback xmlns="">
          <p:sp>
            <p:nvSpPr>
              <p:cNvPr id="34" name="TextBox 33">
                <a:extLst>
                  <a:ext uri="{FF2B5EF4-FFF2-40B4-BE49-F238E27FC236}">
                    <a16:creationId xmlns:a16="http://schemas.microsoft.com/office/drawing/2014/main" id="{F3FA5B86-6AA5-6526-16D6-AA2CE93141E6}"/>
                  </a:ext>
                </a:extLst>
              </p:cNvPr>
              <p:cNvSpPr txBox="1">
                <a:spLocks noRot="1" noChangeAspect="1" noMove="1" noResize="1" noEditPoints="1" noAdjustHandles="1" noChangeArrowheads="1" noChangeShapeType="1" noTextEdit="1"/>
              </p:cNvSpPr>
              <p:nvPr/>
            </p:nvSpPr>
            <p:spPr>
              <a:xfrm>
                <a:off x="6537648" y="5707756"/>
                <a:ext cx="338627" cy="215444"/>
              </a:xfrm>
              <a:prstGeom prst="rect">
                <a:avLst/>
              </a:prstGeom>
              <a:blipFill>
                <a:blip r:embed="rId14"/>
                <a:stretch>
                  <a:fillRect l="-17857" r="-41071" b="-3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AEEA177F-E463-5910-D2E6-BFD4EEC350F8}"/>
                  </a:ext>
                </a:extLst>
              </p:cNvPr>
              <p:cNvSpPr txBox="1"/>
              <p:nvPr/>
            </p:nvSpPr>
            <p:spPr>
              <a:xfrm>
                <a:off x="7980178" y="5700746"/>
                <a:ext cx="338627"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𝑝</m:t>
                          </m:r>
                        </m:e>
                        <m:sub>
                          <m:r>
                            <a:rPr lang="en-US" sz="1400" b="0" i="1" smtClean="0">
                              <a:solidFill>
                                <a:schemeClr val="tx2"/>
                              </a:solidFill>
                              <a:latin typeface="Cambria Math" panose="02040503050406030204" pitchFamily="18" charset="0"/>
                            </a:rPr>
                            <m:t>4</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m:t>
                      </m:r>
                    </m:oMath>
                  </m:oMathPara>
                </a14:m>
                <a:endParaRPr lang="en-GB" sz="1400" dirty="0">
                  <a:solidFill>
                    <a:schemeClr val="tx2"/>
                  </a:solidFill>
                </a:endParaRPr>
              </a:p>
            </p:txBody>
          </p:sp>
        </mc:Choice>
        <mc:Fallback xmlns="">
          <p:sp>
            <p:nvSpPr>
              <p:cNvPr id="35" name="TextBox 34">
                <a:extLst>
                  <a:ext uri="{FF2B5EF4-FFF2-40B4-BE49-F238E27FC236}">
                    <a16:creationId xmlns:a16="http://schemas.microsoft.com/office/drawing/2014/main" id="{AEEA177F-E463-5910-D2E6-BFD4EEC350F8}"/>
                  </a:ext>
                </a:extLst>
              </p:cNvPr>
              <p:cNvSpPr txBox="1">
                <a:spLocks noRot="1" noChangeAspect="1" noMove="1" noResize="1" noEditPoints="1" noAdjustHandles="1" noChangeArrowheads="1" noChangeShapeType="1" noTextEdit="1"/>
              </p:cNvSpPr>
              <p:nvPr/>
            </p:nvSpPr>
            <p:spPr>
              <a:xfrm>
                <a:off x="7980178" y="5700746"/>
                <a:ext cx="338627" cy="215444"/>
              </a:xfrm>
              <a:prstGeom prst="rect">
                <a:avLst/>
              </a:prstGeom>
              <a:blipFill>
                <a:blip r:embed="rId15"/>
                <a:stretch>
                  <a:fillRect l="-17857" r="-41071" b="-3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CE18FE4D-91A8-1214-4ACF-25C7CE393BCA}"/>
                  </a:ext>
                </a:extLst>
              </p:cNvPr>
              <p:cNvSpPr txBox="1"/>
              <p:nvPr/>
            </p:nvSpPr>
            <p:spPr>
              <a:xfrm>
                <a:off x="3347953" y="5945454"/>
                <a:ext cx="955683"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1</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&lt;</m:t>
                      </m:r>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2</m:t>
                          </m:r>
                        </m:sub>
                      </m:sSub>
                    </m:oMath>
                  </m:oMathPara>
                </a14:m>
                <a:endParaRPr lang="en-GB" sz="1400" dirty="0">
                  <a:solidFill>
                    <a:schemeClr val="tx2"/>
                  </a:solidFill>
                </a:endParaRPr>
              </a:p>
            </p:txBody>
          </p:sp>
        </mc:Choice>
        <mc:Fallback xmlns="">
          <p:sp>
            <p:nvSpPr>
              <p:cNvPr id="36" name="TextBox 35">
                <a:extLst>
                  <a:ext uri="{FF2B5EF4-FFF2-40B4-BE49-F238E27FC236}">
                    <a16:creationId xmlns:a16="http://schemas.microsoft.com/office/drawing/2014/main" id="{CE18FE4D-91A8-1214-4ACF-25C7CE393BCA}"/>
                  </a:ext>
                </a:extLst>
              </p:cNvPr>
              <p:cNvSpPr txBox="1">
                <a:spLocks noRot="1" noChangeAspect="1" noMove="1" noResize="1" noEditPoints="1" noAdjustHandles="1" noChangeArrowheads="1" noChangeShapeType="1" noTextEdit="1"/>
              </p:cNvSpPr>
              <p:nvPr/>
            </p:nvSpPr>
            <p:spPr>
              <a:xfrm>
                <a:off x="3347953" y="5945454"/>
                <a:ext cx="955683" cy="215444"/>
              </a:xfrm>
              <a:prstGeom prst="rect">
                <a:avLst/>
              </a:prstGeom>
              <a:blipFill>
                <a:blip r:embed="rId16"/>
                <a:stretch>
                  <a:fillRect l="-1911" b="-1388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9847B72-B25F-84D9-9486-B2EFA80DB050}"/>
                  </a:ext>
                </a:extLst>
              </p:cNvPr>
              <p:cNvSpPr txBox="1"/>
              <p:nvPr/>
            </p:nvSpPr>
            <p:spPr>
              <a:xfrm>
                <a:off x="4787604" y="5945013"/>
                <a:ext cx="955683"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2</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&lt;</m:t>
                      </m:r>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3</m:t>
                          </m:r>
                        </m:sub>
                      </m:sSub>
                    </m:oMath>
                  </m:oMathPara>
                </a14:m>
                <a:endParaRPr lang="en-GB" sz="1400" dirty="0">
                  <a:solidFill>
                    <a:schemeClr val="tx2"/>
                  </a:solidFill>
                </a:endParaRPr>
              </a:p>
            </p:txBody>
          </p:sp>
        </mc:Choice>
        <mc:Fallback xmlns="">
          <p:sp>
            <p:nvSpPr>
              <p:cNvPr id="37" name="TextBox 36">
                <a:extLst>
                  <a:ext uri="{FF2B5EF4-FFF2-40B4-BE49-F238E27FC236}">
                    <a16:creationId xmlns:a16="http://schemas.microsoft.com/office/drawing/2014/main" id="{49847B72-B25F-84D9-9486-B2EFA80DB050}"/>
                  </a:ext>
                </a:extLst>
              </p:cNvPr>
              <p:cNvSpPr txBox="1">
                <a:spLocks noRot="1" noChangeAspect="1" noMove="1" noResize="1" noEditPoints="1" noAdjustHandles="1" noChangeArrowheads="1" noChangeShapeType="1" noTextEdit="1"/>
              </p:cNvSpPr>
              <p:nvPr/>
            </p:nvSpPr>
            <p:spPr>
              <a:xfrm>
                <a:off x="4787604" y="5945013"/>
                <a:ext cx="955683" cy="215444"/>
              </a:xfrm>
              <a:prstGeom prst="rect">
                <a:avLst/>
              </a:prstGeom>
              <a:blipFill>
                <a:blip r:embed="rId17"/>
                <a:stretch>
                  <a:fillRect l="-2548" b="-1388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CFA34671-6758-E6CC-AC41-A34FDFB63207}"/>
                  </a:ext>
                </a:extLst>
              </p:cNvPr>
              <p:cNvSpPr txBox="1"/>
              <p:nvPr/>
            </p:nvSpPr>
            <p:spPr>
              <a:xfrm>
                <a:off x="6227255" y="5945013"/>
                <a:ext cx="955683"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1</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&lt;</m:t>
                      </m:r>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2</m:t>
                          </m:r>
                        </m:sub>
                      </m:sSub>
                    </m:oMath>
                  </m:oMathPara>
                </a14:m>
                <a:endParaRPr lang="en-GB" sz="1400" dirty="0">
                  <a:solidFill>
                    <a:schemeClr val="tx2"/>
                  </a:solidFill>
                </a:endParaRPr>
              </a:p>
            </p:txBody>
          </p:sp>
        </mc:Choice>
        <mc:Fallback xmlns="">
          <p:sp>
            <p:nvSpPr>
              <p:cNvPr id="38" name="TextBox 37">
                <a:extLst>
                  <a:ext uri="{FF2B5EF4-FFF2-40B4-BE49-F238E27FC236}">
                    <a16:creationId xmlns:a16="http://schemas.microsoft.com/office/drawing/2014/main" id="{CFA34671-6758-E6CC-AC41-A34FDFB63207}"/>
                  </a:ext>
                </a:extLst>
              </p:cNvPr>
              <p:cNvSpPr txBox="1">
                <a:spLocks noRot="1" noChangeAspect="1" noMove="1" noResize="1" noEditPoints="1" noAdjustHandles="1" noChangeArrowheads="1" noChangeShapeType="1" noTextEdit="1"/>
              </p:cNvSpPr>
              <p:nvPr/>
            </p:nvSpPr>
            <p:spPr>
              <a:xfrm>
                <a:off x="6227255" y="5945013"/>
                <a:ext cx="955683" cy="215444"/>
              </a:xfrm>
              <a:prstGeom prst="rect">
                <a:avLst/>
              </a:prstGeom>
              <a:blipFill>
                <a:blip r:embed="rId18"/>
                <a:stretch>
                  <a:fillRect l="-1923" b="-1388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8A2B03CD-6AF8-070E-DD47-045487979CAF}"/>
                  </a:ext>
                </a:extLst>
              </p:cNvPr>
              <p:cNvSpPr txBox="1"/>
              <p:nvPr/>
            </p:nvSpPr>
            <p:spPr>
              <a:xfrm>
                <a:off x="7666906" y="5945013"/>
                <a:ext cx="955683"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1</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&lt;</m:t>
                      </m:r>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2</m:t>
                          </m:r>
                        </m:sub>
                      </m:sSub>
                    </m:oMath>
                  </m:oMathPara>
                </a14:m>
                <a:endParaRPr lang="en-GB" sz="1400" dirty="0">
                  <a:solidFill>
                    <a:schemeClr val="tx2"/>
                  </a:solidFill>
                </a:endParaRPr>
              </a:p>
            </p:txBody>
          </p:sp>
        </mc:Choice>
        <mc:Fallback xmlns="">
          <p:sp>
            <p:nvSpPr>
              <p:cNvPr id="39" name="TextBox 38">
                <a:extLst>
                  <a:ext uri="{FF2B5EF4-FFF2-40B4-BE49-F238E27FC236}">
                    <a16:creationId xmlns:a16="http://schemas.microsoft.com/office/drawing/2014/main" id="{8A2B03CD-6AF8-070E-DD47-045487979CAF}"/>
                  </a:ext>
                </a:extLst>
              </p:cNvPr>
              <p:cNvSpPr txBox="1">
                <a:spLocks noRot="1" noChangeAspect="1" noMove="1" noResize="1" noEditPoints="1" noAdjustHandles="1" noChangeArrowheads="1" noChangeShapeType="1" noTextEdit="1"/>
              </p:cNvSpPr>
              <p:nvPr/>
            </p:nvSpPr>
            <p:spPr>
              <a:xfrm>
                <a:off x="7666906" y="5945013"/>
                <a:ext cx="955683" cy="215444"/>
              </a:xfrm>
              <a:prstGeom prst="rect">
                <a:avLst/>
              </a:prstGeom>
              <a:blipFill>
                <a:blip r:embed="rId18"/>
                <a:stretch>
                  <a:fillRect l="-1923" b="-13889"/>
                </a:stretch>
              </a:blipFill>
            </p:spPr>
            <p:txBody>
              <a:bodyPr/>
              <a:lstStyle/>
              <a:p>
                <a:r>
                  <a:rPr lang="en-GB">
                    <a:noFill/>
                  </a:rPr>
                  <a:t> </a:t>
                </a:r>
              </a:p>
            </p:txBody>
          </p:sp>
        </mc:Fallback>
      </mc:AlternateContent>
      <p:cxnSp>
        <p:nvCxnSpPr>
          <p:cNvPr id="41" name="Straight Arrow Connector 40">
            <a:extLst>
              <a:ext uri="{FF2B5EF4-FFF2-40B4-BE49-F238E27FC236}">
                <a16:creationId xmlns:a16="http://schemas.microsoft.com/office/drawing/2014/main" id="{AC474824-4D17-2E45-6F0F-FDE1868A8DE9}"/>
              </a:ext>
            </a:extLst>
          </p:cNvPr>
          <p:cNvCxnSpPr>
            <a:cxnSpLocks/>
          </p:cNvCxnSpPr>
          <p:nvPr/>
        </p:nvCxnSpPr>
        <p:spPr>
          <a:xfrm>
            <a:off x="3103719" y="4775200"/>
            <a:ext cx="556893" cy="0"/>
          </a:xfrm>
          <a:prstGeom prst="straightConnector1">
            <a:avLst/>
          </a:prstGeom>
          <a:ln w="28575">
            <a:solidFill>
              <a:srgbClr val="ED7D3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2ED3609-D1C0-C937-13C6-BBA4EFF70A22}"/>
              </a:ext>
            </a:extLst>
          </p:cNvPr>
          <p:cNvCxnSpPr>
            <a:cxnSpLocks/>
          </p:cNvCxnSpPr>
          <p:nvPr/>
        </p:nvCxnSpPr>
        <p:spPr>
          <a:xfrm>
            <a:off x="8871605" y="3914136"/>
            <a:ext cx="556893" cy="0"/>
          </a:xfrm>
          <a:prstGeom prst="straightConnector1">
            <a:avLst/>
          </a:prstGeom>
          <a:ln w="28575">
            <a:solidFill>
              <a:srgbClr val="ED7D3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928CF617-B1A7-3E07-2E72-900275044A7F}"/>
                  </a:ext>
                </a:extLst>
              </p:cNvPr>
              <p:cNvSpPr txBox="1"/>
              <p:nvPr/>
            </p:nvSpPr>
            <p:spPr>
              <a:xfrm>
                <a:off x="3388715" y="4501470"/>
                <a:ext cx="543793"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rgbClr val="ED7D31"/>
                              </a:solidFill>
                              <a:latin typeface="Cambria Math" panose="02040503050406030204" pitchFamily="18" charset="0"/>
                            </a:rPr>
                          </m:ctrlPr>
                        </m:sSubPr>
                        <m:e>
                          <m:r>
                            <a:rPr lang="en-US" sz="1400" b="0" i="1" smtClean="0">
                              <a:solidFill>
                                <a:srgbClr val="ED7D31"/>
                              </a:solidFill>
                              <a:latin typeface="Cambria Math" panose="02040503050406030204" pitchFamily="18" charset="0"/>
                            </a:rPr>
                            <m:t>𝑣</m:t>
                          </m:r>
                        </m:e>
                        <m:sub>
                          <m:r>
                            <a:rPr lang="en-US" sz="1400" b="0" i="1" smtClean="0">
                              <a:solidFill>
                                <a:srgbClr val="ED7D31"/>
                              </a:solidFill>
                              <a:latin typeface="Cambria Math" panose="02040503050406030204" pitchFamily="18" charset="0"/>
                            </a:rPr>
                            <m:t>𝑖𝑛𝑖𝑡𝑖𝑎𝑙</m:t>
                          </m:r>
                        </m:sub>
                      </m:sSub>
                    </m:oMath>
                  </m:oMathPara>
                </a14:m>
                <a:endParaRPr lang="en-GB" sz="1400" dirty="0">
                  <a:solidFill>
                    <a:srgbClr val="ED7D31"/>
                  </a:solidFill>
                </a:endParaRPr>
              </a:p>
            </p:txBody>
          </p:sp>
        </mc:Choice>
        <mc:Fallback xmlns="">
          <p:sp>
            <p:nvSpPr>
              <p:cNvPr id="45" name="TextBox 44">
                <a:extLst>
                  <a:ext uri="{FF2B5EF4-FFF2-40B4-BE49-F238E27FC236}">
                    <a16:creationId xmlns:a16="http://schemas.microsoft.com/office/drawing/2014/main" id="{928CF617-B1A7-3E07-2E72-900275044A7F}"/>
                  </a:ext>
                </a:extLst>
              </p:cNvPr>
              <p:cNvSpPr txBox="1">
                <a:spLocks noRot="1" noChangeAspect="1" noMove="1" noResize="1" noEditPoints="1" noAdjustHandles="1" noChangeArrowheads="1" noChangeShapeType="1" noTextEdit="1"/>
              </p:cNvSpPr>
              <p:nvPr/>
            </p:nvSpPr>
            <p:spPr>
              <a:xfrm>
                <a:off x="3388715" y="4501470"/>
                <a:ext cx="543793" cy="215444"/>
              </a:xfrm>
              <a:prstGeom prst="rect">
                <a:avLst/>
              </a:prstGeom>
              <a:blipFill>
                <a:blip r:embed="rId19"/>
                <a:stretch>
                  <a:fillRect l="-6742" r="-2247"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2090E47-A474-EDE8-E20A-70EC6FE01A65}"/>
                  </a:ext>
                </a:extLst>
              </p:cNvPr>
              <p:cNvSpPr txBox="1"/>
              <p:nvPr/>
            </p:nvSpPr>
            <p:spPr>
              <a:xfrm>
                <a:off x="9271355" y="3921940"/>
                <a:ext cx="543793" cy="232692"/>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rgbClr val="ED7D31"/>
                              </a:solidFill>
                              <a:latin typeface="Cambria Math" panose="02040503050406030204" pitchFamily="18" charset="0"/>
                            </a:rPr>
                          </m:ctrlPr>
                        </m:sSubPr>
                        <m:e>
                          <m:r>
                            <a:rPr lang="en-US" sz="1400" b="0" i="1" smtClean="0">
                              <a:solidFill>
                                <a:srgbClr val="ED7D31"/>
                              </a:solidFill>
                              <a:latin typeface="Cambria Math" panose="02040503050406030204" pitchFamily="18" charset="0"/>
                            </a:rPr>
                            <m:t>𝑣</m:t>
                          </m:r>
                        </m:e>
                        <m:sub>
                          <m:r>
                            <a:rPr lang="en-US" sz="1400" b="0" i="1" smtClean="0">
                              <a:solidFill>
                                <a:srgbClr val="ED7D31"/>
                              </a:solidFill>
                              <a:latin typeface="Cambria Math" panose="02040503050406030204" pitchFamily="18" charset="0"/>
                            </a:rPr>
                            <m:t>𝑓𝑖𝑛𝑎𝑙</m:t>
                          </m:r>
                        </m:sub>
                      </m:sSub>
                    </m:oMath>
                  </m:oMathPara>
                </a14:m>
                <a:endParaRPr lang="en-GB" sz="1400" dirty="0">
                  <a:solidFill>
                    <a:srgbClr val="ED7D31"/>
                  </a:solidFill>
                </a:endParaRPr>
              </a:p>
            </p:txBody>
          </p:sp>
        </mc:Choice>
        <mc:Fallback xmlns="">
          <p:sp>
            <p:nvSpPr>
              <p:cNvPr id="47" name="TextBox 46">
                <a:extLst>
                  <a:ext uri="{FF2B5EF4-FFF2-40B4-BE49-F238E27FC236}">
                    <a16:creationId xmlns:a16="http://schemas.microsoft.com/office/drawing/2014/main" id="{52090E47-A474-EDE8-E20A-70EC6FE01A65}"/>
                  </a:ext>
                </a:extLst>
              </p:cNvPr>
              <p:cNvSpPr txBox="1">
                <a:spLocks noRot="1" noChangeAspect="1" noMove="1" noResize="1" noEditPoints="1" noAdjustHandles="1" noChangeArrowheads="1" noChangeShapeType="1" noTextEdit="1"/>
              </p:cNvSpPr>
              <p:nvPr/>
            </p:nvSpPr>
            <p:spPr>
              <a:xfrm>
                <a:off x="9271355" y="3921940"/>
                <a:ext cx="543793" cy="232692"/>
              </a:xfrm>
              <a:prstGeom prst="rect">
                <a:avLst/>
              </a:prstGeom>
              <a:blipFill>
                <a:blip r:embed="rId20"/>
                <a:stretch>
                  <a:fillRect b="-23077"/>
                </a:stretch>
              </a:blipFill>
            </p:spPr>
            <p:txBody>
              <a:bodyPr/>
              <a:lstStyle/>
              <a:p>
                <a:r>
                  <a:rPr lang="en-GB">
                    <a:noFill/>
                  </a:rPr>
                  <a:t> </a:t>
                </a:r>
              </a:p>
            </p:txBody>
          </p:sp>
        </mc:Fallback>
      </mc:AlternateContent>
      <p:cxnSp>
        <p:nvCxnSpPr>
          <p:cNvPr id="7" name="Straight Connector 6">
            <a:extLst>
              <a:ext uri="{FF2B5EF4-FFF2-40B4-BE49-F238E27FC236}">
                <a16:creationId xmlns:a16="http://schemas.microsoft.com/office/drawing/2014/main" id="{C07F2226-C5E0-9EF1-3117-D3A7CCB7D58B}"/>
              </a:ext>
            </a:extLst>
          </p:cNvPr>
          <p:cNvCxnSpPr/>
          <p:nvPr/>
        </p:nvCxnSpPr>
        <p:spPr>
          <a:xfrm>
            <a:off x="4540887" y="1149087"/>
            <a:ext cx="0" cy="3811533"/>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218DA4C9-34DD-6E7D-4F32-D27890E35E50}"/>
              </a:ext>
            </a:extLst>
          </p:cNvPr>
          <p:cNvGrpSpPr/>
          <p:nvPr/>
        </p:nvGrpSpPr>
        <p:grpSpPr>
          <a:xfrm>
            <a:off x="3485228" y="2234844"/>
            <a:ext cx="2131168" cy="312420"/>
            <a:chOff x="412776" y="2636520"/>
            <a:chExt cx="1621517" cy="312420"/>
          </a:xfrm>
          <a:effectLst>
            <a:outerShdw blurRad="50800" dist="38100" dir="2700000" algn="tl" rotWithShape="0">
              <a:prstClr val="black">
                <a:alpha val="40000"/>
              </a:prstClr>
            </a:outerShdw>
          </a:effectLst>
        </p:grpSpPr>
        <p:sp>
          <p:nvSpPr>
            <p:cNvPr id="17" name="Rectangle: Rounded Corners 16">
              <a:extLst>
                <a:ext uri="{FF2B5EF4-FFF2-40B4-BE49-F238E27FC236}">
                  <a16:creationId xmlns:a16="http://schemas.microsoft.com/office/drawing/2014/main" id="{B17EC386-4190-4EBC-053A-65036DD03714}"/>
                </a:ext>
              </a:extLst>
            </p:cNvPr>
            <p:cNvSpPr/>
            <p:nvPr/>
          </p:nvSpPr>
          <p:spPr>
            <a:xfrm>
              <a:off x="412776" y="2636520"/>
              <a:ext cx="1621517" cy="312420"/>
            </a:xfrm>
            <a:prstGeom prst="round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C22C97A-63BA-BBA1-C939-86F8FE2E10F1}"/>
                    </a:ext>
                  </a:extLst>
                </p:cNvPr>
                <p:cNvSpPr txBox="1"/>
                <p:nvPr/>
              </p:nvSpPr>
              <p:spPr>
                <a:xfrm>
                  <a:off x="431348" y="2661999"/>
                  <a:ext cx="1584372" cy="246221"/>
                </a:xfrm>
                <a:prstGeom prst="rect">
                  <a:avLst/>
                </a:prstGeom>
                <a:noFill/>
                <a:ln w="12700">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rgbClr val="FF0000"/>
                                </a:solidFill>
                                <a:latin typeface="Cambria Math" panose="02040503050406030204" pitchFamily="18" charset="0"/>
                              </a:rPr>
                            </m:ctrlPr>
                          </m:sSubPr>
                          <m:e>
                            <m:acc>
                              <m:accPr>
                                <m:chr m:val="̈"/>
                                <m:ctrlPr>
                                  <a:rPr lang="en-US" sz="1600" b="0" i="1" smtClean="0">
                                    <a:solidFill>
                                      <a:srgbClr val="FF0000"/>
                                    </a:solidFill>
                                    <a:latin typeface="Cambria Math" panose="02040503050406030204" pitchFamily="18" charset="0"/>
                                  </a:rPr>
                                </m:ctrlPr>
                              </m:accPr>
                              <m:e>
                                <m:r>
                                  <a:rPr lang="en-US" sz="1600" b="0" i="1" smtClean="0">
                                    <a:solidFill>
                                      <a:srgbClr val="FF0000"/>
                                    </a:solidFill>
                                    <a:latin typeface="Cambria Math" panose="02040503050406030204" pitchFamily="18" charset="0"/>
                                  </a:rPr>
                                  <m:t>𝑝</m:t>
                                </m:r>
                              </m:e>
                            </m:acc>
                          </m:e>
                          <m:sub>
                            <m:r>
                              <a:rPr lang="en-US" sz="1600" b="0" i="1" smtClean="0">
                                <a:solidFill>
                                  <a:srgbClr val="FF0000"/>
                                </a:solidFill>
                                <a:latin typeface="Cambria Math" panose="02040503050406030204" pitchFamily="18" charset="0"/>
                              </a:rPr>
                              <m:t>𝑖</m:t>
                            </m:r>
                          </m:sub>
                        </m:sSub>
                        <m:d>
                          <m:dPr>
                            <m:ctrlPr>
                              <a:rPr lang="en-US" sz="1600" b="0" i="1" smtClean="0">
                                <a:solidFill>
                                  <a:srgbClr val="FF0000"/>
                                </a:solidFill>
                                <a:latin typeface="Cambria Math" panose="02040503050406030204" pitchFamily="18" charset="0"/>
                              </a:rPr>
                            </m:ctrlPr>
                          </m:dPr>
                          <m:e>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𝑇</m:t>
                                </m:r>
                              </m:e>
                              <m:sub>
                                <m:r>
                                  <a:rPr lang="en-US" sz="1600" b="0" i="1" smtClean="0">
                                    <a:solidFill>
                                      <a:srgbClr val="FF0000"/>
                                    </a:solidFill>
                                    <a:latin typeface="Cambria Math" panose="02040503050406030204" pitchFamily="18" charset="0"/>
                                  </a:rPr>
                                  <m:t>𝑖</m:t>
                                </m:r>
                                <m:r>
                                  <a:rPr lang="en-US" sz="1600" b="0" i="1" smtClean="0">
                                    <a:solidFill>
                                      <a:srgbClr val="FF0000"/>
                                    </a:solidFill>
                                    <a:latin typeface="Cambria Math" panose="02040503050406030204" pitchFamily="18" charset="0"/>
                                  </a:rPr>
                                  <m:t>+1</m:t>
                                </m:r>
                              </m:sub>
                            </m:sSub>
                          </m:e>
                        </m:d>
                        <m:r>
                          <a:rPr lang="en-US" sz="1600" b="0" i="1" smtClean="0">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acc>
                              <m:accPr>
                                <m:chr m:val="̈"/>
                                <m:ctrlPr>
                                  <a:rPr lang="en-US" sz="1600" i="1">
                                    <a:solidFill>
                                      <a:srgbClr val="FF0000"/>
                                    </a:solidFill>
                                    <a:latin typeface="Cambria Math" panose="02040503050406030204" pitchFamily="18" charset="0"/>
                                  </a:rPr>
                                </m:ctrlPr>
                              </m:accPr>
                              <m:e>
                                <m:r>
                                  <a:rPr lang="en-US" sz="1600" i="1">
                                    <a:solidFill>
                                      <a:srgbClr val="FF0000"/>
                                    </a:solidFill>
                                    <a:latin typeface="Cambria Math" panose="02040503050406030204" pitchFamily="18" charset="0"/>
                                  </a:rPr>
                                  <m:t>𝑝</m:t>
                                </m:r>
                              </m:e>
                            </m:acc>
                          </m:e>
                          <m:sub>
                            <m:r>
                              <a:rPr lang="en-US" sz="1600" b="0" i="1" smtClean="0">
                                <a:solidFill>
                                  <a:srgbClr val="FF0000"/>
                                </a:solidFill>
                                <a:latin typeface="Cambria Math" panose="02040503050406030204" pitchFamily="18" charset="0"/>
                              </a:rPr>
                              <m:t>𝑖</m:t>
                            </m:r>
                            <m:r>
                              <a:rPr lang="en-US" sz="1600" b="0" i="1" smtClean="0">
                                <a:solidFill>
                                  <a:srgbClr val="FF0000"/>
                                </a:solidFill>
                                <a:latin typeface="Cambria Math" panose="02040503050406030204" pitchFamily="18" charset="0"/>
                              </a:rPr>
                              <m:t>+1</m:t>
                            </m:r>
                          </m:sub>
                        </m:sSub>
                        <m:d>
                          <m:dPr>
                            <m:ctrlPr>
                              <a:rPr lang="en-US" sz="1600" b="0" i="1" smtClean="0">
                                <a:solidFill>
                                  <a:srgbClr val="FF0000"/>
                                </a:solidFill>
                                <a:latin typeface="Cambria Math" panose="02040503050406030204" pitchFamily="18" charset="0"/>
                              </a:rPr>
                            </m:ctrlPr>
                          </m:dPr>
                          <m:e>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𝑇</m:t>
                                </m:r>
                              </m:e>
                              <m:sub>
                                <m:r>
                                  <a:rPr lang="en-US" sz="1600" b="0" i="1" smtClean="0">
                                    <a:solidFill>
                                      <a:srgbClr val="FF0000"/>
                                    </a:solidFill>
                                    <a:latin typeface="Cambria Math" panose="02040503050406030204" pitchFamily="18" charset="0"/>
                                  </a:rPr>
                                  <m:t>𝑖</m:t>
                                </m:r>
                                <m:r>
                                  <a:rPr lang="en-US" sz="1600" b="0" i="1" smtClean="0">
                                    <a:solidFill>
                                      <a:srgbClr val="FF0000"/>
                                    </a:solidFill>
                                    <a:latin typeface="Cambria Math" panose="02040503050406030204" pitchFamily="18" charset="0"/>
                                  </a:rPr>
                                  <m:t>+1</m:t>
                                </m:r>
                              </m:sub>
                            </m:sSub>
                          </m:e>
                        </m:d>
                      </m:oMath>
                    </m:oMathPara>
                  </a14:m>
                  <a:endParaRPr lang="en-US" sz="1600" b="0" dirty="0">
                    <a:solidFill>
                      <a:srgbClr val="FF0000"/>
                    </a:solidFill>
                  </a:endParaRPr>
                </a:p>
              </p:txBody>
            </p:sp>
          </mc:Choice>
          <mc:Fallback xmlns="">
            <p:sp>
              <p:nvSpPr>
                <p:cNvPr id="12" name="TextBox 11">
                  <a:extLst>
                    <a:ext uri="{FF2B5EF4-FFF2-40B4-BE49-F238E27FC236}">
                      <a16:creationId xmlns:a16="http://schemas.microsoft.com/office/drawing/2014/main" id="{EC22C97A-63BA-BBA1-C939-86F8FE2E10F1}"/>
                    </a:ext>
                  </a:extLst>
                </p:cNvPr>
                <p:cNvSpPr txBox="1">
                  <a:spLocks noRot="1" noChangeAspect="1" noMove="1" noResize="1" noEditPoints="1" noAdjustHandles="1" noChangeArrowheads="1" noChangeShapeType="1" noTextEdit="1"/>
                </p:cNvSpPr>
                <p:nvPr/>
              </p:nvSpPr>
              <p:spPr>
                <a:xfrm>
                  <a:off x="431348" y="2661999"/>
                  <a:ext cx="1584372" cy="246221"/>
                </a:xfrm>
                <a:prstGeom prst="rect">
                  <a:avLst/>
                </a:prstGeom>
                <a:blipFill>
                  <a:blip r:embed="rId21"/>
                  <a:stretch>
                    <a:fillRect t="-2500" b="-27500"/>
                  </a:stretch>
                </a:blipFill>
                <a:ln w="12700">
                  <a:noFill/>
                </a:ln>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14202F27-AA8F-CA5C-943E-1D93BD18717F}"/>
                  </a:ext>
                </a:extLst>
              </p:cNvPr>
              <p:cNvSpPr txBox="1"/>
              <p:nvPr/>
            </p:nvSpPr>
            <p:spPr>
              <a:xfrm>
                <a:off x="9236405" y="1428697"/>
                <a:ext cx="2977228" cy="246221"/>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a:rPr lang="en-US" sz="1600" b="0" i="1" smtClean="0">
                          <a:solidFill>
                            <a:schemeClr val="tx2"/>
                          </a:solidFill>
                          <a:latin typeface="Cambria Math" panose="02040503050406030204" pitchFamily="18" charset="0"/>
                        </a:rPr>
                        <m:t>𝑝</m:t>
                      </m:r>
                      <m:d>
                        <m:dPr>
                          <m:ctrlPr>
                            <a:rPr lang="en-US" sz="1600" b="0" i="1" smtClean="0">
                              <a:solidFill>
                                <a:schemeClr val="tx2"/>
                              </a:solidFill>
                              <a:latin typeface="Cambria Math" panose="02040503050406030204" pitchFamily="18" charset="0"/>
                            </a:rPr>
                          </m:ctrlPr>
                        </m:dPr>
                        <m:e>
                          <m:r>
                            <a:rPr lang="en-US" sz="1600" b="0" i="1" smtClean="0">
                              <a:solidFill>
                                <a:schemeClr val="tx2"/>
                              </a:solidFill>
                              <a:latin typeface="Cambria Math" panose="02040503050406030204" pitchFamily="18" charset="0"/>
                            </a:rPr>
                            <m:t>𝑡</m:t>
                          </m:r>
                        </m:e>
                      </m:d>
                      <m:r>
                        <a:rPr lang="en-US" sz="1600" b="0" i="1" smtClean="0">
                          <a:solidFill>
                            <a:schemeClr val="tx2"/>
                          </a:solidFill>
                          <a:latin typeface="Cambria Math" panose="02040503050406030204" pitchFamily="18" charset="0"/>
                        </a:rPr>
                        <m:t>=</m:t>
                      </m:r>
                      <m:sSub>
                        <m:sSubPr>
                          <m:ctrlPr>
                            <a:rPr lang="en-US" sz="1600" b="0" i="1" smtClean="0">
                              <a:solidFill>
                                <a:schemeClr val="tx2"/>
                              </a:solidFill>
                              <a:latin typeface="Cambria Math" panose="02040503050406030204" pitchFamily="18" charset="0"/>
                            </a:rPr>
                          </m:ctrlPr>
                        </m:sSubPr>
                        <m:e>
                          <m:r>
                            <a:rPr lang="en-US" sz="1600" b="0" i="1" smtClean="0">
                              <a:solidFill>
                                <a:schemeClr val="tx2"/>
                              </a:solidFill>
                              <a:latin typeface="Cambria Math" panose="02040503050406030204" pitchFamily="18" charset="0"/>
                            </a:rPr>
                            <m:t>𝑎</m:t>
                          </m:r>
                        </m:e>
                        <m:sub>
                          <m:r>
                            <a:rPr lang="en-US" sz="1600" b="0" i="1" smtClean="0">
                              <a:solidFill>
                                <a:schemeClr val="tx2"/>
                              </a:solidFill>
                              <a:latin typeface="Cambria Math" panose="02040503050406030204" pitchFamily="18" charset="0"/>
                            </a:rPr>
                            <m:t>1</m:t>
                          </m:r>
                        </m:sub>
                      </m:sSub>
                      <m:r>
                        <a:rPr lang="en-US" sz="1600" b="0" i="1" smtClean="0">
                          <a:solidFill>
                            <a:schemeClr val="tx2"/>
                          </a:solidFill>
                          <a:latin typeface="Cambria Math" panose="02040503050406030204" pitchFamily="18" charset="0"/>
                        </a:rPr>
                        <m:t>+</m:t>
                      </m:r>
                      <m:sSub>
                        <m:sSubPr>
                          <m:ctrlPr>
                            <a:rPr lang="en-US" sz="1600" b="0" i="1" smtClean="0">
                              <a:solidFill>
                                <a:schemeClr val="tx2"/>
                              </a:solidFill>
                              <a:latin typeface="Cambria Math" panose="02040503050406030204" pitchFamily="18" charset="0"/>
                            </a:rPr>
                          </m:ctrlPr>
                        </m:sSubPr>
                        <m:e>
                          <m:r>
                            <a:rPr lang="en-US" sz="1600" b="0" i="1" smtClean="0">
                              <a:solidFill>
                                <a:schemeClr val="tx2"/>
                              </a:solidFill>
                              <a:latin typeface="Cambria Math" panose="02040503050406030204" pitchFamily="18" charset="0"/>
                            </a:rPr>
                            <m:t>𝑎</m:t>
                          </m:r>
                        </m:e>
                        <m:sub>
                          <m:r>
                            <a:rPr lang="en-US" sz="1600" b="0" i="1" smtClean="0">
                              <a:solidFill>
                                <a:schemeClr val="tx2"/>
                              </a:solidFill>
                              <a:latin typeface="Cambria Math" panose="02040503050406030204" pitchFamily="18" charset="0"/>
                            </a:rPr>
                            <m:t>2</m:t>
                          </m:r>
                        </m:sub>
                      </m:sSub>
                      <m:r>
                        <a:rPr lang="en-US" sz="1600" b="0" i="1" smtClean="0">
                          <a:solidFill>
                            <a:schemeClr val="tx2"/>
                          </a:solidFill>
                          <a:latin typeface="Cambria Math" panose="02040503050406030204" pitchFamily="18" charset="0"/>
                        </a:rPr>
                        <m:t>𝑡</m:t>
                      </m:r>
                      <m:r>
                        <a:rPr lang="en-US" sz="1600" b="0" i="1" smtClean="0">
                          <a:solidFill>
                            <a:schemeClr val="tx2"/>
                          </a:solidFill>
                          <a:latin typeface="Cambria Math" panose="02040503050406030204" pitchFamily="18" charset="0"/>
                        </a:rPr>
                        <m:t>+</m:t>
                      </m:r>
                      <m:sSub>
                        <m:sSubPr>
                          <m:ctrlPr>
                            <a:rPr lang="en-US" sz="1600" b="0" i="1" smtClean="0">
                              <a:solidFill>
                                <a:schemeClr val="tx2"/>
                              </a:solidFill>
                              <a:latin typeface="Cambria Math" panose="02040503050406030204" pitchFamily="18" charset="0"/>
                            </a:rPr>
                          </m:ctrlPr>
                        </m:sSubPr>
                        <m:e>
                          <m:r>
                            <a:rPr lang="en-US" sz="1600" b="0" i="1" smtClean="0">
                              <a:solidFill>
                                <a:schemeClr val="tx2"/>
                              </a:solidFill>
                              <a:latin typeface="Cambria Math" panose="02040503050406030204" pitchFamily="18" charset="0"/>
                            </a:rPr>
                            <m:t>𝑎</m:t>
                          </m:r>
                        </m:e>
                        <m:sub>
                          <m:r>
                            <a:rPr lang="en-US" sz="1600" b="0" i="1" smtClean="0">
                              <a:solidFill>
                                <a:schemeClr val="tx2"/>
                              </a:solidFill>
                              <a:latin typeface="Cambria Math" panose="02040503050406030204" pitchFamily="18" charset="0"/>
                            </a:rPr>
                            <m:t>3</m:t>
                          </m:r>
                        </m:sub>
                      </m:sSub>
                      <m:sSup>
                        <m:sSupPr>
                          <m:ctrlPr>
                            <a:rPr lang="en-US" sz="1600" b="0" i="1" smtClean="0">
                              <a:solidFill>
                                <a:schemeClr val="tx2"/>
                              </a:solidFill>
                              <a:latin typeface="Cambria Math" panose="02040503050406030204" pitchFamily="18" charset="0"/>
                            </a:rPr>
                          </m:ctrlPr>
                        </m:sSupPr>
                        <m:e>
                          <m:r>
                            <a:rPr lang="en-US" sz="1600" b="0" i="1" smtClean="0">
                              <a:solidFill>
                                <a:schemeClr val="tx2"/>
                              </a:solidFill>
                              <a:latin typeface="Cambria Math" panose="02040503050406030204" pitchFamily="18" charset="0"/>
                            </a:rPr>
                            <m:t>𝑡</m:t>
                          </m:r>
                        </m:e>
                        <m:sup>
                          <m:r>
                            <a:rPr lang="en-US" sz="1600" b="0" i="1" smtClean="0">
                              <a:solidFill>
                                <a:schemeClr val="tx2"/>
                              </a:solidFill>
                              <a:latin typeface="Cambria Math" panose="02040503050406030204" pitchFamily="18" charset="0"/>
                            </a:rPr>
                            <m:t>2</m:t>
                          </m:r>
                        </m:sup>
                      </m:sSup>
                      <m:r>
                        <a:rPr lang="en-US" sz="1600" b="0" i="1" smtClean="0">
                          <a:solidFill>
                            <a:schemeClr val="tx2"/>
                          </a:solidFill>
                          <a:latin typeface="Cambria Math" panose="02040503050406030204" pitchFamily="18" charset="0"/>
                        </a:rPr>
                        <m:t>+</m:t>
                      </m:r>
                      <m:sSub>
                        <m:sSubPr>
                          <m:ctrlPr>
                            <a:rPr lang="en-US" sz="1600" b="0" i="1" smtClean="0">
                              <a:solidFill>
                                <a:schemeClr val="tx2"/>
                              </a:solidFill>
                              <a:latin typeface="Cambria Math" panose="02040503050406030204" pitchFamily="18" charset="0"/>
                            </a:rPr>
                          </m:ctrlPr>
                        </m:sSubPr>
                        <m:e>
                          <m:r>
                            <a:rPr lang="en-US" sz="1600" b="0" i="1" smtClean="0">
                              <a:solidFill>
                                <a:schemeClr val="tx2"/>
                              </a:solidFill>
                              <a:latin typeface="Cambria Math" panose="02040503050406030204" pitchFamily="18" charset="0"/>
                            </a:rPr>
                            <m:t>𝑎</m:t>
                          </m:r>
                        </m:e>
                        <m:sub>
                          <m:r>
                            <a:rPr lang="en-US" sz="1600" b="0" i="1" smtClean="0">
                              <a:solidFill>
                                <a:schemeClr val="tx2"/>
                              </a:solidFill>
                              <a:latin typeface="Cambria Math" panose="02040503050406030204" pitchFamily="18" charset="0"/>
                            </a:rPr>
                            <m:t>4</m:t>
                          </m:r>
                        </m:sub>
                      </m:sSub>
                      <m:sSup>
                        <m:sSupPr>
                          <m:ctrlPr>
                            <a:rPr lang="en-US" sz="1600" b="0" i="1" smtClean="0">
                              <a:solidFill>
                                <a:schemeClr val="tx2"/>
                              </a:solidFill>
                              <a:latin typeface="Cambria Math" panose="02040503050406030204" pitchFamily="18" charset="0"/>
                            </a:rPr>
                          </m:ctrlPr>
                        </m:sSupPr>
                        <m:e>
                          <m:r>
                            <a:rPr lang="en-US" sz="1600" b="0" i="1" smtClean="0">
                              <a:solidFill>
                                <a:schemeClr val="tx2"/>
                              </a:solidFill>
                              <a:latin typeface="Cambria Math" panose="02040503050406030204" pitchFamily="18" charset="0"/>
                            </a:rPr>
                            <m:t>𝑡</m:t>
                          </m:r>
                        </m:e>
                        <m:sup>
                          <m:r>
                            <a:rPr lang="en-US" sz="1600" b="0" i="1" smtClean="0">
                              <a:solidFill>
                                <a:schemeClr val="tx2"/>
                              </a:solidFill>
                              <a:latin typeface="Cambria Math" panose="02040503050406030204" pitchFamily="18" charset="0"/>
                            </a:rPr>
                            <m:t>3</m:t>
                          </m:r>
                        </m:sup>
                      </m:sSup>
                    </m:oMath>
                  </m:oMathPara>
                </a14:m>
                <a:endParaRPr lang="en-GB" sz="1600" dirty="0">
                  <a:solidFill>
                    <a:schemeClr val="tx2"/>
                  </a:solidFill>
                </a:endParaRPr>
              </a:p>
            </p:txBody>
          </p:sp>
        </mc:Choice>
        <mc:Fallback xmlns="">
          <p:sp>
            <p:nvSpPr>
              <p:cNvPr id="46" name="TextBox 45">
                <a:extLst>
                  <a:ext uri="{FF2B5EF4-FFF2-40B4-BE49-F238E27FC236}">
                    <a16:creationId xmlns:a16="http://schemas.microsoft.com/office/drawing/2014/main" id="{14202F27-AA8F-CA5C-943E-1D93BD18717F}"/>
                  </a:ext>
                </a:extLst>
              </p:cNvPr>
              <p:cNvSpPr txBox="1">
                <a:spLocks noRot="1" noChangeAspect="1" noMove="1" noResize="1" noEditPoints="1" noAdjustHandles="1" noChangeArrowheads="1" noChangeShapeType="1" noTextEdit="1"/>
              </p:cNvSpPr>
              <p:nvPr/>
            </p:nvSpPr>
            <p:spPr>
              <a:xfrm>
                <a:off x="9236405" y="1428697"/>
                <a:ext cx="2977228" cy="246221"/>
              </a:xfrm>
              <a:prstGeom prst="rect">
                <a:avLst/>
              </a:prstGeom>
              <a:blipFill>
                <a:blip r:embed="rId22"/>
                <a:stretch>
                  <a:fillRect b="-24390"/>
                </a:stretch>
              </a:blipFill>
            </p:spPr>
            <p:txBody>
              <a:bodyPr/>
              <a:lstStyle/>
              <a:p>
                <a:r>
                  <a:rPr lang="en-GB">
                    <a:noFill/>
                  </a:rPr>
                  <a:t> </a:t>
                </a:r>
              </a:p>
            </p:txBody>
          </p:sp>
        </mc:Fallback>
      </mc:AlternateContent>
      <p:sp>
        <p:nvSpPr>
          <p:cNvPr id="49" name="Rectangle: Rounded Corners 48">
            <a:extLst>
              <a:ext uri="{FF2B5EF4-FFF2-40B4-BE49-F238E27FC236}">
                <a16:creationId xmlns:a16="http://schemas.microsoft.com/office/drawing/2014/main" id="{4629B100-0085-AF55-550D-C74DC364DDA9}"/>
              </a:ext>
            </a:extLst>
          </p:cNvPr>
          <p:cNvSpPr/>
          <p:nvPr/>
        </p:nvSpPr>
        <p:spPr>
          <a:xfrm>
            <a:off x="8292352" y="338085"/>
            <a:ext cx="2303929" cy="622422"/>
          </a:xfrm>
          <a:prstGeom prst="roundRect">
            <a:avLst/>
          </a:prstGeom>
          <a:solidFill>
            <a:srgbClr val="CDDCF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CubicPolynomial</a:t>
            </a:r>
            <a:endParaRPr lang="en-GB" sz="1400" dirty="0">
              <a:solidFill>
                <a:srgbClr val="003399"/>
              </a:solidFill>
            </a:endParaRPr>
          </a:p>
        </p:txBody>
      </p:sp>
      <p:sp>
        <p:nvSpPr>
          <p:cNvPr id="52" name="Title 2">
            <a:extLst>
              <a:ext uri="{FF2B5EF4-FFF2-40B4-BE49-F238E27FC236}">
                <a16:creationId xmlns:a16="http://schemas.microsoft.com/office/drawing/2014/main" id="{B9CD8CF2-BF99-CF0D-0A4E-2A5B77713533}"/>
              </a:ext>
            </a:extLst>
          </p:cNvPr>
          <p:cNvSpPr>
            <a:spLocks noGrp="1"/>
          </p:cNvSpPr>
          <p:nvPr>
            <p:ph type="title"/>
          </p:nvPr>
        </p:nvSpPr>
        <p:spPr>
          <a:xfrm>
            <a:off x="412776" y="408519"/>
            <a:ext cx="11376025" cy="1065742"/>
          </a:xfrm>
        </p:spPr>
        <p:txBody>
          <a:bodyPr/>
          <a:lstStyle/>
          <a:p>
            <a:r>
              <a:rPr lang="de-AT" dirty="0"/>
              <a:t>Cubic Polynomial Algorithm</a:t>
            </a:r>
            <a:endParaRPr lang="en-GB" dirty="0"/>
          </a:p>
        </p:txBody>
      </p:sp>
      <p:cxnSp>
        <p:nvCxnSpPr>
          <p:cNvPr id="40" name="Straight Arrow Connector 39">
            <a:extLst>
              <a:ext uri="{FF2B5EF4-FFF2-40B4-BE49-F238E27FC236}">
                <a16:creationId xmlns:a16="http://schemas.microsoft.com/office/drawing/2014/main" id="{544C9471-7FDF-7516-D90A-48E39C6BC23C}"/>
              </a:ext>
            </a:extLst>
          </p:cNvPr>
          <p:cNvCxnSpPr>
            <a:cxnSpLocks/>
          </p:cNvCxnSpPr>
          <p:nvPr/>
        </p:nvCxnSpPr>
        <p:spPr>
          <a:xfrm>
            <a:off x="4273549" y="2743204"/>
            <a:ext cx="281625" cy="321449"/>
          </a:xfrm>
          <a:prstGeom prst="straightConnector1">
            <a:avLst/>
          </a:prstGeom>
          <a:ln w="28575">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0BBDF3B6-984E-FA58-44DC-22DCFD6470E6}"/>
                  </a:ext>
                </a:extLst>
              </p:cNvPr>
              <p:cNvSpPr txBox="1"/>
              <p:nvPr/>
            </p:nvSpPr>
            <p:spPr>
              <a:xfrm>
                <a:off x="4496718" y="2732092"/>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𝑃</m:t>
                          </m:r>
                        </m:e>
                        <m:sub>
                          <m:r>
                            <a:rPr lang="en-US" b="0" i="1" smtClean="0">
                              <a:solidFill>
                                <a:schemeClr val="tx2"/>
                              </a:solidFill>
                              <a:latin typeface="Cambria Math" panose="02040503050406030204" pitchFamily="18" charset="0"/>
                            </a:rPr>
                            <m:t>2</m:t>
                          </m:r>
                        </m:sub>
                      </m:sSub>
                    </m:oMath>
                  </m:oMathPara>
                </a14:m>
                <a:endParaRPr lang="en-GB" dirty="0">
                  <a:solidFill>
                    <a:schemeClr val="tx2"/>
                  </a:solidFill>
                </a:endParaRPr>
              </a:p>
            </p:txBody>
          </p:sp>
        </mc:Choice>
        <mc:Fallback xmlns="">
          <p:sp>
            <p:nvSpPr>
              <p:cNvPr id="43" name="TextBox 42">
                <a:extLst>
                  <a:ext uri="{FF2B5EF4-FFF2-40B4-BE49-F238E27FC236}">
                    <a16:creationId xmlns:a16="http://schemas.microsoft.com/office/drawing/2014/main" id="{0BBDF3B6-984E-FA58-44DC-22DCFD6470E6}"/>
                  </a:ext>
                </a:extLst>
              </p:cNvPr>
              <p:cNvSpPr txBox="1">
                <a:spLocks noRot="1" noChangeAspect="1" noMove="1" noResize="1" noEditPoints="1" noAdjustHandles="1" noChangeArrowheads="1" noChangeShapeType="1" noTextEdit="1"/>
              </p:cNvSpPr>
              <p:nvPr/>
            </p:nvSpPr>
            <p:spPr>
              <a:xfrm>
                <a:off x="4496718" y="2732092"/>
                <a:ext cx="424873" cy="276999"/>
              </a:xfrm>
              <a:prstGeom prst="rect">
                <a:avLst/>
              </a:prstGeom>
              <a:blipFill>
                <a:blip r:embed="rId23"/>
                <a:stretch>
                  <a:fillRect b="-17391"/>
                </a:stretch>
              </a:blipFill>
            </p:spPr>
            <p:txBody>
              <a:bodyPr/>
              <a:lstStyle/>
              <a:p>
                <a:r>
                  <a:rPr lang="en-GB">
                    <a:noFill/>
                  </a:rPr>
                  <a:t> </a:t>
                </a:r>
              </a:p>
            </p:txBody>
          </p:sp>
        </mc:Fallback>
      </mc:AlternateContent>
      <p:cxnSp>
        <p:nvCxnSpPr>
          <p:cNvPr id="54" name="Straight Arrow Connector 53">
            <a:extLst>
              <a:ext uri="{FF2B5EF4-FFF2-40B4-BE49-F238E27FC236}">
                <a16:creationId xmlns:a16="http://schemas.microsoft.com/office/drawing/2014/main" id="{20410837-A916-084F-44C9-D6AF9A565A80}"/>
              </a:ext>
            </a:extLst>
          </p:cNvPr>
          <p:cNvCxnSpPr>
            <a:cxnSpLocks/>
          </p:cNvCxnSpPr>
          <p:nvPr/>
        </p:nvCxnSpPr>
        <p:spPr>
          <a:xfrm>
            <a:off x="4548642" y="3059809"/>
            <a:ext cx="281625" cy="321449"/>
          </a:xfrm>
          <a:prstGeom prst="straightConnector1">
            <a:avLst/>
          </a:prstGeom>
          <a:ln w="28575">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98970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25</a:t>
            </a:fld>
            <a:endParaRPr lang="en-US" dirty="0"/>
          </a:p>
        </p:txBody>
      </p:sp>
      <p:pic>
        <p:nvPicPr>
          <p:cNvPr id="8" name="Picture 7">
            <a:extLst>
              <a:ext uri="{FF2B5EF4-FFF2-40B4-BE49-F238E27FC236}">
                <a16:creationId xmlns:a16="http://schemas.microsoft.com/office/drawing/2014/main" id="{B7C62E76-168C-FDCE-A548-98936FF2A86A}"/>
              </a:ext>
            </a:extLst>
          </p:cNvPr>
          <p:cNvPicPr>
            <a:picLocks noChangeAspect="1"/>
          </p:cNvPicPr>
          <p:nvPr/>
        </p:nvPicPr>
        <p:blipFill rotWithShape="1">
          <a:blip r:embed="rId3"/>
          <a:srcRect l="5982" t="3899" r="3838" b="67773"/>
          <a:stretch/>
        </p:blipFill>
        <p:spPr>
          <a:xfrm>
            <a:off x="2281381" y="1149087"/>
            <a:ext cx="7379856" cy="4172785"/>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895BDE9-01C3-C791-ECF6-9C18D726A380}"/>
                  </a:ext>
                </a:extLst>
              </p:cNvPr>
              <p:cNvSpPr txBox="1"/>
              <p:nvPr/>
            </p:nvSpPr>
            <p:spPr>
              <a:xfrm>
                <a:off x="2890983" y="5183372"/>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𝑇</m:t>
                          </m:r>
                        </m:e>
                        <m:sub>
                          <m:r>
                            <a:rPr lang="en-US" b="0" i="1" smtClean="0">
                              <a:solidFill>
                                <a:schemeClr val="tx2"/>
                              </a:solidFill>
                              <a:latin typeface="Cambria Math" panose="02040503050406030204" pitchFamily="18" charset="0"/>
                            </a:rPr>
                            <m:t>1</m:t>
                          </m:r>
                        </m:sub>
                      </m:sSub>
                    </m:oMath>
                  </m:oMathPara>
                </a14:m>
                <a:endParaRPr lang="en-GB" dirty="0">
                  <a:solidFill>
                    <a:schemeClr val="tx2"/>
                  </a:solidFill>
                </a:endParaRPr>
              </a:p>
            </p:txBody>
          </p:sp>
        </mc:Choice>
        <mc:Fallback xmlns="">
          <p:sp>
            <p:nvSpPr>
              <p:cNvPr id="10" name="TextBox 9">
                <a:extLst>
                  <a:ext uri="{FF2B5EF4-FFF2-40B4-BE49-F238E27FC236}">
                    <a16:creationId xmlns:a16="http://schemas.microsoft.com/office/drawing/2014/main" id="{6895BDE9-01C3-C791-ECF6-9C18D726A380}"/>
                  </a:ext>
                </a:extLst>
              </p:cNvPr>
              <p:cNvSpPr txBox="1">
                <a:spLocks noRot="1" noChangeAspect="1" noMove="1" noResize="1" noEditPoints="1" noAdjustHandles="1" noChangeArrowheads="1" noChangeShapeType="1" noTextEdit="1"/>
              </p:cNvSpPr>
              <p:nvPr/>
            </p:nvSpPr>
            <p:spPr>
              <a:xfrm>
                <a:off x="2890983" y="5183372"/>
                <a:ext cx="424873" cy="276999"/>
              </a:xfrm>
              <a:prstGeom prst="rect">
                <a:avLst/>
              </a:prstGeom>
              <a:blipFill>
                <a:blip r:embed="rId4"/>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B068AC-5C5A-8B8E-FBDC-16F9AFD787A3}"/>
                  </a:ext>
                </a:extLst>
              </p:cNvPr>
              <p:cNvSpPr txBox="1"/>
              <p:nvPr/>
            </p:nvSpPr>
            <p:spPr>
              <a:xfrm>
                <a:off x="4345707" y="5183105"/>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𝑇</m:t>
                          </m:r>
                        </m:e>
                        <m:sub>
                          <m:r>
                            <a:rPr lang="en-US" b="0" i="1" smtClean="0">
                              <a:solidFill>
                                <a:schemeClr val="tx2"/>
                              </a:solidFill>
                              <a:latin typeface="Cambria Math" panose="02040503050406030204" pitchFamily="18" charset="0"/>
                            </a:rPr>
                            <m:t>2</m:t>
                          </m:r>
                        </m:sub>
                      </m:sSub>
                    </m:oMath>
                  </m:oMathPara>
                </a14:m>
                <a:endParaRPr lang="en-GB" dirty="0">
                  <a:solidFill>
                    <a:schemeClr val="tx2"/>
                  </a:solidFill>
                </a:endParaRPr>
              </a:p>
            </p:txBody>
          </p:sp>
        </mc:Choice>
        <mc:Fallback xmlns="">
          <p:sp>
            <p:nvSpPr>
              <p:cNvPr id="11" name="TextBox 10">
                <a:extLst>
                  <a:ext uri="{FF2B5EF4-FFF2-40B4-BE49-F238E27FC236}">
                    <a16:creationId xmlns:a16="http://schemas.microsoft.com/office/drawing/2014/main" id="{EDB068AC-5C5A-8B8E-FBDC-16F9AFD787A3}"/>
                  </a:ext>
                </a:extLst>
              </p:cNvPr>
              <p:cNvSpPr txBox="1">
                <a:spLocks noRot="1" noChangeAspect="1" noMove="1" noResize="1" noEditPoints="1" noAdjustHandles="1" noChangeArrowheads="1" noChangeShapeType="1" noTextEdit="1"/>
              </p:cNvSpPr>
              <p:nvPr/>
            </p:nvSpPr>
            <p:spPr>
              <a:xfrm>
                <a:off x="4345707" y="5183105"/>
                <a:ext cx="424873" cy="276999"/>
              </a:xfrm>
              <a:prstGeom prst="rect">
                <a:avLst/>
              </a:prstGeom>
              <a:blipFill>
                <a:blip r:embed="rId5"/>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2A9F42A-BA0C-B5EA-AC2A-B313231783B2}"/>
                  </a:ext>
                </a:extLst>
              </p:cNvPr>
              <p:cNvSpPr txBox="1"/>
              <p:nvPr/>
            </p:nvSpPr>
            <p:spPr>
              <a:xfrm>
                <a:off x="7216903" y="5182930"/>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𝑇</m:t>
                          </m:r>
                        </m:e>
                        <m:sub>
                          <m:r>
                            <a:rPr lang="en-US" b="0" i="1" smtClean="0">
                              <a:solidFill>
                                <a:schemeClr val="tx2"/>
                              </a:solidFill>
                              <a:latin typeface="Cambria Math" panose="02040503050406030204" pitchFamily="18" charset="0"/>
                            </a:rPr>
                            <m:t>4</m:t>
                          </m:r>
                        </m:sub>
                      </m:sSub>
                    </m:oMath>
                  </m:oMathPara>
                </a14:m>
                <a:endParaRPr lang="en-GB" dirty="0">
                  <a:solidFill>
                    <a:schemeClr val="tx2"/>
                  </a:solidFill>
                </a:endParaRPr>
              </a:p>
            </p:txBody>
          </p:sp>
        </mc:Choice>
        <mc:Fallback xmlns="">
          <p:sp>
            <p:nvSpPr>
              <p:cNvPr id="13" name="TextBox 12">
                <a:extLst>
                  <a:ext uri="{FF2B5EF4-FFF2-40B4-BE49-F238E27FC236}">
                    <a16:creationId xmlns:a16="http://schemas.microsoft.com/office/drawing/2014/main" id="{02A9F42A-BA0C-B5EA-AC2A-B313231783B2}"/>
                  </a:ext>
                </a:extLst>
              </p:cNvPr>
              <p:cNvSpPr txBox="1">
                <a:spLocks noRot="1" noChangeAspect="1" noMove="1" noResize="1" noEditPoints="1" noAdjustHandles="1" noChangeArrowheads="1" noChangeShapeType="1" noTextEdit="1"/>
              </p:cNvSpPr>
              <p:nvPr/>
            </p:nvSpPr>
            <p:spPr>
              <a:xfrm>
                <a:off x="7216903" y="5182930"/>
                <a:ext cx="424873" cy="276999"/>
              </a:xfrm>
              <a:prstGeom prst="rect">
                <a:avLst/>
              </a:prstGeom>
              <a:blipFill>
                <a:blip r:embed="rId6"/>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77EF17F-3904-74F8-27F4-046C3FA94068}"/>
                  </a:ext>
                </a:extLst>
              </p:cNvPr>
              <p:cNvSpPr txBox="1"/>
              <p:nvPr/>
            </p:nvSpPr>
            <p:spPr>
              <a:xfrm>
                <a:off x="8654312" y="5182929"/>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𝑇</m:t>
                          </m:r>
                        </m:e>
                        <m:sub>
                          <m:r>
                            <a:rPr lang="en-US" b="0" i="1" smtClean="0">
                              <a:solidFill>
                                <a:schemeClr val="tx2"/>
                              </a:solidFill>
                              <a:latin typeface="Cambria Math" panose="02040503050406030204" pitchFamily="18" charset="0"/>
                            </a:rPr>
                            <m:t>5</m:t>
                          </m:r>
                        </m:sub>
                      </m:sSub>
                    </m:oMath>
                  </m:oMathPara>
                </a14:m>
                <a:endParaRPr lang="en-GB" dirty="0">
                  <a:solidFill>
                    <a:schemeClr val="tx2"/>
                  </a:solidFill>
                </a:endParaRPr>
              </a:p>
            </p:txBody>
          </p:sp>
        </mc:Choice>
        <mc:Fallback xmlns="">
          <p:sp>
            <p:nvSpPr>
              <p:cNvPr id="14" name="TextBox 13">
                <a:extLst>
                  <a:ext uri="{FF2B5EF4-FFF2-40B4-BE49-F238E27FC236}">
                    <a16:creationId xmlns:a16="http://schemas.microsoft.com/office/drawing/2014/main" id="{C77EF17F-3904-74F8-27F4-046C3FA94068}"/>
                  </a:ext>
                </a:extLst>
              </p:cNvPr>
              <p:cNvSpPr txBox="1">
                <a:spLocks noRot="1" noChangeAspect="1" noMove="1" noResize="1" noEditPoints="1" noAdjustHandles="1" noChangeArrowheads="1" noChangeShapeType="1" noTextEdit="1"/>
              </p:cNvSpPr>
              <p:nvPr/>
            </p:nvSpPr>
            <p:spPr>
              <a:xfrm>
                <a:off x="8654312" y="5182929"/>
                <a:ext cx="424873" cy="276999"/>
              </a:xfrm>
              <a:prstGeom prst="rect">
                <a:avLst/>
              </a:prstGeom>
              <a:blipFill>
                <a:blip r:embed="rId7"/>
                <a:stretch>
                  <a:fillRect b="-17391"/>
                </a:stretch>
              </a:blipFill>
            </p:spPr>
            <p:txBody>
              <a:bodyPr/>
              <a:lstStyle/>
              <a:p>
                <a:r>
                  <a:rPr lang="en-GB">
                    <a:noFill/>
                  </a:rPr>
                  <a:t> </a:t>
                </a:r>
              </a:p>
            </p:txBody>
          </p:sp>
        </mc:Fallback>
      </mc:AlternateContent>
      <p:sp>
        <p:nvSpPr>
          <p:cNvPr id="16" name="Left Brace 15">
            <a:extLst>
              <a:ext uri="{FF2B5EF4-FFF2-40B4-BE49-F238E27FC236}">
                <a16:creationId xmlns:a16="http://schemas.microsoft.com/office/drawing/2014/main" id="{80F08AAC-EE95-80CB-929F-F6DD7C182CF0}"/>
              </a:ext>
            </a:extLst>
          </p:cNvPr>
          <p:cNvSpPr/>
          <p:nvPr/>
        </p:nvSpPr>
        <p:spPr>
          <a:xfrm rot="16200000">
            <a:off x="3690227" y="4857546"/>
            <a:ext cx="271137" cy="1475903"/>
          </a:xfrm>
          <a:prstGeom prst="leftBrace">
            <a:avLst/>
          </a:prstGeom>
          <a:ln>
            <a:solidFill>
              <a:srgbClr val="30303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3" name="Left Brace 22">
            <a:extLst>
              <a:ext uri="{FF2B5EF4-FFF2-40B4-BE49-F238E27FC236}">
                <a16:creationId xmlns:a16="http://schemas.microsoft.com/office/drawing/2014/main" id="{FFCF4BF6-1390-F75B-E856-950D27890B01}"/>
              </a:ext>
            </a:extLst>
          </p:cNvPr>
          <p:cNvSpPr/>
          <p:nvPr/>
        </p:nvSpPr>
        <p:spPr>
          <a:xfrm rot="16200000">
            <a:off x="5130099" y="4894018"/>
            <a:ext cx="270695" cy="1403399"/>
          </a:xfrm>
          <a:prstGeom prst="leftBrace">
            <a:avLst/>
          </a:prstGeom>
          <a:ln>
            <a:solidFill>
              <a:srgbClr val="30303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4" name="Left Brace 23">
            <a:extLst>
              <a:ext uri="{FF2B5EF4-FFF2-40B4-BE49-F238E27FC236}">
                <a16:creationId xmlns:a16="http://schemas.microsoft.com/office/drawing/2014/main" id="{9945BCB2-6066-A680-F595-AC8B663D5059}"/>
              </a:ext>
            </a:extLst>
          </p:cNvPr>
          <p:cNvSpPr/>
          <p:nvPr/>
        </p:nvSpPr>
        <p:spPr>
          <a:xfrm rot="16200000">
            <a:off x="6571394" y="4857546"/>
            <a:ext cx="271137" cy="1475904"/>
          </a:xfrm>
          <a:prstGeom prst="leftBrace">
            <a:avLst/>
          </a:prstGeom>
          <a:ln>
            <a:solidFill>
              <a:srgbClr val="30303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6" name="Left Brace 25">
            <a:extLst>
              <a:ext uri="{FF2B5EF4-FFF2-40B4-BE49-F238E27FC236}">
                <a16:creationId xmlns:a16="http://schemas.microsoft.com/office/drawing/2014/main" id="{F59322BC-E92B-AE5A-E0EF-73C85A9F3C96}"/>
              </a:ext>
            </a:extLst>
          </p:cNvPr>
          <p:cNvSpPr/>
          <p:nvPr/>
        </p:nvSpPr>
        <p:spPr>
          <a:xfrm rot="16200000">
            <a:off x="8008292" y="4889183"/>
            <a:ext cx="278506" cy="1405261"/>
          </a:xfrm>
          <a:prstGeom prst="leftBrace">
            <a:avLst/>
          </a:prstGeom>
          <a:ln>
            <a:solidFill>
              <a:srgbClr val="30303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4866DD2F-E681-1BCB-4F30-1E26F7C05A4B}"/>
                  </a:ext>
                </a:extLst>
              </p:cNvPr>
              <p:cNvSpPr txBox="1"/>
              <p:nvPr/>
            </p:nvSpPr>
            <p:spPr>
              <a:xfrm>
                <a:off x="2775530" y="4397590"/>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𝑃</m:t>
                          </m:r>
                        </m:e>
                        <m:sub>
                          <m:r>
                            <a:rPr lang="en-US" b="0" i="1" smtClean="0">
                              <a:solidFill>
                                <a:schemeClr val="tx2"/>
                              </a:solidFill>
                              <a:latin typeface="Cambria Math" panose="02040503050406030204" pitchFamily="18" charset="0"/>
                            </a:rPr>
                            <m:t>1</m:t>
                          </m:r>
                        </m:sub>
                      </m:sSub>
                    </m:oMath>
                  </m:oMathPara>
                </a14:m>
                <a:endParaRPr lang="en-GB" dirty="0">
                  <a:solidFill>
                    <a:schemeClr val="tx2"/>
                  </a:solidFill>
                </a:endParaRPr>
              </a:p>
            </p:txBody>
          </p:sp>
        </mc:Choice>
        <mc:Fallback xmlns="">
          <p:sp>
            <p:nvSpPr>
              <p:cNvPr id="27" name="TextBox 26">
                <a:extLst>
                  <a:ext uri="{FF2B5EF4-FFF2-40B4-BE49-F238E27FC236}">
                    <a16:creationId xmlns:a16="http://schemas.microsoft.com/office/drawing/2014/main" id="{4866DD2F-E681-1BCB-4F30-1E26F7C05A4B}"/>
                  </a:ext>
                </a:extLst>
              </p:cNvPr>
              <p:cNvSpPr txBox="1">
                <a:spLocks noRot="1" noChangeAspect="1" noMove="1" noResize="1" noEditPoints="1" noAdjustHandles="1" noChangeArrowheads="1" noChangeShapeType="1" noTextEdit="1"/>
              </p:cNvSpPr>
              <p:nvPr/>
            </p:nvSpPr>
            <p:spPr>
              <a:xfrm>
                <a:off x="2775530" y="4397590"/>
                <a:ext cx="424873" cy="276999"/>
              </a:xfrm>
              <a:prstGeom prst="rect">
                <a:avLst/>
              </a:prstGeom>
              <a:blipFill>
                <a:blip r:embed="rId8"/>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72B0CB2-9E64-7599-F620-F0F7DEB274DB}"/>
                  </a:ext>
                </a:extLst>
              </p:cNvPr>
              <p:cNvSpPr txBox="1"/>
              <p:nvPr/>
            </p:nvSpPr>
            <p:spPr>
              <a:xfrm>
                <a:off x="5922831" y="4379118"/>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𝑃</m:t>
                          </m:r>
                        </m:e>
                        <m:sub>
                          <m:r>
                            <a:rPr lang="en-US" b="0" i="1" smtClean="0">
                              <a:solidFill>
                                <a:schemeClr val="tx2"/>
                              </a:solidFill>
                              <a:latin typeface="Cambria Math" panose="02040503050406030204" pitchFamily="18" charset="0"/>
                            </a:rPr>
                            <m:t>3</m:t>
                          </m:r>
                        </m:sub>
                      </m:sSub>
                    </m:oMath>
                  </m:oMathPara>
                </a14:m>
                <a:endParaRPr lang="en-GB" dirty="0">
                  <a:solidFill>
                    <a:schemeClr val="tx2"/>
                  </a:solidFill>
                </a:endParaRPr>
              </a:p>
            </p:txBody>
          </p:sp>
        </mc:Choice>
        <mc:Fallback xmlns="">
          <p:sp>
            <p:nvSpPr>
              <p:cNvPr id="29" name="TextBox 28">
                <a:extLst>
                  <a:ext uri="{FF2B5EF4-FFF2-40B4-BE49-F238E27FC236}">
                    <a16:creationId xmlns:a16="http://schemas.microsoft.com/office/drawing/2014/main" id="{D72B0CB2-9E64-7599-F620-F0F7DEB274DB}"/>
                  </a:ext>
                </a:extLst>
              </p:cNvPr>
              <p:cNvSpPr txBox="1">
                <a:spLocks noRot="1" noChangeAspect="1" noMove="1" noResize="1" noEditPoints="1" noAdjustHandles="1" noChangeArrowheads="1" noChangeShapeType="1" noTextEdit="1"/>
              </p:cNvSpPr>
              <p:nvPr/>
            </p:nvSpPr>
            <p:spPr>
              <a:xfrm>
                <a:off x="5922831" y="4379118"/>
                <a:ext cx="424873" cy="276999"/>
              </a:xfrm>
              <a:prstGeom prst="rect">
                <a:avLst/>
              </a:prstGeom>
              <a:blipFill>
                <a:blip r:embed="rId9"/>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501D573-D7A4-1616-D81F-40AD367A4A6E}"/>
                  </a:ext>
                </a:extLst>
              </p:cNvPr>
              <p:cNvSpPr txBox="1"/>
              <p:nvPr/>
            </p:nvSpPr>
            <p:spPr>
              <a:xfrm>
                <a:off x="7203051" y="1376140"/>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𝑃</m:t>
                          </m:r>
                        </m:e>
                        <m:sub>
                          <m:r>
                            <a:rPr lang="en-US" b="0" i="1" smtClean="0">
                              <a:solidFill>
                                <a:schemeClr val="tx2"/>
                              </a:solidFill>
                              <a:latin typeface="Cambria Math" panose="02040503050406030204" pitchFamily="18" charset="0"/>
                            </a:rPr>
                            <m:t>4</m:t>
                          </m:r>
                        </m:sub>
                      </m:sSub>
                    </m:oMath>
                  </m:oMathPara>
                </a14:m>
                <a:endParaRPr lang="en-GB" dirty="0">
                  <a:solidFill>
                    <a:schemeClr val="tx2"/>
                  </a:solidFill>
                </a:endParaRPr>
              </a:p>
            </p:txBody>
          </p:sp>
        </mc:Choice>
        <mc:Fallback xmlns="">
          <p:sp>
            <p:nvSpPr>
              <p:cNvPr id="30" name="TextBox 29">
                <a:extLst>
                  <a:ext uri="{FF2B5EF4-FFF2-40B4-BE49-F238E27FC236}">
                    <a16:creationId xmlns:a16="http://schemas.microsoft.com/office/drawing/2014/main" id="{C501D573-D7A4-1616-D81F-40AD367A4A6E}"/>
                  </a:ext>
                </a:extLst>
              </p:cNvPr>
              <p:cNvSpPr txBox="1">
                <a:spLocks noRot="1" noChangeAspect="1" noMove="1" noResize="1" noEditPoints="1" noAdjustHandles="1" noChangeArrowheads="1" noChangeShapeType="1" noTextEdit="1"/>
              </p:cNvSpPr>
              <p:nvPr/>
            </p:nvSpPr>
            <p:spPr>
              <a:xfrm>
                <a:off x="7203051" y="1376140"/>
                <a:ext cx="424873" cy="276999"/>
              </a:xfrm>
              <a:prstGeom prst="rect">
                <a:avLst/>
              </a:prstGeom>
              <a:blipFill>
                <a:blip r:embed="rId10"/>
                <a:stretch>
                  <a:fillRect b="-1777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D65239CA-334D-74BE-292B-105D4B6AE772}"/>
                  </a:ext>
                </a:extLst>
              </p:cNvPr>
              <p:cNvSpPr txBox="1"/>
              <p:nvPr/>
            </p:nvSpPr>
            <p:spPr>
              <a:xfrm>
                <a:off x="8543638" y="3932292"/>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𝑃</m:t>
                          </m:r>
                        </m:e>
                        <m:sub>
                          <m:r>
                            <a:rPr lang="en-US" b="0" i="1" smtClean="0">
                              <a:solidFill>
                                <a:schemeClr val="tx2"/>
                              </a:solidFill>
                              <a:latin typeface="Cambria Math" panose="02040503050406030204" pitchFamily="18" charset="0"/>
                            </a:rPr>
                            <m:t>5</m:t>
                          </m:r>
                        </m:sub>
                      </m:sSub>
                    </m:oMath>
                  </m:oMathPara>
                </a14:m>
                <a:endParaRPr lang="en-GB" dirty="0">
                  <a:solidFill>
                    <a:schemeClr val="tx2"/>
                  </a:solidFill>
                </a:endParaRPr>
              </a:p>
            </p:txBody>
          </p:sp>
        </mc:Choice>
        <mc:Fallback xmlns="">
          <p:sp>
            <p:nvSpPr>
              <p:cNvPr id="31" name="TextBox 30">
                <a:extLst>
                  <a:ext uri="{FF2B5EF4-FFF2-40B4-BE49-F238E27FC236}">
                    <a16:creationId xmlns:a16="http://schemas.microsoft.com/office/drawing/2014/main" id="{D65239CA-334D-74BE-292B-105D4B6AE772}"/>
                  </a:ext>
                </a:extLst>
              </p:cNvPr>
              <p:cNvSpPr txBox="1">
                <a:spLocks noRot="1" noChangeAspect="1" noMove="1" noResize="1" noEditPoints="1" noAdjustHandles="1" noChangeArrowheads="1" noChangeShapeType="1" noTextEdit="1"/>
              </p:cNvSpPr>
              <p:nvPr/>
            </p:nvSpPr>
            <p:spPr>
              <a:xfrm>
                <a:off x="8543638" y="3932292"/>
                <a:ext cx="424873" cy="276999"/>
              </a:xfrm>
              <a:prstGeom prst="rect">
                <a:avLst/>
              </a:prstGeom>
              <a:blipFill>
                <a:blip r:embed="rId11"/>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4FC0201-330E-4218-1C83-2C673FD77614}"/>
                  </a:ext>
                </a:extLst>
              </p:cNvPr>
              <p:cNvSpPr txBox="1"/>
              <p:nvPr/>
            </p:nvSpPr>
            <p:spPr>
              <a:xfrm>
                <a:off x="3644737" y="5702691"/>
                <a:ext cx="338627"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𝑝</m:t>
                          </m:r>
                        </m:e>
                        <m:sub>
                          <m:r>
                            <a:rPr lang="en-US" sz="1400" b="0" i="1" smtClean="0">
                              <a:solidFill>
                                <a:schemeClr val="tx2"/>
                              </a:solidFill>
                              <a:latin typeface="Cambria Math" panose="02040503050406030204" pitchFamily="18" charset="0"/>
                            </a:rPr>
                            <m:t>1</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m:t>
                      </m:r>
                    </m:oMath>
                  </m:oMathPara>
                </a14:m>
                <a:endParaRPr lang="en-GB" sz="1400" dirty="0">
                  <a:solidFill>
                    <a:schemeClr val="tx2"/>
                  </a:solidFill>
                </a:endParaRPr>
              </a:p>
            </p:txBody>
          </p:sp>
        </mc:Choice>
        <mc:Fallback xmlns="">
          <p:sp>
            <p:nvSpPr>
              <p:cNvPr id="32" name="TextBox 31">
                <a:extLst>
                  <a:ext uri="{FF2B5EF4-FFF2-40B4-BE49-F238E27FC236}">
                    <a16:creationId xmlns:a16="http://schemas.microsoft.com/office/drawing/2014/main" id="{44FC0201-330E-4218-1C83-2C673FD77614}"/>
                  </a:ext>
                </a:extLst>
              </p:cNvPr>
              <p:cNvSpPr txBox="1">
                <a:spLocks noRot="1" noChangeAspect="1" noMove="1" noResize="1" noEditPoints="1" noAdjustHandles="1" noChangeArrowheads="1" noChangeShapeType="1" noTextEdit="1"/>
              </p:cNvSpPr>
              <p:nvPr/>
            </p:nvSpPr>
            <p:spPr>
              <a:xfrm>
                <a:off x="3644737" y="5702691"/>
                <a:ext cx="338627" cy="215444"/>
              </a:xfrm>
              <a:prstGeom prst="rect">
                <a:avLst/>
              </a:prstGeom>
              <a:blipFill>
                <a:blip r:embed="rId12"/>
                <a:stretch>
                  <a:fillRect l="-20000" r="-40000" b="-3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22B00216-C540-A3AF-338D-574E5DC22B48}"/>
                  </a:ext>
                </a:extLst>
              </p:cNvPr>
              <p:cNvSpPr txBox="1"/>
              <p:nvPr/>
            </p:nvSpPr>
            <p:spPr>
              <a:xfrm>
                <a:off x="5096133" y="5702691"/>
                <a:ext cx="338627"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𝑝</m:t>
                          </m:r>
                        </m:e>
                        <m:sub>
                          <m:r>
                            <a:rPr lang="en-US" sz="1400" b="0" i="1" smtClean="0">
                              <a:solidFill>
                                <a:schemeClr val="tx2"/>
                              </a:solidFill>
                              <a:latin typeface="Cambria Math" panose="02040503050406030204" pitchFamily="18" charset="0"/>
                            </a:rPr>
                            <m:t>2</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m:t>
                      </m:r>
                    </m:oMath>
                  </m:oMathPara>
                </a14:m>
                <a:endParaRPr lang="en-GB" sz="1400" dirty="0">
                  <a:solidFill>
                    <a:schemeClr val="tx2"/>
                  </a:solidFill>
                </a:endParaRPr>
              </a:p>
            </p:txBody>
          </p:sp>
        </mc:Choice>
        <mc:Fallback xmlns="">
          <p:sp>
            <p:nvSpPr>
              <p:cNvPr id="33" name="TextBox 32">
                <a:extLst>
                  <a:ext uri="{FF2B5EF4-FFF2-40B4-BE49-F238E27FC236}">
                    <a16:creationId xmlns:a16="http://schemas.microsoft.com/office/drawing/2014/main" id="{22B00216-C540-A3AF-338D-574E5DC22B48}"/>
                  </a:ext>
                </a:extLst>
              </p:cNvPr>
              <p:cNvSpPr txBox="1">
                <a:spLocks noRot="1" noChangeAspect="1" noMove="1" noResize="1" noEditPoints="1" noAdjustHandles="1" noChangeArrowheads="1" noChangeShapeType="1" noTextEdit="1"/>
              </p:cNvSpPr>
              <p:nvPr/>
            </p:nvSpPr>
            <p:spPr>
              <a:xfrm>
                <a:off x="5096133" y="5702691"/>
                <a:ext cx="338627" cy="215444"/>
              </a:xfrm>
              <a:prstGeom prst="rect">
                <a:avLst/>
              </a:prstGeom>
              <a:blipFill>
                <a:blip r:embed="rId13"/>
                <a:stretch>
                  <a:fillRect l="-19643" r="-39286" b="-3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3FA5B86-6AA5-6526-16D6-AA2CE93141E6}"/>
                  </a:ext>
                </a:extLst>
              </p:cNvPr>
              <p:cNvSpPr txBox="1"/>
              <p:nvPr/>
            </p:nvSpPr>
            <p:spPr>
              <a:xfrm>
                <a:off x="6537648" y="5707756"/>
                <a:ext cx="338627"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𝑝</m:t>
                          </m:r>
                        </m:e>
                        <m:sub>
                          <m:r>
                            <a:rPr lang="en-US" sz="1400" b="0" i="1" smtClean="0">
                              <a:solidFill>
                                <a:schemeClr val="tx2"/>
                              </a:solidFill>
                              <a:latin typeface="Cambria Math" panose="02040503050406030204" pitchFamily="18" charset="0"/>
                            </a:rPr>
                            <m:t>3</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m:t>
                      </m:r>
                    </m:oMath>
                  </m:oMathPara>
                </a14:m>
                <a:endParaRPr lang="en-GB" sz="1400" dirty="0">
                  <a:solidFill>
                    <a:schemeClr val="tx2"/>
                  </a:solidFill>
                </a:endParaRPr>
              </a:p>
            </p:txBody>
          </p:sp>
        </mc:Choice>
        <mc:Fallback xmlns="">
          <p:sp>
            <p:nvSpPr>
              <p:cNvPr id="34" name="TextBox 33">
                <a:extLst>
                  <a:ext uri="{FF2B5EF4-FFF2-40B4-BE49-F238E27FC236}">
                    <a16:creationId xmlns:a16="http://schemas.microsoft.com/office/drawing/2014/main" id="{F3FA5B86-6AA5-6526-16D6-AA2CE93141E6}"/>
                  </a:ext>
                </a:extLst>
              </p:cNvPr>
              <p:cNvSpPr txBox="1">
                <a:spLocks noRot="1" noChangeAspect="1" noMove="1" noResize="1" noEditPoints="1" noAdjustHandles="1" noChangeArrowheads="1" noChangeShapeType="1" noTextEdit="1"/>
              </p:cNvSpPr>
              <p:nvPr/>
            </p:nvSpPr>
            <p:spPr>
              <a:xfrm>
                <a:off x="6537648" y="5707756"/>
                <a:ext cx="338627" cy="215444"/>
              </a:xfrm>
              <a:prstGeom prst="rect">
                <a:avLst/>
              </a:prstGeom>
              <a:blipFill>
                <a:blip r:embed="rId14"/>
                <a:stretch>
                  <a:fillRect l="-17857" r="-41071" b="-3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AEEA177F-E463-5910-D2E6-BFD4EEC350F8}"/>
                  </a:ext>
                </a:extLst>
              </p:cNvPr>
              <p:cNvSpPr txBox="1"/>
              <p:nvPr/>
            </p:nvSpPr>
            <p:spPr>
              <a:xfrm>
                <a:off x="7980178" y="5700746"/>
                <a:ext cx="338627"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𝑝</m:t>
                          </m:r>
                        </m:e>
                        <m:sub>
                          <m:r>
                            <a:rPr lang="en-US" sz="1400" b="0" i="1" smtClean="0">
                              <a:solidFill>
                                <a:schemeClr val="tx2"/>
                              </a:solidFill>
                              <a:latin typeface="Cambria Math" panose="02040503050406030204" pitchFamily="18" charset="0"/>
                            </a:rPr>
                            <m:t>4</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m:t>
                      </m:r>
                    </m:oMath>
                  </m:oMathPara>
                </a14:m>
                <a:endParaRPr lang="en-GB" sz="1400" dirty="0">
                  <a:solidFill>
                    <a:schemeClr val="tx2"/>
                  </a:solidFill>
                </a:endParaRPr>
              </a:p>
            </p:txBody>
          </p:sp>
        </mc:Choice>
        <mc:Fallback xmlns="">
          <p:sp>
            <p:nvSpPr>
              <p:cNvPr id="35" name="TextBox 34">
                <a:extLst>
                  <a:ext uri="{FF2B5EF4-FFF2-40B4-BE49-F238E27FC236}">
                    <a16:creationId xmlns:a16="http://schemas.microsoft.com/office/drawing/2014/main" id="{AEEA177F-E463-5910-D2E6-BFD4EEC350F8}"/>
                  </a:ext>
                </a:extLst>
              </p:cNvPr>
              <p:cNvSpPr txBox="1">
                <a:spLocks noRot="1" noChangeAspect="1" noMove="1" noResize="1" noEditPoints="1" noAdjustHandles="1" noChangeArrowheads="1" noChangeShapeType="1" noTextEdit="1"/>
              </p:cNvSpPr>
              <p:nvPr/>
            </p:nvSpPr>
            <p:spPr>
              <a:xfrm>
                <a:off x="7980178" y="5700746"/>
                <a:ext cx="338627" cy="215444"/>
              </a:xfrm>
              <a:prstGeom prst="rect">
                <a:avLst/>
              </a:prstGeom>
              <a:blipFill>
                <a:blip r:embed="rId15"/>
                <a:stretch>
                  <a:fillRect l="-17857" r="-41071" b="-3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CE18FE4D-91A8-1214-4ACF-25C7CE393BCA}"/>
                  </a:ext>
                </a:extLst>
              </p:cNvPr>
              <p:cNvSpPr txBox="1"/>
              <p:nvPr/>
            </p:nvSpPr>
            <p:spPr>
              <a:xfrm>
                <a:off x="3347953" y="5945454"/>
                <a:ext cx="955683"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1</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&lt;</m:t>
                      </m:r>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2</m:t>
                          </m:r>
                        </m:sub>
                      </m:sSub>
                    </m:oMath>
                  </m:oMathPara>
                </a14:m>
                <a:endParaRPr lang="en-GB" sz="1400" dirty="0">
                  <a:solidFill>
                    <a:schemeClr val="tx2"/>
                  </a:solidFill>
                </a:endParaRPr>
              </a:p>
            </p:txBody>
          </p:sp>
        </mc:Choice>
        <mc:Fallback xmlns="">
          <p:sp>
            <p:nvSpPr>
              <p:cNvPr id="36" name="TextBox 35">
                <a:extLst>
                  <a:ext uri="{FF2B5EF4-FFF2-40B4-BE49-F238E27FC236}">
                    <a16:creationId xmlns:a16="http://schemas.microsoft.com/office/drawing/2014/main" id="{CE18FE4D-91A8-1214-4ACF-25C7CE393BCA}"/>
                  </a:ext>
                </a:extLst>
              </p:cNvPr>
              <p:cNvSpPr txBox="1">
                <a:spLocks noRot="1" noChangeAspect="1" noMove="1" noResize="1" noEditPoints="1" noAdjustHandles="1" noChangeArrowheads="1" noChangeShapeType="1" noTextEdit="1"/>
              </p:cNvSpPr>
              <p:nvPr/>
            </p:nvSpPr>
            <p:spPr>
              <a:xfrm>
                <a:off x="3347953" y="5945454"/>
                <a:ext cx="955683" cy="215444"/>
              </a:xfrm>
              <a:prstGeom prst="rect">
                <a:avLst/>
              </a:prstGeom>
              <a:blipFill>
                <a:blip r:embed="rId16"/>
                <a:stretch>
                  <a:fillRect l="-1911" b="-1388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9847B72-B25F-84D9-9486-B2EFA80DB050}"/>
                  </a:ext>
                </a:extLst>
              </p:cNvPr>
              <p:cNvSpPr txBox="1"/>
              <p:nvPr/>
            </p:nvSpPr>
            <p:spPr>
              <a:xfrm>
                <a:off x="4787604" y="5945013"/>
                <a:ext cx="955683"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2</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&lt;</m:t>
                      </m:r>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3</m:t>
                          </m:r>
                        </m:sub>
                      </m:sSub>
                    </m:oMath>
                  </m:oMathPara>
                </a14:m>
                <a:endParaRPr lang="en-GB" sz="1400" dirty="0">
                  <a:solidFill>
                    <a:schemeClr val="tx2"/>
                  </a:solidFill>
                </a:endParaRPr>
              </a:p>
            </p:txBody>
          </p:sp>
        </mc:Choice>
        <mc:Fallback xmlns="">
          <p:sp>
            <p:nvSpPr>
              <p:cNvPr id="37" name="TextBox 36">
                <a:extLst>
                  <a:ext uri="{FF2B5EF4-FFF2-40B4-BE49-F238E27FC236}">
                    <a16:creationId xmlns:a16="http://schemas.microsoft.com/office/drawing/2014/main" id="{49847B72-B25F-84D9-9486-B2EFA80DB050}"/>
                  </a:ext>
                </a:extLst>
              </p:cNvPr>
              <p:cNvSpPr txBox="1">
                <a:spLocks noRot="1" noChangeAspect="1" noMove="1" noResize="1" noEditPoints="1" noAdjustHandles="1" noChangeArrowheads="1" noChangeShapeType="1" noTextEdit="1"/>
              </p:cNvSpPr>
              <p:nvPr/>
            </p:nvSpPr>
            <p:spPr>
              <a:xfrm>
                <a:off x="4787604" y="5945013"/>
                <a:ext cx="955683" cy="215444"/>
              </a:xfrm>
              <a:prstGeom prst="rect">
                <a:avLst/>
              </a:prstGeom>
              <a:blipFill>
                <a:blip r:embed="rId17"/>
                <a:stretch>
                  <a:fillRect l="-2548" b="-1388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CFA34671-6758-E6CC-AC41-A34FDFB63207}"/>
                  </a:ext>
                </a:extLst>
              </p:cNvPr>
              <p:cNvSpPr txBox="1"/>
              <p:nvPr/>
            </p:nvSpPr>
            <p:spPr>
              <a:xfrm>
                <a:off x="6227255" y="5945013"/>
                <a:ext cx="955683"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1</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&lt;</m:t>
                      </m:r>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2</m:t>
                          </m:r>
                        </m:sub>
                      </m:sSub>
                    </m:oMath>
                  </m:oMathPara>
                </a14:m>
                <a:endParaRPr lang="en-GB" sz="1400" dirty="0">
                  <a:solidFill>
                    <a:schemeClr val="tx2"/>
                  </a:solidFill>
                </a:endParaRPr>
              </a:p>
            </p:txBody>
          </p:sp>
        </mc:Choice>
        <mc:Fallback xmlns="">
          <p:sp>
            <p:nvSpPr>
              <p:cNvPr id="38" name="TextBox 37">
                <a:extLst>
                  <a:ext uri="{FF2B5EF4-FFF2-40B4-BE49-F238E27FC236}">
                    <a16:creationId xmlns:a16="http://schemas.microsoft.com/office/drawing/2014/main" id="{CFA34671-6758-E6CC-AC41-A34FDFB63207}"/>
                  </a:ext>
                </a:extLst>
              </p:cNvPr>
              <p:cNvSpPr txBox="1">
                <a:spLocks noRot="1" noChangeAspect="1" noMove="1" noResize="1" noEditPoints="1" noAdjustHandles="1" noChangeArrowheads="1" noChangeShapeType="1" noTextEdit="1"/>
              </p:cNvSpPr>
              <p:nvPr/>
            </p:nvSpPr>
            <p:spPr>
              <a:xfrm>
                <a:off x="6227255" y="5945013"/>
                <a:ext cx="955683" cy="215444"/>
              </a:xfrm>
              <a:prstGeom prst="rect">
                <a:avLst/>
              </a:prstGeom>
              <a:blipFill>
                <a:blip r:embed="rId18"/>
                <a:stretch>
                  <a:fillRect l="-1923" b="-1388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8A2B03CD-6AF8-070E-DD47-045487979CAF}"/>
                  </a:ext>
                </a:extLst>
              </p:cNvPr>
              <p:cNvSpPr txBox="1"/>
              <p:nvPr/>
            </p:nvSpPr>
            <p:spPr>
              <a:xfrm>
                <a:off x="7666906" y="5945013"/>
                <a:ext cx="955683"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1</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&lt;</m:t>
                      </m:r>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2</m:t>
                          </m:r>
                        </m:sub>
                      </m:sSub>
                    </m:oMath>
                  </m:oMathPara>
                </a14:m>
                <a:endParaRPr lang="en-GB" sz="1400" dirty="0">
                  <a:solidFill>
                    <a:schemeClr val="tx2"/>
                  </a:solidFill>
                </a:endParaRPr>
              </a:p>
            </p:txBody>
          </p:sp>
        </mc:Choice>
        <mc:Fallback xmlns="">
          <p:sp>
            <p:nvSpPr>
              <p:cNvPr id="39" name="TextBox 38">
                <a:extLst>
                  <a:ext uri="{FF2B5EF4-FFF2-40B4-BE49-F238E27FC236}">
                    <a16:creationId xmlns:a16="http://schemas.microsoft.com/office/drawing/2014/main" id="{8A2B03CD-6AF8-070E-DD47-045487979CAF}"/>
                  </a:ext>
                </a:extLst>
              </p:cNvPr>
              <p:cNvSpPr txBox="1">
                <a:spLocks noRot="1" noChangeAspect="1" noMove="1" noResize="1" noEditPoints="1" noAdjustHandles="1" noChangeArrowheads="1" noChangeShapeType="1" noTextEdit="1"/>
              </p:cNvSpPr>
              <p:nvPr/>
            </p:nvSpPr>
            <p:spPr>
              <a:xfrm>
                <a:off x="7666906" y="5945013"/>
                <a:ext cx="955683" cy="215444"/>
              </a:xfrm>
              <a:prstGeom prst="rect">
                <a:avLst/>
              </a:prstGeom>
              <a:blipFill>
                <a:blip r:embed="rId18"/>
                <a:stretch>
                  <a:fillRect l="-1923" b="-13889"/>
                </a:stretch>
              </a:blipFill>
            </p:spPr>
            <p:txBody>
              <a:bodyPr/>
              <a:lstStyle/>
              <a:p>
                <a:r>
                  <a:rPr lang="en-GB">
                    <a:noFill/>
                  </a:rPr>
                  <a:t> </a:t>
                </a:r>
              </a:p>
            </p:txBody>
          </p:sp>
        </mc:Fallback>
      </mc:AlternateContent>
      <p:cxnSp>
        <p:nvCxnSpPr>
          <p:cNvPr id="41" name="Straight Arrow Connector 40">
            <a:extLst>
              <a:ext uri="{FF2B5EF4-FFF2-40B4-BE49-F238E27FC236}">
                <a16:creationId xmlns:a16="http://schemas.microsoft.com/office/drawing/2014/main" id="{AC474824-4D17-2E45-6F0F-FDE1868A8DE9}"/>
              </a:ext>
            </a:extLst>
          </p:cNvPr>
          <p:cNvCxnSpPr>
            <a:cxnSpLocks/>
          </p:cNvCxnSpPr>
          <p:nvPr/>
        </p:nvCxnSpPr>
        <p:spPr>
          <a:xfrm>
            <a:off x="3103719" y="4775200"/>
            <a:ext cx="556893" cy="0"/>
          </a:xfrm>
          <a:prstGeom prst="straightConnector1">
            <a:avLst/>
          </a:prstGeom>
          <a:ln w="28575">
            <a:solidFill>
              <a:srgbClr val="ED7D3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2ED3609-D1C0-C937-13C6-BBA4EFF70A22}"/>
              </a:ext>
            </a:extLst>
          </p:cNvPr>
          <p:cNvCxnSpPr>
            <a:cxnSpLocks/>
          </p:cNvCxnSpPr>
          <p:nvPr/>
        </p:nvCxnSpPr>
        <p:spPr>
          <a:xfrm>
            <a:off x="8871605" y="3914136"/>
            <a:ext cx="556893" cy="0"/>
          </a:xfrm>
          <a:prstGeom prst="straightConnector1">
            <a:avLst/>
          </a:prstGeom>
          <a:ln w="28575">
            <a:solidFill>
              <a:srgbClr val="ED7D3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928CF617-B1A7-3E07-2E72-900275044A7F}"/>
                  </a:ext>
                </a:extLst>
              </p:cNvPr>
              <p:cNvSpPr txBox="1"/>
              <p:nvPr/>
            </p:nvSpPr>
            <p:spPr>
              <a:xfrm>
                <a:off x="3388715" y="4501470"/>
                <a:ext cx="543793"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rgbClr val="ED7D31"/>
                              </a:solidFill>
                              <a:latin typeface="Cambria Math" panose="02040503050406030204" pitchFamily="18" charset="0"/>
                            </a:rPr>
                          </m:ctrlPr>
                        </m:sSubPr>
                        <m:e>
                          <m:r>
                            <a:rPr lang="en-US" sz="1400" b="0" i="1" smtClean="0">
                              <a:solidFill>
                                <a:srgbClr val="ED7D31"/>
                              </a:solidFill>
                              <a:latin typeface="Cambria Math" panose="02040503050406030204" pitchFamily="18" charset="0"/>
                            </a:rPr>
                            <m:t>𝑣</m:t>
                          </m:r>
                        </m:e>
                        <m:sub>
                          <m:r>
                            <a:rPr lang="en-US" sz="1400" b="0" i="1" smtClean="0">
                              <a:solidFill>
                                <a:srgbClr val="ED7D31"/>
                              </a:solidFill>
                              <a:latin typeface="Cambria Math" panose="02040503050406030204" pitchFamily="18" charset="0"/>
                            </a:rPr>
                            <m:t>𝑖𝑛𝑖𝑡𝑖𝑎𝑙</m:t>
                          </m:r>
                        </m:sub>
                      </m:sSub>
                    </m:oMath>
                  </m:oMathPara>
                </a14:m>
                <a:endParaRPr lang="en-GB" sz="1400" dirty="0">
                  <a:solidFill>
                    <a:srgbClr val="ED7D31"/>
                  </a:solidFill>
                </a:endParaRPr>
              </a:p>
            </p:txBody>
          </p:sp>
        </mc:Choice>
        <mc:Fallback xmlns="">
          <p:sp>
            <p:nvSpPr>
              <p:cNvPr id="45" name="TextBox 44">
                <a:extLst>
                  <a:ext uri="{FF2B5EF4-FFF2-40B4-BE49-F238E27FC236}">
                    <a16:creationId xmlns:a16="http://schemas.microsoft.com/office/drawing/2014/main" id="{928CF617-B1A7-3E07-2E72-900275044A7F}"/>
                  </a:ext>
                </a:extLst>
              </p:cNvPr>
              <p:cNvSpPr txBox="1">
                <a:spLocks noRot="1" noChangeAspect="1" noMove="1" noResize="1" noEditPoints="1" noAdjustHandles="1" noChangeArrowheads="1" noChangeShapeType="1" noTextEdit="1"/>
              </p:cNvSpPr>
              <p:nvPr/>
            </p:nvSpPr>
            <p:spPr>
              <a:xfrm>
                <a:off x="3388715" y="4501470"/>
                <a:ext cx="543793" cy="215444"/>
              </a:xfrm>
              <a:prstGeom prst="rect">
                <a:avLst/>
              </a:prstGeom>
              <a:blipFill>
                <a:blip r:embed="rId19"/>
                <a:stretch>
                  <a:fillRect l="-6742" r="-2247"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2090E47-A474-EDE8-E20A-70EC6FE01A65}"/>
                  </a:ext>
                </a:extLst>
              </p:cNvPr>
              <p:cNvSpPr txBox="1"/>
              <p:nvPr/>
            </p:nvSpPr>
            <p:spPr>
              <a:xfrm>
                <a:off x="9271355" y="3921940"/>
                <a:ext cx="543793" cy="232692"/>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rgbClr val="ED7D31"/>
                              </a:solidFill>
                              <a:latin typeface="Cambria Math" panose="02040503050406030204" pitchFamily="18" charset="0"/>
                            </a:rPr>
                          </m:ctrlPr>
                        </m:sSubPr>
                        <m:e>
                          <m:r>
                            <a:rPr lang="en-US" sz="1400" b="0" i="1" smtClean="0">
                              <a:solidFill>
                                <a:srgbClr val="ED7D31"/>
                              </a:solidFill>
                              <a:latin typeface="Cambria Math" panose="02040503050406030204" pitchFamily="18" charset="0"/>
                            </a:rPr>
                            <m:t>𝑣</m:t>
                          </m:r>
                        </m:e>
                        <m:sub>
                          <m:r>
                            <a:rPr lang="en-US" sz="1400" b="0" i="1" smtClean="0">
                              <a:solidFill>
                                <a:srgbClr val="ED7D31"/>
                              </a:solidFill>
                              <a:latin typeface="Cambria Math" panose="02040503050406030204" pitchFamily="18" charset="0"/>
                            </a:rPr>
                            <m:t>𝑓𝑖𝑛𝑎𝑙</m:t>
                          </m:r>
                        </m:sub>
                      </m:sSub>
                    </m:oMath>
                  </m:oMathPara>
                </a14:m>
                <a:endParaRPr lang="en-GB" sz="1400" dirty="0">
                  <a:solidFill>
                    <a:srgbClr val="ED7D31"/>
                  </a:solidFill>
                </a:endParaRPr>
              </a:p>
            </p:txBody>
          </p:sp>
        </mc:Choice>
        <mc:Fallback xmlns="">
          <p:sp>
            <p:nvSpPr>
              <p:cNvPr id="47" name="TextBox 46">
                <a:extLst>
                  <a:ext uri="{FF2B5EF4-FFF2-40B4-BE49-F238E27FC236}">
                    <a16:creationId xmlns:a16="http://schemas.microsoft.com/office/drawing/2014/main" id="{52090E47-A474-EDE8-E20A-70EC6FE01A65}"/>
                  </a:ext>
                </a:extLst>
              </p:cNvPr>
              <p:cNvSpPr txBox="1">
                <a:spLocks noRot="1" noChangeAspect="1" noMove="1" noResize="1" noEditPoints="1" noAdjustHandles="1" noChangeArrowheads="1" noChangeShapeType="1" noTextEdit="1"/>
              </p:cNvSpPr>
              <p:nvPr/>
            </p:nvSpPr>
            <p:spPr>
              <a:xfrm>
                <a:off x="9271355" y="3921940"/>
                <a:ext cx="543793" cy="232692"/>
              </a:xfrm>
              <a:prstGeom prst="rect">
                <a:avLst/>
              </a:prstGeom>
              <a:blipFill>
                <a:blip r:embed="rId20"/>
                <a:stretch>
                  <a:fillRect b="-2307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A582463-6CCD-680F-9D40-AAFD0B80A188}"/>
                  </a:ext>
                </a:extLst>
              </p:cNvPr>
              <p:cNvSpPr txBox="1"/>
              <p:nvPr/>
            </p:nvSpPr>
            <p:spPr>
              <a:xfrm>
                <a:off x="4496718" y="2732092"/>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𝑃</m:t>
                          </m:r>
                        </m:e>
                        <m:sub>
                          <m:r>
                            <a:rPr lang="en-US" b="0" i="1" smtClean="0">
                              <a:solidFill>
                                <a:schemeClr val="tx2"/>
                              </a:solidFill>
                              <a:latin typeface="Cambria Math" panose="02040503050406030204" pitchFamily="18" charset="0"/>
                            </a:rPr>
                            <m:t>2</m:t>
                          </m:r>
                        </m:sub>
                      </m:sSub>
                    </m:oMath>
                  </m:oMathPara>
                </a14:m>
                <a:endParaRPr lang="en-GB" dirty="0">
                  <a:solidFill>
                    <a:schemeClr val="tx2"/>
                  </a:solidFill>
                </a:endParaRPr>
              </a:p>
            </p:txBody>
          </p:sp>
        </mc:Choice>
        <mc:Fallback xmlns="">
          <p:sp>
            <p:nvSpPr>
              <p:cNvPr id="2" name="TextBox 1">
                <a:extLst>
                  <a:ext uri="{FF2B5EF4-FFF2-40B4-BE49-F238E27FC236}">
                    <a16:creationId xmlns:a16="http://schemas.microsoft.com/office/drawing/2014/main" id="{CA582463-6CCD-680F-9D40-AAFD0B80A188}"/>
                  </a:ext>
                </a:extLst>
              </p:cNvPr>
              <p:cNvSpPr txBox="1">
                <a:spLocks noRot="1" noChangeAspect="1" noMove="1" noResize="1" noEditPoints="1" noAdjustHandles="1" noChangeArrowheads="1" noChangeShapeType="1" noTextEdit="1"/>
              </p:cNvSpPr>
              <p:nvPr/>
            </p:nvSpPr>
            <p:spPr>
              <a:xfrm>
                <a:off x="4496718" y="2732092"/>
                <a:ext cx="424873" cy="276999"/>
              </a:xfrm>
              <a:prstGeom prst="rect">
                <a:avLst/>
              </a:prstGeom>
              <a:blipFill>
                <a:blip r:embed="rId21"/>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14202F27-AA8F-CA5C-943E-1D93BD18717F}"/>
                  </a:ext>
                </a:extLst>
              </p:cNvPr>
              <p:cNvSpPr txBox="1"/>
              <p:nvPr/>
            </p:nvSpPr>
            <p:spPr>
              <a:xfrm>
                <a:off x="9236405" y="1428697"/>
                <a:ext cx="2977228" cy="246221"/>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a:rPr lang="en-US" sz="1600" b="0" i="1" smtClean="0">
                          <a:solidFill>
                            <a:schemeClr val="tx2"/>
                          </a:solidFill>
                          <a:latin typeface="Cambria Math" panose="02040503050406030204" pitchFamily="18" charset="0"/>
                        </a:rPr>
                        <m:t>𝑝</m:t>
                      </m:r>
                      <m:d>
                        <m:dPr>
                          <m:ctrlPr>
                            <a:rPr lang="en-US" sz="1600" b="0" i="1" smtClean="0">
                              <a:solidFill>
                                <a:schemeClr val="tx2"/>
                              </a:solidFill>
                              <a:latin typeface="Cambria Math" panose="02040503050406030204" pitchFamily="18" charset="0"/>
                            </a:rPr>
                          </m:ctrlPr>
                        </m:dPr>
                        <m:e>
                          <m:r>
                            <a:rPr lang="en-US" sz="1600" b="0" i="1" smtClean="0">
                              <a:solidFill>
                                <a:schemeClr val="tx2"/>
                              </a:solidFill>
                              <a:latin typeface="Cambria Math" panose="02040503050406030204" pitchFamily="18" charset="0"/>
                            </a:rPr>
                            <m:t>𝑡</m:t>
                          </m:r>
                        </m:e>
                      </m:d>
                      <m:r>
                        <a:rPr lang="en-US" sz="1600" b="0" i="1" smtClean="0">
                          <a:solidFill>
                            <a:schemeClr val="tx2"/>
                          </a:solidFill>
                          <a:latin typeface="Cambria Math" panose="02040503050406030204" pitchFamily="18" charset="0"/>
                        </a:rPr>
                        <m:t>=</m:t>
                      </m:r>
                      <m:sSub>
                        <m:sSubPr>
                          <m:ctrlPr>
                            <a:rPr lang="en-US" sz="1600" b="1" i="1" smtClean="0">
                              <a:solidFill>
                                <a:schemeClr val="tx1"/>
                              </a:solidFill>
                              <a:latin typeface="Cambria Math" panose="02040503050406030204" pitchFamily="18" charset="0"/>
                            </a:rPr>
                          </m:ctrlPr>
                        </m:sSubPr>
                        <m:e>
                          <m:r>
                            <a:rPr lang="en-US" sz="1600" b="1" i="1" smtClean="0">
                              <a:solidFill>
                                <a:schemeClr val="tx1"/>
                              </a:solidFill>
                              <a:latin typeface="Cambria Math" panose="02040503050406030204" pitchFamily="18" charset="0"/>
                            </a:rPr>
                            <m:t>𝒂</m:t>
                          </m:r>
                        </m:e>
                        <m:sub>
                          <m:r>
                            <a:rPr lang="en-US" sz="1600" b="1" i="1" smtClean="0">
                              <a:solidFill>
                                <a:schemeClr val="tx1"/>
                              </a:solidFill>
                              <a:latin typeface="Cambria Math" panose="02040503050406030204" pitchFamily="18" charset="0"/>
                            </a:rPr>
                            <m:t>𝟏</m:t>
                          </m:r>
                        </m:sub>
                      </m:sSub>
                      <m:r>
                        <a:rPr lang="en-US" sz="1600" b="0" i="1" smtClean="0">
                          <a:solidFill>
                            <a:schemeClr val="tx2"/>
                          </a:solidFill>
                          <a:latin typeface="Cambria Math" panose="02040503050406030204" pitchFamily="18" charset="0"/>
                        </a:rPr>
                        <m:t>+</m:t>
                      </m:r>
                      <m:sSub>
                        <m:sSubPr>
                          <m:ctrlPr>
                            <a:rPr lang="en-US" sz="1600" b="1" i="1" smtClean="0">
                              <a:solidFill>
                                <a:schemeClr val="tx1"/>
                              </a:solidFill>
                              <a:latin typeface="Cambria Math" panose="02040503050406030204" pitchFamily="18" charset="0"/>
                            </a:rPr>
                          </m:ctrlPr>
                        </m:sSubPr>
                        <m:e>
                          <m:r>
                            <a:rPr lang="en-US" sz="1600" b="1" i="1" smtClean="0">
                              <a:solidFill>
                                <a:schemeClr val="tx1"/>
                              </a:solidFill>
                              <a:latin typeface="Cambria Math" panose="02040503050406030204" pitchFamily="18" charset="0"/>
                            </a:rPr>
                            <m:t>𝒂</m:t>
                          </m:r>
                        </m:e>
                        <m:sub>
                          <m:r>
                            <a:rPr lang="en-US" sz="1600" b="1" i="1" smtClean="0">
                              <a:solidFill>
                                <a:schemeClr val="tx1"/>
                              </a:solidFill>
                              <a:latin typeface="Cambria Math" panose="02040503050406030204" pitchFamily="18" charset="0"/>
                            </a:rPr>
                            <m:t>𝟐</m:t>
                          </m:r>
                        </m:sub>
                      </m:sSub>
                      <m:r>
                        <a:rPr lang="en-US" sz="1600" b="0" i="1" smtClean="0">
                          <a:solidFill>
                            <a:schemeClr val="tx2"/>
                          </a:solidFill>
                          <a:latin typeface="Cambria Math" panose="02040503050406030204" pitchFamily="18" charset="0"/>
                        </a:rPr>
                        <m:t>𝑡</m:t>
                      </m:r>
                      <m:r>
                        <a:rPr lang="en-US" sz="1600" b="0" i="1" smtClean="0">
                          <a:solidFill>
                            <a:schemeClr val="tx2"/>
                          </a:solidFill>
                          <a:latin typeface="Cambria Math" panose="02040503050406030204" pitchFamily="18" charset="0"/>
                        </a:rPr>
                        <m:t>+</m:t>
                      </m:r>
                      <m:sSub>
                        <m:sSubPr>
                          <m:ctrlPr>
                            <a:rPr lang="en-US" sz="1600" b="1" i="1" smtClean="0">
                              <a:solidFill>
                                <a:schemeClr val="tx1"/>
                              </a:solidFill>
                              <a:latin typeface="Cambria Math" panose="02040503050406030204" pitchFamily="18" charset="0"/>
                            </a:rPr>
                          </m:ctrlPr>
                        </m:sSubPr>
                        <m:e>
                          <m:r>
                            <a:rPr lang="en-US" sz="1600" b="1" i="1" smtClean="0">
                              <a:solidFill>
                                <a:schemeClr val="tx1"/>
                              </a:solidFill>
                              <a:latin typeface="Cambria Math" panose="02040503050406030204" pitchFamily="18" charset="0"/>
                            </a:rPr>
                            <m:t>𝒂</m:t>
                          </m:r>
                        </m:e>
                        <m:sub>
                          <m:r>
                            <a:rPr lang="en-US" sz="1600" b="1" i="1" smtClean="0">
                              <a:solidFill>
                                <a:schemeClr val="tx1"/>
                              </a:solidFill>
                              <a:latin typeface="Cambria Math" panose="02040503050406030204" pitchFamily="18" charset="0"/>
                            </a:rPr>
                            <m:t>𝟑</m:t>
                          </m:r>
                        </m:sub>
                      </m:sSub>
                      <m:sSup>
                        <m:sSupPr>
                          <m:ctrlPr>
                            <a:rPr lang="en-US" sz="1600" b="0" i="1" smtClean="0">
                              <a:solidFill>
                                <a:schemeClr val="tx2"/>
                              </a:solidFill>
                              <a:latin typeface="Cambria Math" panose="02040503050406030204" pitchFamily="18" charset="0"/>
                            </a:rPr>
                          </m:ctrlPr>
                        </m:sSupPr>
                        <m:e>
                          <m:r>
                            <a:rPr lang="en-US" sz="1600" b="0" i="1" smtClean="0">
                              <a:solidFill>
                                <a:schemeClr val="tx2"/>
                              </a:solidFill>
                              <a:latin typeface="Cambria Math" panose="02040503050406030204" pitchFamily="18" charset="0"/>
                            </a:rPr>
                            <m:t>𝑡</m:t>
                          </m:r>
                        </m:e>
                        <m:sup>
                          <m:r>
                            <a:rPr lang="en-US" sz="1600" b="0" i="1" smtClean="0">
                              <a:solidFill>
                                <a:schemeClr val="tx2"/>
                              </a:solidFill>
                              <a:latin typeface="Cambria Math" panose="02040503050406030204" pitchFamily="18" charset="0"/>
                            </a:rPr>
                            <m:t>2</m:t>
                          </m:r>
                        </m:sup>
                      </m:sSup>
                      <m:r>
                        <a:rPr lang="en-US" sz="1600" b="0" i="1" smtClean="0">
                          <a:solidFill>
                            <a:schemeClr val="tx2"/>
                          </a:solidFill>
                          <a:latin typeface="Cambria Math" panose="02040503050406030204" pitchFamily="18" charset="0"/>
                        </a:rPr>
                        <m:t>+</m:t>
                      </m:r>
                      <m:sSub>
                        <m:sSubPr>
                          <m:ctrlPr>
                            <a:rPr lang="en-US" sz="1600" b="1" i="1" smtClean="0">
                              <a:solidFill>
                                <a:schemeClr val="tx1"/>
                              </a:solidFill>
                              <a:latin typeface="Cambria Math" panose="02040503050406030204" pitchFamily="18" charset="0"/>
                            </a:rPr>
                          </m:ctrlPr>
                        </m:sSubPr>
                        <m:e>
                          <m:r>
                            <a:rPr lang="en-US" sz="1600" b="1" i="1" smtClean="0">
                              <a:solidFill>
                                <a:schemeClr val="tx1"/>
                              </a:solidFill>
                              <a:latin typeface="Cambria Math" panose="02040503050406030204" pitchFamily="18" charset="0"/>
                            </a:rPr>
                            <m:t>𝒂</m:t>
                          </m:r>
                        </m:e>
                        <m:sub>
                          <m:r>
                            <a:rPr lang="en-US" sz="1600" b="1" i="1" smtClean="0">
                              <a:solidFill>
                                <a:schemeClr val="tx1"/>
                              </a:solidFill>
                              <a:latin typeface="Cambria Math" panose="02040503050406030204" pitchFamily="18" charset="0"/>
                            </a:rPr>
                            <m:t>𝟒</m:t>
                          </m:r>
                        </m:sub>
                      </m:sSub>
                      <m:sSup>
                        <m:sSupPr>
                          <m:ctrlPr>
                            <a:rPr lang="en-US" sz="1600" b="0" i="1" smtClean="0">
                              <a:solidFill>
                                <a:schemeClr val="tx2"/>
                              </a:solidFill>
                              <a:latin typeface="Cambria Math" panose="02040503050406030204" pitchFamily="18" charset="0"/>
                            </a:rPr>
                          </m:ctrlPr>
                        </m:sSupPr>
                        <m:e>
                          <m:r>
                            <a:rPr lang="en-US" sz="1600" b="0" i="1" smtClean="0">
                              <a:solidFill>
                                <a:schemeClr val="tx2"/>
                              </a:solidFill>
                              <a:latin typeface="Cambria Math" panose="02040503050406030204" pitchFamily="18" charset="0"/>
                            </a:rPr>
                            <m:t>𝑡</m:t>
                          </m:r>
                        </m:e>
                        <m:sup>
                          <m:r>
                            <a:rPr lang="en-US" sz="1600" b="0" i="1" smtClean="0">
                              <a:solidFill>
                                <a:schemeClr val="tx2"/>
                              </a:solidFill>
                              <a:latin typeface="Cambria Math" panose="02040503050406030204" pitchFamily="18" charset="0"/>
                            </a:rPr>
                            <m:t>3</m:t>
                          </m:r>
                        </m:sup>
                      </m:sSup>
                    </m:oMath>
                  </m:oMathPara>
                </a14:m>
                <a:endParaRPr lang="en-GB" sz="1600" dirty="0">
                  <a:solidFill>
                    <a:schemeClr val="tx2"/>
                  </a:solidFill>
                </a:endParaRPr>
              </a:p>
            </p:txBody>
          </p:sp>
        </mc:Choice>
        <mc:Fallback xmlns="">
          <p:sp>
            <p:nvSpPr>
              <p:cNvPr id="46" name="TextBox 45">
                <a:extLst>
                  <a:ext uri="{FF2B5EF4-FFF2-40B4-BE49-F238E27FC236}">
                    <a16:creationId xmlns:a16="http://schemas.microsoft.com/office/drawing/2014/main" id="{14202F27-AA8F-CA5C-943E-1D93BD18717F}"/>
                  </a:ext>
                </a:extLst>
              </p:cNvPr>
              <p:cNvSpPr txBox="1">
                <a:spLocks noRot="1" noChangeAspect="1" noMove="1" noResize="1" noEditPoints="1" noAdjustHandles="1" noChangeArrowheads="1" noChangeShapeType="1" noTextEdit="1"/>
              </p:cNvSpPr>
              <p:nvPr/>
            </p:nvSpPr>
            <p:spPr>
              <a:xfrm>
                <a:off x="9236405" y="1428697"/>
                <a:ext cx="2977228" cy="246221"/>
              </a:xfrm>
              <a:prstGeom prst="rect">
                <a:avLst/>
              </a:prstGeom>
              <a:blipFill>
                <a:blip r:embed="rId22"/>
                <a:stretch>
                  <a:fillRect b="-24390"/>
                </a:stretch>
              </a:blipFill>
            </p:spPr>
            <p:txBody>
              <a:bodyPr/>
              <a:lstStyle/>
              <a:p>
                <a:r>
                  <a:rPr lang="en-GB">
                    <a:noFill/>
                  </a:rPr>
                  <a:t> </a:t>
                </a:r>
              </a:p>
            </p:txBody>
          </p:sp>
        </mc:Fallback>
      </mc:AlternateContent>
      <p:sp>
        <p:nvSpPr>
          <p:cNvPr id="20" name="Rectangle: Rounded Corners 19">
            <a:extLst>
              <a:ext uri="{FF2B5EF4-FFF2-40B4-BE49-F238E27FC236}">
                <a16:creationId xmlns:a16="http://schemas.microsoft.com/office/drawing/2014/main" id="{B3451975-7000-AB01-74B8-03DC86D4F4C2}"/>
              </a:ext>
            </a:extLst>
          </p:cNvPr>
          <p:cNvSpPr/>
          <p:nvPr/>
        </p:nvSpPr>
        <p:spPr>
          <a:xfrm>
            <a:off x="8292352" y="338085"/>
            <a:ext cx="2303929" cy="622422"/>
          </a:xfrm>
          <a:prstGeom prst="roundRect">
            <a:avLst/>
          </a:prstGeom>
          <a:solidFill>
            <a:srgbClr val="CDDCF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CubicPolynomial</a:t>
            </a:r>
            <a:endParaRPr lang="en-GB" sz="1400" dirty="0">
              <a:solidFill>
                <a:srgbClr val="003399"/>
              </a:solidFill>
            </a:endParaRPr>
          </a:p>
        </p:txBody>
      </p:sp>
      <p:sp>
        <p:nvSpPr>
          <p:cNvPr id="40" name="Title 2">
            <a:extLst>
              <a:ext uri="{FF2B5EF4-FFF2-40B4-BE49-F238E27FC236}">
                <a16:creationId xmlns:a16="http://schemas.microsoft.com/office/drawing/2014/main" id="{ADD14887-A89D-36AA-CA2B-256E3C4E5791}"/>
              </a:ext>
            </a:extLst>
          </p:cNvPr>
          <p:cNvSpPr>
            <a:spLocks noGrp="1"/>
          </p:cNvSpPr>
          <p:nvPr>
            <p:ph type="title"/>
          </p:nvPr>
        </p:nvSpPr>
        <p:spPr>
          <a:xfrm>
            <a:off x="412776" y="408519"/>
            <a:ext cx="11376025" cy="1065742"/>
          </a:xfrm>
        </p:spPr>
        <p:txBody>
          <a:bodyPr/>
          <a:lstStyle/>
          <a:p>
            <a:r>
              <a:rPr lang="de-AT" dirty="0"/>
              <a:t>Cubic Polynomial Algorithm</a:t>
            </a:r>
            <a:endParaRPr lang="en-GB" dirty="0"/>
          </a:p>
        </p:txBody>
      </p:sp>
      <p:sp>
        <p:nvSpPr>
          <p:cNvPr id="52" name="Left Brace 51">
            <a:extLst>
              <a:ext uri="{FF2B5EF4-FFF2-40B4-BE49-F238E27FC236}">
                <a16:creationId xmlns:a16="http://schemas.microsoft.com/office/drawing/2014/main" id="{7A14EF27-03AE-0C46-2217-8BDD9E85450B}"/>
              </a:ext>
            </a:extLst>
          </p:cNvPr>
          <p:cNvSpPr/>
          <p:nvPr/>
        </p:nvSpPr>
        <p:spPr>
          <a:xfrm rot="16200000">
            <a:off x="3683794" y="4856611"/>
            <a:ext cx="284005" cy="1475902"/>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3" name="Left Brace 52">
            <a:extLst>
              <a:ext uri="{FF2B5EF4-FFF2-40B4-BE49-F238E27FC236}">
                <a16:creationId xmlns:a16="http://schemas.microsoft.com/office/drawing/2014/main" id="{915F6B82-255E-9F9B-63DD-0DF2D05492DE}"/>
              </a:ext>
            </a:extLst>
          </p:cNvPr>
          <p:cNvSpPr/>
          <p:nvPr/>
        </p:nvSpPr>
        <p:spPr>
          <a:xfrm rot="16200000">
            <a:off x="5123445" y="4892862"/>
            <a:ext cx="284005" cy="1403397"/>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sp>
        <p:nvSpPr>
          <p:cNvPr id="54" name="Left Brace 53">
            <a:extLst>
              <a:ext uri="{FF2B5EF4-FFF2-40B4-BE49-F238E27FC236}">
                <a16:creationId xmlns:a16="http://schemas.microsoft.com/office/drawing/2014/main" id="{2476433A-FC53-250D-B7E0-C59DD057F214}"/>
              </a:ext>
            </a:extLst>
          </p:cNvPr>
          <p:cNvSpPr/>
          <p:nvPr/>
        </p:nvSpPr>
        <p:spPr>
          <a:xfrm rot="16200000">
            <a:off x="6564962" y="4863978"/>
            <a:ext cx="284005" cy="1475902"/>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5" name="Left Brace 54">
            <a:extLst>
              <a:ext uri="{FF2B5EF4-FFF2-40B4-BE49-F238E27FC236}">
                <a16:creationId xmlns:a16="http://schemas.microsoft.com/office/drawing/2014/main" id="{2DDF32C6-EA75-4B49-3C91-55D6C66578EE}"/>
              </a:ext>
            </a:extLst>
          </p:cNvPr>
          <p:cNvSpPr/>
          <p:nvPr/>
        </p:nvSpPr>
        <p:spPr>
          <a:xfrm rot="16200000">
            <a:off x="7999272" y="4893028"/>
            <a:ext cx="296872" cy="1404936"/>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7" name="TextBox 56">
            <a:extLst>
              <a:ext uri="{FF2B5EF4-FFF2-40B4-BE49-F238E27FC236}">
                <a16:creationId xmlns:a16="http://schemas.microsoft.com/office/drawing/2014/main" id="{418BABF4-5F29-7563-571F-11E3EFDBD289}"/>
              </a:ext>
            </a:extLst>
          </p:cNvPr>
          <p:cNvSpPr txBox="1"/>
          <p:nvPr/>
        </p:nvSpPr>
        <p:spPr>
          <a:xfrm>
            <a:off x="9847296" y="2752667"/>
            <a:ext cx="1755445" cy="246221"/>
          </a:xfrm>
          <a:prstGeom prst="rect">
            <a:avLst/>
          </a:prstGeom>
          <a:noFill/>
        </p:spPr>
        <p:txBody>
          <a:bodyPr wrap="square" lIns="0" tIns="0" rIns="0" bIns="0" rtlCol="0">
            <a:spAutoFit/>
          </a:bodyPr>
          <a:lstStyle/>
          <a:p>
            <a:pPr algn="ctr"/>
            <a:r>
              <a:rPr lang="en-US" sz="1600" dirty="0"/>
              <a:t>4(N-1) unknowns</a:t>
            </a:r>
            <a:endParaRPr lang="en-GB" sz="1600" dirty="0"/>
          </a:p>
        </p:txBody>
      </p:sp>
    </p:spTree>
    <p:extLst>
      <p:ext uri="{BB962C8B-B14F-4D97-AF65-F5344CB8AC3E}">
        <p14:creationId xmlns:p14="http://schemas.microsoft.com/office/powerpoint/2010/main" val="638759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26</a:t>
            </a:fld>
            <a:endParaRPr lang="en-US" dirty="0"/>
          </a:p>
        </p:txBody>
      </p:sp>
      <p:pic>
        <p:nvPicPr>
          <p:cNvPr id="8" name="Picture 7">
            <a:extLst>
              <a:ext uri="{FF2B5EF4-FFF2-40B4-BE49-F238E27FC236}">
                <a16:creationId xmlns:a16="http://schemas.microsoft.com/office/drawing/2014/main" id="{B7C62E76-168C-FDCE-A548-98936FF2A86A}"/>
              </a:ext>
            </a:extLst>
          </p:cNvPr>
          <p:cNvPicPr>
            <a:picLocks noChangeAspect="1"/>
          </p:cNvPicPr>
          <p:nvPr/>
        </p:nvPicPr>
        <p:blipFill rotWithShape="1">
          <a:blip r:embed="rId3"/>
          <a:srcRect l="5982" t="3899" r="3838" b="67773"/>
          <a:stretch/>
        </p:blipFill>
        <p:spPr>
          <a:xfrm>
            <a:off x="2281381" y="1149087"/>
            <a:ext cx="7379856" cy="4172785"/>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895BDE9-01C3-C791-ECF6-9C18D726A380}"/>
                  </a:ext>
                </a:extLst>
              </p:cNvPr>
              <p:cNvSpPr txBox="1"/>
              <p:nvPr/>
            </p:nvSpPr>
            <p:spPr>
              <a:xfrm>
                <a:off x="2890983" y="5183372"/>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𝑇</m:t>
                          </m:r>
                        </m:e>
                        <m:sub>
                          <m:r>
                            <a:rPr lang="en-US" b="0" i="1" smtClean="0">
                              <a:solidFill>
                                <a:schemeClr val="tx2"/>
                              </a:solidFill>
                              <a:latin typeface="Cambria Math" panose="02040503050406030204" pitchFamily="18" charset="0"/>
                            </a:rPr>
                            <m:t>1</m:t>
                          </m:r>
                        </m:sub>
                      </m:sSub>
                    </m:oMath>
                  </m:oMathPara>
                </a14:m>
                <a:endParaRPr lang="en-GB" dirty="0">
                  <a:solidFill>
                    <a:schemeClr val="tx2"/>
                  </a:solidFill>
                </a:endParaRPr>
              </a:p>
            </p:txBody>
          </p:sp>
        </mc:Choice>
        <mc:Fallback xmlns="">
          <p:sp>
            <p:nvSpPr>
              <p:cNvPr id="10" name="TextBox 9">
                <a:extLst>
                  <a:ext uri="{FF2B5EF4-FFF2-40B4-BE49-F238E27FC236}">
                    <a16:creationId xmlns:a16="http://schemas.microsoft.com/office/drawing/2014/main" id="{6895BDE9-01C3-C791-ECF6-9C18D726A380}"/>
                  </a:ext>
                </a:extLst>
              </p:cNvPr>
              <p:cNvSpPr txBox="1">
                <a:spLocks noRot="1" noChangeAspect="1" noMove="1" noResize="1" noEditPoints="1" noAdjustHandles="1" noChangeArrowheads="1" noChangeShapeType="1" noTextEdit="1"/>
              </p:cNvSpPr>
              <p:nvPr/>
            </p:nvSpPr>
            <p:spPr>
              <a:xfrm>
                <a:off x="2890983" y="5183372"/>
                <a:ext cx="424873" cy="276999"/>
              </a:xfrm>
              <a:prstGeom prst="rect">
                <a:avLst/>
              </a:prstGeom>
              <a:blipFill>
                <a:blip r:embed="rId4"/>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B068AC-5C5A-8B8E-FBDC-16F9AFD787A3}"/>
                  </a:ext>
                </a:extLst>
              </p:cNvPr>
              <p:cNvSpPr txBox="1"/>
              <p:nvPr/>
            </p:nvSpPr>
            <p:spPr>
              <a:xfrm>
                <a:off x="4345707" y="5183105"/>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𝑇</m:t>
                          </m:r>
                        </m:e>
                        <m:sub>
                          <m:r>
                            <a:rPr lang="en-US" b="0" i="1" smtClean="0">
                              <a:solidFill>
                                <a:schemeClr val="tx2"/>
                              </a:solidFill>
                              <a:latin typeface="Cambria Math" panose="02040503050406030204" pitchFamily="18" charset="0"/>
                            </a:rPr>
                            <m:t>2</m:t>
                          </m:r>
                        </m:sub>
                      </m:sSub>
                    </m:oMath>
                  </m:oMathPara>
                </a14:m>
                <a:endParaRPr lang="en-GB" dirty="0">
                  <a:solidFill>
                    <a:schemeClr val="tx2"/>
                  </a:solidFill>
                </a:endParaRPr>
              </a:p>
            </p:txBody>
          </p:sp>
        </mc:Choice>
        <mc:Fallback xmlns="">
          <p:sp>
            <p:nvSpPr>
              <p:cNvPr id="11" name="TextBox 10">
                <a:extLst>
                  <a:ext uri="{FF2B5EF4-FFF2-40B4-BE49-F238E27FC236}">
                    <a16:creationId xmlns:a16="http://schemas.microsoft.com/office/drawing/2014/main" id="{EDB068AC-5C5A-8B8E-FBDC-16F9AFD787A3}"/>
                  </a:ext>
                </a:extLst>
              </p:cNvPr>
              <p:cNvSpPr txBox="1">
                <a:spLocks noRot="1" noChangeAspect="1" noMove="1" noResize="1" noEditPoints="1" noAdjustHandles="1" noChangeArrowheads="1" noChangeShapeType="1" noTextEdit="1"/>
              </p:cNvSpPr>
              <p:nvPr/>
            </p:nvSpPr>
            <p:spPr>
              <a:xfrm>
                <a:off x="4345707" y="5183105"/>
                <a:ext cx="424873" cy="276999"/>
              </a:xfrm>
              <a:prstGeom prst="rect">
                <a:avLst/>
              </a:prstGeom>
              <a:blipFill>
                <a:blip r:embed="rId5"/>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2A9F42A-BA0C-B5EA-AC2A-B313231783B2}"/>
                  </a:ext>
                </a:extLst>
              </p:cNvPr>
              <p:cNvSpPr txBox="1"/>
              <p:nvPr/>
            </p:nvSpPr>
            <p:spPr>
              <a:xfrm>
                <a:off x="7216903" y="5182930"/>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𝑇</m:t>
                          </m:r>
                        </m:e>
                        <m:sub>
                          <m:r>
                            <a:rPr lang="en-US" b="0" i="1" smtClean="0">
                              <a:solidFill>
                                <a:schemeClr val="tx2"/>
                              </a:solidFill>
                              <a:latin typeface="Cambria Math" panose="02040503050406030204" pitchFamily="18" charset="0"/>
                            </a:rPr>
                            <m:t>4</m:t>
                          </m:r>
                        </m:sub>
                      </m:sSub>
                    </m:oMath>
                  </m:oMathPara>
                </a14:m>
                <a:endParaRPr lang="en-GB" dirty="0">
                  <a:solidFill>
                    <a:schemeClr val="tx2"/>
                  </a:solidFill>
                </a:endParaRPr>
              </a:p>
            </p:txBody>
          </p:sp>
        </mc:Choice>
        <mc:Fallback xmlns="">
          <p:sp>
            <p:nvSpPr>
              <p:cNvPr id="13" name="TextBox 12">
                <a:extLst>
                  <a:ext uri="{FF2B5EF4-FFF2-40B4-BE49-F238E27FC236}">
                    <a16:creationId xmlns:a16="http://schemas.microsoft.com/office/drawing/2014/main" id="{02A9F42A-BA0C-B5EA-AC2A-B313231783B2}"/>
                  </a:ext>
                </a:extLst>
              </p:cNvPr>
              <p:cNvSpPr txBox="1">
                <a:spLocks noRot="1" noChangeAspect="1" noMove="1" noResize="1" noEditPoints="1" noAdjustHandles="1" noChangeArrowheads="1" noChangeShapeType="1" noTextEdit="1"/>
              </p:cNvSpPr>
              <p:nvPr/>
            </p:nvSpPr>
            <p:spPr>
              <a:xfrm>
                <a:off x="7216903" y="5182930"/>
                <a:ext cx="424873" cy="276999"/>
              </a:xfrm>
              <a:prstGeom prst="rect">
                <a:avLst/>
              </a:prstGeom>
              <a:blipFill>
                <a:blip r:embed="rId6"/>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77EF17F-3904-74F8-27F4-046C3FA94068}"/>
                  </a:ext>
                </a:extLst>
              </p:cNvPr>
              <p:cNvSpPr txBox="1"/>
              <p:nvPr/>
            </p:nvSpPr>
            <p:spPr>
              <a:xfrm>
                <a:off x="8654312" y="5182929"/>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𝑇</m:t>
                          </m:r>
                        </m:e>
                        <m:sub>
                          <m:r>
                            <a:rPr lang="en-US" b="0" i="1" smtClean="0">
                              <a:solidFill>
                                <a:schemeClr val="tx2"/>
                              </a:solidFill>
                              <a:latin typeface="Cambria Math" panose="02040503050406030204" pitchFamily="18" charset="0"/>
                            </a:rPr>
                            <m:t>5</m:t>
                          </m:r>
                        </m:sub>
                      </m:sSub>
                    </m:oMath>
                  </m:oMathPara>
                </a14:m>
                <a:endParaRPr lang="en-GB" dirty="0">
                  <a:solidFill>
                    <a:schemeClr val="tx2"/>
                  </a:solidFill>
                </a:endParaRPr>
              </a:p>
            </p:txBody>
          </p:sp>
        </mc:Choice>
        <mc:Fallback xmlns="">
          <p:sp>
            <p:nvSpPr>
              <p:cNvPr id="14" name="TextBox 13">
                <a:extLst>
                  <a:ext uri="{FF2B5EF4-FFF2-40B4-BE49-F238E27FC236}">
                    <a16:creationId xmlns:a16="http://schemas.microsoft.com/office/drawing/2014/main" id="{C77EF17F-3904-74F8-27F4-046C3FA94068}"/>
                  </a:ext>
                </a:extLst>
              </p:cNvPr>
              <p:cNvSpPr txBox="1">
                <a:spLocks noRot="1" noChangeAspect="1" noMove="1" noResize="1" noEditPoints="1" noAdjustHandles="1" noChangeArrowheads="1" noChangeShapeType="1" noTextEdit="1"/>
              </p:cNvSpPr>
              <p:nvPr/>
            </p:nvSpPr>
            <p:spPr>
              <a:xfrm>
                <a:off x="8654312" y="5182929"/>
                <a:ext cx="424873" cy="276999"/>
              </a:xfrm>
              <a:prstGeom prst="rect">
                <a:avLst/>
              </a:prstGeom>
              <a:blipFill>
                <a:blip r:embed="rId7"/>
                <a:stretch>
                  <a:fillRect b="-17391"/>
                </a:stretch>
              </a:blipFill>
            </p:spPr>
            <p:txBody>
              <a:bodyPr/>
              <a:lstStyle/>
              <a:p>
                <a:r>
                  <a:rPr lang="en-GB">
                    <a:noFill/>
                  </a:rPr>
                  <a:t> </a:t>
                </a:r>
              </a:p>
            </p:txBody>
          </p:sp>
        </mc:Fallback>
      </mc:AlternateContent>
      <p:sp>
        <p:nvSpPr>
          <p:cNvPr id="16" name="Left Brace 15">
            <a:extLst>
              <a:ext uri="{FF2B5EF4-FFF2-40B4-BE49-F238E27FC236}">
                <a16:creationId xmlns:a16="http://schemas.microsoft.com/office/drawing/2014/main" id="{80F08AAC-EE95-80CB-929F-F6DD7C182CF0}"/>
              </a:ext>
            </a:extLst>
          </p:cNvPr>
          <p:cNvSpPr/>
          <p:nvPr/>
        </p:nvSpPr>
        <p:spPr>
          <a:xfrm rot="16200000">
            <a:off x="3690227" y="4857546"/>
            <a:ext cx="271137" cy="1475903"/>
          </a:xfrm>
          <a:prstGeom prst="leftBrace">
            <a:avLst/>
          </a:prstGeom>
          <a:ln>
            <a:solidFill>
              <a:srgbClr val="30303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3" name="Left Brace 22">
            <a:extLst>
              <a:ext uri="{FF2B5EF4-FFF2-40B4-BE49-F238E27FC236}">
                <a16:creationId xmlns:a16="http://schemas.microsoft.com/office/drawing/2014/main" id="{FFCF4BF6-1390-F75B-E856-950D27890B01}"/>
              </a:ext>
            </a:extLst>
          </p:cNvPr>
          <p:cNvSpPr/>
          <p:nvPr/>
        </p:nvSpPr>
        <p:spPr>
          <a:xfrm rot="16200000">
            <a:off x="5130099" y="4894018"/>
            <a:ext cx="270695" cy="1403399"/>
          </a:xfrm>
          <a:prstGeom prst="leftBrace">
            <a:avLst/>
          </a:prstGeom>
          <a:ln>
            <a:solidFill>
              <a:srgbClr val="30303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4" name="Left Brace 23">
            <a:extLst>
              <a:ext uri="{FF2B5EF4-FFF2-40B4-BE49-F238E27FC236}">
                <a16:creationId xmlns:a16="http://schemas.microsoft.com/office/drawing/2014/main" id="{9945BCB2-6066-A680-F595-AC8B663D5059}"/>
              </a:ext>
            </a:extLst>
          </p:cNvPr>
          <p:cNvSpPr/>
          <p:nvPr/>
        </p:nvSpPr>
        <p:spPr>
          <a:xfrm rot="16200000">
            <a:off x="6571394" y="4857546"/>
            <a:ext cx="271137" cy="1475904"/>
          </a:xfrm>
          <a:prstGeom prst="leftBrace">
            <a:avLst/>
          </a:prstGeom>
          <a:ln>
            <a:solidFill>
              <a:srgbClr val="30303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6" name="Left Brace 25">
            <a:extLst>
              <a:ext uri="{FF2B5EF4-FFF2-40B4-BE49-F238E27FC236}">
                <a16:creationId xmlns:a16="http://schemas.microsoft.com/office/drawing/2014/main" id="{F59322BC-E92B-AE5A-E0EF-73C85A9F3C96}"/>
              </a:ext>
            </a:extLst>
          </p:cNvPr>
          <p:cNvSpPr/>
          <p:nvPr/>
        </p:nvSpPr>
        <p:spPr>
          <a:xfrm rot="16200000">
            <a:off x="8008292" y="4889183"/>
            <a:ext cx="278506" cy="1405261"/>
          </a:xfrm>
          <a:prstGeom prst="leftBrace">
            <a:avLst/>
          </a:prstGeom>
          <a:ln>
            <a:solidFill>
              <a:srgbClr val="30303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4866DD2F-E681-1BCB-4F30-1E26F7C05A4B}"/>
                  </a:ext>
                </a:extLst>
              </p:cNvPr>
              <p:cNvSpPr txBox="1"/>
              <p:nvPr/>
            </p:nvSpPr>
            <p:spPr>
              <a:xfrm>
                <a:off x="2775530" y="4397590"/>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𝑃</m:t>
                          </m:r>
                        </m:e>
                        <m:sub>
                          <m:r>
                            <a:rPr lang="en-US" b="0" i="1" smtClean="0">
                              <a:solidFill>
                                <a:schemeClr val="tx2"/>
                              </a:solidFill>
                              <a:latin typeface="Cambria Math" panose="02040503050406030204" pitchFamily="18" charset="0"/>
                            </a:rPr>
                            <m:t>1</m:t>
                          </m:r>
                        </m:sub>
                      </m:sSub>
                    </m:oMath>
                  </m:oMathPara>
                </a14:m>
                <a:endParaRPr lang="en-GB" dirty="0">
                  <a:solidFill>
                    <a:schemeClr val="tx2"/>
                  </a:solidFill>
                </a:endParaRPr>
              </a:p>
            </p:txBody>
          </p:sp>
        </mc:Choice>
        <mc:Fallback xmlns="">
          <p:sp>
            <p:nvSpPr>
              <p:cNvPr id="27" name="TextBox 26">
                <a:extLst>
                  <a:ext uri="{FF2B5EF4-FFF2-40B4-BE49-F238E27FC236}">
                    <a16:creationId xmlns:a16="http://schemas.microsoft.com/office/drawing/2014/main" id="{4866DD2F-E681-1BCB-4F30-1E26F7C05A4B}"/>
                  </a:ext>
                </a:extLst>
              </p:cNvPr>
              <p:cNvSpPr txBox="1">
                <a:spLocks noRot="1" noChangeAspect="1" noMove="1" noResize="1" noEditPoints="1" noAdjustHandles="1" noChangeArrowheads="1" noChangeShapeType="1" noTextEdit="1"/>
              </p:cNvSpPr>
              <p:nvPr/>
            </p:nvSpPr>
            <p:spPr>
              <a:xfrm>
                <a:off x="2775530" y="4397590"/>
                <a:ext cx="424873" cy="276999"/>
              </a:xfrm>
              <a:prstGeom prst="rect">
                <a:avLst/>
              </a:prstGeom>
              <a:blipFill>
                <a:blip r:embed="rId8"/>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72B0CB2-9E64-7599-F620-F0F7DEB274DB}"/>
                  </a:ext>
                </a:extLst>
              </p:cNvPr>
              <p:cNvSpPr txBox="1"/>
              <p:nvPr/>
            </p:nvSpPr>
            <p:spPr>
              <a:xfrm>
                <a:off x="5922831" y="4379118"/>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𝑃</m:t>
                          </m:r>
                        </m:e>
                        <m:sub>
                          <m:r>
                            <a:rPr lang="en-US" b="0" i="1" smtClean="0">
                              <a:solidFill>
                                <a:schemeClr val="tx2"/>
                              </a:solidFill>
                              <a:latin typeface="Cambria Math" panose="02040503050406030204" pitchFamily="18" charset="0"/>
                            </a:rPr>
                            <m:t>3</m:t>
                          </m:r>
                        </m:sub>
                      </m:sSub>
                    </m:oMath>
                  </m:oMathPara>
                </a14:m>
                <a:endParaRPr lang="en-GB" dirty="0">
                  <a:solidFill>
                    <a:schemeClr val="tx2"/>
                  </a:solidFill>
                </a:endParaRPr>
              </a:p>
            </p:txBody>
          </p:sp>
        </mc:Choice>
        <mc:Fallback xmlns="">
          <p:sp>
            <p:nvSpPr>
              <p:cNvPr id="29" name="TextBox 28">
                <a:extLst>
                  <a:ext uri="{FF2B5EF4-FFF2-40B4-BE49-F238E27FC236}">
                    <a16:creationId xmlns:a16="http://schemas.microsoft.com/office/drawing/2014/main" id="{D72B0CB2-9E64-7599-F620-F0F7DEB274DB}"/>
                  </a:ext>
                </a:extLst>
              </p:cNvPr>
              <p:cNvSpPr txBox="1">
                <a:spLocks noRot="1" noChangeAspect="1" noMove="1" noResize="1" noEditPoints="1" noAdjustHandles="1" noChangeArrowheads="1" noChangeShapeType="1" noTextEdit="1"/>
              </p:cNvSpPr>
              <p:nvPr/>
            </p:nvSpPr>
            <p:spPr>
              <a:xfrm>
                <a:off x="5922831" y="4379118"/>
                <a:ext cx="424873" cy="276999"/>
              </a:xfrm>
              <a:prstGeom prst="rect">
                <a:avLst/>
              </a:prstGeom>
              <a:blipFill>
                <a:blip r:embed="rId9"/>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501D573-D7A4-1616-D81F-40AD367A4A6E}"/>
                  </a:ext>
                </a:extLst>
              </p:cNvPr>
              <p:cNvSpPr txBox="1"/>
              <p:nvPr/>
            </p:nvSpPr>
            <p:spPr>
              <a:xfrm>
                <a:off x="7203051" y="1376140"/>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𝑃</m:t>
                          </m:r>
                        </m:e>
                        <m:sub>
                          <m:r>
                            <a:rPr lang="en-US" b="0" i="1" smtClean="0">
                              <a:solidFill>
                                <a:schemeClr val="tx2"/>
                              </a:solidFill>
                              <a:latin typeface="Cambria Math" panose="02040503050406030204" pitchFamily="18" charset="0"/>
                            </a:rPr>
                            <m:t>4</m:t>
                          </m:r>
                        </m:sub>
                      </m:sSub>
                    </m:oMath>
                  </m:oMathPara>
                </a14:m>
                <a:endParaRPr lang="en-GB" dirty="0">
                  <a:solidFill>
                    <a:schemeClr val="tx2"/>
                  </a:solidFill>
                </a:endParaRPr>
              </a:p>
            </p:txBody>
          </p:sp>
        </mc:Choice>
        <mc:Fallback xmlns="">
          <p:sp>
            <p:nvSpPr>
              <p:cNvPr id="30" name="TextBox 29">
                <a:extLst>
                  <a:ext uri="{FF2B5EF4-FFF2-40B4-BE49-F238E27FC236}">
                    <a16:creationId xmlns:a16="http://schemas.microsoft.com/office/drawing/2014/main" id="{C501D573-D7A4-1616-D81F-40AD367A4A6E}"/>
                  </a:ext>
                </a:extLst>
              </p:cNvPr>
              <p:cNvSpPr txBox="1">
                <a:spLocks noRot="1" noChangeAspect="1" noMove="1" noResize="1" noEditPoints="1" noAdjustHandles="1" noChangeArrowheads="1" noChangeShapeType="1" noTextEdit="1"/>
              </p:cNvSpPr>
              <p:nvPr/>
            </p:nvSpPr>
            <p:spPr>
              <a:xfrm>
                <a:off x="7203051" y="1376140"/>
                <a:ext cx="424873" cy="276999"/>
              </a:xfrm>
              <a:prstGeom prst="rect">
                <a:avLst/>
              </a:prstGeom>
              <a:blipFill>
                <a:blip r:embed="rId10"/>
                <a:stretch>
                  <a:fillRect b="-1777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D65239CA-334D-74BE-292B-105D4B6AE772}"/>
                  </a:ext>
                </a:extLst>
              </p:cNvPr>
              <p:cNvSpPr txBox="1"/>
              <p:nvPr/>
            </p:nvSpPr>
            <p:spPr>
              <a:xfrm>
                <a:off x="8543638" y="3932292"/>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𝑃</m:t>
                          </m:r>
                        </m:e>
                        <m:sub>
                          <m:r>
                            <a:rPr lang="en-US" b="0" i="1" smtClean="0">
                              <a:solidFill>
                                <a:schemeClr val="tx2"/>
                              </a:solidFill>
                              <a:latin typeface="Cambria Math" panose="02040503050406030204" pitchFamily="18" charset="0"/>
                            </a:rPr>
                            <m:t>5</m:t>
                          </m:r>
                        </m:sub>
                      </m:sSub>
                    </m:oMath>
                  </m:oMathPara>
                </a14:m>
                <a:endParaRPr lang="en-GB" dirty="0">
                  <a:solidFill>
                    <a:schemeClr val="tx2"/>
                  </a:solidFill>
                </a:endParaRPr>
              </a:p>
            </p:txBody>
          </p:sp>
        </mc:Choice>
        <mc:Fallback xmlns="">
          <p:sp>
            <p:nvSpPr>
              <p:cNvPr id="31" name="TextBox 30">
                <a:extLst>
                  <a:ext uri="{FF2B5EF4-FFF2-40B4-BE49-F238E27FC236}">
                    <a16:creationId xmlns:a16="http://schemas.microsoft.com/office/drawing/2014/main" id="{D65239CA-334D-74BE-292B-105D4B6AE772}"/>
                  </a:ext>
                </a:extLst>
              </p:cNvPr>
              <p:cNvSpPr txBox="1">
                <a:spLocks noRot="1" noChangeAspect="1" noMove="1" noResize="1" noEditPoints="1" noAdjustHandles="1" noChangeArrowheads="1" noChangeShapeType="1" noTextEdit="1"/>
              </p:cNvSpPr>
              <p:nvPr/>
            </p:nvSpPr>
            <p:spPr>
              <a:xfrm>
                <a:off x="8543638" y="3932292"/>
                <a:ext cx="424873" cy="276999"/>
              </a:xfrm>
              <a:prstGeom prst="rect">
                <a:avLst/>
              </a:prstGeom>
              <a:blipFill>
                <a:blip r:embed="rId11"/>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4FC0201-330E-4218-1C83-2C673FD77614}"/>
                  </a:ext>
                </a:extLst>
              </p:cNvPr>
              <p:cNvSpPr txBox="1"/>
              <p:nvPr/>
            </p:nvSpPr>
            <p:spPr>
              <a:xfrm>
                <a:off x="3644737" y="5702691"/>
                <a:ext cx="338627"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𝑝</m:t>
                          </m:r>
                        </m:e>
                        <m:sub>
                          <m:r>
                            <a:rPr lang="en-US" sz="1400" b="0" i="1" smtClean="0">
                              <a:solidFill>
                                <a:schemeClr val="tx2"/>
                              </a:solidFill>
                              <a:latin typeface="Cambria Math" panose="02040503050406030204" pitchFamily="18" charset="0"/>
                            </a:rPr>
                            <m:t>1</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m:t>
                      </m:r>
                    </m:oMath>
                  </m:oMathPara>
                </a14:m>
                <a:endParaRPr lang="en-GB" sz="1400" dirty="0">
                  <a:solidFill>
                    <a:schemeClr val="tx2"/>
                  </a:solidFill>
                </a:endParaRPr>
              </a:p>
            </p:txBody>
          </p:sp>
        </mc:Choice>
        <mc:Fallback xmlns="">
          <p:sp>
            <p:nvSpPr>
              <p:cNvPr id="32" name="TextBox 31">
                <a:extLst>
                  <a:ext uri="{FF2B5EF4-FFF2-40B4-BE49-F238E27FC236}">
                    <a16:creationId xmlns:a16="http://schemas.microsoft.com/office/drawing/2014/main" id="{44FC0201-330E-4218-1C83-2C673FD77614}"/>
                  </a:ext>
                </a:extLst>
              </p:cNvPr>
              <p:cNvSpPr txBox="1">
                <a:spLocks noRot="1" noChangeAspect="1" noMove="1" noResize="1" noEditPoints="1" noAdjustHandles="1" noChangeArrowheads="1" noChangeShapeType="1" noTextEdit="1"/>
              </p:cNvSpPr>
              <p:nvPr/>
            </p:nvSpPr>
            <p:spPr>
              <a:xfrm>
                <a:off x="3644737" y="5702691"/>
                <a:ext cx="338627" cy="215444"/>
              </a:xfrm>
              <a:prstGeom prst="rect">
                <a:avLst/>
              </a:prstGeom>
              <a:blipFill>
                <a:blip r:embed="rId12"/>
                <a:stretch>
                  <a:fillRect l="-20000" r="-40000" b="-3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22B00216-C540-A3AF-338D-574E5DC22B48}"/>
                  </a:ext>
                </a:extLst>
              </p:cNvPr>
              <p:cNvSpPr txBox="1"/>
              <p:nvPr/>
            </p:nvSpPr>
            <p:spPr>
              <a:xfrm>
                <a:off x="5096133" y="5702691"/>
                <a:ext cx="338627"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𝑝</m:t>
                          </m:r>
                        </m:e>
                        <m:sub>
                          <m:r>
                            <a:rPr lang="en-US" sz="1400" b="0" i="1" smtClean="0">
                              <a:solidFill>
                                <a:schemeClr val="tx2"/>
                              </a:solidFill>
                              <a:latin typeface="Cambria Math" panose="02040503050406030204" pitchFamily="18" charset="0"/>
                            </a:rPr>
                            <m:t>2</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m:t>
                      </m:r>
                    </m:oMath>
                  </m:oMathPara>
                </a14:m>
                <a:endParaRPr lang="en-GB" sz="1400" dirty="0">
                  <a:solidFill>
                    <a:schemeClr val="tx2"/>
                  </a:solidFill>
                </a:endParaRPr>
              </a:p>
            </p:txBody>
          </p:sp>
        </mc:Choice>
        <mc:Fallback xmlns="">
          <p:sp>
            <p:nvSpPr>
              <p:cNvPr id="33" name="TextBox 32">
                <a:extLst>
                  <a:ext uri="{FF2B5EF4-FFF2-40B4-BE49-F238E27FC236}">
                    <a16:creationId xmlns:a16="http://schemas.microsoft.com/office/drawing/2014/main" id="{22B00216-C540-A3AF-338D-574E5DC22B48}"/>
                  </a:ext>
                </a:extLst>
              </p:cNvPr>
              <p:cNvSpPr txBox="1">
                <a:spLocks noRot="1" noChangeAspect="1" noMove="1" noResize="1" noEditPoints="1" noAdjustHandles="1" noChangeArrowheads="1" noChangeShapeType="1" noTextEdit="1"/>
              </p:cNvSpPr>
              <p:nvPr/>
            </p:nvSpPr>
            <p:spPr>
              <a:xfrm>
                <a:off x="5096133" y="5702691"/>
                <a:ext cx="338627" cy="215444"/>
              </a:xfrm>
              <a:prstGeom prst="rect">
                <a:avLst/>
              </a:prstGeom>
              <a:blipFill>
                <a:blip r:embed="rId13"/>
                <a:stretch>
                  <a:fillRect l="-19643" r="-39286" b="-3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3FA5B86-6AA5-6526-16D6-AA2CE93141E6}"/>
                  </a:ext>
                </a:extLst>
              </p:cNvPr>
              <p:cNvSpPr txBox="1"/>
              <p:nvPr/>
            </p:nvSpPr>
            <p:spPr>
              <a:xfrm>
                <a:off x="6537648" y="5707756"/>
                <a:ext cx="338627"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𝑝</m:t>
                          </m:r>
                        </m:e>
                        <m:sub>
                          <m:r>
                            <a:rPr lang="en-US" sz="1400" b="0" i="1" smtClean="0">
                              <a:solidFill>
                                <a:schemeClr val="tx2"/>
                              </a:solidFill>
                              <a:latin typeface="Cambria Math" panose="02040503050406030204" pitchFamily="18" charset="0"/>
                            </a:rPr>
                            <m:t>3</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m:t>
                      </m:r>
                    </m:oMath>
                  </m:oMathPara>
                </a14:m>
                <a:endParaRPr lang="en-GB" sz="1400" dirty="0">
                  <a:solidFill>
                    <a:schemeClr val="tx2"/>
                  </a:solidFill>
                </a:endParaRPr>
              </a:p>
            </p:txBody>
          </p:sp>
        </mc:Choice>
        <mc:Fallback xmlns="">
          <p:sp>
            <p:nvSpPr>
              <p:cNvPr id="34" name="TextBox 33">
                <a:extLst>
                  <a:ext uri="{FF2B5EF4-FFF2-40B4-BE49-F238E27FC236}">
                    <a16:creationId xmlns:a16="http://schemas.microsoft.com/office/drawing/2014/main" id="{F3FA5B86-6AA5-6526-16D6-AA2CE93141E6}"/>
                  </a:ext>
                </a:extLst>
              </p:cNvPr>
              <p:cNvSpPr txBox="1">
                <a:spLocks noRot="1" noChangeAspect="1" noMove="1" noResize="1" noEditPoints="1" noAdjustHandles="1" noChangeArrowheads="1" noChangeShapeType="1" noTextEdit="1"/>
              </p:cNvSpPr>
              <p:nvPr/>
            </p:nvSpPr>
            <p:spPr>
              <a:xfrm>
                <a:off x="6537648" y="5707756"/>
                <a:ext cx="338627" cy="215444"/>
              </a:xfrm>
              <a:prstGeom prst="rect">
                <a:avLst/>
              </a:prstGeom>
              <a:blipFill>
                <a:blip r:embed="rId14"/>
                <a:stretch>
                  <a:fillRect l="-17857" r="-41071" b="-3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AEEA177F-E463-5910-D2E6-BFD4EEC350F8}"/>
                  </a:ext>
                </a:extLst>
              </p:cNvPr>
              <p:cNvSpPr txBox="1"/>
              <p:nvPr/>
            </p:nvSpPr>
            <p:spPr>
              <a:xfrm>
                <a:off x="7980178" y="5700746"/>
                <a:ext cx="338627"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𝑝</m:t>
                          </m:r>
                        </m:e>
                        <m:sub>
                          <m:r>
                            <a:rPr lang="en-US" sz="1400" b="0" i="1" smtClean="0">
                              <a:solidFill>
                                <a:schemeClr val="tx2"/>
                              </a:solidFill>
                              <a:latin typeface="Cambria Math" panose="02040503050406030204" pitchFamily="18" charset="0"/>
                            </a:rPr>
                            <m:t>4</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m:t>
                      </m:r>
                    </m:oMath>
                  </m:oMathPara>
                </a14:m>
                <a:endParaRPr lang="en-GB" sz="1400" dirty="0">
                  <a:solidFill>
                    <a:schemeClr val="tx2"/>
                  </a:solidFill>
                </a:endParaRPr>
              </a:p>
            </p:txBody>
          </p:sp>
        </mc:Choice>
        <mc:Fallback xmlns="">
          <p:sp>
            <p:nvSpPr>
              <p:cNvPr id="35" name="TextBox 34">
                <a:extLst>
                  <a:ext uri="{FF2B5EF4-FFF2-40B4-BE49-F238E27FC236}">
                    <a16:creationId xmlns:a16="http://schemas.microsoft.com/office/drawing/2014/main" id="{AEEA177F-E463-5910-D2E6-BFD4EEC350F8}"/>
                  </a:ext>
                </a:extLst>
              </p:cNvPr>
              <p:cNvSpPr txBox="1">
                <a:spLocks noRot="1" noChangeAspect="1" noMove="1" noResize="1" noEditPoints="1" noAdjustHandles="1" noChangeArrowheads="1" noChangeShapeType="1" noTextEdit="1"/>
              </p:cNvSpPr>
              <p:nvPr/>
            </p:nvSpPr>
            <p:spPr>
              <a:xfrm>
                <a:off x="7980178" y="5700746"/>
                <a:ext cx="338627" cy="215444"/>
              </a:xfrm>
              <a:prstGeom prst="rect">
                <a:avLst/>
              </a:prstGeom>
              <a:blipFill>
                <a:blip r:embed="rId15"/>
                <a:stretch>
                  <a:fillRect l="-17857" r="-41071" b="-3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CE18FE4D-91A8-1214-4ACF-25C7CE393BCA}"/>
                  </a:ext>
                </a:extLst>
              </p:cNvPr>
              <p:cNvSpPr txBox="1"/>
              <p:nvPr/>
            </p:nvSpPr>
            <p:spPr>
              <a:xfrm>
                <a:off x="3347953" y="5945454"/>
                <a:ext cx="955683"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1</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&lt;</m:t>
                      </m:r>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2</m:t>
                          </m:r>
                        </m:sub>
                      </m:sSub>
                    </m:oMath>
                  </m:oMathPara>
                </a14:m>
                <a:endParaRPr lang="en-GB" sz="1400" dirty="0">
                  <a:solidFill>
                    <a:schemeClr val="tx2"/>
                  </a:solidFill>
                </a:endParaRPr>
              </a:p>
            </p:txBody>
          </p:sp>
        </mc:Choice>
        <mc:Fallback xmlns="">
          <p:sp>
            <p:nvSpPr>
              <p:cNvPr id="36" name="TextBox 35">
                <a:extLst>
                  <a:ext uri="{FF2B5EF4-FFF2-40B4-BE49-F238E27FC236}">
                    <a16:creationId xmlns:a16="http://schemas.microsoft.com/office/drawing/2014/main" id="{CE18FE4D-91A8-1214-4ACF-25C7CE393BCA}"/>
                  </a:ext>
                </a:extLst>
              </p:cNvPr>
              <p:cNvSpPr txBox="1">
                <a:spLocks noRot="1" noChangeAspect="1" noMove="1" noResize="1" noEditPoints="1" noAdjustHandles="1" noChangeArrowheads="1" noChangeShapeType="1" noTextEdit="1"/>
              </p:cNvSpPr>
              <p:nvPr/>
            </p:nvSpPr>
            <p:spPr>
              <a:xfrm>
                <a:off x="3347953" y="5945454"/>
                <a:ext cx="955683" cy="215444"/>
              </a:xfrm>
              <a:prstGeom prst="rect">
                <a:avLst/>
              </a:prstGeom>
              <a:blipFill>
                <a:blip r:embed="rId16"/>
                <a:stretch>
                  <a:fillRect l="-1911" b="-1388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9847B72-B25F-84D9-9486-B2EFA80DB050}"/>
                  </a:ext>
                </a:extLst>
              </p:cNvPr>
              <p:cNvSpPr txBox="1"/>
              <p:nvPr/>
            </p:nvSpPr>
            <p:spPr>
              <a:xfrm>
                <a:off x="4787604" y="5945013"/>
                <a:ext cx="955683"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2</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&lt;</m:t>
                      </m:r>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3</m:t>
                          </m:r>
                        </m:sub>
                      </m:sSub>
                    </m:oMath>
                  </m:oMathPara>
                </a14:m>
                <a:endParaRPr lang="en-GB" sz="1400" dirty="0">
                  <a:solidFill>
                    <a:schemeClr val="tx2"/>
                  </a:solidFill>
                </a:endParaRPr>
              </a:p>
            </p:txBody>
          </p:sp>
        </mc:Choice>
        <mc:Fallback xmlns="">
          <p:sp>
            <p:nvSpPr>
              <p:cNvPr id="37" name="TextBox 36">
                <a:extLst>
                  <a:ext uri="{FF2B5EF4-FFF2-40B4-BE49-F238E27FC236}">
                    <a16:creationId xmlns:a16="http://schemas.microsoft.com/office/drawing/2014/main" id="{49847B72-B25F-84D9-9486-B2EFA80DB050}"/>
                  </a:ext>
                </a:extLst>
              </p:cNvPr>
              <p:cNvSpPr txBox="1">
                <a:spLocks noRot="1" noChangeAspect="1" noMove="1" noResize="1" noEditPoints="1" noAdjustHandles="1" noChangeArrowheads="1" noChangeShapeType="1" noTextEdit="1"/>
              </p:cNvSpPr>
              <p:nvPr/>
            </p:nvSpPr>
            <p:spPr>
              <a:xfrm>
                <a:off x="4787604" y="5945013"/>
                <a:ext cx="955683" cy="215444"/>
              </a:xfrm>
              <a:prstGeom prst="rect">
                <a:avLst/>
              </a:prstGeom>
              <a:blipFill>
                <a:blip r:embed="rId17"/>
                <a:stretch>
                  <a:fillRect l="-2548" b="-1388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CFA34671-6758-E6CC-AC41-A34FDFB63207}"/>
                  </a:ext>
                </a:extLst>
              </p:cNvPr>
              <p:cNvSpPr txBox="1"/>
              <p:nvPr/>
            </p:nvSpPr>
            <p:spPr>
              <a:xfrm>
                <a:off x="6227255" y="5945013"/>
                <a:ext cx="955683"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1</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&lt;</m:t>
                      </m:r>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2</m:t>
                          </m:r>
                        </m:sub>
                      </m:sSub>
                    </m:oMath>
                  </m:oMathPara>
                </a14:m>
                <a:endParaRPr lang="en-GB" sz="1400" dirty="0">
                  <a:solidFill>
                    <a:schemeClr val="tx2"/>
                  </a:solidFill>
                </a:endParaRPr>
              </a:p>
            </p:txBody>
          </p:sp>
        </mc:Choice>
        <mc:Fallback xmlns="">
          <p:sp>
            <p:nvSpPr>
              <p:cNvPr id="38" name="TextBox 37">
                <a:extLst>
                  <a:ext uri="{FF2B5EF4-FFF2-40B4-BE49-F238E27FC236}">
                    <a16:creationId xmlns:a16="http://schemas.microsoft.com/office/drawing/2014/main" id="{CFA34671-6758-E6CC-AC41-A34FDFB63207}"/>
                  </a:ext>
                </a:extLst>
              </p:cNvPr>
              <p:cNvSpPr txBox="1">
                <a:spLocks noRot="1" noChangeAspect="1" noMove="1" noResize="1" noEditPoints="1" noAdjustHandles="1" noChangeArrowheads="1" noChangeShapeType="1" noTextEdit="1"/>
              </p:cNvSpPr>
              <p:nvPr/>
            </p:nvSpPr>
            <p:spPr>
              <a:xfrm>
                <a:off x="6227255" y="5945013"/>
                <a:ext cx="955683" cy="215444"/>
              </a:xfrm>
              <a:prstGeom prst="rect">
                <a:avLst/>
              </a:prstGeom>
              <a:blipFill>
                <a:blip r:embed="rId18"/>
                <a:stretch>
                  <a:fillRect l="-1923" b="-1388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8A2B03CD-6AF8-070E-DD47-045487979CAF}"/>
                  </a:ext>
                </a:extLst>
              </p:cNvPr>
              <p:cNvSpPr txBox="1"/>
              <p:nvPr/>
            </p:nvSpPr>
            <p:spPr>
              <a:xfrm>
                <a:off x="7666906" y="5945013"/>
                <a:ext cx="955683"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1</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&lt;</m:t>
                      </m:r>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2</m:t>
                          </m:r>
                        </m:sub>
                      </m:sSub>
                    </m:oMath>
                  </m:oMathPara>
                </a14:m>
                <a:endParaRPr lang="en-GB" sz="1400" dirty="0">
                  <a:solidFill>
                    <a:schemeClr val="tx2"/>
                  </a:solidFill>
                </a:endParaRPr>
              </a:p>
            </p:txBody>
          </p:sp>
        </mc:Choice>
        <mc:Fallback xmlns="">
          <p:sp>
            <p:nvSpPr>
              <p:cNvPr id="39" name="TextBox 38">
                <a:extLst>
                  <a:ext uri="{FF2B5EF4-FFF2-40B4-BE49-F238E27FC236}">
                    <a16:creationId xmlns:a16="http://schemas.microsoft.com/office/drawing/2014/main" id="{8A2B03CD-6AF8-070E-DD47-045487979CAF}"/>
                  </a:ext>
                </a:extLst>
              </p:cNvPr>
              <p:cNvSpPr txBox="1">
                <a:spLocks noRot="1" noChangeAspect="1" noMove="1" noResize="1" noEditPoints="1" noAdjustHandles="1" noChangeArrowheads="1" noChangeShapeType="1" noTextEdit="1"/>
              </p:cNvSpPr>
              <p:nvPr/>
            </p:nvSpPr>
            <p:spPr>
              <a:xfrm>
                <a:off x="7666906" y="5945013"/>
                <a:ext cx="955683" cy="215444"/>
              </a:xfrm>
              <a:prstGeom prst="rect">
                <a:avLst/>
              </a:prstGeom>
              <a:blipFill>
                <a:blip r:embed="rId18"/>
                <a:stretch>
                  <a:fillRect l="-1923" b="-13889"/>
                </a:stretch>
              </a:blipFill>
            </p:spPr>
            <p:txBody>
              <a:bodyPr/>
              <a:lstStyle/>
              <a:p>
                <a:r>
                  <a:rPr lang="en-GB">
                    <a:noFill/>
                  </a:rPr>
                  <a:t> </a:t>
                </a:r>
              </a:p>
            </p:txBody>
          </p:sp>
        </mc:Fallback>
      </mc:AlternateContent>
      <p:cxnSp>
        <p:nvCxnSpPr>
          <p:cNvPr id="41" name="Straight Arrow Connector 40">
            <a:extLst>
              <a:ext uri="{FF2B5EF4-FFF2-40B4-BE49-F238E27FC236}">
                <a16:creationId xmlns:a16="http://schemas.microsoft.com/office/drawing/2014/main" id="{AC474824-4D17-2E45-6F0F-FDE1868A8DE9}"/>
              </a:ext>
            </a:extLst>
          </p:cNvPr>
          <p:cNvCxnSpPr>
            <a:cxnSpLocks/>
          </p:cNvCxnSpPr>
          <p:nvPr/>
        </p:nvCxnSpPr>
        <p:spPr>
          <a:xfrm>
            <a:off x="3103719" y="4775200"/>
            <a:ext cx="556893" cy="0"/>
          </a:xfrm>
          <a:prstGeom prst="straightConnector1">
            <a:avLst/>
          </a:prstGeom>
          <a:ln w="28575">
            <a:solidFill>
              <a:srgbClr val="ED7D3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2ED3609-D1C0-C937-13C6-BBA4EFF70A22}"/>
              </a:ext>
            </a:extLst>
          </p:cNvPr>
          <p:cNvCxnSpPr>
            <a:cxnSpLocks/>
          </p:cNvCxnSpPr>
          <p:nvPr/>
        </p:nvCxnSpPr>
        <p:spPr>
          <a:xfrm>
            <a:off x="8871605" y="3914136"/>
            <a:ext cx="556893" cy="0"/>
          </a:xfrm>
          <a:prstGeom prst="straightConnector1">
            <a:avLst/>
          </a:prstGeom>
          <a:ln w="28575">
            <a:solidFill>
              <a:srgbClr val="ED7D3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928CF617-B1A7-3E07-2E72-900275044A7F}"/>
                  </a:ext>
                </a:extLst>
              </p:cNvPr>
              <p:cNvSpPr txBox="1"/>
              <p:nvPr/>
            </p:nvSpPr>
            <p:spPr>
              <a:xfrm>
                <a:off x="3388715" y="4501470"/>
                <a:ext cx="543793"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rgbClr val="ED7D31"/>
                              </a:solidFill>
                              <a:latin typeface="Cambria Math" panose="02040503050406030204" pitchFamily="18" charset="0"/>
                            </a:rPr>
                          </m:ctrlPr>
                        </m:sSubPr>
                        <m:e>
                          <m:r>
                            <a:rPr lang="en-US" sz="1400" b="0" i="1" smtClean="0">
                              <a:solidFill>
                                <a:srgbClr val="ED7D31"/>
                              </a:solidFill>
                              <a:latin typeface="Cambria Math" panose="02040503050406030204" pitchFamily="18" charset="0"/>
                            </a:rPr>
                            <m:t>𝑣</m:t>
                          </m:r>
                        </m:e>
                        <m:sub>
                          <m:r>
                            <a:rPr lang="en-US" sz="1400" b="0" i="1" smtClean="0">
                              <a:solidFill>
                                <a:srgbClr val="ED7D31"/>
                              </a:solidFill>
                              <a:latin typeface="Cambria Math" panose="02040503050406030204" pitchFamily="18" charset="0"/>
                            </a:rPr>
                            <m:t>𝑖𝑛𝑖𝑡𝑖𝑎𝑙</m:t>
                          </m:r>
                        </m:sub>
                      </m:sSub>
                    </m:oMath>
                  </m:oMathPara>
                </a14:m>
                <a:endParaRPr lang="en-GB" sz="1400" dirty="0">
                  <a:solidFill>
                    <a:srgbClr val="ED7D31"/>
                  </a:solidFill>
                </a:endParaRPr>
              </a:p>
            </p:txBody>
          </p:sp>
        </mc:Choice>
        <mc:Fallback xmlns="">
          <p:sp>
            <p:nvSpPr>
              <p:cNvPr id="45" name="TextBox 44">
                <a:extLst>
                  <a:ext uri="{FF2B5EF4-FFF2-40B4-BE49-F238E27FC236}">
                    <a16:creationId xmlns:a16="http://schemas.microsoft.com/office/drawing/2014/main" id="{928CF617-B1A7-3E07-2E72-900275044A7F}"/>
                  </a:ext>
                </a:extLst>
              </p:cNvPr>
              <p:cNvSpPr txBox="1">
                <a:spLocks noRot="1" noChangeAspect="1" noMove="1" noResize="1" noEditPoints="1" noAdjustHandles="1" noChangeArrowheads="1" noChangeShapeType="1" noTextEdit="1"/>
              </p:cNvSpPr>
              <p:nvPr/>
            </p:nvSpPr>
            <p:spPr>
              <a:xfrm>
                <a:off x="3388715" y="4501470"/>
                <a:ext cx="543793" cy="215444"/>
              </a:xfrm>
              <a:prstGeom prst="rect">
                <a:avLst/>
              </a:prstGeom>
              <a:blipFill>
                <a:blip r:embed="rId19"/>
                <a:stretch>
                  <a:fillRect l="-6742" r="-2247"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2090E47-A474-EDE8-E20A-70EC6FE01A65}"/>
                  </a:ext>
                </a:extLst>
              </p:cNvPr>
              <p:cNvSpPr txBox="1"/>
              <p:nvPr/>
            </p:nvSpPr>
            <p:spPr>
              <a:xfrm>
                <a:off x="9271355" y="3921940"/>
                <a:ext cx="543793" cy="232692"/>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rgbClr val="ED7D31"/>
                              </a:solidFill>
                              <a:latin typeface="Cambria Math" panose="02040503050406030204" pitchFamily="18" charset="0"/>
                            </a:rPr>
                          </m:ctrlPr>
                        </m:sSubPr>
                        <m:e>
                          <m:r>
                            <a:rPr lang="en-US" sz="1400" b="0" i="1" smtClean="0">
                              <a:solidFill>
                                <a:srgbClr val="ED7D31"/>
                              </a:solidFill>
                              <a:latin typeface="Cambria Math" panose="02040503050406030204" pitchFamily="18" charset="0"/>
                            </a:rPr>
                            <m:t>𝑣</m:t>
                          </m:r>
                        </m:e>
                        <m:sub>
                          <m:r>
                            <a:rPr lang="en-US" sz="1400" b="0" i="1" smtClean="0">
                              <a:solidFill>
                                <a:srgbClr val="ED7D31"/>
                              </a:solidFill>
                              <a:latin typeface="Cambria Math" panose="02040503050406030204" pitchFamily="18" charset="0"/>
                            </a:rPr>
                            <m:t>𝑓𝑖𝑛𝑎𝑙</m:t>
                          </m:r>
                        </m:sub>
                      </m:sSub>
                    </m:oMath>
                  </m:oMathPara>
                </a14:m>
                <a:endParaRPr lang="en-GB" sz="1400" dirty="0">
                  <a:solidFill>
                    <a:srgbClr val="ED7D31"/>
                  </a:solidFill>
                </a:endParaRPr>
              </a:p>
            </p:txBody>
          </p:sp>
        </mc:Choice>
        <mc:Fallback xmlns="">
          <p:sp>
            <p:nvSpPr>
              <p:cNvPr id="47" name="TextBox 46">
                <a:extLst>
                  <a:ext uri="{FF2B5EF4-FFF2-40B4-BE49-F238E27FC236}">
                    <a16:creationId xmlns:a16="http://schemas.microsoft.com/office/drawing/2014/main" id="{52090E47-A474-EDE8-E20A-70EC6FE01A65}"/>
                  </a:ext>
                </a:extLst>
              </p:cNvPr>
              <p:cNvSpPr txBox="1">
                <a:spLocks noRot="1" noChangeAspect="1" noMove="1" noResize="1" noEditPoints="1" noAdjustHandles="1" noChangeArrowheads="1" noChangeShapeType="1" noTextEdit="1"/>
              </p:cNvSpPr>
              <p:nvPr/>
            </p:nvSpPr>
            <p:spPr>
              <a:xfrm>
                <a:off x="9271355" y="3921940"/>
                <a:ext cx="543793" cy="232692"/>
              </a:xfrm>
              <a:prstGeom prst="rect">
                <a:avLst/>
              </a:prstGeom>
              <a:blipFill>
                <a:blip r:embed="rId20"/>
                <a:stretch>
                  <a:fillRect b="-2307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A582463-6CCD-680F-9D40-AAFD0B80A188}"/>
                  </a:ext>
                </a:extLst>
              </p:cNvPr>
              <p:cNvSpPr txBox="1"/>
              <p:nvPr/>
            </p:nvSpPr>
            <p:spPr>
              <a:xfrm>
                <a:off x="4496718" y="2732092"/>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𝑃</m:t>
                          </m:r>
                        </m:e>
                        <m:sub>
                          <m:r>
                            <a:rPr lang="en-US" b="0" i="1" smtClean="0">
                              <a:solidFill>
                                <a:schemeClr val="tx2"/>
                              </a:solidFill>
                              <a:latin typeface="Cambria Math" panose="02040503050406030204" pitchFamily="18" charset="0"/>
                            </a:rPr>
                            <m:t>2</m:t>
                          </m:r>
                        </m:sub>
                      </m:sSub>
                    </m:oMath>
                  </m:oMathPara>
                </a14:m>
                <a:endParaRPr lang="en-GB" dirty="0">
                  <a:solidFill>
                    <a:schemeClr val="tx2"/>
                  </a:solidFill>
                </a:endParaRPr>
              </a:p>
            </p:txBody>
          </p:sp>
        </mc:Choice>
        <mc:Fallback xmlns="">
          <p:sp>
            <p:nvSpPr>
              <p:cNvPr id="2" name="TextBox 1">
                <a:extLst>
                  <a:ext uri="{FF2B5EF4-FFF2-40B4-BE49-F238E27FC236}">
                    <a16:creationId xmlns:a16="http://schemas.microsoft.com/office/drawing/2014/main" id="{CA582463-6CCD-680F-9D40-AAFD0B80A188}"/>
                  </a:ext>
                </a:extLst>
              </p:cNvPr>
              <p:cNvSpPr txBox="1">
                <a:spLocks noRot="1" noChangeAspect="1" noMove="1" noResize="1" noEditPoints="1" noAdjustHandles="1" noChangeArrowheads="1" noChangeShapeType="1" noTextEdit="1"/>
              </p:cNvSpPr>
              <p:nvPr/>
            </p:nvSpPr>
            <p:spPr>
              <a:xfrm>
                <a:off x="4496718" y="2732092"/>
                <a:ext cx="424873" cy="276999"/>
              </a:xfrm>
              <a:prstGeom prst="rect">
                <a:avLst/>
              </a:prstGeom>
              <a:blipFill>
                <a:blip r:embed="rId21"/>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14202F27-AA8F-CA5C-943E-1D93BD18717F}"/>
                  </a:ext>
                </a:extLst>
              </p:cNvPr>
              <p:cNvSpPr txBox="1"/>
              <p:nvPr/>
            </p:nvSpPr>
            <p:spPr>
              <a:xfrm>
                <a:off x="9236405" y="1428697"/>
                <a:ext cx="2977228" cy="246221"/>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a:rPr lang="en-US" sz="1600" b="0" i="1" smtClean="0">
                          <a:solidFill>
                            <a:schemeClr val="tx2"/>
                          </a:solidFill>
                          <a:latin typeface="Cambria Math" panose="02040503050406030204" pitchFamily="18" charset="0"/>
                        </a:rPr>
                        <m:t>𝑝</m:t>
                      </m:r>
                      <m:d>
                        <m:dPr>
                          <m:ctrlPr>
                            <a:rPr lang="en-US" sz="1600" b="0" i="1" smtClean="0">
                              <a:solidFill>
                                <a:schemeClr val="tx2"/>
                              </a:solidFill>
                              <a:latin typeface="Cambria Math" panose="02040503050406030204" pitchFamily="18" charset="0"/>
                            </a:rPr>
                          </m:ctrlPr>
                        </m:dPr>
                        <m:e>
                          <m:r>
                            <a:rPr lang="en-US" sz="1600" b="0" i="1" smtClean="0">
                              <a:solidFill>
                                <a:schemeClr val="tx2"/>
                              </a:solidFill>
                              <a:latin typeface="Cambria Math" panose="02040503050406030204" pitchFamily="18" charset="0"/>
                            </a:rPr>
                            <m:t>𝑡</m:t>
                          </m:r>
                        </m:e>
                      </m:d>
                      <m:r>
                        <a:rPr lang="en-US" sz="1600" b="0" i="1" smtClean="0">
                          <a:solidFill>
                            <a:schemeClr val="tx2"/>
                          </a:solidFill>
                          <a:latin typeface="Cambria Math" panose="02040503050406030204" pitchFamily="18" charset="0"/>
                        </a:rPr>
                        <m:t>=</m:t>
                      </m:r>
                      <m:sSub>
                        <m:sSubPr>
                          <m:ctrlPr>
                            <a:rPr lang="en-US" sz="1600" b="1" i="1" smtClean="0">
                              <a:solidFill>
                                <a:schemeClr val="tx1"/>
                              </a:solidFill>
                              <a:latin typeface="Cambria Math" panose="02040503050406030204" pitchFamily="18" charset="0"/>
                            </a:rPr>
                          </m:ctrlPr>
                        </m:sSubPr>
                        <m:e>
                          <m:r>
                            <a:rPr lang="en-US" sz="1600" b="1" i="1" smtClean="0">
                              <a:solidFill>
                                <a:schemeClr val="tx1"/>
                              </a:solidFill>
                              <a:latin typeface="Cambria Math" panose="02040503050406030204" pitchFamily="18" charset="0"/>
                            </a:rPr>
                            <m:t>𝒂</m:t>
                          </m:r>
                        </m:e>
                        <m:sub>
                          <m:r>
                            <a:rPr lang="en-US" sz="1600" b="1" i="1" smtClean="0">
                              <a:solidFill>
                                <a:schemeClr val="tx1"/>
                              </a:solidFill>
                              <a:latin typeface="Cambria Math" panose="02040503050406030204" pitchFamily="18" charset="0"/>
                            </a:rPr>
                            <m:t>𝟏</m:t>
                          </m:r>
                        </m:sub>
                      </m:sSub>
                      <m:r>
                        <a:rPr lang="en-US" sz="1600" b="0" i="1" smtClean="0">
                          <a:solidFill>
                            <a:schemeClr val="tx2"/>
                          </a:solidFill>
                          <a:latin typeface="Cambria Math" panose="02040503050406030204" pitchFamily="18" charset="0"/>
                        </a:rPr>
                        <m:t>+</m:t>
                      </m:r>
                      <m:sSub>
                        <m:sSubPr>
                          <m:ctrlPr>
                            <a:rPr lang="en-US" sz="1600" b="1" i="1" smtClean="0">
                              <a:solidFill>
                                <a:schemeClr val="tx1"/>
                              </a:solidFill>
                              <a:latin typeface="Cambria Math" panose="02040503050406030204" pitchFamily="18" charset="0"/>
                            </a:rPr>
                          </m:ctrlPr>
                        </m:sSubPr>
                        <m:e>
                          <m:r>
                            <a:rPr lang="en-US" sz="1600" b="1" i="1" smtClean="0">
                              <a:solidFill>
                                <a:schemeClr val="tx1"/>
                              </a:solidFill>
                              <a:latin typeface="Cambria Math" panose="02040503050406030204" pitchFamily="18" charset="0"/>
                            </a:rPr>
                            <m:t>𝒂</m:t>
                          </m:r>
                        </m:e>
                        <m:sub>
                          <m:r>
                            <a:rPr lang="en-US" sz="1600" b="1" i="1" smtClean="0">
                              <a:solidFill>
                                <a:schemeClr val="tx1"/>
                              </a:solidFill>
                              <a:latin typeface="Cambria Math" panose="02040503050406030204" pitchFamily="18" charset="0"/>
                            </a:rPr>
                            <m:t>𝟐</m:t>
                          </m:r>
                        </m:sub>
                      </m:sSub>
                      <m:r>
                        <a:rPr lang="en-US" sz="1600" b="0" i="1" smtClean="0">
                          <a:solidFill>
                            <a:schemeClr val="tx2"/>
                          </a:solidFill>
                          <a:latin typeface="Cambria Math" panose="02040503050406030204" pitchFamily="18" charset="0"/>
                        </a:rPr>
                        <m:t>𝑡</m:t>
                      </m:r>
                      <m:r>
                        <a:rPr lang="en-US" sz="1600" b="0" i="1" smtClean="0">
                          <a:solidFill>
                            <a:schemeClr val="tx2"/>
                          </a:solidFill>
                          <a:latin typeface="Cambria Math" panose="02040503050406030204" pitchFamily="18" charset="0"/>
                        </a:rPr>
                        <m:t>+</m:t>
                      </m:r>
                      <m:sSub>
                        <m:sSubPr>
                          <m:ctrlPr>
                            <a:rPr lang="en-US" sz="1600" b="1" i="1" smtClean="0">
                              <a:solidFill>
                                <a:schemeClr val="tx1"/>
                              </a:solidFill>
                              <a:latin typeface="Cambria Math" panose="02040503050406030204" pitchFamily="18" charset="0"/>
                            </a:rPr>
                          </m:ctrlPr>
                        </m:sSubPr>
                        <m:e>
                          <m:r>
                            <a:rPr lang="en-US" sz="1600" b="1" i="1" smtClean="0">
                              <a:solidFill>
                                <a:schemeClr val="tx1"/>
                              </a:solidFill>
                              <a:latin typeface="Cambria Math" panose="02040503050406030204" pitchFamily="18" charset="0"/>
                            </a:rPr>
                            <m:t>𝒂</m:t>
                          </m:r>
                        </m:e>
                        <m:sub>
                          <m:r>
                            <a:rPr lang="en-US" sz="1600" b="1" i="1" smtClean="0">
                              <a:solidFill>
                                <a:schemeClr val="tx1"/>
                              </a:solidFill>
                              <a:latin typeface="Cambria Math" panose="02040503050406030204" pitchFamily="18" charset="0"/>
                            </a:rPr>
                            <m:t>𝟑</m:t>
                          </m:r>
                        </m:sub>
                      </m:sSub>
                      <m:sSup>
                        <m:sSupPr>
                          <m:ctrlPr>
                            <a:rPr lang="en-US" sz="1600" b="0" i="1" smtClean="0">
                              <a:solidFill>
                                <a:schemeClr val="tx2"/>
                              </a:solidFill>
                              <a:latin typeface="Cambria Math" panose="02040503050406030204" pitchFamily="18" charset="0"/>
                            </a:rPr>
                          </m:ctrlPr>
                        </m:sSupPr>
                        <m:e>
                          <m:r>
                            <a:rPr lang="en-US" sz="1600" b="0" i="1" smtClean="0">
                              <a:solidFill>
                                <a:schemeClr val="tx2"/>
                              </a:solidFill>
                              <a:latin typeface="Cambria Math" panose="02040503050406030204" pitchFamily="18" charset="0"/>
                            </a:rPr>
                            <m:t>𝑡</m:t>
                          </m:r>
                        </m:e>
                        <m:sup>
                          <m:r>
                            <a:rPr lang="en-US" sz="1600" b="0" i="1" smtClean="0">
                              <a:solidFill>
                                <a:schemeClr val="tx2"/>
                              </a:solidFill>
                              <a:latin typeface="Cambria Math" panose="02040503050406030204" pitchFamily="18" charset="0"/>
                            </a:rPr>
                            <m:t>2</m:t>
                          </m:r>
                        </m:sup>
                      </m:sSup>
                      <m:r>
                        <a:rPr lang="en-US" sz="1600" b="0" i="1" smtClean="0">
                          <a:solidFill>
                            <a:schemeClr val="tx2"/>
                          </a:solidFill>
                          <a:latin typeface="Cambria Math" panose="02040503050406030204" pitchFamily="18" charset="0"/>
                        </a:rPr>
                        <m:t>+</m:t>
                      </m:r>
                      <m:sSub>
                        <m:sSubPr>
                          <m:ctrlPr>
                            <a:rPr lang="en-US" sz="1600" b="1" i="1" smtClean="0">
                              <a:solidFill>
                                <a:schemeClr val="tx1"/>
                              </a:solidFill>
                              <a:latin typeface="Cambria Math" panose="02040503050406030204" pitchFamily="18" charset="0"/>
                            </a:rPr>
                          </m:ctrlPr>
                        </m:sSubPr>
                        <m:e>
                          <m:r>
                            <a:rPr lang="en-US" sz="1600" b="1" i="1" smtClean="0">
                              <a:solidFill>
                                <a:schemeClr val="tx1"/>
                              </a:solidFill>
                              <a:latin typeface="Cambria Math" panose="02040503050406030204" pitchFamily="18" charset="0"/>
                            </a:rPr>
                            <m:t>𝒂</m:t>
                          </m:r>
                        </m:e>
                        <m:sub>
                          <m:r>
                            <a:rPr lang="en-US" sz="1600" b="1" i="1" smtClean="0">
                              <a:solidFill>
                                <a:schemeClr val="tx1"/>
                              </a:solidFill>
                              <a:latin typeface="Cambria Math" panose="02040503050406030204" pitchFamily="18" charset="0"/>
                            </a:rPr>
                            <m:t>𝟒</m:t>
                          </m:r>
                        </m:sub>
                      </m:sSub>
                      <m:sSup>
                        <m:sSupPr>
                          <m:ctrlPr>
                            <a:rPr lang="en-US" sz="1600" b="0" i="1" smtClean="0">
                              <a:solidFill>
                                <a:schemeClr val="tx2"/>
                              </a:solidFill>
                              <a:latin typeface="Cambria Math" panose="02040503050406030204" pitchFamily="18" charset="0"/>
                            </a:rPr>
                          </m:ctrlPr>
                        </m:sSupPr>
                        <m:e>
                          <m:r>
                            <a:rPr lang="en-US" sz="1600" b="0" i="1" smtClean="0">
                              <a:solidFill>
                                <a:schemeClr val="tx2"/>
                              </a:solidFill>
                              <a:latin typeface="Cambria Math" panose="02040503050406030204" pitchFamily="18" charset="0"/>
                            </a:rPr>
                            <m:t>𝑡</m:t>
                          </m:r>
                        </m:e>
                        <m:sup>
                          <m:r>
                            <a:rPr lang="en-US" sz="1600" b="0" i="1" smtClean="0">
                              <a:solidFill>
                                <a:schemeClr val="tx2"/>
                              </a:solidFill>
                              <a:latin typeface="Cambria Math" panose="02040503050406030204" pitchFamily="18" charset="0"/>
                            </a:rPr>
                            <m:t>3</m:t>
                          </m:r>
                        </m:sup>
                      </m:sSup>
                    </m:oMath>
                  </m:oMathPara>
                </a14:m>
                <a:endParaRPr lang="en-GB" sz="1600" dirty="0">
                  <a:solidFill>
                    <a:schemeClr val="tx2"/>
                  </a:solidFill>
                </a:endParaRPr>
              </a:p>
            </p:txBody>
          </p:sp>
        </mc:Choice>
        <mc:Fallback xmlns="">
          <p:sp>
            <p:nvSpPr>
              <p:cNvPr id="46" name="TextBox 45">
                <a:extLst>
                  <a:ext uri="{FF2B5EF4-FFF2-40B4-BE49-F238E27FC236}">
                    <a16:creationId xmlns:a16="http://schemas.microsoft.com/office/drawing/2014/main" id="{14202F27-AA8F-CA5C-943E-1D93BD18717F}"/>
                  </a:ext>
                </a:extLst>
              </p:cNvPr>
              <p:cNvSpPr txBox="1">
                <a:spLocks noRot="1" noChangeAspect="1" noMove="1" noResize="1" noEditPoints="1" noAdjustHandles="1" noChangeArrowheads="1" noChangeShapeType="1" noTextEdit="1"/>
              </p:cNvSpPr>
              <p:nvPr/>
            </p:nvSpPr>
            <p:spPr>
              <a:xfrm>
                <a:off x="9236405" y="1428697"/>
                <a:ext cx="2977228" cy="246221"/>
              </a:xfrm>
              <a:prstGeom prst="rect">
                <a:avLst/>
              </a:prstGeom>
              <a:blipFill>
                <a:blip r:embed="rId22"/>
                <a:stretch>
                  <a:fillRect b="-24390"/>
                </a:stretch>
              </a:blipFill>
            </p:spPr>
            <p:txBody>
              <a:bodyPr/>
              <a:lstStyle/>
              <a:p>
                <a:r>
                  <a:rPr lang="en-GB">
                    <a:noFill/>
                  </a:rPr>
                  <a:t> </a:t>
                </a:r>
              </a:p>
            </p:txBody>
          </p:sp>
        </mc:Fallback>
      </mc:AlternateContent>
      <p:sp>
        <p:nvSpPr>
          <p:cNvPr id="20" name="Rectangle: Rounded Corners 19">
            <a:extLst>
              <a:ext uri="{FF2B5EF4-FFF2-40B4-BE49-F238E27FC236}">
                <a16:creationId xmlns:a16="http://schemas.microsoft.com/office/drawing/2014/main" id="{B3451975-7000-AB01-74B8-03DC86D4F4C2}"/>
              </a:ext>
            </a:extLst>
          </p:cNvPr>
          <p:cNvSpPr/>
          <p:nvPr/>
        </p:nvSpPr>
        <p:spPr>
          <a:xfrm>
            <a:off x="8292352" y="338085"/>
            <a:ext cx="2303929" cy="622422"/>
          </a:xfrm>
          <a:prstGeom prst="roundRect">
            <a:avLst/>
          </a:prstGeom>
          <a:solidFill>
            <a:srgbClr val="CDDCF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CubicPolynomial</a:t>
            </a:r>
            <a:endParaRPr lang="en-GB" sz="1400" dirty="0">
              <a:solidFill>
                <a:srgbClr val="003399"/>
              </a:solidFill>
            </a:endParaRPr>
          </a:p>
        </p:txBody>
      </p:sp>
      <p:sp>
        <p:nvSpPr>
          <p:cNvPr id="40" name="Title 2">
            <a:extLst>
              <a:ext uri="{FF2B5EF4-FFF2-40B4-BE49-F238E27FC236}">
                <a16:creationId xmlns:a16="http://schemas.microsoft.com/office/drawing/2014/main" id="{ADD14887-A89D-36AA-CA2B-256E3C4E5791}"/>
              </a:ext>
            </a:extLst>
          </p:cNvPr>
          <p:cNvSpPr>
            <a:spLocks noGrp="1"/>
          </p:cNvSpPr>
          <p:nvPr>
            <p:ph type="title"/>
          </p:nvPr>
        </p:nvSpPr>
        <p:spPr>
          <a:xfrm>
            <a:off x="412776" y="408519"/>
            <a:ext cx="11376025" cy="1065742"/>
          </a:xfrm>
        </p:spPr>
        <p:txBody>
          <a:bodyPr/>
          <a:lstStyle/>
          <a:p>
            <a:r>
              <a:rPr lang="de-AT" dirty="0"/>
              <a:t>Cubic Polynomial Algorithm</a:t>
            </a:r>
            <a:endParaRPr lang="en-GB" dirty="0"/>
          </a:p>
        </p:txBody>
      </p:sp>
      <p:sp>
        <p:nvSpPr>
          <p:cNvPr id="7" name="Oval 6">
            <a:extLst>
              <a:ext uri="{FF2B5EF4-FFF2-40B4-BE49-F238E27FC236}">
                <a16:creationId xmlns:a16="http://schemas.microsoft.com/office/drawing/2014/main" id="{51F84791-6CF2-A2F5-57B9-F2C8ABFB3F00}"/>
              </a:ext>
            </a:extLst>
          </p:cNvPr>
          <p:cNvSpPr/>
          <p:nvPr/>
        </p:nvSpPr>
        <p:spPr>
          <a:xfrm>
            <a:off x="4475492" y="2982699"/>
            <a:ext cx="146254" cy="14625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B30A7D44-46F2-26FE-FB0A-C2EF1E224723}"/>
              </a:ext>
            </a:extLst>
          </p:cNvPr>
          <p:cNvSpPr/>
          <p:nvPr/>
        </p:nvSpPr>
        <p:spPr>
          <a:xfrm>
            <a:off x="5915688" y="4276956"/>
            <a:ext cx="146254" cy="14625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79D659F6-5F4B-94C0-779C-EE22CCF17E93}"/>
              </a:ext>
            </a:extLst>
          </p:cNvPr>
          <p:cNvSpPr/>
          <p:nvPr/>
        </p:nvSpPr>
        <p:spPr>
          <a:xfrm>
            <a:off x="7354355" y="1266627"/>
            <a:ext cx="146254" cy="14625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FD66185A-97AA-1950-6FBE-BD9A487F28F2}"/>
              </a:ext>
            </a:extLst>
          </p:cNvPr>
          <p:cNvSpPr/>
          <p:nvPr/>
        </p:nvSpPr>
        <p:spPr>
          <a:xfrm>
            <a:off x="8798478" y="3849117"/>
            <a:ext cx="146254" cy="14625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7" name="Straight Arrow Connector 16">
            <a:extLst>
              <a:ext uri="{FF2B5EF4-FFF2-40B4-BE49-F238E27FC236}">
                <a16:creationId xmlns:a16="http://schemas.microsoft.com/office/drawing/2014/main" id="{B536BC3B-87FA-D9D5-324D-CAFA644CA038}"/>
              </a:ext>
            </a:extLst>
          </p:cNvPr>
          <p:cNvCxnSpPr>
            <a:cxnSpLocks/>
          </p:cNvCxnSpPr>
          <p:nvPr/>
        </p:nvCxnSpPr>
        <p:spPr>
          <a:xfrm>
            <a:off x="3071494" y="4775200"/>
            <a:ext cx="589118" cy="0"/>
          </a:xfrm>
          <a:prstGeom prst="straightConnector1">
            <a:avLst/>
          </a:prstGeom>
          <a:ln w="28575">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7C8B0CE-3F1A-2290-56D6-4BFAB9BC08A8}"/>
              </a:ext>
            </a:extLst>
          </p:cNvPr>
          <p:cNvCxnSpPr>
            <a:cxnSpLocks/>
          </p:cNvCxnSpPr>
          <p:nvPr/>
        </p:nvCxnSpPr>
        <p:spPr>
          <a:xfrm>
            <a:off x="8941557" y="3914136"/>
            <a:ext cx="483766" cy="0"/>
          </a:xfrm>
          <a:prstGeom prst="straightConnector1">
            <a:avLst/>
          </a:prstGeom>
          <a:ln w="28575">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64F6A31-A5F5-0F90-3487-DF28D8C9D68C}"/>
              </a:ext>
            </a:extLst>
          </p:cNvPr>
          <p:cNvCxnSpPr/>
          <p:nvPr/>
        </p:nvCxnSpPr>
        <p:spPr>
          <a:xfrm>
            <a:off x="4540887" y="1158612"/>
            <a:ext cx="0" cy="3811533"/>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58C20658-47E8-36C1-45BA-09454E390476}"/>
              </a:ext>
            </a:extLst>
          </p:cNvPr>
          <p:cNvCxnSpPr/>
          <p:nvPr/>
        </p:nvCxnSpPr>
        <p:spPr>
          <a:xfrm>
            <a:off x="5988060" y="1158612"/>
            <a:ext cx="0" cy="3811533"/>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A8BED7C1-C01A-BF73-21BF-0BCD709DDCE5}"/>
              </a:ext>
            </a:extLst>
          </p:cNvPr>
          <p:cNvCxnSpPr/>
          <p:nvPr/>
        </p:nvCxnSpPr>
        <p:spPr>
          <a:xfrm>
            <a:off x="7433008" y="1149087"/>
            <a:ext cx="0" cy="3811533"/>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EC71A76-83E3-E65E-3488-76541FB5AAD6}"/>
              </a:ext>
            </a:extLst>
          </p:cNvPr>
          <p:cNvSpPr txBox="1"/>
          <p:nvPr/>
        </p:nvSpPr>
        <p:spPr>
          <a:xfrm>
            <a:off x="9847296" y="2752667"/>
            <a:ext cx="1755445" cy="246221"/>
          </a:xfrm>
          <a:prstGeom prst="rect">
            <a:avLst/>
          </a:prstGeom>
          <a:noFill/>
        </p:spPr>
        <p:txBody>
          <a:bodyPr wrap="square" lIns="0" tIns="0" rIns="0" bIns="0" rtlCol="0">
            <a:spAutoFit/>
          </a:bodyPr>
          <a:lstStyle/>
          <a:p>
            <a:pPr algn="ctr"/>
            <a:r>
              <a:rPr lang="en-US" sz="1600" dirty="0"/>
              <a:t>4(N-1) unknowns</a:t>
            </a:r>
            <a:endParaRPr lang="en-GB" sz="1600" dirty="0"/>
          </a:p>
        </p:txBody>
      </p:sp>
      <p:sp>
        <p:nvSpPr>
          <p:cNvPr id="21" name="TextBox 20">
            <a:extLst>
              <a:ext uri="{FF2B5EF4-FFF2-40B4-BE49-F238E27FC236}">
                <a16:creationId xmlns:a16="http://schemas.microsoft.com/office/drawing/2014/main" id="{CCBE9567-F875-2799-C092-73EC6ED8E841}"/>
              </a:ext>
            </a:extLst>
          </p:cNvPr>
          <p:cNvSpPr txBox="1"/>
          <p:nvPr/>
        </p:nvSpPr>
        <p:spPr>
          <a:xfrm>
            <a:off x="9835921" y="3061123"/>
            <a:ext cx="1755445" cy="246221"/>
          </a:xfrm>
          <a:prstGeom prst="rect">
            <a:avLst/>
          </a:prstGeom>
          <a:noFill/>
        </p:spPr>
        <p:txBody>
          <a:bodyPr wrap="square" lIns="0" tIns="0" rIns="0" bIns="0" rtlCol="0">
            <a:spAutoFit/>
          </a:bodyPr>
          <a:lstStyle/>
          <a:p>
            <a:pPr algn="ctr"/>
            <a:r>
              <a:rPr lang="en-US" sz="1600" dirty="0">
                <a:solidFill>
                  <a:srgbClr val="FF0000"/>
                </a:solidFill>
              </a:rPr>
              <a:t>4(N-1) equations</a:t>
            </a:r>
            <a:endParaRPr lang="en-GB" sz="1600" dirty="0">
              <a:solidFill>
                <a:srgbClr val="FF0000"/>
              </a:solidFill>
            </a:endParaRPr>
          </a:p>
        </p:txBody>
      </p:sp>
      <p:sp>
        <p:nvSpPr>
          <p:cNvPr id="3" name="Oval 2">
            <a:extLst>
              <a:ext uri="{FF2B5EF4-FFF2-40B4-BE49-F238E27FC236}">
                <a16:creationId xmlns:a16="http://schemas.microsoft.com/office/drawing/2014/main" id="{DDD27A95-6327-4FC0-52A3-831DF66E0ECA}"/>
              </a:ext>
            </a:extLst>
          </p:cNvPr>
          <p:cNvSpPr/>
          <p:nvPr/>
        </p:nvSpPr>
        <p:spPr>
          <a:xfrm>
            <a:off x="3030592" y="4702073"/>
            <a:ext cx="146254" cy="14625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30806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27</a:t>
            </a:fld>
            <a:endParaRPr lang="en-US" dirty="0"/>
          </a:p>
        </p:txBody>
      </p:sp>
      <p:pic>
        <p:nvPicPr>
          <p:cNvPr id="8" name="Picture 7">
            <a:extLst>
              <a:ext uri="{FF2B5EF4-FFF2-40B4-BE49-F238E27FC236}">
                <a16:creationId xmlns:a16="http://schemas.microsoft.com/office/drawing/2014/main" id="{B7C62E76-168C-FDCE-A548-98936FF2A86A}"/>
              </a:ext>
            </a:extLst>
          </p:cNvPr>
          <p:cNvPicPr>
            <a:picLocks noChangeAspect="1"/>
          </p:cNvPicPr>
          <p:nvPr/>
        </p:nvPicPr>
        <p:blipFill rotWithShape="1">
          <a:blip r:embed="rId3"/>
          <a:srcRect l="5982" t="3899" r="3838" b="67773"/>
          <a:stretch/>
        </p:blipFill>
        <p:spPr>
          <a:xfrm>
            <a:off x="2281381" y="1149087"/>
            <a:ext cx="7379856" cy="4172785"/>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895BDE9-01C3-C791-ECF6-9C18D726A380}"/>
                  </a:ext>
                </a:extLst>
              </p:cNvPr>
              <p:cNvSpPr txBox="1"/>
              <p:nvPr/>
            </p:nvSpPr>
            <p:spPr>
              <a:xfrm>
                <a:off x="2890983" y="5183372"/>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𝑇</m:t>
                          </m:r>
                        </m:e>
                        <m:sub>
                          <m:r>
                            <a:rPr lang="en-US" b="0" i="1" smtClean="0">
                              <a:solidFill>
                                <a:schemeClr val="tx2"/>
                              </a:solidFill>
                              <a:latin typeface="Cambria Math" panose="02040503050406030204" pitchFamily="18" charset="0"/>
                            </a:rPr>
                            <m:t>1</m:t>
                          </m:r>
                        </m:sub>
                      </m:sSub>
                    </m:oMath>
                  </m:oMathPara>
                </a14:m>
                <a:endParaRPr lang="en-GB" dirty="0">
                  <a:solidFill>
                    <a:schemeClr val="tx2"/>
                  </a:solidFill>
                </a:endParaRPr>
              </a:p>
            </p:txBody>
          </p:sp>
        </mc:Choice>
        <mc:Fallback xmlns="">
          <p:sp>
            <p:nvSpPr>
              <p:cNvPr id="10" name="TextBox 9">
                <a:extLst>
                  <a:ext uri="{FF2B5EF4-FFF2-40B4-BE49-F238E27FC236}">
                    <a16:creationId xmlns:a16="http://schemas.microsoft.com/office/drawing/2014/main" id="{6895BDE9-01C3-C791-ECF6-9C18D726A380}"/>
                  </a:ext>
                </a:extLst>
              </p:cNvPr>
              <p:cNvSpPr txBox="1">
                <a:spLocks noRot="1" noChangeAspect="1" noMove="1" noResize="1" noEditPoints="1" noAdjustHandles="1" noChangeArrowheads="1" noChangeShapeType="1" noTextEdit="1"/>
              </p:cNvSpPr>
              <p:nvPr/>
            </p:nvSpPr>
            <p:spPr>
              <a:xfrm>
                <a:off x="2890983" y="5183372"/>
                <a:ext cx="424873" cy="276999"/>
              </a:xfrm>
              <a:prstGeom prst="rect">
                <a:avLst/>
              </a:prstGeom>
              <a:blipFill>
                <a:blip r:embed="rId4"/>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B068AC-5C5A-8B8E-FBDC-16F9AFD787A3}"/>
                  </a:ext>
                </a:extLst>
              </p:cNvPr>
              <p:cNvSpPr txBox="1"/>
              <p:nvPr/>
            </p:nvSpPr>
            <p:spPr>
              <a:xfrm>
                <a:off x="4345707" y="5183105"/>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𝑇</m:t>
                          </m:r>
                        </m:e>
                        <m:sub>
                          <m:r>
                            <a:rPr lang="en-US" b="0" i="1" smtClean="0">
                              <a:solidFill>
                                <a:schemeClr val="tx2"/>
                              </a:solidFill>
                              <a:latin typeface="Cambria Math" panose="02040503050406030204" pitchFamily="18" charset="0"/>
                            </a:rPr>
                            <m:t>2</m:t>
                          </m:r>
                        </m:sub>
                      </m:sSub>
                    </m:oMath>
                  </m:oMathPara>
                </a14:m>
                <a:endParaRPr lang="en-GB" dirty="0">
                  <a:solidFill>
                    <a:schemeClr val="tx2"/>
                  </a:solidFill>
                </a:endParaRPr>
              </a:p>
            </p:txBody>
          </p:sp>
        </mc:Choice>
        <mc:Fallback xmlns="">
          <p:sp>
            <p:nvSpPr>
              <p:cNvPr id="11" name="TextBox 10">
                <a:extLst>
                  <a:ext uri="{FF2B5EF4-FFF2-40B4-BE49-F238E27FC236}">
                    <a16:creationId xmlns:a16="http://schemas.microsoft.com/office/drawing/2014/main" id="{EDB068AC-5C5A-8B8E-FBDC-16F9AFD787A3}"/>
                  </a:ext>
                </a:extLst>
              </p:cNvPr>
              <p:cNvSpPr txBox="1">
                <a:spLocks noRot="1" noChangeAspect="1" noMove="1" noResize="1" noEditPoints="1" noAdjustHandles="1" noChangeArrowheads="1" noChangeShapeType="1" noTextEdit="1"/>
              </p:cNvSpPr>
              <p:nvPr/>
            </p:nvSpPr>
            <p:spPr>
              <a:xfrm>
                <a:off x="4345707" y="5183105"/>
                <a:ext cx="424873" cy="276999"/>
              </a:xfrm>
              <a:prstGeom prst="rect">
                <a:avLst/>
              </a:prstGeom>
              <a:blipFill>
                <a:blip r:embed="rId5"/>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2A9F42A-BA0C-B5EA-AC2A-B313231783B2}"/>
                  </a:ext>
                </a:extLst>
              </p:cNvPr>
              <p:cNvSpPr txBox="1"/>
              <p:nvPr/>
            </p:nvSpPr>
            <p:spPr>
              <a:xfrm>
                <a:off x="7216903" y="5182930"/>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𝑇</m:t>
                          </m:r>
                        </m:e>
                        <m:sub>
                          <m:r>
                            <a:rPr lang="en-US" b="0" i="1" smtClean="0">
                              <a:solidFill>
                                <a:schemeClr val="tx2"/>
                              </a:solidFill>
                              <a:latin typeface="Cambria Math" panose="02040503050406030204" pitchFamily="18" charset="0"/>
                            </a:rPr>
                            <m:t>4</m:t>
                          </m:r>
                        </m:sub>
                      </m:sSub>
                    </m:oMath>
                  </m:oMathPara>
                </a14:m>
                <a:endParaRPr lang="en-GB" dirty="0">
                  <a:solidFill>
                    <a:schemeClr val="tx2"/>
                  </a:solidFill>
                </a:endParaRPr>
              </a:p>
            </p:txBody>
          </p:sp>
        </mc:Choice>
        <mc:Fallback xmlns="">
          <p:sp>
            <p:nvSpPr>
              <p:cNvPr id="13" name="TextBox 12">
                <a:extLst>
                  <a:ext uri="{FF2B5EF4-FFF2-40B4-BE49-F238E27FC236}">
                    <a16:creationId xmlns:a16="http://schemas.microsoft.com/office/drawing/2014/main" id="{02A9F42A-BA0C-B5EA-AC2A-B313231783B2}"/>
                  </a:ext>
                </a:extLst>
              </p:cNvPr>
              <p:cNvSpPr txBox="1">
                <a:spLocks noRot="1" noChangeAspect="1" noMove="1" noResize="1" noEditPoints="1" noAdjustHandles="1" noChangeArrowheads="1" noChangeShapeType="1" noTextEdit="1"/>
              </p:cNvSpPr>
              <p:nvPr/>
            </p:nvSpPr>
            <p:spPr>
              <a:xfrm>
                <a:off x="7216903" y="5182930"/>
                <a:ext cx="424873" cy="276999"/>
              </a:xfrm>
              <a:prstGeom prst="rect">
                <a:avLst/>
              </a:prstGeom>
              <a:blipFill>
                <a:blip r:embed="rId6"/>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77EF17F-3904-74F8-27F4-046C3FA94068}"/>
                  </a:ext>
                </a:extLst>
              </p:cNvPr>
              <p:cNvSpPr txBox="1"/>
              <p:nvPr/>
            </p:nvSpPr>
            <p:spPr>
              <a:xfrm>
                <a:off x="8654312" y="5182929"/>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𝑇</m:t>
                          </m:r>
                        </m:e>
                        <m:sub>
                          <m:r>
                            <a:rPr lang="en-US" b="0" i="1" smtClean="0">
                              <a:solidFill>
                                <a:schemeClr val="tx2"/>
                              </a:solidFill>
                              <a:latin typeface="Cambria Math" panose="02040503050406030204" pitchFamily="18" charset="0"/>
                            </a:rPr>
                            <m:t>5</m:t>
                          </m:r>
                        </m:sub>
                      </m:sSub>
                    </m:oMath>
                  </m:oMathPara>
                </a14:m>
                <a:endParaRPr lang="en-GB" dirty="0">
                  <a:solidFill>
                    <a:schemeClr val="tx2"/>
                  </a:solidFill>
                </a:endParaRPr>
              </a:p>
            </p:txBody>
          </p:sp>
        </mc:Choice>
        <mc:Fallback xmlns="">
          <p:sp>
            <p:nvSpPr>
              <p:cNvPr id="14" name="TextBox 13">
                <a:extLst>
                  <a:ext uri="{FF2B5EF4-FFF2-40B4-BE49-F238E27FC236}">
                    <a16:creationId xmlns:a16="http://schemas.microsoft.com/office/drawing/2014/main" id="{C77EF17F-3904-74F8-27F4-046C3FA94068}"/>
                  </a:ext>
                </a:extLst>
              </p:cNvPr>
              <p:cNvSpPr txBox="1">
                <a:spLocks noRot="1" noChangeAspect="1" noMove="1" noResize="1" noEditPoints="1" noAdjustHandles="1" noChangeArrowheads="1" noChangeShapeType="1" noTextEdit="1"/>
              </p:cNvSpPr>
              <p:nvPr/>
            </p:nvSpPr>
            <p:spPr>
              <a:xfrm>
                <a:off x="8654312" y="5182929"/>
                <a:ext cx="424873" cy="276999"/>
              </a:xfrm>
              <a:prstGeom prst="rect">
                <a:avLst/>
              </a:prstGeom>
              <a:blipFill>
                <a:blip r:embed="rId7"/>
                <a:stretch>
                  <a:fillRect b="-17391"/>
                </a:stretch>
              </a:blipFill>
            </p:spPr>
            <p:txBody>
              <a:bodyPr/>
              <a:lstStyle/>
              <a:p>
                <a:r>
                  <a:rPr lang="en-GB">
                    <a:noFill/>
                  </a:rPr>
                  <a:t> </a:t>
                </a:r>
              </a:p>
            </p:txBody>
          </p:sp>
        </mc:Fallback>
      </mc:AlternateContent>
      <p:sp>
        <p:nvSpPr>
          <p:cNvPr id="16" name="Left Brace 15">
            <a:extLst>
              <a:ext uri="{FF2B5EF4-FFF2-40B4-BE49-F238E27FC236}">
                <a16:creationId xmlns:a16="http://schemas.microsoft.com/office/drawing/2014/main" id="{80F08AAC-EE95-80CB-929F-F6DD7C182CF0}"/>
              </a:ext>
            </a:extLst>
          </p:cNvPr>
          <p:cNvSpPr/>
          <p:nvPr/>
        </p:nvSpPr>
        <p:spPr>
          <a:xfrm rot="16200000">
            <a:off x="3690227" y="4857546"/>
            <a:ext cx="271137" cy="1475903"/>
          </a:xfrm>
          <a:prstGeom prst="leftBrace">
            <a:avLst/>
          </a:prstGeom>
          <a:ln>
            <a:solidFill>
              <a:srgbClr val="30303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3" name="Left Brace 22">
            <a:extLst>
              <a:ext uri="{FF2B5EF4-FFF2-40B4-BE49-F238E27FC236}">
                <a16:creationId xmlns:a16="http://schemas.microsoft.com/office/drawing/2014/main" id="{FFCF4BF6-1390-F75B-E856-950D27890B01}"/>
              </a:ext>
            </a:extLst>
          </p:cNvPr>
          <p:cNvSpPr/>
          <p:nvPr/>
        </p:nvSpPr>
        <p:spPr>
          <a:xfrm rot="16200000">
            <a:off x="5130099" y="4894018"/>
            <a:ext cx="270695" cy="1403399"/>
          </a:xfrm>
          <a:prstGeom prst="leftBrace">
            <a:avLst/>
          </a:prstGeom>
          <a:ln>
            <a:solidFill>
              <a:srgbClr val="30303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4" name="Left Brace 23">
            <a:extLst>
              <a:ext uri="{FF2B5EF4-FFF2-40B4-BE49-F238E27FC236}">
                <a16:creationId xmlns:a16="http://schemas.microsoft.com/office/drawing/2014/main" id="{9945BCB2-6066-A680-F595-AC8B663D5059}"/>
              </a:ext>
            </a:extLst>
          </p:cNvPr>
          <p:cNvSpPr/>
          <p:nvPr/>
        </p:nvSpPr>
        <p:spPr>
          <a:xfrm rot="16200000">
            <a:off x="6571394" y="4857546"/>
            <a:ext cx="271137" cy="1475904"/>
          </a:xfrm>
          <a:prstGeom prst="leftBrace">
            <a:avLst/>
          </a:prstGeom>
          <a:ln>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solidFill>
                <a:srgbClr val="00B050"/>
              </a:solidFill>
            </a:endParaRPr>
          </a:p>
        </p:txBody>
      </p:sp>
      <p:sp>
        <p:nvSpPr>
          <p:cNvPr id="26" name="Left Brace 25">
            <a:extLst>
              <a:ext uri="{FF2B5EF4-FFF2-40B4-BE49-F238E27FC236}">
                <a16:creationId xmlns:a16="http://schemas.microsoft.com/office/drawing/2014/main" id="{F59322BC-E92B-AE5A-E0EF-73C85A9F3C96}"/>
              </a:ext>
            </a:extLst>
          </p:cNvPr>
          <p:cNvSpPr/>
          <p:nvPr/>
        </p:nvSpPr>
        <p:spPr>
          <a:xfrm rot="16200000">
            <a:off x="8008292" y="4889183"/>
            <a:ext cx="278506" cy="1405261"/>
          </a:xfrm>
          <a:prstGeom prst="leftBrace">
            <a:avLst/>
          </a:prstGeom>
          <a:ln>
            <a:solidFill>
              <a:srgbClr val="30303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4866DD2F-E681-1BCB-4F30-1E26F7C05A4B}"/>
                  </a:ext>
                </a:extLst>
              </p:cNvPr>
              <p:cNvSpPr txBox="1"/>
              <p:nvPr/>
            </p:nvSpPr>
            <p:spPr>
              <a:xfrm>
                <a:off x="2775530" y="4397590"/>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𝑃</m:t>
                          </m:r>
                        </m:e>
                        <m:sub>
                          <m:r>
                            <a:rPr lang="en-US" b="0" i="1" smtClean="0">
                              <a:solidFill>
                                <a:schemeClr val="tx2"/>
                              </a:solidFill>
                              <a:latin typeface="Cambria Math" panose="02040503050406030204" pitchFamily="18" charset="0"/>
                            </a:rPr>
                            <m:t>1</m:t>
                          </m:r>
                        </m:sub>
                      </m:sSub>
                    </m:oMath>
                  </m:oMathPara>
                </a14:m>
                <a:endParaRPr lang="en-GB" dirty="0">
                  <a:solidFill>
                    <a:schemeClr val="tx2"/>
                  </a:solidFill>
                </a:endParaRPr>
              </a:p>
            </p:txBody>
          </p:sp>
        </mc:Choice>
        <mc:Fallback xmlns="">
          <p:sp>
            <p:nvSpPr>
              <p:cNvPr id="27" name="TextBox 26">
                <a:extLst>
                  <a:ext uri="{FF2B5EF4-FFF2-40B4-BE49-F238E27FC236}">
                    <a16:creationId xmlns:a16="http://schemas.microsoft.com/office/drawing/2014/main" id="{4866DD2F-E681-1BCB-4F30-1E26F7C05A4B}"/>
                  </a:ext>
                </a:extLst>
              </p:cNvPr>
              <p:cNvSpPr txBox="1">
                <a:spLocks noRot="1" noChangeAspect="1" noMove="1" noResize="1" noEditPoints="1" noAdjustHandles="1" noChangeArrowheads="1" noChangeShapeType="1" noTextEdit="1"/>
              </p:cNvSpPr>
              <p:nvPr/>
            </p:nvSpPr>
            <p:spPr>
              <a:xfrm>
                <a:off x="2775530" y="4397590"/>
                <a:ext cx="424873" cy="276999"/>
              </a:xfrm>
              <a:prstGeom prst="rect">
                <a:avLst/>
              </a:prstGeom>
              <a:blipFill>
                <a:blip r:embed="rId8"/>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72B0CB2-9E64-7599-F620-F0F7DEB274DB}"/>
                  </a:ext>
                </a:extLst>
              </p:cNvPr>
              <p:cNvSpPr txBox="1"/>
              <p:nvPr/>
            </p:nvSpPr>
            <p:spPr>
              <a:xfrm>
                <a:off x="5922831" y="4379118"/>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𝑃</m:t>
                          </m:r>
                        </m:e>
                        <m:sub>
                          <m:r>
                            <a:rPr lang="en-US" b="0" i="1" smtClean="0">
                              <a:solidFill>
                                <a:schemeClr val="tx2"/>
                              </a:solidFill>
                              <a:latin typeface="Cambria Math" panose="02040503050406030204" pitchFamily="18" charset="0"/>
                            </a:rPr>
                            <m:t>3</m:t>
                          </m:r>
                        </m:sub>
                      </m:sSub>
                    </m:oMath>
                  </m:oMathPara>
                </a14:m>
                <a:endParaRPr lang="en-GB" dirty="0">
                  <a:solidFill>
                    <a:schemeClr val="tx2"/>
                  </a:solidFill>
                </a:endParaRPr>
              </a:p>
            </p:txBody>
          </p:sp>
        </mc:Choice>
        <mc:Fallback xmlns="">
          <p:sp>
            <p:nvSpPr>
              <p:cNvPr id="29" name="TextBox 28">
                <a:extLst>
                  <a:ext uri="{FF2B5EF4-FFF2-40B4-BE49-F238E27FC236}">
                    <a16:creationId xmlns:a16="http://schemas.microsoft.com/office/drawing/2014/main" id="{D72B0CB2-9E64-7599-F620-F0F7DEB274DB}"/>
                  </a:ext>
                </a:extLst>
              </p:cNvPr>
              <p:cNvSpPr txBox="1">
                <a:spLocks noRot="1" noChangeAspect="1" noMove="1" noResize="1" noEditPoints="1" noAdjustHandles="1" noChangeArrowheads="1" noChangeShapeType="1" noTextEdit="1"/>
              </p:cNvSpPr>
              <p:nvPr/>
            </p:nvSpPr>
            <p:spPr>
              <a:xfrm>
                <a:off x="5922831" y="4379118"/>
                <a:ext cx="424873" cy="276999"/>
              </a:xfrm>
              <a:prstGeom prst="rect">
                <a:avLst/>
              </a:prstGeom>
              <a:blipFill>
                <a:blip r:embed="rId9"/>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501D573-D7A4-1616-D81F-40AD367A4A6E}"/>
                  </a:ext>
                </a:extLst>
              </p:cNvPr>
              <p:cNvSpPr txBox="1"/>
              <p:nvPr/>
            </p:nvSpPr>
            <p:spPr>
              <a:xfrm>
                <a:off x="7203051" y="1376140"/>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𝑃</m:t>
                          </m:r>
                        </m:e>
                        <m:sub>
                          <m:r>
                            <a:rPr lang="en-US" b="0" i="1" smtClean="0">
                              <a:solidFill>
                                <a:schemeClr val="tx2"/>
                              </a:solidFill>
                              <a:latin typeface="Cambria Math" panose="02040503050406030204" pitchFamily="18" charset="0"/>
                            </a:rPr>
                            <m:t>4</m:t>
                          </m:r>
                        </m:sub>
                      </m:sSub>
                    </m:oMath>
                  </m:oMathPara>
                </a14:m>
                <a:endParaRPr lang="en-GB" dirty="0">
                  <a:solidFill>
                    <a:schemeClr val="tx2"/>
                  </a:solidFill>
                </a:endParaRPr>
              </a:p>
            </p:txBody>
          </p:sp>
        </mc:Choice>
        <mc:Fallback xmlns="">
          <p:sp>
            <p:nvSpPr>
              <p:cNvPr id="30" name="TextBox 29">
                <a:extLst>
                  <a:ext uri="{FF2B5EF4-FFF2-40B4-BE49-F238E27FC236}">
                    <a16:creationId xmlns:a16="http://schemas.microsoft.com/office/drawing/2014/main" id="{C501D573-D7A4-1616-D81F-40AD367A4A6E}"/>
                  </a:ext>
                </a:extLst>
              </p:cNvPr>
              <p:cNvSpPr txBox="1">
                <a:spLocks noRot="1" noChangeAspect="1" noMove="1" noResize="1" noEditPoints="1" noAdjustHandles="1" noChangeArrowheads="1" noChangeShapeType="1" noTextEdit="1"/>
              </p:cNvSpPr>
              <p:nvPr/>
            </p:nvSpPr>
            <p:spPr>
              <a:xfrm>
                <a:off x="7203051" y="1376140"/>
                <a:ext cx="424873" cy="276999"/>
              </a:xfrm>
              <a:prstGeom prst="rect">
                <a:avLst/>
              </a:prstGeom>
              <a:blipFill>
                <a:blip r:embed="rId10"/>
                <a:stretch>
                  <a:fillRect b="-1777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D65239CA-334D-74BE-292B-105D4B6AE772}"/>
                  </a:ext>
                </a:extLst>
              </p:cNvPr>
              <p:cNvSpPr txBox="1"/>
              <p:nvPr/>
            </p:nvSpPr>
            <p:spPr>
              <a:xfrm>
                <a:off x="8543638" y="3932292"/>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𝑃</m:t>
                          </m:r>
                        </m:e>
                        <m:sub>
                          <m:r>
                            <a:rPr lang="en-US" b="0" i="1" smtClean="0">
                              <a:solidFill>
                                <a:schemeClr val="tx2"/>
                              </a:solidFill>
                              <a:latin typeface="Cambria Math" panose="02040503050406030204" pitchFamily="18" charset="0"/>
                            </a:rPr>
                            <m:t>5</m:t>
                          </m:r>
                        </m:sub>
                      </m:sSub>
                    </m:oMath>
                  </m:oMathPara>
                </a14:m>
                <a:endParaRPr lang="en-GB" dirty="0">
                  <a:solidFill>
                    <a:schemeClr val="tx2"/>
                  </a:solidFill>
                </a:endParaRPr>
              </a:p>
            </p:txBody>
          </p:sp>
        </mc:Choice>
        <mc:Fallback xmlns="">
          <p:sp>
            <p:nvSpPr>
              <p:cNvPr id="31" name="TextBox 30">
                <a:extLst>
                  <a:ext uri="{FF2B5EF4-FFF2-40B4-BE49-F238E27FC236}">
                    <a16:creationId xmlns:a16="http://schemas.microsoft.com/office/drawing/2014/main" id="{D65239CA-334D-74BE-292B-105D4B6AE772}"/>
                  </a:ext>
                </a:extLst>
              </p:cNvPr>
              <p:cNvSpPr txBox="1">
                <a:spLocks noRot="1" noChangeAspect="1" noMove="1" noResize="1" noEditPoints="1" noAdjustHandles="1" noChangeArrowheads="1" noChangeShapeType="1" noTextEdit="1"/>
              </p:cNvSpPr>
              <p:nvPr/>
            </p:nvSpPr>
            <p:spPr>
              <a:xfrm>
                <a:off x="8543638" y="3932292"/>
                <a:ext cx="424873" cy="276999"/>
              </a:xfrm>
              <a:prstGeom prst="rect">
                <a:avLst/>
              </a:prstGeom>
              <a:blipFill>
                <a:blip r:embed="rId11"/>
                <a:stretch>
                  <a:fillRect b="-173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4FC0201-330E-4218-1C83-2C673FD77614}"/>
                  </a:ext>
                </a:extLst>
              </p:cNvPr>
              <p:cNvSpPr txBox="1"/>
              <p:nvPr/>
            </p:nvSpPr>
            <p:spPr>
              <a:xfrm>
                <a:off x="3644737" y="5702691"/>
                <a:ext cx="338627"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𝑝</m:t>
                          </m:r>
                        </m:e>
                        <m:sub>
                          <m:r>
                            <a:rPr lang="en-US" sz="1400" b="0" i="1" smtClean="0">
                              <a:solidFill>
                                <a:schemeClr val="tx2"/>
                              </a:solidFill>
                              <a:latin typeface="Cambria Math" panose="02040503050406030204" pitchFamily="18" charset="0"/>
                            </a:rPr>
                            <m:t>1</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m:t>
                      </m:r>
                    </m:oMath>
                  </m:oMathPara>
                </a14:m>
                <a:endParaRPr lang="en-GB" sz="1400" dirty="0">
                  <a:solidFill>
                    <a:schemeClr val="tx2"/>
                  </a:solidFill>
                </a:endParaRPr>
              </a:p>
            </p:txBody>
          </p:sp>
        </mc:Choice>
        <mc:Fallback xmlns="">
          <p:sp>
            <p:nvSpPr>
              <p:cNvPr id="32" name="TextBox 31">
                <a:extLst>
                  <a:ext uri="{FF2B5EF4-FFF2-40B4-BE49-F238E27FC236}">
                    <a16:creationId xmlns:a16="http://schemas.microsoft.com/office/drawing/2014/main" id="{44FC0201-330E-4218-1C83-2C673FD77614}"/>
                  </a:ext>
                </a:extLst>
              </p:cNvPr>
              <p:cNvSpPr txBox="1">
                <a:spLocks noRot="1" noChangeAspect="1" noMove="1" noResize="1" noEditPoints="1" noAdjustHandles="1" noChangeArrowheads="1" noChangeShapeType="1" noTextEdit="1"/>
              </p:cNvSpPr>
              <p:nvPr/>
            </p:nvSpPr>
            <p:spPr>
              <a:xfrm>
                <a:off x="3644737" y="5702691"/>
                <a:ext cx="338627" cy="215444"/>
              </a:xfrm>
              <a:prstGeom prst="rect">
                <a:avLst/>
              </a:prstGeom>
              <a:blipFill>
                <a:blip r:embed="rId12"/>
                <a:stretch>
                  <a:fillRect l="-20000" r="-40000" b="-3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22B00216-C540-A3AF-338D-574E5DC22B48}"/>
                  </a:ext>
                </a:extLst>
              </p:cNvPr>
              <p:cNvSpPr txBox="1"/>
              <p:nvPr/>
            </p:nvSpPr>
            <p:spPr>
              <a:xfrm>
                <a:off x="5096133" y="5702691"/>
                <a:ext cx="338627"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𝑝</m:t>
                          </m:r>
                        </m:e>
                        <m:sub>
                          <m:r>
                            <a:rPr lang="en-US" sz="1400" b="0" i="1" smtClean="0">
                              <a:solidFill>
                                <a:schemeClr val="tx2"/>
                              </a:solidFill>
                              <a:latin typeface="Cambria Math" panose="02040503050406030204" pitchFamily="18" charset="0"/>
                            </a:rPr>
                            <m:t>2</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m:t>
                      </m:r>
                    </m:oMath>
                  </m:oMathPara>
                </a14:m>
                <a:endParaRPr lang="en-GB" sz="1400" dirty="0">
                  <a:solidFill>
                    <a:schemeClr val="tx2"/>
                  </a:solidFill>
                </a:endParaRPr>
              </a:p>
            </p:txBody>
          </p:sp>
        </mc:Choice>
        <mc:Fallback xmlns="">
          <p:sp>
            <p:nvSpPr>
              <p:cNvPr id="33" name="TextBox 32">
                <a:extLst>
                  <a:ext uri="{FF2B5EF4-FFF2-40B4-BE49-F238E27FC236}">
                    <a16:creationId xmlns:a16="http://schemas.microsoft.com/office/drawing/2014/main" id="{22B00216-C540-A3AF-338D-574E5DC22B48}"/>
                  </a:ext>
                </a:extLst>
              </p:cNvPr>
              <p:cNvSpPr txBox="1">
                <a:spLocks noRot="1" noChangeAspect="1" noMove="1" noResize="1" noEditPoints="1" noAdjustHandles="1" noChangeArrowheads="1" noChangeShapeType="1" noTextEdit="1"/>
              </p:cNvSpPr>
              <p:nvPr/>
            </p:nvSpPr>
            <p:spPr>
              <a:xfrm>
                <a:off x="5096133" y="5702691"/>
                <a:ext cx="338627" cy="215444"/>
              </a:xfrm>
              <a:prstGeom prst="rect">
                <a:avLst/>
              </a:prstGeom>
              <a:blipFill>
                <a:blip r:embed="rId13"/>
                <a:stretch>
                  <a:fillRect l="-19643" r="-39286" b="-3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3FA5B86-6AA5-6526-16D6-AA2CE93141E6}"/>
                  </a:ext>
                </a:extLst>
              </p:cNvPr>
              <p:cNvSpPr txBox="1"/>
              <p:nvPr/>
            </p:nvSpPr>
            <p:spPr>
              <a:xfrm>
                <a:off x="6537648" y="5707756"/>
                <a:ext cx="338627"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rgbClr val="00B050"/>
                              </a:solidFill>
                              <a:latin typeface="Cambria Math" panose="02040503050406030204" pitchFamily="18" charset="0"/>
                            </a:rPr>
                          </m:ctrlPr>
                        </m:sSubPr>
                        <m:e>
                          <m:r>
                            <a:rPr lang="en-US" sz="1400" b="0" i="1" smtClean="0">
                              <a:solidFill>
                                <a:srgbClr val="00B050"/>
                              </a:solidFill>
                              <a:latin typeface="Cambria Math" panose="02040503050406030204" pitchFamily="18" charset="0"/>
                            </a:rPr>
                            <m:t>𝑝</m:t>
                          </m:r>
                        </m:e>
                        <m:sub>
                          <m:r>
                            <a:rPr lang="en-US" sz="1400" b="0" i="1" smtClean="0">
                              <a:solidFill>
                                <a:srgbClr val="00B050"/>
                              </a:solidFill>
                              <a:latin typeface="Cambria Math" panose="02040503050406030204" pitchFamily="18" charset="0"/>
                            </a:rPr>
                            <m:t>3</m:t>
                          </m:r>
                        </m:sub>
                      </m:sSub>
                      <m:r>
                        <a:rPr lang="en-US" sz="1400" b="0" i="1" smtClean="0">
                          <a:solidFill>
                            <a:srgbClr val="00B050"/>
                          </a:solidFill>
                          <a:latin typeface="Cambria Math" panose="02040503050406030204" pitchFamily="18" charset="0"/>
                        </a:rPr>
                        <m:t>(</m:t>
                      </m:r>
                      <m:r>
                        <a:rPr lang="en-US" sz="1400" b="0" i="1" smtClean="0">
                          <a:solidFill>
                            <a:srgbClr val="00B050"/>
                          </a:solidFill>
                          <a:latin typeface="Cambria Math" panose="02040503050406030204" pitchFamily="18" charset="0"/>
                        </a:rPr>
                        <m:t>𝑡</m:t>
                      </m:r>
                      <m:r>
                        <a:rPr lang="en-US" sz="1400" b="0" i="1" smtClean="0">
                          <a:solidFill>
                            <a:srgbClr val="00B050"/>
                          </a:solidFill>
                          <a:latin typeface="Cambria Math" panose="02040503050406030204" pitchFamily="18" charset="0"/>
                        </a:rPr>
                        <m:t>)</m:t>
                      </m:r>
                    </m:oMath>
                  </m:oMathPara>
                </a14:m>
                <a:endParaRPr lang="en-GB" sz="1400" dirty="0">
                  <a:solidFill>
                    <a:srgbClr val="00B050"/>
                  </a:solidFill>
                </a:endParaRPr>
              </a:p>
            </p:txBody>
          </p:sp>
        </mc:Choice>
        <mc:Fallback xmlns="">
          <p:sp>
            <p:nvSpPr>
              <p:cNvPr id="34" name="TextBox 33">
                <a:extLst>
                  <a:ext uri="{FF2B5EF4-FFF2-40B4-BE49-F238E27FC236}">
                    <a16:creationId xmlns:a16="http://schemas.microsoft.com/office/drawing/2014/main" id="{F3FA5B86-6AA5-6526-16D6-AA2CE93141E6}"/>
                  </a:ext>
                </a:extLst>
              </p:cNvPr>
              <p:cNvSpPr txBox="1">
                <a:spLocks noRot="1" noChangeAspect="1" noMove="1" noResize="1" noEditPoints="1" noAdjustHandles="1" noChangeArrowheads="1" noChangeShapeType="1" noTextEdit="1"/>
              </p:cNvSpPr>
              <p:nvPr/>
            </p:nvSpPr>
            <p:spPr>
              <a:xfrm>
                <a:off x="6537648" y="5707756"/>
                <a:ext cx="338627" cy="215444"/>
              </a:xfrm>
              <a:prstGeom prst="rect">
                <a:avLst/>
              </a:prstGeom>
              <a:blipFill>
                <a:blip r:embed="rId14"/>
                <a:stretch>
                  <a:fillRect l="-17857" r="-41071" b="-3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AEEA177F-E463-5910-D2E6-BFD4EEC350F8}"/>
                  </a:ext>
                </a:extLst>
              </p:cNvPr>
              <p:cNvSpPr txBox="1"/>
              <p:nvPr/>
            </p:nvSpPr>
            <p:spPr>
              <a:xfrm>
                <a:off x="7980178" y="5700746"/>
                <a:ext cx="338627"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𝑝</m:t>
                          </m:r>
                        </m:e>
                        <m:sub>
                          <m:r>
                            <a:rPr lang="en-US" sz="1400" b="0" i="1" smtClean="0">
                              <a:solidFill>
                                <a:schemeClr val="tx2"/>
                              </a:solidFill>
                              <a:latin typeface="Cambria Math" panose="02040503050406030204" pitchFamily="18" charset="0"/>
                            </a:rPr>
                            <m:t>4</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m:t>
                      </m:r>
                    </m:oMath>
                  </m:oMathPara>
                </a14:m>
                <a:endParaRPr lang="en-GB" sz="1400" dirty="0">
                  <a:solidFill>
                    <a:schemeClr val="tx2"/>
                  </a:solidFill>
                </a:endParaRPr>
              </a:p>
            </p:txBody>
          </p:sp>
        </mc:Choice>
        <mc:Fallback xmlns="">
          <p:sp>
            <p:nvSpPr>
              <p:cNvPr id="35" name="TextBox 34">
                <a:extLst>
                  <a:ext uri="{FF2B5EF4-FFF2-40B4-BE49-F238E27FC236}">
                    <a16:creationId xmlns:a16="http://schemas.microsoft.com/office/drawing/2014/main" id="{AEEA177F-E463-5910-D2E6-BFD4EEC350F8}"/>
                  </a:ext>
                </a:extLst>
              </p:cNvPr>
              <p:cNvSpPr txBox="1">
                <a:spLocks noRot="1" noChangeAspect="1" noMove="1" noResize="1" noEditPoints="1" noAdjustHandles="1" noChangeArrowheads="1" noChangeShapeType="1" noTextEdit="1"/>
              </p:cNvSpPr>
              <p:nvPr/>
            </p:nvSpPr>
            <p:spPr>
              <a:xfrm>
                <a:off x="7980178" y="5700746"/>
                <a:ext cx="338627" cy="215444"/>
              </a:xfrm>
              <a:prstGeom prst="rect">
                <a:avLst/>
              </a:prstGeom>
              <a:blipFill>
                <a:blip r:embed="rId15"/>
                <a:stretch>
                  <a:fillRect l="-17857" r="-41071" b="-3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CE18FE4D-91A8-1214-4ACF-25C7CE393BCA}"/>
                  </a:ext>
                </a:extLst>
              </p:cNvPr>
              <p:cNvSpPr txBox="1"/>
              <p:nvPr/>
            </p:nvSpPr>
            <p:spPr>
              <a:xfrm>
                <a:off x="3347953" y="5945454"/>
                <a:ext cx="955683"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1</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&lt;</m:t>
                      </m:r>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2</m:t>
                          </m:r>
                        </m:sub>
                      </m:sSub>
                    </m:oMath>
                  </m:oMathPara>
                </a14:m>
                <a:endParaRPr lang="en-GB" sz="1400" dirty="0">
                  <a:solidFill>
                    <a:schemeClr val="tx2"/>
                  </a:solidFill>
                </a:endParaRPr>
              </a:p>
            </p:txBody>
          </p:sp>
        </mc:Choice>
        <mc:Fallback xmlns="">
          <p:sp>
            <p:nvSpPr>
              <p:cNvPr id="36" name="TextBox 35">
                <a:extLst>
                  <a:ext uri="{FF2B5EF4-FFF2-40B4-BE49-F238E27FC236}">
                    <a16:creationId xmlns:a16="http://schemas.microsoft.com/office/drawing/2014/main" id="{CE18FE4D-91A8-1214-4ACF-25C7CE393BCA}"/>
                  </a:ext>
                </a:extLst>
              </p:cNvPr>
              <p:cNvSpPr txBox="1">
                <a:spLocks noRot="1" noChangeAspect="1" noMove="1" noResize="1" noEditPoints="1" noAdjustHandles="1" noChangeArrowheads="1" noChangeShapeType="1" noTextEdit="1"/>
              </p:cNvSpPr>
              <p:nvPr/>
            </p:nvSpPr>
            <p:spPr>
              <a:xfrm>
                <a:off x="3347953" y="5945454"/>
                <a:ext cx="955683" cy="215444"/>
              </a:xfrm>
              <a:prstGeom prst="rect">
                <a:avLst/>
              </a:prstGeom>
              <a:blipFill>
                <a:blip r:embed="rId16"/>
                <a:stretch>
                  <a:fillRect l="-1911" b="-1388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9847B72-B25F-84D9-9486-B2EFA80DB050}"/>
                  </a:ext>
                </a:extLst>
              </p:cNvPr>
              <p:cNvSpPr txBox="1"/>
              <p:nvPr/>
            </p:nvSpPr>
            <p:spPr>
              <a:xfrm>
                <a:off x="4787604" y="5945013"/>
                <a:ext cx="955683"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2</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&lt;</m:t>
                      </m:r>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3</m:t>
                          </m:r>
                        </m:sub>
                      </m:sSub>
                    </m:oMath>
                  </m:oMathPara>
                </a14:m>
                <a:endParaRPr lang="en-GB" sz="1400" dirty="0">
                  <a:solidFill>
                    <a:schemeClr val="tx2"/>
                  </a:solidFill>
                </a:endParaRPr>
              </a:p>
            </p:txBody>
          </p:sp>
        </mc:Choice>
        <mc:Fallback xmlns="">
          <p:sp>
            <p:nvSpPr>
              <p:cNvPr id="37" name="TextBox 36">
                <a:extLst>
                  <a:ext uri="{FF2B5EF4-FFF2-40B4-BE49-F238E27FC236}">
                    <a16:creationId xmlns:a16="http://schemas.microsoft.com/office/drawing/2014/main" id="{49847B72-B25F-84D9-9486-B2EFA80DB050}"/>
                  </a:ext>
                </a:extLst>
              </p:cNvPr>
              <p:cNvSpPr txBox="1">
                <a:spLocks noRot="1" noChangeAspect="1" noMove="1" noResize="1" noEditPoints="1" noAdjustHandles="1" noChangeArrowheads="1" noChangeShapeType="1" noTextEdit="1"/>
              </p:cNvSpPr>
              <p:nvPr/>
            </p:nvSpPr>
            <p:spPr>
              <a:xfrm>
                <a:off x="4787604" y="5945013"/>
                <a:ext cx="955683" cy="215444"/>
              </a:xfrm>
              <a:prstGeom prst="rect">
                <a:avLst/>
              </a:prstGeom>
              <a:blipFill>
                <a:blip r:embed="rId17"/>
                <a:stretch>
                  <a:fillRect l="-2548" b="-1388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CFA34671-6758-E6CC-AC41-A34FDFB63207}"/>
                  </a:ext>
                </a:extLst>
              </p:cNvPr>
              <p:cNvSpPr txBox="1"/>
              <p:nvPr/>
            </p:nvSpPr>
            <p:spPr>
              <a:xfrm>
                <a:off x="6227255" y="5945013"/>
                <a:ext cx="955683"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rgbClr val="00B050"/>
                              </a:solidFill>
                              <a:latin typeface="Cambria Math" panose="02040503050406030204" pitchFamily="18" charset="0"/>
                            </a:rPr>
                          </m:ctrlPr>
                        </m:sSubPr>
                        <m:e>
                          <m:r>
                            <a:rPr lang="en-US" sz="1400" b="0" i="1" smtClean="0">
                              <a:solidFill>
                                <a:srgbClr val="00B050"/>
                              </a:solidFill>
                              <a:latin typeface="Cambria Math" panose="02040503050406030204" pitchFamily="18" charset="0"/>
                            </a:rPr>
                            <m:t>𝑇</m:t>
                          </m:r>
                        </m:e>
                        <m:sub>
                          <m:r>
                            <a:rPr lang="en-US" sz="1400" b="0" i="1" smtClean="0">
                              <a:solidFill>
                                <a:srgbClr val="00B050"/>
                              </a:solidFill>
                              <a:latin typeface="Cambria Math" panose="02040503050406030204" pitchFamily="18" charset="0"/>
                            </a:rPr>
                            <m:t>1</m:t>
                          </m:r>
                        </m:sub>
                      </m:sSub>
                      <m:r>
                        <a:rPr lang="en-US" sz="1400" b="0" i="1" smtClean="0">
                          <a:solidFill>
                            <a:srgbClr val="00B050"/>
                          </a:solidFill>
                          <a:latin typeface="Cambria Math" panose="02040503050406030204" pitchFamily="18" charset="0"/>
                        </a:rPr>
                        <m:t>≤</m:t>
                      </m:r>
                      <m:r>
                        <a:rPr lang="en-US" sz="1400" b="0" i="1" smtClean="0">
                          <a:solidFill>
                            <a:srgbClr val="00B050"/>
                          </a:solidFill>
                          <a:latin typeface="Cambria Math" panose="02040503050406030204" pitchFamily="18" charset="0"/>
                        </a:rPr>
                        <m:t>𝑡</m:t>
                      </m:r>
                      <m:r>
                        <a:rPr lang="en-US" sz="1400" b="0" i="1" smtClean="0">
                          <a:solidFill>
                            <a:srgbClr val="00B050"/>
                          </a:solidFill>
                          <a:latin typeface="Cambria Math" panose="02040503050406030204" pitchFamily="18" charset="0"/>
                        </a:rPr>
                        <m:t>&lt;</m:t>
                      </m:r>
                      <m:sSub>
                        <m:sSubPr>
                          <m:ctrlPr>
                            <a:rPr lang="en-US" sz="1400" b="0" i="1" smtClean="0">
                              <a:solidFill>
                                <a:srgbClr val="00B050"/>
                              </a:solidFill>
                              <a:latin typeface="Cambria Math" panose="02040503050406030204" pitchFamily="18" charset="0"/>
                            </a:rPr>
                          </m:ctrlPr>
                        </m:sSubPr>
                        <m:e>
                          <m:r>
                            <a:rPr lang="en-US" sz="1400" b="0" i="1" smtClean="0">
                              <a:solidFill>
                                <a:srgbClr val="00B050"/>
                              </a:solidFill>
                              <a:latin typeface="Cambria Math" panose="02040503050406030204" pitchFamily="18" charset="0"/>
                            </a:rPr>
                            <m:t>𝑇</m:t>
                          </m:r>
                        </m:e>
                        <m:sub>
                          <m:r>
                            <a:rPr lang="en-US" sz="1400" b="0" i="1" smtClean="0">
                              <a:solidFill>
                                <a:srgbClr val="00B050"/>
                              </a:solidFill>
                              <a:latin typeface="Cambria Math" panose="02040503050406030204" pitchFamily="18" charset="0"/>
                            </a:rPr>
                            <m:t>2</m:t>
                          </m:r>
                        </m:sub>
                      </m:sSub>
                    </m:oMath>
                  </m:oMathPara>
                </a14:m>
                <a:endParaRPr lang="en-GB" sz="1400" dirty="0">
                  <a:solidFill>
                    <a:srgbClr val="00B050"/>
                  </a:solidFill>
                </a:endParaRPr>
              </a:p>
            </p:txBody>
          </p:sp>
        </mc:Choice>
        <mc:Fallback xmlns="">
          <p:sp>
            <p:nvSpPr>
              <p:cNvPr id="38" name="TextBox 37">
                <a:extLst>
                  <a:ext uri="{FF2B5EF4-FFF2-40B4-BE49-F238E27FC236}">
                    <a16:creationId xmlns:a16="http://schemas.microsoft.com/office/drawing/2014/main" id="{CFA34671-6758-E6CC-AC41-A34FDFB63207}"/>
                  </a:ext>
                </a:extLst>
              </p:cNvPr>
              <p:cNvSpPr txBox="1">
                <a:spLocks noRot="1" noChangeAspect="1" noMove="1" noResize="1" noEditPoints="1" noAdjustHandles="1" noChangeArrowheads="1" noChangeShapeType="1" noTextEdit="1"/>
              </p:cNvSpPr>
              <p:nvPr/>
            </p:nvSpPr>
            <p:spPr>
              <a:xfrm>
                <a:off x="6227255" y="5945013"/>
                <a:ext cx="955683" cy="215444"/>
              </a:xfrm>
              <a:prstGeom prst="rect">
                <a:avLst/>
              </a:prstGeom>
              <a:blipFill>
                <a:blip r:embed="rId18"/>
                <a:stretch>
                  <a:fillRect l="-1923" b="-1388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8A2B03CD-6AF8-070E-DD47-045487979CAF}"/>
                  </a:ext>
                </a:extLst>
              </p:cNvPr>
              <p:cNvSpPr txBox="1"/>
              <p:nvPr/>
            </p:nvSpPr>
            <p:spPr>
              <a:xfrm>
                <a:off x="7666906" y="5945013"/>
                <a:ext cx="955683"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1</m:t>
                          </m:r>
                        </m:sub>
                      </m:sSub>
                      <m:r>
                        <a:rPr lang="en-US" sz="1400" b="0" i="1" smtClean="0">
                          <a:solidFill>
                            <a:schemeClr val="tx2"/>
                          </a:solidFill>
                          <a:latin typeface="Cambria Math" panose="02040503050406030204" pitchFamily="18" charset="0"/>
                        </a:rPr>
                        <m:t>≤</m:t>
                      </m:r>
                      <m:r>
                        <a:rPr lang="en-US" sz="1400" b="0" i="1" smtClean="0">
                          <a:solidFill>
                            <a:schemeClr val="tx2"/>
                          </a:solidFill>
                          <a:latin typeface="Cambria Math" panose="02040503050406030204" pitchFamily="18" charset="0"/>
                        </a:rPr>
                        <m:t>𝑡</m:t>
                      </m:r>
                      <m:r>
                        <a:rPr lang="en-US" sz="1400" b="0" i="1" smtClean="0">
                          <a:solidFill>
                            <a:schemeClr val="tx2"/>
                          </a:solidFill>
                          <a:latin typeface="Cambria Math" panose="02040503050406030204" pitchFamily="18" charset="0"/>
                        </a:rPr>
                        <m:t>&lt;</m:t>
                      </m:r>
                      <m:sSub>
                        <m:sSubPr>
                          <m:ctrlPr>
                            <a:rPr lang="en-US" sz="1400" b="0" i="1" smtClean="0">
                              <a:solidFill>
                                <a:schemeClr val="tx2"/>
                              </a:solidFill>
                              <a:latin typeface="Cambria Math" panose="02040503050406030204" pitchFamily="18" charset="0"/>
                            </a:rPr>
                          </m:ctrlPr>
                        </m:sSubPr>
                        <m:e>
                          <m:r>
                            <a:rPr lang="en-US" sz="1400" b="0" i="1" smtClean="0">
                              <a:solidFill>
                                <a:schemeClr val="tx2"/>
                              </a:solidFill>
                              <a:latin typeface="Cambria Math" panose="02040503050406030204" pitchFamily="18" charset="0"/>
                            </a:rPr>
                            <m:t>𝑇</m:t>
                          </m:r>
                        </m:e>
                        <m:sub>
                          <m:r>
                            <a:rPr lang="en-US" sz="1400" b="0" i="1" smtClean="0">
                              <a:solidFill>
                                <a:schemeClr val="tx2"/>
                              </a:solidFill>
                              <a:latin typeface="Cambria Math" panose="02040503050406030204" pitchFamily="18" charset="0"/>
                            </a:rPr>
                            <m:t>2</m:t>
                          </m:r>
                        </m:sub>
                      </m:sSub>
                    </m:oMath>
                  </m:oMathPara>
                </a14:m>
                <a:endParaRPr lang="en-GB" sz="1400" dirty="0">
                  <a:solidFill>
                    <a:schemeClr val="tx2"/>
                  </a:solidFill>
                </a:endParaRPr>
              </a:p>
            </p:txBody>
          </p:sp>
        </mc:Choice>
        <mc:Fallback xmlns="">
          <p:sp>
            <p:nvSpPr>
              <p:cNvPr id="39" name="TextBox 38">
                <a:extLst>
                  <a:ext uri="{FF2B5EF4-FFF2-40B4-BE49-F238E27FC236}">
                    <a16:creationId xmlns:a16="http://schemas.microsoft.com/office/drawing/2014/main" id="{8A2B03CD-6AF8-070E-DD47-045487979CAF}"/>
                  </a:ext>
                </a:extLst>
              </p:cNvPr>
              <p:cNvSpPr txBox="1">
                <a:spLocks noRot="1" noChangeAspect="1" noMove="1" noResize="1" noEditPoints="1" noAdjustHandles="1" noChangeArrowheads="1" noChangeShapeType="1" noTextEdit="1"/>
              </p:cNvSpPr>
              <p:nvPr/>
            </p:nvSpPr>
            <p:spPr>
              <a:xfrm>
                <a:off x="7666906" y="5945013"/>
                <a:ext cx="955683" cy="215444"/>
              </a:xfrm>
              <a:prstGeom prst="rect">
                <a:avLst/>
              </a:prstGeom>
              <a:blipFill>
                <a:blip r:embed="rId19"/>
                <a:stretch>
                  <a:fillRect l="-1923" b="-13889"/>
                </a:stretch>
              </a:blipFill>
            </p:spPr>
            <p:txBody>
              <a:bodyPr/>
              <a:lstStyle/>
              <a:p>
                <a:r>
                  <a:rPr lang="en-GB">
                    <a:noFill/>
                  </a:rPr>
                  <a:t> </a:t>
                </a:r>
              </a:p>
            </p:txBody>
          </p:sp>
        </mc:Fallback>
      </mc:AlternateContent>
      <p:cxnSp>
        <p:nvCxnSpPr>
          <p:cNvPr id="41" name="Straight Arrow Connector 40">
            <a:extLst>
              <a:ext uri="{FF2B5EF4-FFF2-40B4-BE49-F238E27FC236}">
                <a16:creationId xmlns:a16="http://schemas.microsoft.com/office/drawing/2014/main" id="{AC474824-4D17-2E45-6F0F-FDE1868A8DE9}"/>
              </a:ext>
            </a:extLst>
          </p:cNvPr>
          <p:cNvCxnSpPr>
            <a:cxnSpLocks/>
          </p:cNvCxnSpPr>
          <p:nvPr/>
        </p:nvCxnSpPr>
        <p:spPr>
          <a:xfrm>
            <a:off x="3103719" y="4775200"/>
            <a:ext cx="556893" cy="0"/>
          </a:xfrm>
          <a:prstGeom prst="straightConnector1">
            <a:avLst/>
          </a:prstGeom>
          <a:ln w="28575">
            <a:solidFill>
              <a:srgbClr val="ED7D3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2ED3609-D1C0-C937-13C6-BBA4EFF70A22}"/>
              </a:ext>
            </a:extLst>
          </p:cNvPr>
          <p:cNvCxnSpPr>
            <a:cxnSpLocks/>
          </p:cNvCxnSpPr>
          <p:nvPr/>
        </p:nvCxnSpPr>
        <p:spPr>
          <a:xfrm>
            <a:off x="8871605" y="3914136"/>
            <a:ext cx="556893" cy="0"/>
          </a:xfrm>
          <a:prstGeom prst="straightConnector1">
            <a:avLst/>
          </a:prstGeom>
          <a:ln w="28575">
            <a:solidFill>
              <a:srgbClr val="ED7D3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928CF617-B1A7-3E07-2E72-900275044A7F}"/>
                  </a:ext>
                </a:extLst>
              </p:cNvPr>
              <p:cNvSpPr txBox="1"/>
              <p:nvPr/>
            </p:nvSpPr>
            <p:spPr>
              <a:xfrm>
                <a:off x="3388715" y="4501470"/>
                <a:ext cx="543793" cy="21544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rgbClr val="ED7D31"/>
                              </a:solidFill>
                              <a:latin typeface="Cambria Math" panose="02040503050406030204" pitchFamily="18" charset="0"/>
                            </a:rPr>
                          </m:ctrlPr>
                        </m:sSubPr>
                        <m:e>
                          <m:r>
                            <a:rPr lang="en-US" sz="1400" b="0" i="1" smtClean="0">
                              <a:solidFill>
                                <a:srgbClr val="ED7D31"/>
                              </a:solidFill>
                              <a:latin typeface="Cambria Math" panose="02040503050406030204" pitchFamily="18" charset="0"/>
                            </a:rPr>
                            <m:t>𝑣</m:t>
                          </m:r>
                        </m:e>
                        <m:sub>
                          <m:r>
                            <a:rPr lang="en-US" sz="1400" b="0" i="1" smtClean="0">
                              <a:solidFill>
                                <a:srgbClr val="ED7D31"/>
                              </a:solidFill>
                              <a:latin typeface="Cambria Math" panose="02040503050406030204" pitchFamily="18" charset="0"/>
                            </a:rPr>
                            <m:t>𝑖𝑛𝑖𝑡𝑖𝑎𝑙</m:t>
                          </m:r>
                        </m:sub>
                      </m:sSub>
                    </m:oMath>
                  </m:oMathPara>
                </a14:m>
                <a:endParaRPr lang="en-GB" sz="1400" dirty="0">
                  <a:solidFill>
                    <a:srgbClr val="ED7D31"/>
                  </a:solidFill>
                </a:endParaRPr>
              </a:p>
            </p:txBody>
          </p:sp>
        </mc:Choice>
        <mc:Fallback xmlns="">
          <p:sp>
            <p:nvSpPr>
              <p:cNvPr id="45" name="TextBox 44">
                <a:extLst>
                  <a:ext uri="{FF2B5EF4-FFF2-40B4-BE49-F238E27FC236}">
                    <a16:creationId xmlns:a16="http://schemas.microsoft.com/office/drawing/2014/main" id="{928CF617-B1A7-3E07-2E72-900275044A7F}"/>
                  </a:ext>
                </a:extLst>
              </p:cNvPr>
              <p:cNvSpPr txBox="1">
                <a:spLocks noRot="1" noChangeAspect="1" noMove="1" noResize="1" noEditPoints="1" noAdjustHandles="1" noChangeArrowheads="1" noChangeShapeType="1" noTextEdit="1"/>
              </p:cNvSpPr>
              <p:nvPr/>
            </p:nvSpPr>
            <p:spPr>
              <a:xfrm>
                <a:off x="3388715" y="4501470"/>
                <a:ext cx="543793" cy="215444"/>
              </a:xfrm>
              <a:prstGeom prst="rect">
                <a:avLst/>
              </a:prstGeom>
              <a:blipFill>
                <a:blip r:embed="rId20"/>
                <a:stretch>
                  <a:fillRect l="-6742" r="-2247"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2090E47-A474-EDE8-E20A-70EC6FE01A65}"/>
                  </a:ext>
                </a:extLst>
              </p:cNvPr>
              <p:cNvSpPr txBox="1"/>
              <p:nvPr/>
            </p:nvSpPr>
            <p:spPr>
              <a:xfrm>
                <a:off x="9271355" y="3921940"/>
                <a:ext cx="543793" cy="232692"/>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rgbClr val="ED7D31"/>
                              </a:solidFill>
                              <a:latin typeface="Cambria Math" panose="02040503050406030204" pitchFamily="18" charset="0"/>
                            </a:rPr>
                          </m:ctrlPr>
                        </m:sSubPr>
                        <m:e>
                          <m:r>
                            <a:rPr lang="en-US" sz="1400" b="0" i="1" smtClean="0">
                              <a:solidFill>
                                <a:srgbClr val="ED7D31"/>
                              </a:solidFill>
                              <a:latin typeface="Cambria Math" panose="02040503050406030204" pitchFamily="18" charset="0"/>
                            </a:rPr>
                            <m:t>𝑣</m:t>
                          </m:r>
                        </m:e>
                        <m:sub>
                          <m:r>
                            <a:rPr lang="en-US" sz="1400" b="0" i="1" smtClean="0">
                              <a:solidFill>
                                <a:srgbClr val="ED7D31"/>
                              </a:solidFill>
                              <a:latin typeface="Cambria Math" panose="02040503050406030204" pitchFamily="18" charset="0"/>
                            </a:rPr>
                            <m:t>𝑓𝑖𝑛𝑎𝑙</m:t>
                          </m:r>
                        </m:sub>
                      </m:sSub>
                    </m:oMath>
                  </m:oMathPara>
                </a14:m>
                <a:endParaRPr lang="en-GB" sz="1400" dirty="0">
                  <a:solidFill>
                    <a:srgbClr val="ED7D31"/>
                  </a:solidFill>
                </a:endParaRPr>
              </a:p>
            </p:txBody>
          </p:sp>
        </mc:Choice>
        <mc:Fallback xmlns="">
          <p:sp>
            <p:nvSpPr>
              <p:cNvPr id="47" name="TextBox 46">
                <a:extLst>
                  <a:ext uri="{FF2B5EF4-FFF2-40B4-BE49-F238E27FC236}">
                    <a16:creationId xmlns:a16="http://schemas.microsoft.com/office/drawing/2014/main" id="{52090E47-A474-EDE8-E20A-70EC6FE01A65}"/>
                  </a:ext>
                </a:extLst>
              </p:cNvPr>
              <p:cNvSpPr txBox="1">
                <a:spLocks noRot="1" noChangeAspect="1" noMove="1" noResize="1" noEditPoints="1" noAdjustHandles="1" noChangeArrowheads="1" noChangeShapeType="1" noTextEdit="1"/>
              </p:cNvSpPr>
              <p:nvPr/>
            </p:nvSpPr>
            <p:spPr>
              <a:xfrm>
                <a:off x="9271355" y="3921940"/>
                <a:ext cx="543793" cy="232692"/>
              </a:xfrm>
              <a:prstGeom prst="rect">
                <a:avLst/>
              </a:prstGeom>
              <a:blipFill>
                <a:blip r:embed="rId21"/>
                <a:stretch>
                  <a:fillRect b="-2307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A582463-6CCD-680F-9D40-AAFD0B80A188}"/>
                  </a:ext>
                </a:extLst>
              </p:cNvPr>
              <p:cNvSpPr txBox="1"/>
              <p:nvPr/>
            </p:nvSpPr>
            <p:spPr>
              <a:xfrm>
                <a:off x="4496718" y="2732092"/>
                <a:ext cx="424873"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𝑃</m:t>
                          </m:r>
                        </m:e>
                        <m:sub>
                          <m:r>
                            <a:rPr lang="en-US" b="0" i="1" smtClean="0">
                              <a:solidFill>
                                <a:schemeClr val="tx2"/>
                              </a:solidFill>
                              <a:latin typeface="Cambria Math" panose="02040503050406030204" pitchFamily="18" charset="0"/>
                            </a:rPr>
                            <m:t>2</m:t>
                          </m:r>
                        </m:sub>
                      </m:sSub>
                    </m:oMath>
                  </m:oMathPara>
                </a14:m>
                <a:endParaRPr lang="en-GB" dirty="0">
                  <a:solidFill>
                    <a:schemeClr val="tx2"/>
                  </a:solidFill>
                </a:endParaRPr>
              </a:p>
            </p:txBody>
          </p:sp>
        </mc:Choice>
        <mc:Fallback xmlns="">
          <p:sp>
            <p:nvSpPr>
              <p:cNvPr id="2" name="TextBox 1">
                <a:extLst>
                  <a:ext uri="{FF2B5EF4-FFF2-40B4-BE49-F238E27FC236}">
                    <a16:creationId xmlns:a16="http://schemas.microsoft.com/office/drawing/2014/main" id="{CA582463-6CCD-680F-9D40-AAFD0B80A188}"/>
                  </a:ext>
                </a:extLst>
              </p:cNvPr>
              <p:cNvSpPr txBox="1">
                <a:spLocks noRot="1" noChangeAspect="1" noMove="1" noResize="1" noEditPoints="1" noAdjustHandles="1" noChangeArrowheads="1" noChangeShapeType="1" noTextEdit="1"/>
              </p:cNvSpPr>
              <p:nvPr/>
            </p:nvSpPr>
            <p:spPr>
              <a:xfrm>
                <a:off x="4496718" y="2732092"/>
                <a:ext cx="424873" cy="276999"/>
              </a:xfrm>
              <a:prstGeom prst="rect">
                <a:avLst/>
              </a:prstGeom>
              <a:blipFill>
                <a:blip r:embed="rId22"/>
                <a:stretch>
                  <a:fillRect b="-17391"/>
                </a:stretch>
              </a:blipFill>
            </p:spPr>
            <p:txBody>
              <a:bodyPr/>
              <a:lstStyle/>
              <a:p>
                <a:r>
                  <a:rPr lang="en-GB">
                    <a:noFill/>
                  </a:rPr>
                  <a:t> </a:t>
                </a:r>
              </a:p>
            </p:txBody>
          </p:sp>
        </mc:Fallback>
      </mc:AlternateContent>
      <p:sp>
        <p:nvSpPr>
          <p:cNvPr id="20" name="Rectangle 4">
            <a:extLst>
              <a:ext uri="{FF2B5EF4-FFF2-40B4-BE49-F238E27FC236}">
                <a16:creationId xmlns:a16="http://schemas.microsoft.com/office/drawing/2014/main" id="{4C89BFF9-A523-FC93-FD57-16E9991FC7E7}"/>
              </a:ext>
            </a:extLst>
          </p:cNvPr>
          <p:cNvSpPr>
            <a:spLocks noChangeArrowheads="1"/>
          </p:cNvSpPr>
          <p:nvPr/>
        </p:nvSpPr>
        <p:spPr bwMode="auto">
          <a:xfrm>
            <a:off x="9271355" y="1826177"/>
            <a:ext cx="282690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err="1">
                <a:solidFill>
                  <a:srgbClr val="00B050"/>
                </a:solidFill>
                <a:latin typeface="Cascadia Code" panose="020B0609020000020004" pitchFamily="49" charset="0"/>
                <a:cs typeface="Cascadia Code" panose="020B0609020000020004" pitchFamily="49" charset="0"/>
              </a:rPr>
              <a:t>CubicPolynomial.evaluate</a:t>
            </a:r>
            <a:r>
              <a:rPr lang="en-US" altLang="en-US" sz="1200" dirty="0">
                <a:solidFill>
                  <a:srgbClr val="00B050"/>
                </a:solidFill>
                <a:latin typeface="Cascadia Code" panose="020B0609020000020004" pitchFamily="49" charset="0"/>
                <a:cs typeface="Cascadia Code" panose="020B0609020000020004" pitchFamily="49" charset="0"/>
              </a:rPr>
              <a:t>(</a:t>
            </a:r>
            <a:r>
              <a:rPr lang="en-US" altLang="en-US" sz="1200" dirty="0" err="1">
                <a:solidFill>
                  <a:srgbClr val="00B050"/>
                </a:solidFill>
                <a:latin typeface="Cascadia Code" panose="020B0609020000020004" pitchFamily="49" charset="0"/>
                <a:cs typeface="Cascadia Code" panose="020B0609020000020004" pitchFamily="49" charset="0"/>
              </a:rPr>
              <a:t>Tp</a:t>
            </a:r>
            <a:r>
              <a:rPr lang="en-US" altLang="en-US" sz="1200" dirty="0">
                <a:solidFill>
                  <a:srgbClr val="00B050"/>
                </a:solidFill>
                <a:latin typeface="Cascadia Code" panose="020B0609020000020004" pitchFamily="49" charset="0"/>
                <a:cs typeface="Cascadia Code" panose="020B0609020000020004" pitchFamily="49" charset="0"/>
              </a:rPr>
              <a:t>)</a:t>
            </a:r>
            <a:endParaRPr kumimoji="0" lang="en-US" altLang="en-US" sz="1200" b="0" i="0" u="none" strike="noStrike" cap="none" normalizeH="0" baseline="0" dirty="0">
              <a:ln>
                <a:noFill/>
              </a:ln>
              <a:solidFill>
                <a:srgbClr val="00B050"/>
              </a:solidFill>
              <a:effectLst/>
              <a:latin typeface="Cascadia Code" panose="020B0609020000020004" pitchFamily="49" charset="0"/>
              <a:cs typeface="Cascadia Code" panose="020B0609020000020004" pitchFamily="49" charset="0"/>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D93B5DC7-15C5-09DD-D492-B897AF2D8B49}"/>
                  </a:ext>
                </a:extLst>
              </p:cNvPr>
              <p:cNvSpPr txBox="1"/>
              <p:nvPr/>
            </p:nvSpPr>
            <p:spPr>
              <a:xfrm>
                <a:off x="6498199" y="5165741"/>
                <a:ext cx="424873" cy="301878"/>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1" i="1" smtClean="0">
                              <a:solidFill>
                                <a:srgbClr val="00B050"/>
                              </a:solidFill>
                              <a:latin typeface="Cambria Math" panose="02040503050406030204" pitchFamily="18" charset="0"/>
                            </a:rPr>
                          </m:ctrlPr>
                        </m:sSubPr>
                        <m:e>
                          <m:r>
                            <a:rPr lang="en-US" b="1" i="1" smtClean="0">
                              <a:solidFill>
                                <a:srgbClr val="00B050"/>
                              </a:solidFill>
                              <a:latin typeface="Cambria Math" panose="02040503050406030204" pitchFamily="18" charset="0"/>
                            </a:rPr>
                            <m:t>𝑻</m:t>
                          </m:r>
                        </m:e>
                        <m:sub>
                          <m:r>
                            <a:rPr lang="en-US" b="1" i="1" smtClean="0">
                              <a:solidFill>
                                <a:srgbClr val="00B050"/>
                              </a:solidFill>
                              <a:latin typeface="Cambria Math" panose="02040503050406030204" pitchFamily="18" charset="0"/>
                            </a:rPr>
                            <m:t>𝒑</m:t>
                          </m:r>
                        </m:sub>
                      </m:sSub>
                    </m:oMath>
                  </m:oMathPara>
                </a14:m>
                <a:endParaRPr lang="en-GB" b="1" dirty="0">
                  <a:solidFill>
                    <a:schemeClr val="tx2"/>
                  </a:solidFill>
                </a:endParaRPr>
              </a:p>
            </p:txBody>
          </p:sp>
        </mc:Choice>
        <mc:Fallback xmlns="">
          <p:sp>
            <p:nvSpPr>
              <p:cNvPr id="40" name="TextBox 39">
                <a:extLst>
                  <a:ext uri="{FF2B5EF4-FFF2-40B4-BE49-F238E27FC236}">
                    <a16:creationId xmlns:a16="http://schemas.microsoft.com/office/drawing/2014/main" id="{D93B5DC7-15C5-09DD-D492-B897AF2D8B49}"/>
                  </a:ext>
                </a:extLst>
              </p:cNvPr>
              <p:cNvSpPr txBox="1">
                <a:spLocks noRot="1" noChangeAspect="1" noMove="1" noResize="1" noEditPoints="1" noAdjustHandles="1" noChangeArrowheads="1" noChangeShapeType="1" noTextEdit="1"/>
              </p:cNvSpPr>
              <p:nvPr/>
            </p:nvSpPr>
            <p:spPr>
              <a:xfrm>
                <a:off x="6498199" y="5165741"/>
                <a:ext cx="424873" cy="301878"/>
              </a:xfrm>
              <a:prstGeom prst="rect">
                <a:avLst/>
              </a:prstGeom>
              <a:blipFill>
                <a:blip r:embed="rId23"/>
                <a:stretch>
                  <a:fillRect b="-22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7D041E-58C5-3E00-BED4-DA8951490C82}"/>
                  </a:ext>
                </a:extLst>
              </p:cNvPr>
              <p:cNvSpPr txBox="1"/>
              <p:nvPr/>
            </p:nvSpPr>
            <p:spPr>
              <a:xfrm>
                <a:off x="6705096" y="2645343"/>
                <a:ext cx="802945" cy="282834"/>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600" b="0" i="1" smtClean="0">
                              <a:solidFill>
                                <a:srgbClr val="00B050"/>
                              </a:solidFill>
                              <a:latin typeface="Cambria Math" panose="02040503050406030204" pitchFamily="18" charset="0"/>
                            </a:rPr>
                          </m:ctrlPr>
                        </m:sSubPr>
                        <m:e>
                          <m:r>
                            <a:rPr lang="en-US" sz="1600" b="0" i="1" smtClean="0">
                              <a:solidFill>
                                <a:srgbClr val="00B050"/>
                              </a:solidFill>
                              <a:latin typeface="Cambria Math" panose="02040503050406030204" pitchFamily="18" charset="0"/>
                            </a:rPr>
                            <m:t>𝑝</m:t>
                          </m:r>
                        </m:e>
                        <m:sub>
                          <m:r>
                            <a:rPr lang="en-US" sz="1600" b="0" i="1" smtClean="0">
                              <a:solidFill>
                                <a:srgbClr val="00B050"/>
                              </a:solidFill>
                              <a:latin typeface="Cambria Math" panose="02040503050406030204" pitchFamily="18" charset="0"/>
                            </a:rPr>
                            <m:t>3</m:t>
                          </m:r>
                        </m:sub>
                      </m:sSub>
                      <m:d>
                        <m:dPr>
                          <m:ctrlPr>
                            <a:rPr lang="en-US" sz="1600" b="0" i="1" smtClean="0">
                              <a:solidFill>
                                <a:srgbClr val="00B050"/>
                              </a:solidFill>
                              <a:latin typeface="Cambria Math" panose="02040503050406030204" pitchFamily="18" charset="0"/>
                            </a:rPr>
                          </m:ctrlPr>
                        </m:dPr>
                        <m:e>
                          <m:sSub>
                            <m:sSubPr>
                              <m:ctrlPr>
                                <a:rPr lang="en-US" sz="1600" b="0" i="1" smtClean="0">
                                  <a:solidFill>
                                    <a:srgbClr val="00B050"/>
                                  </a:solidFill>
                                  <a:latin typeface="Cambria Math" panose="02040503050406030204" pitchFamily="18" charset="0"/>
                                </a:rPr>
                              </m:ctrlPr>
                            </m:sSubPr>
                            <m:e>
                              <m:r>
                                <a:rPr lang="en-US" sz="1600" b="0" i="1" smtClean="0">
                                  <a:solidFill>
                                    <a:srgbClr val="00B050"/>
                                  </a:solidFill>
                                  <a:latin typeface="Cambria Math" panose="02040503050406030204" pitchFamily="18" charset="0"/>
                                </a:rPr>
                                <m:t>𝑇</m:t>
                              </m:r>
                            </m:e>
                            <m:sub>
                              <m:r>
                                <a:rPr lang="en-US" sz="1600" b="0" i="1" smtClean="0">
                                  <a:solidFill>
                                    <a:srgbClr val="00B050"/>
                                  </a:solidFill>
                                  <a:latin typeface="Cambria Math" panose="02040503050406030204" pitchFamily="18" charset="0"/>
                                </a:rPr>
                                <m:t>𝑝</m:t>
                              </m:r>
                            </m:sub>
                          </m:sSub>
                        </m:e>
                      </m:d>
                    </m:oMath>
                  </m:oMathPara>
                </a14:m>
                <a:endParaRPr lang="en-GB" sz="1600" dirty="0">
                  <a:solidFill>
                    <a:srgbClr val="00B050"/>
                  </a:solidFill>
                </a:endParaRPr>
              </a:p>
            </p:txBody>
          </p:sp>
        </mc:Choice>
        <mc:Fallback xmlns="">
          <p:sp>
            <p:nvSpPr>
              <p:cNvPr id="42" name="TextBox 41">
                <a:extLst>
                  <a:ext uri="{FF2B5EF4-FFF2-40B4-BE49-F238E27FC236}">
                    <a16:creationId xmlns:a16="http://schemas.microsoft.com/office/drawing/2014/main" id="{397D041E-58C5-3E00-BED4-DA8951490C82}"/>
                  </a:ext>
                </a:extLst>
              </p:cNvPr>
              <p:cNvSpPr txBox="1">
                <a:spLocks noRot="1" noChangeAspect="1" noMove="1" noResize="1" noEditPoints="1" noAdjustHandles="1" noChangeArrowheads="1" noChangeShapeType="1" noTextEdit="1"/>
              </p:cNvSpPr>
              <p:nvPr/>
            </p:nvSpPr>
            <p:spPr>
              <a:xfrm>
                <a:off x="6705096" y="2645343"/>
                <a:ext cx="802945" cy="282834"/>
              </a:xfrm>
              <a:prstGeom prst="rect">
                <a:avLst/>
              </a:prstGeom>
              <a:blipFill>
                <a:blip r:embed="rId24"/>
                <a:stretch>
                  <a:fillRect b="-21739"/>
                </a:stretch>
              </a:blipFill>
            </p:spPr>
            <p:txBody>
              <a:bodyPr/>
              <a:lstStyle/>
              <a:p>
                <a:r>
                  <a:rPr lang="en-GB">
                    <a:noFill/>
                  </a:rPr>
                  <a:t> </a:t>
                </a:r>
              </a:p>
            </p:txBody>
          </p:sp>
        </mc:Fallback>
      </mc:AlternateContent>
      <p:sp>
        <p:nvSpPr>
          <p:cNvPr id="51" name="Freeform: Shape 50">
            <a:extLst>
              <a:ext uri="{FF2B5EF4-FFF2-40B4-BE49-F238E27FC236}">
                <a16:creationId xmlns:a16="http://schemas.microsoft.com/office/drawing/2014/main" id="{220BA548-BE1A-C4F1-7D19-64BA37FEC91A}"/>
              </a:ext>
            </a:extLst>
          </p:cNvPr>
          <p:cNvSpPr/>
          <p:nvPr/>
        </p:nvSpPr>
        <p:spPr>
          <a:xfrm>
            <a:off x="6028612" y="1351591"/>
            <a:ext cx="1339720" cy="2938059"/>
          </a:xfrm>
          <a:custGeom>
            <a:avLst/>
            <a:gdLst>
              <a:gd name="connsiteX0" fmla="*/ 0 w 1409700"/>
              <a:gd name="connsiteY0" fmla="*/ 3028950 h 3028950"/>
              <a:gd name="connsiteX1" fmla="*/ 203200 w 1409700"/>
              <a:gd name="connsiteY1" fmla="*/ 2724150 h 3028950"/>
              <a:gd name="connsiteX2" fmla="*/ 336550 w 1409700"/>
              <a:gd name="connsiteY2" fmla="*/ 2387600 h 3028950"/>
              <a:gd name="connsiteX3" fmla="*/ 558800 w 1409700"/>
              <a:gd name="connsiteY3" fmla="*/ 1847850 h 3028950"/>
              <a:gd name="connsiteX4" fmla="*/ 704850 w 1409700"/>
              <a:gd name="connsiteY4" fmla="*/ 1403350 h 3028950"/>
              <a:gd name="connsiteX5" fmla="*/ 850900 w 1409700"/>
              <a:gd name="connsiteY5" fmla="*/ 933450 h 3028950"/>
              <a:gd name="connsiteX6" fmla="*/ 1092200 w 1409700"/>
              <a:gd name="connsiteY6" fmla="*/ 393700 h 3028950"/>
              <a:gd name="connsiteX7" fmla="*/ 1409700 w 1409700"/>
              <a:gd name="connsiteY7" fmla="*/ 0 h 3028950"/>
              <a:gd name="connsiteX0" fmla="*/ 0 w 1409700"/>
              <a:gd name="connsiteY0" fmla="*/ 3028950 h 3028950"/>
              <a:gd name="connsiteX1" fmla="*/ 203200 w 1409700"/>
              <a:gd name="connsiteY1" fmla="*/ 2724150 h 3028950"/>
              <a:gd name="connsiteX2" fmla="*/ 352425 w 1409700"/>
              <a:gd name="connsiteY2" fmla="*/ 2384425 h 3028950"/>
              <a:gd name="connsiteX3" fmla="*/ 558800 w 1409700"/>
              <a:gd name="connsiteY3" fmla="*/ 1847850 h 3028950"/>
              <a:gd name="connsiteX4" fmla="*/ 704850 w 1409700"/>
              <a:gd name="connsiteY4" fmla="*/ 1403350 h 3028950"/>
              <a:gd name="connsiteX5" fmla="*/ 850900 w 1409700"/>
              <a:gd name="connsiteY5" fmla="*/ 933450 h 3028950"/>
              <a:gd name="connsiteX6" fmla="*/ 1092200 w 1409700"/>
              <a:gd name="connsiteY6" fmla="*/ 393700 h 3028950"/>
              <a:gd name="connsiteX7" fmla="*/ 1409700 w 1409700"/>
              <a:gd name="connsiteY7" fmla="*/ 0 h 3028950"/>
              <a:gd name="connsiteX0" fmla="*/ 0 w 1409700"/>
              <a:gd name="connsiteY0" fmla="*/ 3028950 h 3028950"/>
              <a:gd name="connsiteX1" fmla="*/ 203200 w 1409700"/>
              <a:gd name="connsiteY1" fmla="*/ 2724150 h 3028950"/>
              <a:gd name="connsiteX2" fmla="*/ 352425 w 1409700"/>
              <a:gd name="connsiteY2" fmla="*/ 2384425 h 3028950"/>
              <a:gd name="connsiteX3" fmla="*/ 539750 w 1409700"/>
              <a:gd name="connsiteY3" fmla="*/ 1847850 h 3028950"/>
              <a:gd name="connsiteX4" fmla="*/ 704850 w 1409700"/>
              <a:gd name="connsiteY4" fmla="*/ 1403350 h 3028950"/>
              <a:gd name="connsiteX5" fmla="*/ 850900 w 1409700"/>
              <a:gd name="connsiteY5" fmla="*/ 933450 h 3028950"/>
              <a:gd name="connsiteX6" fmla="*/ 1092200 w 1409700"/>
              <a:gd name="connsiteY6" fmla="*/ 393700 h 3028950"/>
              <a:gd name="connsiteX7" fmla="*/ 1409700 w 1409700"/>
              <a:gd name="connsiteY7" fmla="*/ 0 h 3028950"/>
              <a:gd name="connsiteX0" fmla="*/ 0 w 1409700"/>
              <a:gd name="connsiteY0" fmla="*/ 3028950 h 3028950"/>
              <a:gd name="connsiteX1" fmla="*/ 203200 w 1409700"/>
              <a:gd name="connsiteY1" fmla="*/ 2724150 h 3028950"/>
              <a:gd name="connsiteX2" fmla="*/ 352425 w 1409700"/>
              <a:gd name="connsiteY2" fmla="*/ 2384425 h 3028950"/>
              <a:gd name="connsiteX3" fmla="*/ 539750 w 1409700"/>
              <a:gd name="connsiteY3" fmla="*/ 1847850 h 3028950"/>
              <a:gd name="connsiteX4" fmla="*/ 704850 w 1409700"/>
              <a:gd name="connsiteY4" fmla="*/ 1403350 h 3028950"/>
              <a:gd name="connsiteX5" fmla="*/ 869950 w 1409700"/>
              <a:gd name="connsiteY5" fmla="*/ 933450 h 3028950"/>
              <a:gd name="connsiteX6" fmla="*/ 1092200 w 1409700"/>
              <a:gd name="connsiteY6" fmla="*/ 393700 h 3028950"/>
              <a:gd name="connsiteX7" fmla="*/ 1409700 w 1409700"/>
              <a:gd name="connsiteY7" fmla="*/ 0 h 3028950"/>
              <a:gd name="connsiteX0" fmla="*/ 0 w 1409700"/>
              <a:gd name="connsiteY0" fmla="*/ 3028950 h 3028950"/>
              <a:gd name="connsiteX1" fmla="*/ 203200 w 1409700"/>
              <a:gd name="connsiteY1" fmla="*/ 2724150 h 3028950"/>
              <a:gd name="connsiteX2" fmla="*/ 352425 w 1409700"/>
              <a:gd name="connsiteY2" fmla="*/ 2384425 h 3028950"/>
              <a:gd name="connsiteX3" fmla="*/ 539750 w 1409700"/>
              <a:gd name="connsiteY3" fmla="*/ 1847850 h 3028950"/>
              <a:gd name="connsiteX4" fmla="*/ 704850 w 1409700"/>
              <a:gd name="connsiteY4" fmla="*/ 1403350 h 3028950"/>
              <a:gd name="connsiteX5" fmla="*/ 869950 w 1409700"/>
              <a:gd name="connsiteY5" fmla="*/ 933450 h 3028950"/>
              <a:gd name="connsiteX6" fmla="*/ 1101725 w 1409700"/>
              <a:gd name="connsiteY6" fmla="*/ 361950 h 3028950"/>
              <a:gd name="connsiteX7" fmla="*/ 1409700 w 1409700"/>
              <a:gd name="connsiteY7" fmla="*/ 0 h 3028950"/>
              <a:gd name="connsiteX0" fmla="*/ 0 w 1431925"/>
              <a:gd name="connsiteY0" fmla="*/ 3019425 h 3019425"/>
              <a:gd name="connsiteX1" fmla="*/ 203200 w 1431925"/>
              <a:gd name="connsiteY1" fmla="*/ 2714625 h 3019425"/>
              <a:gd name="connsiteX2" fmla="*/ 352425 w 1431925"/>
              <a:gd name="connsiteY2" fmla="*/ 2374900 h 3019425"/>
              <a:gd name="connsiteX3" fmla="*/ 539750 w 1431925"/>
              <a:gd name="connsiteY3" fmla="*/ 1838325 h 3019425"/>
              <a:gd name="connsiteX4" fmla="*/ 704850 w 1431925"/>
              <a:gd name="connsiteY4" fmla="*/ 1393825 h 3019425"/>
              <a:gd name="connsiteX5" fmla="*/ 869950 w 1431925"/>
              <a:gd name="connsiteY5" fmla="*/ 923925 h 3019425"/>
              <a:gd name="connsiteX6" fmla="*/ 1101725 w 1431925"/>
              <a:gd name="connsiteY6" fmla="*/ 352425 h 3019425"/>
              <a:gd name="connsiteX7" fmla="*/ 1431925 w 1431925"/>
              <a:gd name="connsiteY7" fmla="*/ 0 h 3019425"/>
              <a:gd name="connsiteX0" fmla="*/ 0 w 1431925"/>
              <a:gd name="connsiteY0" fmla="*/ 3019425 h 3019425"/>
              <a:gd name="connsiteX1" fmla="*/ 203200 w 1431925"/>
              <a:gd name="connsiteY1" fmla="*/ 2714625 h 3019425"/>
              <a:gd name="connsiteX2" fmla="*/ 352425 w 1431925"/>
              <a:gd name="connsiteY2" fmla="*/ 2374900 h 3019425"/>
              <a:gd name="connsiteX3" fmla="*/ 539750 w 1431925"/>
              <a:gd name="connsiteY3" fmla="*/ 1838325 h 3019425"/>
              <a:gd name="connsiteX4" fmla="*/ 704850 w 1431925"/>
              <a:gd name="connsiteY4" fmla="*/ 1381919 h 3019425"/>
              <a:gd name="connsiteX5" fmla="*/ 869950 w 1431925"/>
              <a:gd name="connsiteY5" fmla="*/ 923925 h 3019425"/>
              <a:gd name="connsiteX6" fmla="*/ 1101725 w 1431925"/>
              <a:gd name="connsiteY6" fmla="*/ 352425 h 3019425"/>
              <a:gd name="connsiteX7" fmla="*/ 1431925 w 1431925"/>
              <a:gd name="connsiteY7" fmla="*/ 0 h 3019425"/>
              <a:gd name="connsiteX0" fmla="*/ 0 w 1431925"/>
              <a:gd name="connsiteY0" fmla="*/ 3019425 h 3019425"/>
              <a:gd name="connsiteX1" fmla="*/ 203200 w 1431925"/>
              <a:gd name="connsiteY1" fmla="*/ 2714625 h 3019425"/>
              <a:gd name="connsiteX2" fmla="*/ 352425 w 1431925"/>
              <a:gd name="connsiteY2" fmla="*/ 2374900 h 3019425"/>
              <a:gd name="connsiteX3" fmla="*/ 546893 w 1431925"/>
              <a:gd name="connsiteY3" fmla="*/ 1840706 h 3019425"/>
              <a:gd name="connsiteX4" fmla="*/ 704850 w 1431925"/>
              <a:gd name="connsiteY4" fmla="*/ 1381919 h 3019425"/>
              <a:gd name="connsiteX5" fmla="*/ 869950 w 1431925"/>
              <a:gd name="connsiteY5" fmla="*/ 923925 h 3019425"/>
              <a:gd name="connsiteX6" fmla="*/ 1101725 w 1431925"/>
              <a:gd name="connsiteY6" fmla="*/ 352425 h 3019425"/>
              <a:gd name="connsiteX7" fmla="*/ 1431925 w 1431925"/>
              <a:gd name="connsiteY7" fmla="*/ 0 h 3019425"/>
              <a:gd name="connsiteX0" fmla="*/ 0 w 1431925"/>
              <a:gd name="connsiteY0" fmla="*/ 3019425 h 3019425"/>
              <a:gd name="connsiteX1" fmla="*/ 203200 w 1431925"/>
              <a:gd name="connsiteY1" fmla="*/ 2714625 h 3019425"/>
              <a:gd name="connsiteX2" fmla="*/ 352425 w 1431925"/>
              <a:gd name="connsiteY2" fmla="*/ 2374900 h 3019425"/>
              <a:gd name="connsiteX3" fmla="*/ 546893 w 1431925"/>
              <a:gd name="connsiteY3" fmla="*/ 1840706 h 3019425"/>
              <a:gd name="connsiteX4" fmla="*/ 704850 w 1431925"/>
              <a:gd name="connsiteY4" fmla="*/ 1381919 h 3019425"/>
              <a:gd name="connsiteX5" fmla="*/ 869950 w 1431925"/>
              <a:gd name="connsiteY5" fmla="*/ 923925 h 3019425"/>
              <a:gd name="connsiteX6" fmla="*/ 1117600 w 1431925"/>
              <a:gd name="connsiteY6" fmla="*/ 352425 h 3019425"/>
              <a:gd name="connsiteX7" fmla="*/ 1431925 w 1431925"/>
              <a:gd name="connsiteY7" fmla="*/ 0 h 3019425"/>
              <a:gd name="connsiteX0" fmla="*/ 0 w 1431925"/>
              <a:gd name="connsiteY0" fmla="*/ 3019425 h 3019425"/>
              <a:gd name="connsiteX1" fmla="*/ 203200 w 1431925"/>
              <a:gd name="connsiteY1" fmla="*/ 2714625 h 3019425"/>
              <a:gd name="connsiteX2" fmla="*/ 352425 w 1431925"/>
              <a:gd name="connsiteY2" fmla="*/ 2374900 h 3019425"/>
              <a:gd name="connsiteX3" fmla="*/ 546893 w 1431925"/>
              <a:gd name="connsiteY3" fmla="*/ 1840706 h 3019425"/>
              <a:gd name="connsiteX4" fmla="*/ 704850 w 1431925"/>
              <a:gd name="connsiteY4" fmla="*/ 1381919 h 3019425"/>
              <a:gd name="connsiteX5" fmla="*/ 869950 w 1431925"/>
              <a:gd name="connsiteY5" fmla="*/ 923925 h 3019425"/>
              <a:gd name="connsiteX6" fmla="*/ 1114425 w 1431925"/>
              <a:gd name="connsiteY6" fmla="*/ 339725 h 3019425"/>
              <a:gd name="connsiteX7" fmla="*/ 1431925 w 1431925"/>
              <a:gd name="connsiteY7" fmla="*/ 0 h 3019425"/>
              <a:gd name="connsiteX0" fmla="*/ 0 w 1431925"/>
              <a:gd name="connsiteY0" fmla="*/ 3019425 h 3019425"/>
              <a:gd name="connsiteX1" fmla="*/ 203200 w 1431925"/>
              <a:gd name="connsiteY1" fmla="*/ 2714625 h 3019425"/>
              <a:gd name="connsiteX2" fmla="*/ 352425 w 1431925"/>
              <a:gd name="connsiteY2" fmla="*/ 2374900 h 3019425"/>
              <a:gd name="connsiteX3" fmla="*/ 546893 w 1431925"/>
              <a:gd name="connsiteY3" fmla="*/ 1840706 h 3019425"/>
              <a:gd name="connsiteX4" fmla="*/ 704850 w 1431925"/>
              <a:gd name="connsiteY4" fmla="*/ 1381919 h 3019425"/>
              <a:gd name="connsiteX5" fmla="*/ 869950 w 1431925"/>
              <a:gd name="connsiteY5" fmla="*/ 923925 h 3019425"/>
              <a:gd name="connsiteX6" fmla="*/ 1120775 w 1431925"/>
              <a:gd name="connsiteY6" fmla="*/ 317500 h 3019425"/>
              <a:gd name="connsiteX7" fmla="*/ 1431925 w 1431925"/>
              <a:gd name="connsiteY7" fmla="*/ 0 h 3019425"/>
              <a:gd name="connsiteX0" fmla="*/ 0 w 1431925"/>
              <a:gd name="connsiteY0" fmla="*/ 3019425 h 3019425"/>
              <a:gd name="connsiteX1" fmla="*/ 203200 w 1431925"/>
              <a:gd name="connsiteY1" fmla="*/ 2714625 h 3019425"/>
              <a:gd name="connsiteX2" fmla="*/ 352425 w 1431925"/>
              <a:gd name="connsiteY2" fmla="*/ 2374900 h 3019425"/>
              <a:gd name="connsiteX3" fmla="*/ 546893 w 1431925"/>
              <a:gd name="connsiteY3" fmla="*/ 1840706 h 3019425"/>
              <a:gd name="connsiteX4" fmla="*/ 704850 w 1431925"/>
              <a:gd name="connsiteY4" fmla="*/ 1381919 h 3019425"/>
              <a:gd name="connsiteX5" fmla="*/ 869950 w 1431925"/>
              <a:gd name="connsiteY5" fmla="*/ 908050 h 3019425"/>
              <a:gd name="connsiteX6" fmla="*/ 1120775 w 1431925"/>
              <a:gd name="connsiteY6" fmla="*/ 317500 h 3019425"/>
              <a:gd name="connsiteX7" fmla="*/ 1431925 w 1431925"/>
              <a:gd name="connsiteY7" fmla="*/ 0 h 3019425"/>
              <a:gd name="connsiteX0" fmla="*/ 0 w 1431925"/>
              <a:gd name="connsiteY0" fmla="*/ 3019425 h 3019425"/>
              <a:gd name="connsiteX1" fmla="*/ 203200 w 1431925"/>
              <a:gd name="connsiteY1" fmla="*/ 2714625 h 3019425"/>
              <a:gd name="connsiteX2" fmla="*/ 352425 w 1431925"/>
              <a:gd name="connsiteY2" fmla="*/ 2374900 h 3019425"/>
              <a:gd name="connsiteX3" fmla="*/ 546893 w 1431925"/>
              <a:gd name="connsiteY3" fmla="*/ 1840706 h 3019425"/>
              <a:gd name="connsiteX4" fmla="*/ 704850 w 1431925"/>
              <a:gd name="connsiteY4" fmla="*/ 1381919 h 3019425"/>
              <a:gd name="connsiteX5" fmla="*/ 869950 w 1431925"/>
              <a:gd name="connsiteY5" fmla="*/ 908050 h 3019425"/>
              <a:gd name="connsiteX6" fmla="*/ 1133475 w 1431925"/>
              <a:gd name="connsiteY6" fmla="*/ 307975 h 3019425"/>
              <a:gd name="connsiteX7" fmla="*/ 1431925 w 1431925"/>
              <a:gd name="connsiteY7" fmla="*/ 0 h 3019425"/>
              <a:gd name="connsiteX0" fmla="*/ 0 w 1431925"/>
              <a:gd name="connsiteY0" fmla="*/ 3019425 h 3019425"/>
              <a:gd name="connsiteX1" fmla="*/ 203200 w 1431925"/>
              <a:gd name="connsiteY1" fmla="*/ 2714625 h 3019425"/>
              <a:gd name="connsiteX2" fmla="*/ 352425 w 1431925"/>
              <a:gd name="connsiteY2" fmla="*/ 2374900 h 3019425"/>
              <a:gd name="connsiteX3" fmla="*/ 546893 w 1431925"/>
              <a:gd name="connsiteY3" fmla="*/ 1840706 h 3019425"/>
              <a:gd name="connsiteX4" fmla="*/ 704850 w 1431925"/>
              <a:gd name="connsiteY4" fmla="*/ 1381919 h 3019425"/>
              <a:gd name="connsiteX5" fmla="*/ 869950 w 1431925"/>
              <a:gd name="connsiteY5" fmla="*/ 908050 h 3019425"/>
              <a:gd name="connsiteX6" fmla="*/ 1133475 w 1431925"/>
              <a:gd name="connsiteY6" fmla="*/ 307975 h 3019425"/>
              <a:gd name="connsiteX7" fmla="*/ 1431925 w 1431925"/>
              <a:gd name="connsiteY7" fmla="*/ 0 h 3019425"/>
              <a:gd name="connsiteX0" fmla="*/ 0 w 1420018"/>
              <a:gd name="connsiteY0" fmla="*/ 3007519 h 3007519"/>
              <a:gd name="connsiteX1" fmla="*/ 191293 w 1420018"/>
              <a:gd name="connsiteY1" fmla="*/ 2714625 h 3007519"/>
              <a:gd name="connsiteX2" fmla="*/ 340518 w 1420018"/>
              <a:gd name="connsiteY2" fmla="*/ 2374900 h 3007519"/>
              <a:gd name="connsiteX3" fmla="*/ 534986 w 1420018"/>
              <a:gd name="connsiteY3" fmla="*/ 1840706 h 3007519"/>
              <a:gd name="connsiteX4" fmla="*/ 692943 w 1420018"/>
              <a:gd name="connsiteY4" fmla="*/ 1381919 h 3007519"/>
              <a:gd name="connsiteX5" fmla="*/ 858043 w 1420018"/>
              <a:gd name="connsiteY5" fmla="*/ 908050 h 3007519"/>
              <a:gd name="connsiteX6" fmla="*/ 1121568 w 1420018"/>
              <a:gd name="connsiteY6" fmla="*/ 307975 h 3007519"/>
              <a:gd name="connsiteX7" fmla="*/ 1420018 w 1420018"/>
              <a:gd name="connsiteY7" fmla="*/ 0 h 3007519"/>
              <a:gd name="connsiteX0" fmla="*/ 0 w 1420018"/>
              <a:gd name="connsiteY0" fmla="*/ 3007519 h 3007519"/>
              <a:gd name="connsiteX1" fmla="*/ 200818 w 1420018"/>
              <a:gd name="connsiteY1" fmla="*/ 2688431 h 3007519"/>
              <a:gd name="connsiteX2" fmla="*/ 340518 w 1420018"/>
              <a:gd name="connsiteY2" fmla="*/ 2374900 h 3007519"/>
              <a:gd name="connsiteX3" fmla="*/ 534986 w 1420018"/>
              <a:gd name="connsiteY3" fmla="*/ 1840706 h 3007519"/>
              <a:gd name="connsiteX4" fmla="*/ 692943 w 1420018"/>
              <a:gd name="connsiteY4" fmla="*/ 1381919 h 3007519"/>
              <a:gd name="connsiteX5" fmla="*/ 858043 w 1420018"/>
              <a:gd name="connsiteY5" fmla="*/ 908050 h 3007519"/>
              <a:gd name="connsiteX6" fmla="*/ 1121568 w 1420018"/>
              <a:gd name="connsiteY6" fmla="*/ 307975 h 3007519"/>
              <a:gd name="connsiteX7" fmla="*/ 1420018 w 1420018"/>
              <a:gd name="connsiteY7" fmla="*/ 0 h 3007519"/>
              <a:gd name="connsiteX0" fmla="*/ 0 w 1424781"/>
              <a:gd name="connsiteY0" fmla="*/ 3017044 h 3017044"/>
              <a:gd name="connsiteX1" fmla="*/ 205581 w 1424781"/>
              <a:gd name="connsiteY1" fmla="*/ 2688431 h 3017044"/>
              <a:gd name="connsiteX2" fmla="*/ 345281 w 1424781"/>
              <a:gd name="connsiteY2" fmla="*/ 2374900 h 3017044"/>
              <a:gd name="connsiteX3" fmla="*/ 539749 w 1424781"/>
              <a:gd name="connsiteY3" fmla="*/ 1840706 h 3017044"/>
              <a:gd name="connsiteX4" fmla="*/ 697706 w 1424781"/>
              <a:gd name="connsiteY4" fmla="*/ 1381919 h 3017044"/>
              <a:gd name="connsiteX5" fmla="*/ 862806 w 1424781"/>
              <a:gd name="connsiteY5" fmla="*/ 908050 h 3017044"/>
              <a:gd name="connsiteX6" fmla="*/ 1126331 w 1424781"/>
              <a:gd name="connsiteY6" fmla="*/ 307975 h 3017044"/>
              <a:gd name="connsiteX7" fmla="*/ 1424781 w 1424781"/>
              <a:gd name="connsiteY7" fmla="*/ 0 h 3017044"/>
              <a:gd name="connsiteX0" fmla="*/ 0 w 1424781"/>
              <a:gd name="connsiteY0" fmla="*/ 3017044 h 3017044"/>
              <a:gd name="connsiteX1" fmla="*/ 205581 w 1424781"/>
              <a:gd name="connsiteY1" fmla="*/ 2688431 h 3017044"/>
              <a:gd name="connsiteX2" fmla="*/ 345281 w 1424781"/>
              <a:gd name="connsiteY2" fmla="*/ 2374900 h 3017044"/>
              <a:gd name="connsiteX3" fmla="*/ 539749 w 1424781"/>
              <a:gd name="connsiteY3" fmla="*/ 1840706 h 3017044"/>
              <a:gd name="connsiteX4" fmla="*/ 697706 w 1424781"/>
              <a:gd name="connsiteY4" fmla="*/ 1381919 h 3017044"/>
              <a:gd name="connsiteX5" fmla="*/ 862806 w 1424781"/>
              <a:gd name="connsiteY5" fmla="*/ 908050 h 3017044"/>
              <a:gd name="connsiteX6" fmla="*/ 1126331 w 1424781"/>
              <a:gd name="connsiteY6" fmla="*/ 307975 h 3017044"/>
              <a:gd name="connsiteX7" fmla="*/ 1424781 w 1424781"/>
              <a:gd name="connsiteY7" fmla="*/ 0 h 3017044"/>
              <a:gd name="connsiteX0" fmla="*/ 0 w 1391364"/>
              <a:gd name="connsiteY0" fmla="*/ 2959324 h 2959324"/>
              <a:gd name="connsiteX1" fmla="*/ 172164 w 1391364"/>
              <a:gd name="connsiteY1" fmla="*/ 2688431 h 2959324"/>
              <a:gd name="connsiteX2" fmla="*/ 311864 w 1391364"/>
              <a:gd name="connsiteY2" fmla="*/ 2374900 h 2959324"/>
              <a:gd name="connsiteX3" fmla="*/ 506332 w 1391364"/>
              <a:gd name="connsiteY3" fmla="*/ 1840706 h 2959324"/>
              <a:gd name="connsiteX4" fmla="*/ 664289 w 1391364"/>
              <a:gd name="connsiteY4" fmla="*/ 1381919 h 2959324"/>
              <a:gd name="connsiteX5" fmla="*/ 829389 w 1391364"/>
              <a:gd name="connsiteY5" fmla="*/ 908050 h 2959324"/>
              <a:gd name="connsiteX6" fmla="*/ 1092914 w 1391364"/>
              <a:gd name="connsiteY6" fmla="*/ 307975 h 2959324"/>
              <a:gd name="connsiteX7" fmla="*/ 1391364 w 1391364"/>
              <a:gd name="connsiteY7" fmla="*/ 0 h 2959324"/>
              <a:gd name="connsiteX0" fmla="*/ 0 w 1339720"/>
              <a:gd name="connsiteY0" fmla="*/ 2938059 h 2938059"/>
              <a:gd name="connsiteX1" fmla="*/ 172164 w 1339720"/>
              <a:gd name="connsiteY1" fmla="*/ 2667166 h 2938059"/>
              <a:gd name="connsiteX2" fmla="*/ 311864 w 1339720"/>
              <a:gd name="connsiteY2" fmla="*/ 2353635 h 2938059"/>
              <a:gd name="connsiteX3" fmla="*/ 506332 w 1339720"/>
              <a:gd name="connsiteY3" fmla="*/ 1819441 h 2938059"/>
              <a:gd name="connsiteX4" fmla="*/ 664289 w 1339720"/>
              <a:gd name="connsiteY4" fmla="*/ 1360654 h 2938059"/>
              <a:gd name="connsiteX5" fmla="*/ 829389 w 1339720"/>
              <a:gd name="connsiteY5" fmla="*/ 886785 h 2938059"/>
              <a:gd name="connsiteX6" fmla="*/ 1092914 w 1339720"/>
              <a:gd name="connsiteY6" fmla="*/ 286710 h 2938059"/>
              <a:gd name="connsiteX7" fmla="*/ 1339720 w 1339720"/>
              <a:gd name="connsiteY7" fmla="*/ 0 h 2938059"/>
              <a:gd name="connsiteX0" fmla="*/ 0 w 1339720"/>
              <a:gd name="connsiteY0" fmla="*/ 2938059 h 2938059"/>
              <a:gd name="connsiteX1" fmla="*/ 172164 w 1339720"/>
              <a:gd name="connsiteY1" fmla="*/ 2667166 h 2938059"/>
              <a:gd name="connsiteX2" fmla="*/ 311864 w 1339720"/>
              <a:gd name="connsiteY2" fmla="*/ 2353635 h 2938059"/>
              <a:gd name="connsiteX3" fmla="*/ 506332 w 1339720"/>
              <a:gd name="connsiteY3" fmla="*/ 1819441 h 2938059"/>
              <a:gd name="connsiteX4" fmla="*/ 664289 w 1339720"/>
              <a:gd name="connsiteY4" fmla="*/ 1360654 h 2938059"/>
              <a:gd name="connsiteX5" fmla="*/ 829389 w 1339720"/>
              <a:gd name="connsiteY5" fmla="*/ 886785 h 2938059"/>
              <a:gd name="connsiteX6" fmla="*/ 1092914 w 1339720"/>
              <a:gd name="connsiteY6" fmla="*/ 286710 h 2938059"/>
              <a:gd name="connsiteX7" fmla="*/ 1339720 w 1339720"/>
              <a:gd name="connsiteY7" fmla="*/ 0 h 2938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39720" h="2938059">
                <a:moveTo>
                  <a:pt x="0" y="2938059"/>
                </a:moveTo>
                <a:cubicBezTo>
                  <a:pt x="73554" y="2846249"/>
                  <a:pt x="120187" y="2764570"/>
                  <a:pt x="172164" y="2667166"/>
                </a:cubicBezTo>
                <a:cubicBezTo>
                  <a:pt x="224141" y="2569762"/>
                  <a:pt x="256169" y="2494922"/>
                  <a:pt x="311864" y="2353635"/>
                </a:cubicBezTo>
                <a:cubicBezTo>
                  <a:pt x="367559" y="2212348"/>
                  <a:pt x="447595" y="1984938"/>
                  <a:pt x="506332" y="1819441"/>
                </a:cubicBezTo>
                <a:cubicBezTo>
                  <a:pt x="565069" y="1653944"/>
                  <a:pt x="610446" y="1516097"/>
                  <a:pt x="664289" y="1360654"/>
                </a:cubicBezTo>
                <a:cubicBezTo>
                  <a:pt x="718132" y="1205211"/>
                  <a:pt x="754777" y="1078476"/>
                  <a:pt x="829389" y="886785"/>
                </a:cubicBezTo>
                <a:cubicBezTo>
                  <a:pt x="904001" y="695094"/>
                  <a:pt x="999781" y="442285"/>
                  <a:pt x="1092914" y="286710"/>
                </a:cubicBezTo>
                <a:cubicBezTo>
                  <a:pt x="1186047" y="131135"/>
                  <a:pt x="1232143" y="60385"/>
                  <a:pt x="1339720" y="0"/>
                </a:cubicBezTo>
              </a:path>
            </a:pathLst>
          </a:custGeom>
          <a:noFill/>
          <a:ln w="38100">
            <a:solidFill>
              <a:srgbClr val="00B05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8" name="Oval 27">
            <a:extLst>
              <a:ext uri="{FF2B5EF4-FFF2-40B4-BE49-F238E27FC236}">
                <a16:creationId xmlns:a16="http://schemas.microsoft.com/office/drawing/2014/main" id="{E3BDD6DA-6621-025D-3FD4-E65FDA07667C}"/>
              </a:ext>
            </a:extLst>
          </p:cNvPr>
          <p:cNvSpPr/>
          <p:nvPr/>
        </p:nvSpPr>
        <p:spPr>
          <a:xfrm>
            <a:off x="6624390" y="2532786"/>
            <a:ext cx="161412" cy="161412"/>
          </a:xfrm>
          <a:prstGeom prst="ellipse">
            <a:avLst/>
          </a:prstGeom>
          <a:solidFill>
            <a:srgbClr val="00B05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2B709A1D-39A6-F090-0349-7ED3B7E68426}"/>
                  </a:ext>
                </a:extLst>
              </p:cNvPr>
              <p:cNvSpPr txBox="1"/>
              <p:nvPr/>
            </p:nvSpPr>
            <p:spPr>
              <a:xfrm>
                <a:off x="9236405" y="1428697"/>
                <a:ext cx="2977228" cy="246221"/>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600" b="0" i="1" smtClean="0">
                              <a:solidFill>
                                <a:schemeClr val="tx2"/>
                              </a:solidFill>
                              <a:latin typeface="Cambria Math" panose="02040503050406030204" pitchFamily="18" charset="0"/>
                            </a:rPr>
                          </m:ctrlPr>
                        </m:sSubPr>
                        <m:e>
                          <m:r>
                            <a:rPr lang="en-US" sz="1600" b="0" i="1" smtClean="0">
                              <a:solidFill>
                                <a:schemeClr val="tx2"/>
                              </a:solidFill>
                              <a:latin typeface="Cambria Math" panose="02040503050406030204" pitchFamily="18" charset="0"/>
                            </a:rPr>
                            <m:t>𝑝</m:t>
                          </m:r>
                        </m:e>
                        <m:sub>
                          <m:r>
                            <a:rPr lang="en-US" sz="1600" b="0" i="1" smtClean="0">
                              <a:solidFill>
                                <a:schemeClr val="tx2"/>
                              </a:solidFill>
                              <a:latin typeface="Cambria Math" panose="02040503050406030204" pitchFamily="18" charset="0"/>
                            </a:rPr>
                            <m:t>3</m:t>
                          </m:r>
                        </m:sub>
                      </m:sSub>
                      <m:d>
                        <m:dPr>
                          <m:ctrlPr>
                            <a:rPr lang="en-US" sz="1600" b="0" i="1" smtClean="0">
                              <a:solidFill>
                                <a:schemeClr val="tx2"/>
                              </a:solidFill>
                              <a:latin typeface="Cambria Math" panose="02040503050406030204" pitchFamily="18" charset="0"/>
                            </a:rPr>
                          </m:ctrlPr>
                        </m:dPr>
                        <m:e>
                          <m:r>
                            <a:rPr lang="en-US" sz="1600" b="0" i="1" smtClean="0">
                              <a:solidFill>
                                <a:schemeClr val="tx2"/>
                              </a:solidFill>
                              <a:latin typeface="Cambria Math" panose="02040503050406030204" pitchFamily="18" charset="0"/>
                            </a:rPr>
                            <m:t>𝑡</m:t>
                          </m:r>
                        </m:e>
                      </m:d>
                      <m:r>
                        <a:rPr lang="en-US" sz="1600" b="0" i="1" smtClean="0">
                          <a:solidFill>
                            <a:schemeClr val="tx2"/>
                          </a:solidFill>
                          <a:latin typeface="Cambria Math" panose="02040503050406030204" pitchFamily="18" charset="0"/>
                        </a:rPr>
                        <m:t>=</m:t>
                      </m:r>
                      <m:sSub>
                        <m:sSubPr>
                          <m:ctrlPr>
                            <a:rPr lang="en-US" sz="1600" i="1" smtClean="0">
                              <a:solidFill>
                                <a:srgbClr val="2F2F2F"/>
                              </a:solidFill>
                              <a:latin typeface="Cambria Math" panose="02040503050406030204" pitchFamily="18" charset="0"/>
                            </a:rPr>
                          </m:ctrlPr>
                        </m:sSubPr>
                        <m:e>
                          <m:r>
                            <a:rPr lang="en-US" sz="1600" b="0" i="1" smtClean="0">
                              <a:solidFill>
                                <a:srgbClr val="2F2F2F"/>
                              </a:solidFill>
                              <a:latin typeface="Cambria Math" panose="02040503050406030204" pitchFamily="18" charset="0"/>
                            </a:rPr>
                            <m:t>𝑎</m:t>
                          </m:r>
                        </m:e>
                        <m:sub>
                          <m:r>
                            <a:rPr lang="en-US" sz="1600" b="0" i="1" smtClean="0">
                              <a:solidFill>
                                <a:srgbClr val="2F2F2F"/>
                              </a:solidFill>
                              <a:latin typeface="Cambria Math" panose="02040503050406030204" pitchFamily="18" charset="0"/>
                            </a:rPr>
                            <m:t>1</m:t>
                          </m:r>
                        </m:sub>
                      </m:sSub>
                      <m:r>
                        <a:rPr lang="en-US" sz="1600" b="0" i="1" smtClean="0">
                          <a:solidFill>
                            <a:srgbClr val="2F2F2F"/>
                          </a:solidFill>
                          <a:latin typeface="Cambria Math" panose="02040503050406030204" pitchFamily="18" charset="0"/>
                        </a:rPr>
                        <m:t>+</m:t>
                      </m:r>
                      <m:sSub>
                        <m:sSubPr>
                          <m:ctrlPr>
                            <a:rPr lang="en-US" sz="1600" i="1" smtClean="0">
                              <a:solidFill>
                                <a:srgbClr val="2F2F2F"/>
                              </a:solidFill>
                              <a:latin typeface="Cambria Math" panose="02040503050406030204" pitchFamily="18" charset="0"/>
                            </a:rPr>
                          </m:ctrlPr>
                        </m:sSubPr>
                        <m:e>
                          <m:r>
                            <a:rPr lang="en-US" sz="1600" b="0" i="1" smtClean="0">
                              <a:solidFill>
                                <a:srgbClr val="2F2F2F"/>
                              </a:solidFill>
                              <a:latin typeface="Cambria Math" panose="02040503050406030204" pitchFamily="18" charset="0"/>
                            </a:rPr>
                            <m:t>𝑎</m:t>
                          </m:r>
                        </m:e>
                        <m:sub>
                          <m:r>
                            <a:rPr lang="en-US" sz="1600" b="0" i="1" smtClean="0">
                              <a:solidFill>
                                <a:srgbClr val="2F2F2F"/>
                              </a:solidFill>
                              <a:latin typeface="Cambria Math" panose="02040503050406030204" pitchFamily="18" charset="0"/>
                            </a:rPr>
                            <m:t>2</m:t>
                          </m:r>
                        </m:sub>
                      </m:sSub>
                      <m:r>
                        <a:rPr lang="en-US" sz="1600" b="0" i="1" smtClean="0">
                          <a:solidFill>
                            <a:srgbClr val="2F2F2F"/>
                          </a:solidFill>
                          <a:latin typeface="Cambria Math" panose="02040503050406030204" pitchFamily="18" charset="0"/>
                        </a:rPr>
                        <m:t>𝑡</m:t>
                      </m:r>
                      <m:r>
                        <a:rPr lang="en-US" sz="1600" b="0" i="1" smtClean="0">
                          <a:solidFill>
                            <a:srgbClr val="2F2F2F"/>
                          </a:solidFill>
                          <a:latin typeface="Cambria Math" panose="02040503050406030204" pitchFamily="18" charset="0"/>
                        </a:rPr>
                        <m:t>+</m:t>
                      </m:r>
                      <m:sSub>
                        <m:sSubPr>
                          <m:ctrlPr>
                            <a:rPr lang="en-US" sz="1600" i="1" smtClean="0">
                              <a:solidFill>
                                <a:srgbClr val="2F2F2F"/>
                              </a:solidFill>
                              <a:latin typeface="Cambria Math" panose="02040503050406030204" pitchFamily="18" charset="0"/>
                            </a:rPr>
                          </m:ctrlPr>
                        </m:sSubPr>
                        <m:e>
                          <m:r>
                            <a:rPr lang="en-US" sz="1600" b="0" i="1" smtClean="0">
                              <a:solidFill>
                                <a:srgbClr val="2F2F2F"/>
                              </a:solidFill>
                              <a:latin typeface="Cambria Math" panose="02040503050406030204" pitchFamily="18" charset="0"/>
                            </a:rPr>
                            <m:t>𝑎</m:t>
                          </m:r>
                        </m:e>
                        <m:sub>
                          <m:r>
                            <a:rPr lang="en-US" sz="1600" b="0" i="1" smtClean="0">
                              <a:solidFill>
                                <a:srgbClr val="2F2F2F"/>
                              </a:solidFill>
                              <a:latin typeface="Cambria Math" panose="02040503050406030204" pitchFamily="18" charset="0"/>
                            </a:rPr>
                            <m:t>3</m:t>
                          </m:r>
                        </m:sub>
                      </m:sSub>
                      <m:sSup>
                        <m:sSupPr>
                          <m:ctrlPr>
                            <a:rPr lang="en-US" sz="1600" i="1" smtClean="0">
                              <a:solidFill>
                                <a:srgbClr val="2F2F2F"/>
                              </a:solidFill>
                              <a:latin typeface="Cambria Math" panose="02040503050406030204" pitchFamily="18" charset="0"/>
                            </a:rPr>
                          </m:ctrlPr>
                        </m:sSupPr>
                        <m:e>
                          <m:r>
                            <a:rPr lang="en-US" sz="1600" b="0" i="1" smtClean="0">
                              <a:solidFill>
                                <a:srgbClr val="2F2F2F"/>
                              </a:solidFill>
                              <a:latin typeface="Cambria Math" panose="02040503050406030204" pitchFamily="18" charset="0"/>
                            </a:rPr>
                            <m:t>𝑡</m:t>
                          </m:r>
                        </m:e>
                        <m:sup>
                          <m:r>
                            <a:rPr lang="en-US" sz="1600" b="0" i="1" smtClean="0">
                              <a:solidFill>
                                <a:srgbClr val="2F2F2F"/>
                              </a:solidFill>
                              <a:latin typeface="Cambria Math" panose="02040503050406030204" pitchFamily="18" charset="0"/>
                            </a:rPr>
                            <m:t>2</m:t>
                          </m:r>
                        </m:sup>
                      </m:sSup>
                      <m:r>
                        <a:rPr lang="en-US" sz="1600" b="0" i="1" smtClean="0">
                          <a:solidFill>
                            <a:srgbClr val="2F2F2F"/>
                          </a:solidFill>
                          <a:latin typeface="Cambria Math" panose="02040503050406030204" pitchFamily="18" charset="0"/>
                        </a:rPr>
                        <m:t>+</m:t>
                      </m:r>
                      <m:sSub>
                        <m:sSubPr>
                          <m:ctrlPr>
                            <a:rPr lang="en-US" sz="1600" i="1" smtClean="0">
                              <a:solidFill>
                                <a:srgbClr val="2F2F2F"/>
                              </a:solidFill>
                              <a:latin typeface="Cambria Math" panose="02040503050406030204" pitchFamily="18" charset="0"/>
                            </a:rPr>
                          </m:ctrlPr>
                        </m:sSubPr>
                        <m:e>
                          <m:r>
                            <a:rPr lang="en-US" sz="1600" b="0" i="1" smtClean="0">
                              <a:solidFill>
                                <a:srgbClr val="2F2F2F"/>
                              </a:solidFill>
                              <a:latin typeface="Cambria Math" panose="02040503050406030204" pitchFamily="18" charset="0"/>
                            </a:rPr>
                            <m:t>𝑎</m:t>
                          </m:r>
                        </m:e>
                        <m:sub>
                          <m:r>
                            <a:rPr lang="en-US" sz="1600" b="0" i="1" smtClean="0">
                              <a:solidFill>
                                <a:srgbClr val="2F2F2F"/>
                              </a:solidFill>
                              <a:latin typeface="Cambria Math" panose="02040503050406030204" pitchFamily="18" charset="0"/>
                            </a:rPr>
                            <m:t>4</m:t>
                          </m:r>
                        </m:sub>
                      </m:sSub>
                      <m:sSup>
                        <m:sSupPr>
                          <m:ctrlPr>
                            <a:rPr lang="en-US" sz="1600" i="1" smtClean="0">
                              <a:solidFill>
                                <a:srgbClr val="2F2F2F"/>
                              </a:solidFill>
                              <a:latin typeface="Cambria Math" panose="02040503050406030204" pitchFamily="18" charset="0"/>
                            </a:rPr>
                          </m:ctrlPr>
                        </m:sSupPr>
                        <m:e>
                          <m:r>
                            <a:rPr lang="en-US" sz="1600" b="0" i="1" smtClean="0">
                              <a:solidFill>
                                <a:srgbClr val="2F2F2F"/>
                              </a:solidFill>
                              <a:latin typeface="Cambria Math" panose="02040503050406030204" pitchFamily="18" charset="0"/>
                            </a:rPr>
                            <m:t>𝑡</m:t>
                          </m:r>
                        </m:e>
                        <m:sup>
                          <m:r>
                            <a:rPr lang="en-US" sz="1600" b="0" i="1" smtClean="0">
                              <a:solidFill>
                                <a:srgbClr val="2F2F2F"/>
                              </a:solidFill>
                              <a:latin typeface="Cambria Math" panose="02040503050406030204" pitchFamily="18" charset="0"/>
                            </a:rPr>
                            <m:t>3</m:t>
                          </m:r>
                        </m:sup>
                      </m:sSup>
                    </m:oMath>
                  </m:oMathPara>
                </a14:m>
                <a:endParaRPr lang="en-GB" sz="1600" dirty="0">
                  <a:solidFill>
                    <a:schemeClr val="tx2"/>
                  </a:solidFill>
                </a:endParaRPr>
              </a:p>
            </p:txBody>
          </p:sp>
        </mc:Choice>
        <mc:Fallback xmlns="">
          <p:sp>
            <p:nvSpPr>
              <p:cNvPr id="52" name="TextBox 51">
                <a:extLst>
                  <a:ext uri="{FF2B5EF4-FFF2-40B4-BE49-F238E27FC236}">
                    <a16:creationId xmlns:a16="http://schemas.microsoft.com/office/drawing/2014/main" id="{2B709A1D-39A6-F090-0349-7ED3B7E68426}"/>
                  </a:ext>
                </a:extLst>
              </p:cNvPr>
              <p:cNvSpPr txBox="1">
                <a:spLocks noRot="1" noChangeAspect="1" noMove="1" noResize="1" noEditPoints="1" noAdjustHandles="1" noChangeArrowheads="1" noChangeShapeType="1" noTextEdit="1"/>
              </p:cNvSpPr>
              <p:nvPr/>
            </p:nvSpPr>
            <p:spPr>
              <a:xfrm>
                <a:off x="9236405" y="1428697"/>
                <a:ext cx="2977228" cy="246221"/>
              </a:xfrm>
              <a:prstGeom prst="rect">
                <a:avLst/>
              </a:prstGeom>
              <a:blipFill>
                <a:blip r:embed="rId25"/>
                <a:stretch>
                  <a:fillRect b="-24390"/>
                </a:stretch>
              </a:blipFill>
            </p:spPr>
            <p:txBody>
              <a:bodyPr/>
              <a:lstStyle/>
              <a:p>
                <a:r>
                  <a:rPr lang="en-GB">
                    <a:noFill/>
                  </a:rPr>
                  <a:t> </a:t>
                </a:r>
              </a:p>
            </p:txBody>
          </p:sp>
        </mc:Fallback>
      </mc:AlternateContent>
      <p:sp>
        <p:nvSpPr>
          <p:cNvPr id="53" name="Rectangle: Rounded Corners 52">
            <a:extLst>
              <a:ext uri="{FF2B5EF4-FFF2-40B4-BE49-F238E27FC236}">
                <a16:creationId xmlns:a16="http://schemas.microsoft.com/office/drawing/2014/main" id="{FFD873A2-4127-240E-02E4-2B37C1F754A5}"/>
              </a:ext>
            </a:extLst>
          </p:cNvPr>
          <p:cNvSpPr/>
          <p:nvPr/>
        </p:nvSpPr>
        <p:spPr>
          <a:xfrm>
            <a:off x="8292352" y="338085"/>
            <a:ext cx="2303929" cy="622422"/>
          </a:xfrm>
          <a:prstGeom prst="roundRect">
            <a:avLst/>
          </a:prstGeom>
          <a:solidFill>
            <a:srgbClr val="CDDCF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CubicPolynomial</a:t>
            </a:r>
            <a:endParaRPr lang="en-GB" sz="1400" dirty="0">
              <a:solidFill>
                <a:srgbClr val="003399"/>
              </a:solidFill>
            </a:endParaRPr>
          </a:p>
        </p:txBody>
      </p:sp>
      <p:sp>
        <p:nvSpPr>
          <p:cNvPr id="56" name="Title 2">
            <a:extLst>
              <a:ext uri="{FF2B5EF4-FFF2-40B4-BE49-F238E27FC236}">
                <a16:creationId xmlns:a16="http://schemas.microsoft.com/office/drawing/2014/main" id="{9DC2619A-F9B2-C949-C9B5-6B5B215309AE}"/>
              </a:ext>
            </a:extLst>
          </p:cNvPr>
          <p:cNvSpPr>
            <a:spLocks noGrp="1"/>
          </p:cNvSpPr>
          <p:nvPr>
            <p:ph type="title"/>
          </p:nvPr>
        </p:nvSpPr>
        <p:spPr>
          <a:xfrm>
            <a:off x="412776" y="408519"/>
            <a:ext cx="11376025" cy="1065742"/>
          </a:xfrm>
        </p:spPr>
        <p:txBody>
          <a:bodyPr/>
          <a:lstStyle/>
          <a:p>
            <a:r>
              <a:rPr lang="de-AT" dirty="0"/>
              <a:t>Cubic Polynomial Algorithm</a:t>
            </a:r>
            <a:endParaRPr lang="en-GB" dirty="0"/>
          </a:p>
        </p:txBody>
      </p:sp>
    </p:spTree>
    <p:extLst>
      <p:ext uri="{BB962C8B-B14F-4D97-AF65-F5344CB8AC3E}">
        <p14:creationId xmlns:p14="http://schemas.microsoft.com/office/powerpoint/2010/main" val="33387704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Task Trajectory Generator Design</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28</a:t>
            </a:fld>
            <a:endParaRPr lang="en-US" dirty="0"/>
          </a:p>
        </p:txBody>
      </p:sp>
      <p:sp>
        <p:nvSpPr>
          <p:cNvPr id="35" name="Rectangle 4">
            <a:extLst>
              <a:ext uri="{FF2B5EF4-FFF2-40B4-BE49-F238E27FC236}">
                <a16:creationId xmlns:a16="http://schemas.microsoft.com/office/drawing/2014/main" id="{515064C5-73CE-EBF1-D50D-D01779B67F0F}"/>
              </a:ext>
            </a:extLst>
          </p:cNvPr>
          <p:cNvSpPr>
            <a:spLocks noChangeArrowheads="1"/>
          </p:cNvSpPr>
          <p:nvPr/>
        </p:nvSpPr>
        <p:spPr bwMode="auto">
          <a:xfrm>
            <a:off x="488951" y="1305290"/>
            <a:ext cx="548446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struct </a:t>
            </a:r>
            <a:r>
              <a:rPr kumimoji="0" lang="en-US" altLang="en-US" sz="1200" i="0" strike="noStrike" cap="none" normalizeH="0" baseline="0" dirty="0" err="1">
                <a:ln>
                  <a:noFill/>
                </a:ln>
                <a:solidFill>
                  <a:srgbClr val="303030"/>
                </a:solidFill>
                <a:effectLst/>
                <a:latin typeface="Cascadia Code" panose="020B0609020000020004" pitchFamily="49" charset="0"/>
                <a:cs typeface="Cascadia Code" panose="020B0609020000020004" pitchFamily="49" charset="0"/>
              </a:rPr>
              <a:t>TaskTrajectory</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  public:</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rgbClr val="303030"/>
                </a:solidFill>
                <a:latin typeface="Cascadia Code" panose="020B0609020000020004" pitchFamily="49" charset="0"/>
                <a:cs typeface="Cascadia Code" panose="020B0609020000020004" pitchFamily="49" charset="0"/>
              </a:rPr>
              <a:t>    </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std::</a:t>
            </a:r>
            <a:r>
              <a:rPr kumimoji="0" lang="en-US" altLang="en-US" sz="1200" b="0" i="0" u="none" strike="noStrike" cap="none" normalizeH="0" baseline="0" dirty="0" err="1">
                <a:ln>
                  <a:noFill/>
                </a:ln>
                <a:solidFill>
                  <a:srgbClr val="303030"/>
                </a:solidFill>
                <a:effectLst/>
                <a:latin typeface="Cascadia Code" panose="020B0609020000020004" pitchFamily="49" charset="0"/>
                <a:cs typeface="Cascadia Code" panose="020B0609020000020004" pitchFamily="49" charset="0"/>
              </a:rPr>
              <a:t>shared_ptr</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&lt;std::array&lt;</a:t>
            </a:r>
            <a:r>
              <a:rPr kumimoji="0" lang="en-US" altLang="en-US" sz="1200" b="0" i="0" u="none" strike="noStrike" cap="none" normalizeH="0" baseline="0" dirty="0" err="1">
                <a:ln>
                  <a:noFill/>
                </a:ln>
                <a:solidFill>
                  <a:srgbClr val="303030"/>
                </a:solidFill>
                <a:effectLst/>
                <a:latin typeface="Cascadia Code" panose="020B0609020000020004" pitchFamily="49" charset="0"/>
                <a:cs typeface="Cascadia Code" panose="020B0609020000020004" pitchFamily="49" charset="0"/>
              </a:rPr>
              <a:t>CubicPolynomial</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 3&gt;&gt; </a:t>
            </a:r>
            <a:r>
              <a:rPr kumimoji="0" lang="en-US" altLang="en-US" sz="120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linear</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rgbClr val="303030"/>
                </a:solidFill>
                <a:latin typeface="Cascadia Code" panose="020B0609020000020004" pitchFamily="49" charset="0"/>
                <a:cs typeface="Cascadia Code" panose="020B0609020000020004" pitchFamily="49" charset="0"/>
              </a:rPr>
              <a:t>   </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 std::</a:t>
            </a:r>
            <a:r>
              <a:rPr kumimoji="0" lang="en-US" altLang="en-US" sz="1200" b="0" i="0" u="none" strike="noStrike" cap="none" normalizeH="0" baseline="0" dirty="0" err="1">
                <a:ln>
                  <a:noFill/>
                </a:ln>
                <a:solidFill>
                  <a:srgbClr val="303030"/>
                </a:solidFill>
                <a:effectLst/>
                <a:latin typeface="Cascadia Code" panose="020B0609020000020004" pitchFamily="49" charset="0"/>
                <a:cs typeface="Cascadia Code" panose="020B0609020000020004" pitchFamily="49" charset="0"/>
              </a:rPr>
              <a:t>shared_ptr</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&lt;</a:t>
            </a:r>
            <a:r>
              <a:rPr kumimoji="0" lang="en-US" altLang="en-US" sz="1200" b="1" i="0" u="none" strike="noStrike" cap="none" normalizeH="0" baseline="0" dirty="0" err="1">
                <a:ln>
                  <a:noFill/>
                </a:ln>
                <a:solidFill>
                  <a:srgbClr val="003399"/>
                </a:solidFill>
                <a:effectLst/>
                <a:latin typeface="Cascadia Code" panose="020B0609020000020004" pitchFamily="49" charset="0"/>
                <a:cs typeface="Cascadia Code" panose="020B0609020000020004" pitchFamily="49" charset="0"/>
              </a:rPr>
              <a:t>CubicOrientationSpline</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&gt; </a:t>
            </a:r>
            <a:r>
              <a:rPr kumimoji="0" lang="en-US" altLang="en-US" sz="1200" b="1" i="0" u="none" strike="noStrike" cap="none" normalizeH="0" baseline="0" dirty="0">
                <a:ln>
                  <a:noFill/>
                </a:ln>
                <a:effectLst/>
                <a:latin typeface="Cascadia Code" panose="020B0609020000020004" pitchFamily="49" charset="0"/>
                <a:cs typeface="Cascadia Code" panose="020B0609020000020004" pitchFamily="49" charset="0"/>
              </a:rPr>
              <a:t>angular</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rgbClr val="303030"/>
                </a:solidFill>
                <a:latin typeface="Cascadia Code" panose="020B0609020000020004" pitchFamily="49" charset="0"/>
                <a:cs typeface="Cascadia Code" panose="020B0609020000020004" pitchFamily="49" charset="0"/>
              </a:rPr>
              <a:t>};</a:t>
            </a:r>
            <a:endPar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endParaRPr>
          </a:p>
        </p:txBody>
      </p:sp>
      <p:sp>
        <p:nvSpPr>
          <p:cNvPr id="7" name="Rectangle: Rounded Corners 6">
            <a:extLst>
              <a:ext uri="{FF2B5EF4-FFF2-40B4-BE49-F238E27FC236}">
                <a16:creationId xmlns:a16="http://schemas.microsoft.com/office/drawing/2014/main" id="{94FD2D8E-D9F5-89FE-4079-7BE73B541B1F}"/>
              </a:ext>
            </a:extLst>
          </p:cNvPr>
          <p:cNvSpPr/>
          <p:nvPr/>
        </p:nvSpPr>
        <p:spPr>
          <a:xfrm>
            <a:off x="8281752" y="352077"/>
            <a:ext cx="2340363" cy="660640"/>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TaskTrajectoryGenerator</a:t>
            </a:r>
            <a:endParaRPr lang="en-GB" sz="1400" dirty="0">
              <a:solidFill>
                <a:srgbClr val="003399"/>
              </a:solidFill>
            </a:endParaRPr>
          </a:p>
        </p:txBody>
      </p:sp>
      <p:sp>
        <p:nvSpPr>
          <p:cNvPr id="2" name="Rectangle: Rounded Corners 1">
            <a:extLst>
              <a:ext uri="{FF2B5EF4-FFF2-40B4-BE49-F238E27FC236}">
                <a16:creationId xmlns:a16="http://schemas.microsoft.com/office/drawing/2014/main" id="{66A4430B-6F2E-33E2-9A0C-25FD075FE109}"/>
              </a:ext>
            </a:extLst>
          </p:cNvPr>
          <p:cNvSpPr/>
          <p:nvPr/>
        </p:nvSpPr>
        <p:spPr>
          <a:xfrm>
            <a:off x="3274877" y="1448841"/>
            <a:ext cx="1575682" cy="268607"/>
          </a:xfrm>
          <a:prstGeom prst="roundRect">
            <a:avLst/>
          </a:prstGeom>
          <a:solidFill>
            <a:srgbClr val="CDDCF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solidFill>
                  <a:srgbClr val="003399"/>
                </a:solidFill>
              </a:rPr>
              <a:t>CubicPolynomial</a:t>
            </a:r>
            <a:endParaRPr lang="en-GB" sz="1200" dirty="0">
              <a:solidFill>
                <a:srgbClr val="003399"/>
              </a:solidFill>
            </a:endParaRPr>
          </a:p>
        </p:txBody>
      </p:sp>
      <p:grpSp>
        <p:nvGrpSpPr>
          <p:cNvPr id="43" name="Group 42">
            <a:extLst>
              <a:ext uri="{FF2B5EF4-FFF2-40B4-BE49-F238E27FC236}">
                <a16:creationId xmlns:a16="http://schemas.microsoft.com/office/drawing/2014/main" id="{A7A9D25B-3AA7-DDE7-940B-6D1C2B85B8A2}"/>
              </a:ext>
            </a:extLst>
          </p:cNvPr>
          <p:cNvGrpSpPr/>
          <p:nvPr/>
        </p:nvGrpSpPr>
        <p:grpSpPr>
          <a:xfrm rot="18075836">
            <a:off x="5144512" y="5523538"/>
            <a:ext cx="418579" cy="594214"/>
            <a:chOff x="4557905" y="4542103"/>
            <a:chExt cx="358295" cy="508635"/>
          </a:xfrm>
        </p:grpSpPr>
        <p:cxnSp>
          <p:nvCxnSpPr>
            <p:cNvPr id="44" name="Straight Arrow Connector 43">
              <a:extLst>
                <a:ext uri="{FF2B5EF4-FFF2-40B4-BE49-F238E27FC236}">
                  <a16:creationId xmlns:a16="http://schemas.microsoft.com/office/drawing/2014/main" id="{E20C3CBF-E70F-5CDE-CDA3-F7E70BD901D0}"/>
                </a:ext>
              </a:extLst>
            </p:cNvPr>
            <p:cNvCxnSpPr>
              <a:cxnSpLocks/>
            </p:cNvCxnSpPr>
            <p:nvPr/>
          </p:nvCxnSpPr>
          <p:spPr>
            <a:xfrm flipH="1">
              <a:off x="4748214" y="4874814"/>
              <a:ext cx="156378" cy="175924"/>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E7744A9F-CE36-4C52-8477-AA87FEBAD246}"/>
                </a:ext>
              </a:extLst>
            </p:cNvPr>
            <p:cNvCxnSpPr/>
            <p:nvPr/>
          </p:nvCxnSpPr>
          <p:spPr>
            <a:xfrm flipV="1">
              <a:off x="4903097" y="4542103"/>
              <a:ext cx="0" cy="34412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C7E0735E-92CE-23AF-1B27-2196850EB0FC}"/>
                </a:ext>
              </a:extLst>
            </p:cNvPr>
            <p:cNvCxnSpPr>
              <a:cxnSpLocks/>
            </p:cNvCxnSpPr>
            <p:nvPr/>
          </p:nvCxnSpPr>
          <p:spPr>
            <a:xfrm flipH="1">
              <a:off x="4557905" y="4874814"/>
              <a:ext cx="358295"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a16="http://schemas.microsoft.com/office/drawing/2014/main" id="{10007037-C425-6FB0-9B9A-6531151E14B0}"/>
              </a:ext>
            </a:extLst>
          </p:cNvPr>
          <p:cNvGrpSpPr/>
          <p:nvPr/>
        </p:nvGrpSpPr>
        <p:grpSpPr>
          <a:xfrm>
            <a:off x="5327146" y="1759933"/>
            <a:ext cx="5384831" cy="3818900"/>
            <a:chOff x="5327146" y="1759933"/>
            <a:chExt cx="5384831" cy="3818900"/>
          </a:xfrm>
        </p:grpSpPr>
        <p:sp>
          <p:nvSpPr>
            <p:cNvPr id="64" name="Freeform 13">
              <a:extLst>
                <a:ext uri="{FF2B5EF4-FFF2-40B4-BE49-F238E27FC236}">
                  <a16:creationId xmlns:a16="http://schemas.microsoft.com/office/drawing/2014/main" id="{62E5D39C-6FE5-770F-726B-BC21525D6BBF}"/>
                </a:ext>
              </a:extLst>
            </p:cNvPr>
            <p:cNvSpPr/>
            <p:nvPr/>
          </p:nvSpPr>
          <p:spPr>
            <a:xfrm>
              <a:off x="6880875" y="1759933"/>
              <a:ext cx="3831102" cy="3818900"/>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dirty="0"/>
            </a:p>
          </p:txBody>
        </p:sp>
        <p:sp>
          <p:nvSpPr>
            <p:cNvPr id="41" name="Arrow: Curved Up 40">
              <a:extLst>
                <a:ext uri="{FF2B5EF4-FFF2-40B4-BE49-F238E27FC236}">
                  <a16:creationId xmlns:a16="http://schemas.microsoft.com/office/drawing/2014/main" id="{7A1DA624-0816-DDA6-E566-8D672B7C7D87}"/>
                </a:ext>
              </a:extLst>
            </p:cNvPr>
            <p:cNvSpPr/>
            <p:nvPr/>
          </p:nvSpPr>
          <p:spPr>
            <a:xfrm rot="9982028">
              <a:off x="5327146" y="4470061"/>
              <a:ext cx="2127150" cy="937251"/>
            </a:xfrm>
            <a:prstGeom prst="curvedUpArrow">
              <a:avLst>
                <a:gd name="adj1" fmla="val 0"/>
                <a:gd name="adj2" fmla="val 12921"/>
                <a:gd name="adj3" fmla="val 13732"/>
              </a:avLst>
            </a:prstGeom>
            <a:solidFill>
              <a:srgbClr val="003399"/>
            </a:solidFill>
            <a:ln>
              <a:solidFill>
                <a:srgbClr val="00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2" name="TextBox 41">
              <a:extLst>
                <a:ext uri="{FF2B5EF4-FFF2-40B4-BE49-F238E27FC236}">
                  <a16:creationId xmlns:a16="http://schemas.microsoft.com/office/drawing/2014/main" id="{39C48186-2331-1B53-805F-FBB17B1AB745}"/>
                </a:ext>
              </a:extLst>
            </p:cNvPr>
            <p:cNvSpPr txBox="1"/>
            <p:nvPr/>
          </p:nvSpPr>
          <p:spPr>
            <a:xfrm>
              <a:off x="5846123" y="4068428"/>
              <a:ext cx="1126542" cy="323605"/>
            </a:xfrm>
            <a:prstGeom prst="rect">
              <a:avLst/>
            </a:prstGeom>
            <a:noFill/>
          </p:spPr>
          <p:txBody>
            <a:bodyPr wrap="square" lIns="0" tIns="0" rIns="0" bIns="0" rtlCol="0">
              <a:spAutoFit/>
            </a:bodyPr>
            <a:lstStyle/>
            <a:p>
              <a:pPr algn="l"/>
              <a:r>
                <a:rPr lang="en-US" dirty="0"/>
                <a:t>Rotation</a:t>
              </a:r>
              <a:endParaRPr lang="en-GB" dirty="0"/>
            </a:p>
          </p:txBody>
        </p:sp>
        <p:cxnSp>
          <p:nvCxnSpPr>
            <p:cNvPr id="66" name="Straight Arrow Connector 65">
              <a:extLst>
                <a:ext uri="{FF2B5EF4-FFF2-40B4-BE49-F238E27FC236}">
                  <a16:creationId xmlns:a16="http://schemas.microsoft.com/office/drawing/2014/main" id="{6476D5EF-5FE3-FA9E-FF31-BF054617B2F8}"/>
                </a:ext>
              </a:extLst>
            </p:cNvPr>
            <p:cNvCxnSpPr>
              <a:cxnSpLocks/>
            </p:cNvCxnSpPr>
            <p:nvPr/>
          </p:nvCxnSpPr>
          <p:spPr>
            <a:xfrm flipH="1">
              <a:off x="7402876" y="5188940"/>
              <a:ext cx="175832" cy="19781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E5C4C3BD-B3FB-0B9B-8D49-9FED4F467EB0}"/>
                </a:ext>
              </a:extLst>
            </p:cNvPr>
            <p:cNvCxnSpPr/>
            <p:nvPr/>
          </p:nvCxnSpPr>
          <p:spPr>
            <a:xfrm flipV="1">
              <a:off x="7577027" y="4814839"/>
              <a:ext cx="0" cy="386940"/>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9D735BE2-8768-71AE-5A5C-E7A84D9FF668}"/>
                </a:ext>
              </a:extLst>
            </p:cNvPr>
            <p:cNvCxnSpPr>
              <a:cxnSpLocks/>
            </p:cNvCxnSpPr>
            <p:nvPr/>
          </p:nvCxnSpPr>
          <p:spPr>
            <a:xfrm flipH="1">
              <a:off x="7188892" y="5188940"/>
              <a:ext cx="402868"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838060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withEffect">
                                  <p:stCondLst>
                                    <p:cond delay="25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3">
            <a:extLst>
              <a:ext uri="{FF2B5EF4-FFF2-40B4-BE49-F238E27FC236}">
                <a16:creationId xmlns:a16="http://schemas.microsoft.com/office/drawing/2014/main" id="{A1309A3F-C7C6-EF9D-818E-D30DFF816668}"/>
              </a:ext>
            </a:extLst>
          </p:cNvPr>
          <p:cNvSpPr/>
          <p:nvPr/>
        </p:nvSpPr>
        <p:spPr>
          <a:xfrm>
            <a:off x="6880875" y="1759933"/>
            <a:ext cx="3831102" cy="3818900"/>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dirty="0"/>
          </a:p>
        </p:txBody>
      </p:sp>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Task Trajectory Generator Design</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29</a:t>
            </a:fld>
            <a:endParaRPr lang="en-US" dirty="0"/>
          </a:p>
        </p:txBody>
      </p:sp>
      <p:sp>
        <p:nvSpPr>
          <p:cNvPr id="35" name="Rectangle 4">
            <a:extLst>
              <a:ext uri="{FF2B5EF4-FFF2-40B4-BE49-F238E27FC236}">
                <a16:creationId xmlns:a16="http://schemas.microsoft.com/office/drawing/2014/main" id="{515064C5-73CE-EBF1-D50D-D01779B67F0F}"/>
              </a:ext>
            </a:extLst>
          </p:cNvPr>
          <p:cNvSpPr>
            <a:spLocks noChangeArrowheads="1"/>
          </p:cNvSpPr>
          <p:nvPr/>
        </p:nvSpPr>
        <p:spPr bwMode="auto">
          <a:xfrm>
            <a:off x="488951" y="1305290"/>
            <a:ext cx="548446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struct </a:t>
            </a:r>
            <a:r>
              <a:rPr kumimoji="0" lang="en-US" altLang="en-US" sz="1200" i="0" strike="noStrike" cap="none" normalizeH="0" baseline="0" dirty="0" err="1">
                <a:ln>
                  <a:noFill/>
                </a:ln>
                <a:solidFill>
                  <a:srgbClr val="303030"/>
                </a:solidFill>
                <a:effectLst/>
                <a:latin typeface="Cascadia Code" panose="020B0609020000020004" pitchFamily="49" charset="0"/>
                <a:cs typeface="Cascadia Code" panose="020B0609020000020004" pitchFamily="49" charset="0"/>
              </a:rPr>
              <a:t>TaskTrajectory</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  public:</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rgbClr val="303030"/>
                </a:solidFill>
                <a:latin typeface="Cascadia Code" panose="020B0609020000020004" pitchFamily="49" charset="0"/>
                <a:cs typeface="Cascadia Code" panose="020B0609020000020004" pitchFamily="49" charset="0"/>
              </a:rPr>
              <a:t>    </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std::</a:t>
            </a:r>
            <a:r>
              <a:rPr kumimoji="0" lang="en-US" altLang="en-US" sz="1200" b="0" i="0" u="none" strike="noStrike" cap="none" normalizeH="0" baseline="0" dirty="0" err="1">
                <a:ln>
                  <a:noFill/>
                </a:ln>
                <a:solidFill>
                  <a:srgbClr val="303030"/>
                </a:solidFill>
                <a:effectLst/>
                <a:latin typeface="Cascadia Code" panose="020B0609020000020004" pitchFamily="49" charset="0"/>
                <a:cs typeface="Cascadia Code" panose="020B0609020000020004" pitchFamily="49" charset="0"/>
              </a:rPr>
              <a:t>shared_ptr</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&lt;std::array&lt;</a:t>
            </a:r>
            <a:r>
              <a:rPr kumimoji="0" lang="en-US" altLang="en-US" sz="1200" b="0" i="0" u="none" strike="noStrike" cap="none" normalizeH="0" baseline="0" dirty="0" err="1">
                <a:ln>
                  <a:noFill/>
                </a:ln>
                <a:solidFill>
                  <a:srgbClr val="303030"/>
                </a:solidFill>
                <a:effectLst/>
                <a:latin typeface="Cascadia Code" panose="020B0609020000020004" pitchFamily="49" charset="0"/>
                <a:cs typeface="Cascadia Code" panose="020B0609020000020004" pitchFamily="49" charset="0"/>
              </a:rPr>
              <a:t>CubicPolynomial</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 3&gt;&gt; </a:t>
            </a:r>
            <a:r>
              <a:rPr kumimoji="0" lang="en-US" altLang="en-US" sz="120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linear</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rgbClr val="303030"/>
                </a:solidFill>
                <a:latin typeface="Cascadia Code" panose="020B0609020000020004" pitchFamily="49" charset="0"/>
                <a:cs typeface="Cascadia Code" panose="020B0609020000020004" pitchFamily="49" charset="0"/>
              </a:rPr>
              <a:t>   </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 std::</a:t>
            </a:r>
            <a:r>
              <a:rPr kumimoji="0" lang="en-US" altLang="en-US" sz="1200" b="0" i="0" u="none" strike="noStrike" cap="none" normalizeH="0" baseline="0" dirty="0" err="1">
                <a:ln>
                  <a:noFill/>
                </a:ln>
                <a:solidFill>
                  <a:srgbClr val="303030"/>
                </a:solidFill>
                <a:effectLst/>
                <a:latin typeface="Cascadia Code" panose="020B0609020000020004" pitchFamily="49" charset="0"/>
                <a:cs typeface="Cascadia Code" panose="020B0609020000020004" pitchFamily="49" charset="0"/>
              </a:rPr>
              <a:t>shared_ptr</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&lt;</a:t>
            </a:r>
            <a:r>
              <a:rPr kumimoji="0" lang="en-US" altLang="en-US" sz="1200" b="1" i="0" u="none" strike="noStrike" cap="none" normalizeH="0" baseline="0" dirty="0" err="1">
                <a:ln>
                  <a:noFill/>
                </a:ln>
                <a:solidFill>
                  <a:srgbClr val="003399"/>
                </a:solidFill>
                <a:effectLst/>
                <a:latin typeface="Cascadia Code" panose="020B0609020000020004" pitchFamily="49" charset="0"/>
                <a:cs typeface="Cascadia Code" panose="020B0609020000020004" pitchFamily="49" charset="0"/>
              </a:rPr>
              <a:t>CubicOrientationSpline</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&gt; </a:t>
            </a:r>
            <a:r>
              <a:rPr kumimoji="0" lang="en-US" altLang="en-US" sz="1200" b="1" i="0" u="none" strike="noStrike" cap="none" normalizeH="0" baseline="0" dirty="0">
                <a:ln>
                  <a:noFill/>
                </a:ln>
                <a:effectLst/>
                <a:latin typeface="Cascadia Code" panose="020B0609020000020004" pitchFamily="49" charset="0"/>
                <a:cs typeface="Cascadia Code" panose="020B0609020000020004" pitchFamily="49" charset="0"/>
              </a:rPr>
              <a:t>angular</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rgbClr val="303030"/>
                </a:solidFill>
                <a:latin typeface="Cascadia Code" panose="020B0609020000020004" pitchFamily="49" charset="0"/>
                <a:cs typeface="Cascadia Code" panose="020B0609020000020004" pitchFamily="49" charset="0"/>
              </a:rPr>
              <a:t>};</a:t>
            </a:r>
            <a:endPar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endParaRPr>
          </a:p>
        </p:txBody>
      </p:sp>
      <p:sp>
        <p:nvSpPr>
          <p:cNvPr id="7" name="Rectangle: Rounded Corners 6">
            <a:extLst>
              <a:ext uri="{FF2B5EF4-FFF2-40B4-BE49-F238E27FC236}">
                <a16:creationId xmlns:a16="http://schemas.microsoft.com/office/drawing/2014/main" id="{FBD8CB4B-D883-E6CE-C05E-A060D1BDC139}"/>
              </a:ext>
            </a:extLst>
          </p:cNvPr>
          <p:cNvSpPr/>
          <p:nvPr/>
        </p:nvSpPr>
        <p:spPr>
          <a:xfrm>
            <a:off x="8281752" y="352077"/>
            <a:ext cx="2340363" cy="660640"/>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TaskTrajectoryGenerator</a:t>
            </a:r>
            <a:endParaRPr lang="en-GB" sz="1400" dirty="0">
              <a:solidFill>
                <a:srgbClr val="003399"/>
              </a:solidFill>
            </a:endParaRPr>
          </a:p>
        </p:txBody>
      </p:sp>
      <p:cxnSp>
        <p:nvCxnSpPr>
          <p:cNvPr id="8" name="Straight Arrow Connector 7">
            <a:extLst>
              <a:ext uri="{FF2B5EF4-FFF2-40B4-BE49-F238E27FC236}">
                <a16:creationId xmlns:a16="http://schemas.microsoft.com/office/drawing/2014/main" id="{71327AD8-13D7-B2DA-08E0-BBE4B692E177}"/>
              </a:ext>
            </a:extLst>
          </p:cNvPr>
          <p:cNvCxnSpPr>
            <a:cxnSpLocks/>
          </p:cNvCxnSpPr>
          <p:nvPr/>
        </p:nvCxnSpPr>
        <p:spPr>
          <a:xfrm flipH="1">
            <a:off x="7402876" y="5188940"/>
            <a:ext cx="175832" cy="19781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3E7C7530-62B2-03C5-1EE8-9A52C4DF870D}"/>
              </a:ext>
            </a:extLst>
          </p:cNvPr>
          <p:cNvCxnSpPr/>
          <p:nvPr/>
        </p:nvCxnSpPr>
        <p:spPr>
          <a:xfrm flipV="1">
            <a:off x="7577027" y="4814839"/>
            <a:ext cx="0" cy="386940"/>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1E47CC7-7698-C0AC-B28A-13A33BA719AF}"/>
              </a:ext>
            </a:extLst>
          </p:cNvPr>
          <p:cNvCxnSpPr>
            <a:cxnSpLocks/>
          </p:cNvCxnSpPr>
          <p:nvPr/>
        </p:nvCxnSpPr>
        <p:spPr>
          <a:xfrm flipH="1">
            <a:off x="7188892" y="5188940"/>
            <a:ext cx="402868"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3166567"/>
      </p:ext>
    </p:extLst>
  </p:cSld>
  <p:clrMapOvr>
    <a:masterClrMapping/>
  </p:clrMapOvr>
  <mc:AlternateContent xmlns:mc="http://schemas.openxmlformats.org/markup-compatibility/2006" xmlns:p14="http://schemas.microsoft.com/office/powerpoint/2010/main">
    <mc:Choice Requires="p14">
      <p:transition p14:dur="0" advTm="100"/>
    </mc:Choice>
    <mc:Fallback xmlns="">
      <p:transition advTm="10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Task Trajectory Generator Design</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30</a:t>
            </a:fld>
            <a:endParaRPr lang="en-US" dirty="0"/>
          </a:p>
        </p:txBody>
      </p:sp>
      <p:cxnSp>
        <p:nvCxnSpPr>
          <p:cNvPr id="26" name="Straight Arrow Connector 25">
            <a:extLst>
              <a:ext uri="{FF2B5EF4-FFF2-40B4-BE49-F238E27FC236}">
                <a16:creationId xmlns:a16="http://schemas.microsoft.com/office/drawing/2014/main" id="{E1CD828D-85A2-611B-4EB8-6EACE9289ACC}"/>
              </a:ext>
            </a:extLst>
          </p:cNvPr>
          <p:cNvCxnSpPr>
            <a:cxnSpLocks/>
          </p:cNvCxnSpPr>
          <p:nvPr/>
        </p:nvCxnSpPr>
        <p:spPr>
          <a:xfrm flipH="1">
            <a:off x="2447779" y="4163914"/>
            <a:ext cx="460955" cy="51857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360404E-81B5-52CC-F841-E7E59E090ED9}"/>
              </a:ext>
            </a:extLst>
          </p:cNvPr>
          <p:cNvCxnSpPr/>
          <p:nvPr/>
        </p:nvCxnSpPr>
        <p:spPr>
          <a:xfrm flipV="1">
            <a:off x="2908734" y="3160019"/>
            <a:ext cx="0" cy="101438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FEA8461-5D73-5036-94EB-20F1AD2F8DD1}"/>
              </a:ext>
            </a:extLst>
          </p:cNvPr>
          <p:cNvCxnSpPr>
            <a:cxnSpLocks/>
          </p:cNvCxnSpPr>
          <p:nvPr/>
        </p:nvCxnSpPr>
        <p:spPr>
          <a:xfrm flipH="1">
            <a:off x="1891209" y="4163914"/>
            <a:ext cx="102192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C0CB08F-5620-8926-EE33-BF51818933BC}"/>
              </a:ext>
            </a:extLst>
          </p:cNvPr>
          <p:cNvSpPr txBox="1"/>
          <p:nvPr/>
        </p:nvSpPr>
        <p:spPr>
          <a:xfrm>
            <a:off x="2170462" y="2672276"/>
            <a:ext cx="1485352" cy="276999"/>
          </a:xfrm>
          <a:prstGeom prst="rect">
            <a:avLst/>
          </a:prstGeom>
          <a:noFill/>
        </p:spPr>
        <p:txBody>
          <a:bodyPr wrap="square" lIns="0" tIns="0" rIns="0" bIns="0" rtlCol="0">
            <a:spAutoFit/>
          </a:bodyPr>
          <a:lstStyle/>
          <a:p>
            <a:pPr algn="ctr"/>
            <a:r>
              <a:rPr lang="en-US" b="1" dirty="0" err="1"/>
              <a:t>CardanXYZ</a:t>
            </a:r>
            <a:endParaRPr lang="en-GB" b="1" dirty="0"/>
          </a:p>
        </p:txBody>
      </p:sp>
      <p:sp>
        <p:nvSpPr>
          <p:cNvPr id="11" name="Rectangle 4">
            <a:extLst>
              <a:ext uri="{FF2B5EF4-FFF2-40B4-BE49-F238E27FC236}">
                <a16:creationId xmlns:a16="http://schemas.microsoft.com/office/drawing/2014/main" id="{007986C3-AEE5-79E5-55EB-32E6C0A6863F}"/>
              </a:ext>
            </a:extLst>
          </p:cNvPr>
          <p:cNvSpPr>
            <a:spLocks noChangeArrowheads="1"/>
          </p:cNvSpPr>
          <p:nvPr/>
        </p:nvSpPr>
        <p:spPr bwMode="auto">
          <a:xfrm>
            <a:off x="488951" y="1305290"/>
            <a:ext cx="548446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struct </a:t>
            </a:r>
            <a:r>
              <a:rPr kumimoji="0" lang="en-US" altLang="en-US" sz="1200" i="0"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TaskTrajectory</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public:</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    </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std::</a:t>
            </a:r>
            <a:r>
              <a:rPr kumimoji="0" lang="en-US" altLang="en-US" sz="1200" b="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shared_ptr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&lt;std::array&lt;</a:t>
            </a:r>
            <a:r>
              <a:rPr kumimoji="0" lang="en-US" altLang="en-US" sz="1200" b="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CubicPolynomial</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3&gt;&gt; </a:t>
            </a:r>
            <a:r>
              <a:rPr kumimoji="0" lang="en-US" altLang="en-US" sz="120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linear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   </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std::</a:t>
            </a:r>
            <a:r>
              <a:rPr kumimoji="0" lang="en-US" altLang="en-US" sz="1200" b="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shared_ptr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&lt;</a:t>
            </a:r>
            <a:r>
              <a:rPr kumimoji="0" lang="en-US" altLang="en-US" sz="120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CubicOrientationSpline</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&gt; </a:t>
            </a:r>
            <a:r>
              <a:rPr kumimoji="0" lang="en-US" altLang="en-US" sz="120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angular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a:t>
            </a:r>
            <a:endPar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endParaRPr>
          </a:p>
        </p:txBody>
      </p:sp>
      <p:sp>
        <p:nvSpPr>
          <p:cNvPr id="7" name="Rectangle: Rounded Corners 6">
            <a:extLst>
              <a:ext uri="{FF2B5EF4-FFF2-40B4-BE49-F238E27FC236}">
                <a16:creationId xmlns:a16="http://schemas.microsoft.com/office/drawing/2014/main" id="{542E14B3-0147-D248-D8F0-8BCB89566EAD}"/>
              </a:ext>
            </a:extLst>
          </p:cNvPr>
          <p:cNvSpPr/>
          <p:nvPr/>
        </p:nvSpPr>
        <p:spPr>
          <a:xfrm>
            <a:off x="8281752" y="352077"/>
            <a:ext cx="2340363" cy="660640"/>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TaskTrajectoryGenerator</a:t>
            </a:r>
            <a:endParaRPr lang="en-GB" sz="1400" dirty="0">
              <a:solidFill>
                <a:srgbClr val="003399"/>
              </a:solidFill>
            </a:endParaRPr>
          </a:p>
        </p:txBody>
      </p:sp>
      <p:sp>
        <p:nvSpPr>
          <p:cNvPr id="8" name="Freeform 13">
            <a:extLst>
              <a:ext uri="{FF2B5EF4-FFF2-40B4-BE49-F238E27FC236}">
                <a16:creationId xmlns:a16="http://schemas.microsoft.com/office/drawing/2014/main" id="{96249A7C-E440-A24C-CD1B-505CDABB79C6}"/>
              </a:ext>
            </a:extLst>
          </p:cNvPr>
          <p:cNvSpPr/>
          <p:nvPr/>
        </p:nvSpPr>
        <p:spPr>
          <a:xfrm>
            <a:off x="6880875" y="1759933"/>
            <a:ext cx="3831102" cy="3818900"/>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dirty="0"/>
          </a:p>
        </p:txBody>
      </p:sp>
    </p:spTree>
    <p:extLst>
      <p:ext uri="{BB962C8B-B14F-4D97-AF65-F5344CB8AC3E}">
        <p14:creationId xmlns:p14="http://schemas.microsoft.com/office/powerpoint/2010/main" val="250825074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al 10">
            <a:extLst>
              <a:ext uri="{FF2B5EF4-FFF2-40B4-BE49-F238E27FC236}">
                <a16:creationId xmlns:a16="http://schemas.microsoft.com/office/drawing/2014/main" id="{6AEE4CC5-4D55-20F3-0EF4-D8B1AE86A81C}"/>
              </a:ext>
            </a:extLst>
          </p:cNvPr>
          <p:cNvSpPr/>
          <p:nvPr/>
        </p:nvSpPr>
        <p:spPr>
          <a:xfrm>
            <a:off x="2662731" y="3810987"/>
            <a:ext cx="460951" cy="699246"/>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Task Trajectory Generator Design</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31</a:t>
            </a:fld>
            <a:endParaRPr lang="en-US" dirty="0"/>
          </a:p>
        </p:txBody>
      </p:sp>
      <p:cxnSp>
        <p:nvCxnSpPr>
          <p:cNvPr id="26" name="Straight Arrow Connector 25">
            <a:extLst>
              <a:ext uri="{FF2B5EF4-FFF2-40B4-BE49-F238E27FC236}">
                <a16:creationId xmlns:a16="http://schemas.microsoft.com/office/drawing/2014/main" id="{E1CD828D-85A2-611B-4EB8-6EACE9289ACC}"/>
              </a:ext>
            </a:extLst>
          </p:cNvPr>
          <p:cNvCxnSpPr>
            <a:cxnSpLocks/>
          </p:cNvCxnSpPr>
          <p:nvPr/>
        </p:nvCxnSpPr>
        <p:spPr>
          <a:xfrm flipH="1">
            <a:off x="2447779" y="4163914"/>
            <a:ext cx="460955" cy="51857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360404E-81B5-52CC-F841-E7E59E090ED9}"/>
              </a:ext>
            </a:extLst>
          </p:cNvPr>
          <p:cNvCxnSpPr/>
          <p:nvPr/>
        </p:nvCxnSpPr>
        <p:spPr>
          <a:xfrm flipV="1">
            <a:off x="2908734" y="3160019"/>
            <a:ext cx="0" cy="101438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FEA8461-5D73-5036-94EB-20F1AD2F8DD1}"/>
              </a:ext>
            </a:extLst>
          </p:cNvPr>
          <p:cNvCxnSpPr>
            <a:cxnSpLocks/>
          </p:cNvCxnSpPr>
          <p:nvPr/>
        </p:nvCxnSpPr>
        <p:spPr>
          <a:xfrm flipH="1">
            <a:off x="1891209" y="4163914"/>
            <a:ext cx="102192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B2D13EE-EACD-003C-2811-F5929A67AE99}"/>
              </a:ext>
            </a:extLst>
          </p:cNvPr>
          <p:cNvCxnSpPr>
            <a:cxnSpLocks/>
          </p:cNvCxnSpPr>
          <p:nvPr/>
        </p:nvCxnSpPr>
        <p:spPr>
          <a:xfrm>
            <a:off x="1355954" y="4174408"/>
            <a:ext cx="2551522" cy="0"/>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E7C88BE-758F-754B-6218-420B47E32838}"/>
              </a:ext>
            </a:extLst>
          </p:cNvPr>
          <p:cNvSpPr txBox="1"/>
          <p:nvPr/>
        </p:nvSpPr>
        <p:spPr>
          <a:xfrm>
            <a:off x="2170462" y="2672276"/>
            <a:ext cx="1485352" cy="276999"/>
          </a:xfrm>
          <a:prstGeom prst="rect">
            <a:avLst/>
          </a:prstGeom>
          <a:noFill/>
        </p:spPr>
        <p:txBody>
          <a:bodyPr wrap="square" lIns="0" tIns="0" rIns="0" bIns="0" rtlCol="0">
            <a:spAutoFit/>
          </a:bodyPr>
          <a:lstStyle/>
          <a:p>
            <a:pPr algn="ctr"/>
            <a:r>
              <a:rPr lang="en-US" b="1" dirty="0" err="1"/>
              <a:t>CardanXYZ</a:t>
            </a:r>
            <a:endParaRPr lang="en-GB" b="1" dirty="0"/>
          </a:p>
        </p:txBody>
      </p:sp>
      <p:sp>
        <p:nvSpPr>
          <p:cNvPr id="13" name="Rectangle 4">
            <a:extLst>
              <a:ext uri="{FF2B5EF4-FFF2-40B4-BE49-F238E27FC236}">
                <a16:creationId xmlns:a16="http://schemas.microsoft.com/office/drawing/2014/main" id="{39E49950-8DAC-51C4-12F2-E7E9898B783F}"/>
              </a:ext>
            </a:extLst>
          </p:cNvPr>
          <p:cNvSpPr>
            <a:spLocks noChangeArrowheads="1"/>
          </p:cNvSpPr>
          <p:nvPr/>
        </p:nvSpPr>
        <p:spPr bwMode="auto">
          <a:xfrm>
            <a:off x="488951" y="1305290"/>
            <a:ext cx="548446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struct </a:t>
            </a:r>
            <a:r>
              <a:rPr kumimoji="0" lang="en-US" altLang="en-US" sz="1200" i="0"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TaskTrajectory</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public:</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    </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std::</a:t>
            </a:r>
            <a:r>
              <a:rPr kumimoji="0" lang="en-US" altLang="en-US" sz="1200" b="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shared_ptr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&lt;std::array&lt;</a:t>
            </a:r>
            <a:r>
              <a:rPr kumimoji="0" lang="en-US" altLang="en-US" sz="1200" b="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CubicPolynomial</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3&gt;&gt; </a:t>
            </a:r>
            <a:r>
              <a:rPr kumimoji="0" lang="en-US" altLang="en-US" sz="120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linear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   </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std::</a:t>
            </a:r>
            <a:r>
              <a:rPr kumimoji="0" lang="en-US" altLang="en-US" sz="1200" b="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shared_ptr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&lt;</a:t>
            </a:r>
            <a:r>
              <a:rPr kumimoji="0" lang="en-US" altLang="en-US" sz="120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CubicOrientationSpline</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&gt; </a:t>
            </a:r>
            <a:r>
              <a:rPr kumimoji="0" lang="en-US" altLang="en-US" sz="120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angular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a:t>
            </a:r>
            <a:endPar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endParaRPr>
          </a:p>
        </p:txBody>
      </p:sp>
      <p:sp>
        <p:nvSpPr>
          <p:cNvPr id="10" name="Rectangle: Rounded Corners 9">
            <a:extLst>
              <a:ext uri="{FF2B5EF4-FFF2-40B4-BE49-F238E27FC236}">
                <a16:creationId xmlns:a16="http://schemas.microsoft.com/office/drawing/2014/main" id="{BDECE6A1-D02F-81E8-C1D1-C57C62E5949A}"/>
              </a:ext>
            </a:extLst>
          </p:cNvPr>
          <p:cNvSpPr/>
          <p:nvPr/>
        </p:nvSpPr>
        <p:spPr>
          <a:xfrm>
            <a:off x="8281752" y="352077"/>
            <a:ext cx="2340363" cy="660640"/>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TaskTrajectoryGenerator</a:t>
            </a:r>
            <a:endParaRPr lang="en-GB" sz="1400" dirty="0">
              <a:solidFill>
                <a:srgbClr val="003399"/>
              </a:solidFill>
            </a:endParaRPr>
          </a:p>
        </p:txBody>
      </p:sp>
      <p:sp>
        <p:nvSpPr>
          <p:cNvPr id="9" name="Freeform 13">
            <a:extLst>
              <a:ext uri="{FF2B5EF4-FFF2-40B4-BE49-F238E27FC236}">
                <a16:creationId xmlns:a16="http://schemas.microsoft.com/office/drawing/2014/main" id="{DA841AF4-447B-597F-CFA1-D903AC475337}"/>
              </a:ext>
            </a:extLst>
          </p:cNvPr>
          <p:cNvSpPr/>
          <p:nvPr/>
        </p:nvSpPr>
        <p:spPr>
          <a:xfrm>
            <a:off x="6880875" y="1759933"/>
            <a:ext cx="3831102" cy="3818900"/>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dirty="0"/>
          </a:p>
        </p:txBody>
      </p:sp>
    </p:spTree>
    <p:extLst>
      <p:ext uri="{BB962C8B-B14F-4D97-AF65-F5344CB8AC3E}">
        <p14:creationId xmlns:p14="http://schemas.microsoft.com/office/powerpoint/2010/main" val="8539132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advTm="100">
        <p159:morph option="byObject"/>
      </p:transition>
    </mc:Choice>
    <mc:Fallback xmlns="">
      <p:transition advClick="0" advTm="100">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Oval 31">
            <a:extLst>
              <a:ext uri="{FF2B5EF4-FFF2-40B4-BE49-F238E27FC236}">
                <a16:creationId xmlns:a16="http://schemas.microsoft.com/office/drawing/2014/main" id="{B58CF006-26D0-4FC2-1AC7-0EF20E98E90B}"/>
              </a:ext>
            </a:extLst>
          </p:cNvPr>
          <p:cNvSpPr/>
          <p:nvPr/>
        </p:nvSpPr>
        <p:spPr>
          <a:xfrm>
            <a:off x="2662731" y="3810987"/>
            <a:ext cx="460951" cy="699246"/>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Task Trajectory Generator Design</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32</a:t>
            </a:fld>
            <a:endParaRPr lang="en-US" dirty="0"/>
          </a:p>
        </p:txBody>
      </p:sp>
      <p:cxnSp>
        <p:nvCxnSpPr>
          <p:cNvPr id="26" name="Straight Arrow Connector 25">
            <a:extLst>
              <a:ext uri="{FF2B5EF4-FFF2-40B4-BE49-F238E27FC236}">
                <a16:creationId xmlns:a16="http://schemas.microsoft.com/office/drawing/2014/main" id="{E1CD828D-85A2-611B-4EB8-6EACE9289ACC}"/>
              </a:ext>
            </a:extLst>
          </p:cNvPr>
          <p:cNvCxnSpPr>
            <a:cxnSpLocks/>
          </p:cNvCxnSpPr>
          <p:nvPr/>
        </p:nvCxnSpPr>
        <p:spPr>
          <a:xfrm flipH="1">
            <a:off x="2673039" y="4163912"/>
            <a:ext cx="235695" cy="826166"/>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360404E-81B5-52CC-F841-E7E59E090ED9}"/>
              </a:ext>
            </a:extLst>
          </p:cNvPr>
          <p:cNvCxnSpPr>
            <a:cxnSpLocks/>
          </p:cNvCxnSpPr>
          <p:nvPr/>
        </p:nvCxnSpPr>
        <p:spPr>
          <a:xfrm flipH="1" flipV="1">
            <a:off x="2673039" y="3778506"/>
            <a:ext cx="235695" cy="395900"/>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FEA8461-5D73-5036-94EB-20F1AD2F8DD1}"/>
              </a:ext>
            </a:extLst>
          </p:cNvPr>
          <p:cNvCxnSpPr>
            <a:cxnSpLocks/>
          </p:cNvCxnSpPr>
          <p:nvPr/>
        </p:nvCxnSpPr>
        <p:spPr>
          <a:xfrm flipH="1">
            <a:off x="1891209" y="4163912"/>
            <a:ext cx="102192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F2A496C-1069-510F-8D80-819BB9FFAC1B}"/>
              </a:ext>
            </a:extLst>
          </p:cNvPr>
          <p:cNvSpPr txBox="1"/>
          <p:nvPr/>
        </p:nvSpPr>
        <p:spPr>
          <a:xfrm>
            <a:off x="2170462" y="2672276"/>
            <a:ext cx="1485352" cy="276999"/>
          </a:xfrm>
          <a:prstGeom prst="rect">
            <a:avLst/>
          </a:prstGeom>
          <a:noFill/>
        </p:spPr>
        <p:txBody>
          <a:bodyPr wrap="square" lIns="0" tIns="0" rIns="0" bIns="0" rtlCol="0">
            <a:spAutoFit/>
          </a:bodyPr>
          <a:lstStyle/>
          <a:p>
            <a:pPr algn="ctr"/>
            <a:r>
              <a:rPr lang="en-US" b="1" dirty="0" err="1"/>
              <a:t>CardanXYZ</a:t>
            </a:r>
            <a:endParaRPr lang="en-GB" b="1" dirty="0"/>
          </a:p>
        </p:txBody>
      </p:sp>
      <p:sp>
        <p:nvSpPr>
          <p:cNvPr id="33" name="Rectangle 4">
            <a:extLst>
              <a:ext uri="{FF2B5EF4-FFF2-40B4-BE49-F238E27FC236}">
                <a16:creationId xmlns:a16="http://schemas.microsoft.com/office/drawing/2014/main" id="{EA39740F-78AA-9012-6099-1FA17232BCB2}"/>
              </a:ext>
            </a:extLst>
          </p:cNvPr>
          <p:cNvSpPr>
            <a:spLocks noChangeArrowheads="1"/>
          </p:cNvSpPr>
          <p:nvPr/>
        </p:nvSpPr>
        <p:spPr bwMode="auto">
          <a:xfrm>
            <a:off x="488951" y="1305290"/>
            <a:ext cx="548446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struct </a:t>
            </a:r>
            <a:r>
              <a:rPr kumimoji="0" lang="en-US" altLang="en-US" sz="1200" i="0"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TaskTrajectory</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public:</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    </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std::</a:t>
            </a:r>
            <a:r>
              <a:rPr kumimoji="0" lang="en-US" altLang="en-US" sz="1200" b="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shared_ptr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&lt;std::array&lt;</a:t>
            </a:r>
            <a:r>
              <a:rPr kumimoji="0" lang="en-US" altLang="en-US" sz="1200" b="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CubicPolynomial</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3&gt;&gt; </a:t>
            </a:r>
            <a:r>
              <a:rPr kumimoji="0" lang="en-US" altLang="en-US" sz="120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linear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   </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std::</a:t>
            </a:r>
            <a:r>
              <a:rPr kumimoji="0" lang="en-US" altLang="en-US" sz="1200" b="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shared_ptr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&lt;</a:t>
            </a:r>
            <a:r>
              <a:rPr kumimoji="0" lang="en-US" altLang="en-US" sz="120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CubicOrientationSpline</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&gt; </a:t>
            </a:r>
            <a:r>
              <a:rPr kumimoji="0" lang="en-US" altLang="en-US" sz="120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angular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a:t>
            </a:r>
            <a:endPar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endParaRPr>
          </a:p>
        </p:txBody>
      </p:sp>
      <p:sp>
        <p:nvSpPr>
          <p:cNvPr id="9" name="Rectangle: Rounded Corners 8">
            <a:extLst>
              <a:ext uri="{FF2B5EF4-FFF2-40B4-BE49-F238E27FC236}">
                <a16:creationId xmlns:a16="http://schemas.microsoft.com/office/drawing/2014/main" id="{38936A3E-F60E-F7F2-F825-531960E35404}"/>
              </a:ext>
            </a:extLst>
          </p:cNvPr>
          <p:cNvSpPr/>
          <p:nvPr/>
        </p:nvSpPr>
        <p:spPr>
          <a:xfrm>
            <a:off x="8281752" y="352077"/>
            <a:ext cx="2340363" cy="660640"/>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TaskTrajectoryGenerator</a:t>
            </a:r>
            <a:endParaRPr lang="en-GB" sz="1400" dirty="0">
              <a:solidFill>
                <a:srgbClr val="003399"/>
              </a:solidFill>
            </a:endParaRPr>
          </a:p>
        </p:txBody>
      </p:sp>
      <p:sp>
        <p:nvSpPr>
          <p:cNvPr id="8" name="Freeform 13">
            <a:extLst>
              <a:ext uri="{FF2B5EF4-FFF2-40B4-BE49-F238E27FC236}">
                <a16:creationId xmlns:a16="http://schemas.microsoft.com/office/drawing/2014/main" id="{BD39BAC2-AB7D-195B-C91E-DB648E7D7929}"/>
              </a:ext>
            </a:extLst>
          </p:cNvPr>
          <p:cNvSpPr/>
          <p:nvPr/>
        </p:nvSpPr>
        <p:spPr>
          <a:xfrm>
            <a:off x="6880875" y="1759933"/>
            <a:ext cx="3831102" cy="3818900"/>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dirty="0"/>
          </a:p>
        </p:txBody>
      </p:sp>
      <p:cxnSp>
        <p:nvCxnSpPr>
          <p:cNvPr id="2" name="Straight Connector 1">
            <a:extLst>
              <a:ext uri="{FF2B5EF4-FFF2-40B4-BE49-F238E27FC236}">
                <a16:creationId xmlns:a16="http://schemas.microsoft.com/office/drawing/2014/main" id="{1178B241-7EF0-9E01-B128-F3D803315221}"/>
              </a:ext>
            </a:extLst>
          </p:cNvPr>
          <p:cNvCxnSpPr>
            <a:cxnSpLocks/>
          </p:cNvCxnSpPr>
          <p:nvPr/>
        </p:nvCxnSpPr>
        <p:spPr>
          <a:xfrm>
            <a:off x="1355954" y="4174408"/>
            <a:ext cx="2551522" cy="0"/>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202759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FBD34D3D-4654-204C-3F88-DB2B42A35490}"/>
              </a:ext>
            </a:extLst>
          </p:cNvPr>
          <p:cNvSpPr/>
          <p:nvPr/>
        </p:nvSpPr>
        <p:spPr>
          <a:xfrm>
            <a:off x="2544876" y="3942570"/>
            <a:ext cx="682781" cy="483628"/>
          </a:xfrm>
          <a:prstGeom prst="ellipse">
            <a:avLst/>
          </a:prstGeom>
          <a:no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1" name="Straight Connector 10">
            <a:extLst>
              <a:ext uri="{FF2B5EF4-FFF2-40B4-BE49-F238E27FC236}">
                <a16:creationId xmlns:a16="http://schemas.microsoft.com/office/drawing/2014/main" id="{360AFD69-4A53-E3EF-28EA-1C34CFA2022F}"/>
              </a:ext>
            </a:extLst>
          </p:cNvPr>
          <p:cNvCxnSpPr>
            <a:cxnSpLocks/>
          </p:cNvCxnSpPr>
          <p:nvPr/>
        </p:nvCxnSpPr>
        <p:spPr>
          <a:xfrm flipV="1">
            <a:off x="2571151" y="3519014"/>
            <a:ext cx="510964" cy="1851853"/>
          </a:xfrm>
          <a:prstGeom prst="line">
            <a:avLst/>
          </a:prstGeom>
          <a:ln w="1270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FEA8461-5D73-5036-94EB-20F1AD2F8DD1}"/>
              </a:ext>
            </a:extLst>
          </p:cNvPr>
          <p:cNvCxnSpPr>
            <a:cxnSpLocks/>
          </p:cNvCxnSpPr>
          <p:nvPr/>
        </p:nvCxnSpPr>
        <p:spPr>
          <a:xfrm flipH="1">
            <a:off x="1891209" y="4163912"/>
            <a:ext cx="102192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Task Trajectory Generator Design</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33</a:t>
            </a:fld>
            <a:endParaRPr lang="en-US" dirty="0"/>
          </a:p>
        </p:txBody>
      </p:sp>
      <p:cxnSp>
        <p:nvCxnSpPr>
          <p:cNvPr id="26" name="Straight Arrow Connector 25">
            <a:extLst>
              <a:ext uri="{FF2B5EF4-FFF2-40B4-BE49-F238E27FC236}">
                <a16:creationId xmlns:a16="http://schemas.microsoft.com/office/drawing/2014/main" id="{E1CD828D-85A2-611B-4EB8-6EACE9289ACC}"/>
              </a:ext>
            </a:extLst>
          </p:cNvPr>
          <p:cNvCxnSpPr>
            <a:cxnSpLocks/>
          </p:cNvCxnSpPr>
          <p:nvPr/>
        </p:nvCxnSpPr>
        <p:spPr>
          <a:xfrm flipH="1">
            <a:off x="2673039" y="4163912"/>
            <a:ext cx="235695" cy="826166"/>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360404E-81B5-52CC-F841-E7E59E090ED9}"/>
              </a:ext>
            </a:extLst>
          </p:cNvPr>
          <p:cNvCxnSpPr>
            <a:cxnSpLocks/>
          </p:cNvCxnSpPr>
          <p:nvPr/>
        </p:nvCxnSpPr>
        <p:spPr>
          <a:xfrm flipH="1" flipV="1">
            <a:off x="2673039" y="3778506"/>
            <a:ext cx="235695" cy="395900"/>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764A9FE7-C935-C1E8-5E19-BF45BAF8DC0B}"/>
              </a:ext>
            </a:extLst>
          </p:cNvPr>
          <p:cNvSpPr txBox="1"/>
          <p:nvPr/>
        </p:nvSpPr>
        <p:spPr>
          <a:xfrm>
            <a:off x="2170462" y="2672276"/>
            <a:ext cx="1485352" cy="276999"/>
          </a:xfrm>
          <a:prstGeom prst="rect">
            <a:avLst/>
          </a:prstGeom>
          <a:noFill/>
        </p:spPr>
        <p:txBody>
          <a:bodyPr wrap="square" lIns="0" tIns="0" rIns="0" bIns="0" rtlCol="0">
            <a:spAutoFit/>
          </a:bodyPr>
          <a:lstStyle/>
          <a:p>
            <a:pPr algn="ctr"/>
            <a:r>
              <a:rPr lang="en-US" b="1" dirty="0" err="1"/>
              <a:t>CardanXYZ</a:t>
            </a:r>
            <a:endParaRPr lang="en-GB" b="1" dirty="0"/>
          </a:p>
        </p:txBody>
      </p:sp>
      <p:sp>
        <p:nvSpPr>
          <p:cNvPr id="24" name="Rectangle 4">
            <a:extLst>
              <a:ext uri="{FF2B5EF4-FFF2-40B4-BE49-F238E27FC236}">
                <a16:creationId xmlns:a16="http://schemas.microsoft.com/office/drawing/2014/main" id="{867A63E8-1730-95D0-D570-7C05157157E5}"/>
              </a:ext>
            </a:extLst>
          </p:cNvPr>
          <p:cNvSpPr>
            <a:spLocks noChangeArrowheads="1"/>
          </p:cNvSpPr>
          <p:nvPr/>
        </p:nvSpPr>
        <p:spPr bwMode="auto">
          <a:xfrm>
            <a:off x="488951" y="1305290"/>
            <a:ext cx="548446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struct </a:t>
            </a:r>
            <a:r>
              <a:rPr kumimoji="0" lang="en-US" altLang="en-US" sz="1200" i="0"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TaskTrajectory</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public:</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    </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std::</a:t>
            </a:r>
            <a:r>
              <a:rPr kumimoji="0" lang="en-US" altLang="en-US" sz="1200" b="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shared_ptr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&lt;std::array&lt;</a:t>
            </a:r>
            <a:r>
              <a:rPr kumimoji="0" lang="en-US" altLang="en-US" sz="1200" b="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CubicPolynomial</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3&gt;&gt; </a:t>
            </a:r>
            <a:r>
              <a:rPr kumimoji="0" lang="en-US" altLang="en-US" sz="120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linear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   </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std::</a:t>
            </a:r>
            <a:r>
              <a:rPr kumimoji="0" lang="en-US" altLang="en-US" sz="1200" b="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shared_ptr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&lt;</a:t>
            </a:r>
            <a:r>
              <a:rPr kumimoji="0" lang="en-US" altLang="en-US" sz="120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CubicOrientationSpline</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&gt; </a:t>
            </a:r>
            <a:r>
              <a:rPr kumimoji="0" lang="en-US" altLang="en-US" sz="120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angular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a:t>
            </a:r>
            <a:endPar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endParaRPr>
          </a:p>
        </p:txBody>
      </p:sp>
      <p:sp>
        <p:nvSpPr>
          <p:cNvPr id="7" name="Rectangle: Rounded Corners 6">
            <a:extLst>
              <a:ext uri="{FF2B5EF4-FFF2-40B4-BE49-F238E27FC236}">
                <a16:creationId xmlns:a16="http://schemas.microsoft.com/office/drawing/2014/main" id="{913E5614-3F09-BAC1-2039-E1298E7F788B}"/>
              </a:ext>
            </a:extLst>
          </p:cNvPr>
          <p:cNvSpPr/>
          <p:nvPr/>
        </p:nvSpPr>
        <p:spPr>
          <a:xfrm>
            <a:off x="8281752" y="352077"/>
            <a:ext cx="2340363" cy="660640"/>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TaskTrajectoryGenerator</a:t>
            </a:r>
            <a:endParaRPr lang="en-GB" sz="1400" dirty="0">
              <a:solidFill>
                <a:srgbClr val="003399"/>
              </a:solidFill>
            </a:endParaRPr>
          </a:p>
        </p:txBody>
      </p:sp>
      <p:sp>
        <p:nvSpPr>
          <p:cNvPr id="8" name="Freeform 13">
            <a:extLst>
              <a:ext uri="{FF2B5EF4-FFF2-40B4-BE49-F238E27FC236}">
                <a16:creationId xmlns:a16="http://schemas.microsoft.com/office/drawing/2014/main" id="{C2E766B4-4263-6C3B-CC73-1EDE24E6A434}"/>
              </a:ext>
            </a:extLst>
          </p:cNvPr>
          <p:cNvSpPr/>
          <p:nvPr/>
        </p:nvSpPr>
        <p:spPr>
          <a:xfrm>
            <a:off x="6880875" y="1759933"/>
            <a:ext cx="3831102" cy="3818900"/>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dirty="0"/>
          </a:p>
        </p:txBody>
      </p:sp>
    </p:spTree>
    <p:extLst>
      <p:ext uri="{BB962C8B-B14F-4D97-AF65-F5344CB8AC3E}">
        <p14:creationId xmlns:p14="http://schemas.microsoft.com/office/powerpoint/2010/main" val="4232283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advTm="100">
        <p159:morph option="byObject"/>
      </p:transition>
    </mc:Choice>
    <mc:Fallback xmlns="">
      <p:transition advClick="0" advTm="100">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Oval 24">
            <a:extLst>
              <a:ext uri="{FF2B5EF4-FFF2-40B4-BE49-F238E27FC236}">
                <a16:creationId xmlns:a16="http://schemas.microsoft.com/office/drawing/2014/main" id="{4FB42546-5260-F0C0-0589-780DD063AF55}"/>
              </a:ext>
            </a:extLst>
          </p:cNvPr>
          <p:cNvSpPr/>
          <p:nvPr/>
        </p:nvSpPr>
        <p:spPr>
          <a:xfrm>
            <a:off x="2544876" y="3942570"/>
            <a:ext cx="682781" cy="483628"/>
          </a:xfrm>
          <a:prstGeom prst="ellipse">
            <a:avLst/>
          </a:prstGeom>
          <a:no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8" name="Straight Arrow Connector 27">
            <a:extLst>
              <a:ext uri="{FF2B5EF4-FFF2-40B4-BE49-F238E27FC236}">
                <a16:creationId xmlns:a16="http://schemas.microsoft.com/office/drawing/2014/main" id="{2FEA8461-5D73-5036-94EB-20F1AD2F8DD1}"/>
              </a:ext>
            </a:extLst>
          </p:cNvPr>
          <p:cNvCxnSpPr>
            <a:cxnSpLocks/>
          </p:cNvCxnSpPr>
          <p:nvPr/>
        </p:nvCxnSpPr>
        <p:spPr>
          <a:xfrm flipH="1">
            <a:off x="2472915" y="4163907"/>
            <a:ext cx="440246" cy="41068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Task Trajectory Generator Design</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34</a:t>
            </a:fld>
            <a:endParaRPr lang="en-US" dirty="0"/>
          </a:p>
        </p:txBody>
      </p:sp>
      <p:cxnSp>
        <p:nvCxnSpPr>
          <p:cNvPr id="26" name="Straight Arrow Connector 25">
            <a:extLst>
              <a:ext uri="{FF2B5EF4-FFF2-40B4-BE49-F238E27FC236}">
                <a16:creationId xmlns:a16="http://schemas.microsoft.com/office/drawing/2014/main" id="{E1CD828D-85A2-611B-4EB8-6EACE9289ACC}"/>
              </a:ext>
            </a:extLst>
          </p:cNvPr>
          <p:cNvCxnSpPr>
            <a:cxnSpLocks/>
          </p:cNvCxnSpPr>
          <p:nvPr/>
        </p:nvCxnSpPr>
        <p:spPr>
          <a:xfrm flipH="1">
            <a:off x="2673062" y="4163907"/>
            <a:ext cx="235695" cy="826166"/>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360404E-81B5-52CC-F841-E7E59E090ED9}"/>
              </a:ext>
            </a:extLst>
          </p:cNvPr>
          <p:cNvCxnSpPr>
            <a:cxnSpLocks/>
          </p:cNvCxnSpPr>
          <p:nvPr/>
        </p:nvCxnSpPr>
        <p:spPr>
          <a:xfrm flipH="1" flipV="1">
            <a:off x="2213033" y="3987448"/>
            <a:ext cx="695724" cy="186953"/>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AB105325-72D1-7600-D91E-1FF73A840A22}"/>
              </a:ext>
            </a:extLst>
          </p:cNvPr>
          <p:cNvSpPr txBox="1"/>
          <p:nvPr/>
        </p:nvSpPr>
        <p:spPr>
          <a:xfrm>
            <a:off x="2170462" y="2672276"/>
            <a:ext cx="1485352" cy="276999"/>
          </a:xfrm>
          <a:prstGeom prst="rect">
            <a:avLst/>
          </a:prstGeom>
          <a:noFill/>
        </p:spPr>
        <p:txBody>
          <a:bodyPr wrap="square" lIns="0" tIns="0" rIns="0" bIns="0" rtlCol="0">
            <a:spAutoFit/>
          </a:bodyPr>
          <a:lstStyle/>
          <a:p>
            <a:pPr algn="ctr"/>
            <a:r>
              <a:rPr lang="en-US" b="1" dirty="0" err="1"/>
              <a:t>CardanXYZ</a:t>
            </a:r>
            <a:endParaRPr lang="en-GB" b="1" dirty="0"/>
          </a:p>
        </p:txBody>
      </p:sp>
      <p:sp>
        <p:nvSpPr>
          <p:cNvPr id="30" name="Rectangle 4">
            <a:extLst>
              <a:ext uri="{FF2B5EF4-FFF2-40B4-BE49-F238E27FC236}">
                <a16:creationId xmlns:a16="http://schemas.microsoft.com/office/drawing/2014/main" id="{880F3D81-5F34-EE0F-C662-841123C9B129}"/>
              </a:ext>
            </a:extLst>
          </p:cNvPr>
          <p:cNvSpPr>
            <a:spLocks noChangeArrowheads="1"/>
          </p:cNvSpPr>
          <p:nvPr/>
        </p:nvSpPr>
        <p:spPr bwMode="auto">
          <a:xfrm>
            <a:off x="488951" y="1305290"/>
            <a:ext cx="548446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struct </a:t>
            </a:r>
            <a:r>
              <a:rPr kumimoji="0" lang="en-US" altLang="en-US" sz="1200" i="0"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TaskTrajectory</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public:</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    </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std::</a:t>
            </a:r>
            <a:r>
              <a:rPr kumimoji="0" lang="en-US" altLang="en-US" sz="1200" b="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shared_ptr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&lt;std::array&lt;</a:t>
            </a:r>
            <a:r>
              <a:rPr kumimoji="0" lang="en-US" altLang="en-US" sz="1200" b="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CubicPolynomial</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3&gt;&gt; </a:t>
            </a:r>
            <a:r>
              <a:rPr kumimoji="0" lang="en-US" altLang="en-US" sz="120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linear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   </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std::</a:t>
            </a:r>
            <a:r>
              <a:rPr kumimoji="0" lang="en-US" altLang="en-US" sz="1200" b="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shared_ptr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&lt;</a:t>
            </a:r>
            <a:r>
              <a:rPr kumimoji="0" lang="en-US" altLang="en-US" sz="120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CubicOrientationSpline</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&gt; </a:t>
            </a:r>
            <a:r>
              <a:rPr kumimoji="0" lang="en-US" altLang="en-US" sz="120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angular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a:t>
            </a:r>
            <a:endPar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endParaRPr>
          </a:p>
        </p:txBody>
      </p:sp>
      <p:sp>
        <p:nvSpPr>
          <p:cNvPr id="7" name="Rectangle: Rounded Corners 6">
            <a:extLst>
              <a:ext uri="{FF2B5EF4-FFF2-40B4-BE49-F238E27FC236}">
                <a16:creationId xmlns:a16="http://schemas.microsoft.com/office/drawing/2014/main" id="{A1F95C2D-6571-6B0F-EF88-11EE6375AE52}"/>
              </a:ext>
            </a:extLst>
          </p:cNvPr>
          <p:cNvSpPr/>
          <p:nvPr/>
        </p:nvSpPr>
        <p:spPr>
          <a:xfrm>
            <a:off x="8281752" y="352077"/>
            <a:ext cx="2340363" cy="660640"/>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TaskTrajectoryGenerator</a:t>
            </a:r>
            <a:endParaRPr lang="en-GB" sz="1400" dirty="0">
              <a:solidFill>
                <a:srgbClr val="003399"/>
              </a:solidFill>
            </a:endParaRPr>
          </a:p>
        </p:txBody>
      </p:sp>
      <p:sp>
        <p:nvSpPr>
          <p:cNvPr id="8" name="Freeform 13">
            <a:extLst>
              <a:ext uri="{FF2B5EF4-FFF2-40B4-BE49-F238E27FC236}">
                <a16:creationId xmlns:a16="http://schemas.microsoft.com/office/drawing/2014/main" id="{2F9600F6-2E83-C6B5-2FF0-21B8A43AF4E8}"/>
              </a:ext>
            </a:extLst>
          </p:cNvPr>
          <p:cNvSpPr/>
          <p:nvPr/>
        </p:nvSpPr>
        <p:spPr>
          <a:xfrm>
            <a:off x="6880875" y="1759933"/>
            <a:ext cx="3831102" cy="3818900"/>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dirty="0"/>
          </a:p>
        </p:txBody>
      </p:sp>
      <p:cxnSp>
        <p:nvCxnSpPr>
          <p:cNvPr id="9" name="Straight Connector 8">
            <a:extLst>
              <a:ext uri="{FF2B5EF4-FFF2-40B4-BE49-F238E27FC236}">
                <a16:creationId xmlns:a16="http://schemas.microsoft.com/office/drawing/2014/main" id="{3AEBCCCD-FBBB-9A52-787E-A443CF19D756}"/>
              </a:ext>
            </a:extLst>
          </p:cNvPr>
          <p:cNvCxnSpPr>
            <a:cxnSpLocks/>
          </p:cNvCxnSpPr>
          <p:nvPr/>
        </p:nvCxnSpPr>
        <p:spPr>
          <a:xfrm flipV="1">
            <a:off x="2571151" y="3519014"/>
            <a:ext cx="510964" cy="1851853"/>
          </a:xfrm>
          <a:prstGeom prst="line">
            <a:avLst/>
          </a:prstGeom>
          <a:ln w="12700">
            <a:solidFill>
              <a:srgbClr val="00B05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744116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val 15">
            <a:extLst>
              <a:ext uri="{FF2B5EF4-FFF2-40B4-BE49-F238E27FC236}">
                <a16:creationId xmlns:a16="http://schemas.microsoft.com/office/drawing/2014/main" id="{2A8219B2-4339-8939-10ED-2CD9B63F611A}"/>
              </a:ext>
            </a:extLst>
          </p:cNvPr>
          <p:cNvSpPr/>
          <p:nvPr/>
        </p:nvSpPr>
        <p:spPr>
          <a:xfrm rot="17217679">
            <a:off x="2542876" y="3936236"/>
            <a:ext cx="706358" cy="518304"/>
          </a:xfrm>
          <a:prstGeom prst="ellipse">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8" name="Straight Arrow Connector 27">
            <a:extLst>
              <a:ext uri="{FF2B5EF4-FFF2-40B4-BE49-F238E27FC236}">
                <a16:creationId xmlns:a16="http://schemas.microsoft.com/office/drawing/2014/main" id="{2FEA8461-5D73-5036-94EB-20F1AD2F8DD1}"/>
              </a:ext>
            </a:extLst>
          </p:cNvPr>
          <p:cNvCxnSpPr>
            <a:cxnSpLocks/>
          </p:cNvCxnSpPr>
          <p:nvPr/>
        </p:nvCxnSpPr>
        <p:spPr>
          <a:xfrm flipH="1">
            <a:off x="2472915" y="4163907"/>
            <a:ext cx="440246" cy="41068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Task Trajectory Generator Design</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35</a:t>
            </a:fld>
            <a:endParaRPr lang="en-US" dirty="0"/>
          </a:p>
        </p:txBody>
      </p:sp>
      <p:cxnSp>
        <p:nvCxnSpPr>
          <p:cNvPr id="26" name="Straight Arrow Connector 25">
            <a:extLst>
              <a:ext uri="{FF2B5EF4-FFF2-40B4-BE49-F238E27FC236}">
                <a16:creationId xmlns:a16="http://schemas.microsoft.com/office/drawing/2014/main" id="{E1CD828D-85A2-611B-4EB8-6EACE9289ACC}"/>
              </a:ext>
            </a:extLst>
          </p:cNvPr>
          <p:cNvCxnSpPr>
            <a:cxnSpLocks/>
          </p:cNvCxnSpPr>
          <p:nvPr/>
        </p:nvCxnSpPr>
        <p:spPr>
          <a:xfrm flipH="1">
            <a:off x="2673062" y="4163907"/>
            <a:ext cx="235695" cy="826166"/>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360404E-81B5-52CC-F841-E7E59E090ED9}"/>
              </a:ext>
            </a:extLst>
          </p:cNvPr>
          <p:cNvCxnSpPr>
            <a:cxnSpLocks/>
          </p:cNvCxnSpPr>
          <p:nvPr/>
        </p:nvCxnSpPr>
        <p:spPr>
          <a:xfrm flipH="1" flipV="1">
            <a:off x="2213033" y="3987448"/>
            <a:ext cx="695724" cy="186953"/>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B2CCD41-DC23-EC07-9C38-10314CA013C8}"/>
              </a:ext>
            </a:extLst>
          </p:cNvPr>
          <p:cNvCxnSpPr>
            <a:cxnSpLocks/>
          </p:cNvCxnSpPr>
          <p:nvPr/>
        </p:nvCxnSpPr>
        <p:spPr>
          <a:xfrm>
            <a:off x="1834428" y="3881707"/>
            <a:ext cx="1839980" cy="508937"/>
          </a:xfrm>
          <a:prstGeom prst="line">
            <a:avLst/>
          </a:prstGeom>
          <a:ln w="12700">
            <a:solidFill>
              <a:srgbClr val="00B0F0"/>
            </a:solidFill>
            <a:prstDash val="lgDash"/>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DBB473C5-D0B9-AD50-D275-3AF5B58FCA9F}"/>
              </a:ext>
            </a:extLst>
          </p:cNvPr>
          <p:cNvSpPr txBox="1"/>
          <p:nvPr/>
        </p:nvSpPr>
        <p:spPr>
          <a:xfrm>
            <a:off x="2170462" y="2672276"/>
            <a:ext cx="1485352" cy="276999"/>
          </a:xfrm>
          <a:prstGeom prst="rect">
            <a:avLst/>
          </a:prstGeom>
          <a:noFill/>
        </p:spPr>
        <p:txBody>
          <a:bodyPr wrap="square" lIns="0" tIns="0" rIns="0" bIns="0" rtlCol="0">
            <a:spAutoFit/>
          </a:bodyPr>
          <a:lstStyle/>
          <a:p>
            <a:pPr algn="ctr"/>
            <a:r>
              <a:rPr lang="en-US" b="1" dirty="0" err="1"/>
              <a:t>CardanXYZ</a:t>
            </a:r>
            <a:endParaRPr lang="en-GB" b="1" dirty="0"/>
          </a:p>
        </p:txBody>
      </p:sp>
      <p:sp>
        <p:nvSpPr>
          <p:cNvPr id="17" name="Rectangle 4">
            <a:extLst>
              <a:ext uri="{FF2B5EF4-FFF2-40B4-BE49-F238E27FC236}">
                <a16:creationId xmlns:a16="http://schemas.microsoft.com/office/drawing/2014/main" id="{66FE0F2C-5170-B83E-F156-DF49035D685A}"/>
              </a:ext>
            </a:extLst>
          </p:cNvPr>
          <p:cNvSpPr>
            <a:spLocks noChangeArrowheads="1"/>
          </p:cNvSpPr>
          <p:nvPr/>
        </p:nvSpPr>
        <p:spPr bwMode="auto">
          <a:xfrm>
            <a:off x="488951" y="1305290"/>
            <a:ext cx="548446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struct </a:t>
            </a:r>
            <a:r>
              <a:rPr kumimoji="0" lang="en-US" altLang="en-US" sz="1200" i="0"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TaskTrajectory</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public:</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    </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std::</a:t>
            </a:r>
            <a:r>
              <a:rPr kumimoji="0" lang="en-US" altLang="en-US" sz="1200" b="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shared_ptr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&lt;std::array&lt;</a:t>
            </a:r>
            <a:r>
              <a:rPr kumimoji="0" lang="en-US" altLang="en-US" sz="1200" b="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CubicPolynomial</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3&gt;&gt; </a:t>
            </a:r>
            <a:r>
              <a:rPr kumimoji="0" lang="en-US" altLang="en-US" sz="120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linear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   </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std::</a:t>
            </a:r>
            <a:r>
              <a:rPr kumimoji="0" lang="en-US" altLang="en-US" sz="1200" b="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shared_ptr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&lt;</a:t>
            </a:r>
            <a:r>
              <a:rPr kumimoji="0" lang="en-US" altLang="en-US" sz="120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CubicOrientationSpline</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&gt; </a:t>
            </a:r>
            <a:r>
              <a:rPr kumimoji="0" lang="en-US" altLang="en-US" sz="120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angular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a:t>
            </a:r>
            <a:endPar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endParaRPr>
          </a:p>
        </p:txBody>
      </p:sp>
      <p:sp>
        <p:nvSpPr>
          <p:cNvPr id="8" name="Rectangle: Rounded Corners 7">
            <a:extLst>
              <a:ext uri="{FF2B5EF4-FFF2-40B4-BE49-F238E27FC236}">
                <a16:creationId xmlns:a16="http://schemas.microsoft.com/office/drawing/2014/main" id="{88A40AD1-6DC4-01D9-24BD-C51298F22C60}"/>
              </a:ext>
            </a:extLst>
          </p:cNvPr>
          <p:cNvSpPr/>
          <p:nvPr/>
        </p:nvSpPr>
        <p:spPr>
          <a:xfrm>
            <a:off x="8281752" y="352077"/>
            <a:ext cx="2340363" cy="660640"/>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TaskTrajectoryGenerator</a:t>
            </a:r>
            <a:endParaRPr lang="en-GB" sz="1400" dirty="0">
              <a:solidFill>
                <a:srgbClr val="003399"/>
              </a:solidFill>
            </a:endParaRPr>
          </a:p>
        </p:txBody>
      </p:sp>
      <p:sp>
        <p:nvSpPr>
          <p:cNvPr id="9" name="Freeform 13">
            <a:extLst>
              <a:ext uri="{FF2B5EF4-FFF2-40B4-BE49-F238E27FC236}">
                <a16:creationId xmlns:a16="http://schemas.microsoft.com/office/drawing/2014/main" id="{E5FE605D-7F13-7E0D-9C96-97C16612E0A1}"/>
              </a:ext>
            </a:extLst>
          </p:cNvPr>
          <p:cNvSpPr/>
          <p:nvPr/>
        </p:nvSpPr>
        <p:spPr>
          <a:xfrm>
            <a:off x="6880875" y="1759933"/>
            <a:ext cx="3831102" cy="3818900"/>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dirty="0"/>
          </a:p>
        </p:txBody>
      </p:sp>
    </p:spTree>
    <p:extLst>
      <p:ext uri="{BB962C8B-B14F-4D97-AF65-F5344CB8AC3E}">
        <p14:creationId xmlns:p14="http://schemas.microsoft.com/office/powerpoint/2010/main" val="63021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advTm="100">
        <p159:morph option="byObject"/>
      </p:transition>
    </mc:Choice>
    <mc:Fallback xmlns="">
      <p:transition advClick="0" advTm="100">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Oval 18">
            <a:extLst>
              <a:ext uri="{FF2B5EF4-FFF2-40B4-BE49-F238E27FC236}">
                <a16:creationId xmlns:a16="http://schemas.microsoft.com/office/drawing/2014/main" id="{6C565736-3FA1-413F-FA44-7FFAEDA0321D}"/>
              </a:ext>
            </a:extLst>
          </p:cNvPr>
          <p:cNvSpPr/>
          <p:nvPr/>
        </p:nvSpPr>
        <p:spPr>
          <a:xfrm rot="17217679">
            <a:off x="2542876" y="3937240"/>
            <a:ext cx="706358" cy="518304"/>
          </a:xfrm>
          <a:prstGeom prst="ellipse">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8" name="Straight Arrow Connector 27">
            <a:extLst>
              <a:ext uri="{FF2B5EF4-FFF2-40B4-BE49-F238E27FC236}">
                <a16:creationId xmlns:a16="http://schemas.microsoft.com/office/drawing/2014/main" id="{2FEA8461-5D73-5036-94EB-20F1AD2F8DD1}"/>
              </a:ext>
            </a:extLst>
          </p:cNvPr>
          <p:cNvCxnSpPr>
            <a:cxnSpLocks/>
          </p:cNvCxnSpPr>
          <p:nvPr/>
        </p:nvCxnSpPr>
        <p:spPr>
          <a:xfrm flipH="1">
            <a:off x="2670338" y="4164911"/>
            <a:ext cx="242823" cy="5646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Task Trajectory Generator Design</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36</a:t>
            </a:fld>
            <a:endParaRPr lang="en-US" dirty="0"/>
          </a:p>
        </p:txBody>
      </p:sp>
      <p:cxnSp>
        <p:nvCxnSpPr>
          <p:cNvPr id="26" name="Straight Arrow Connector 25">
            <a:extLst>
              <a:ext uri="{FF2B5EF4-FFF2-40B4-BE49-F238E27FC236}">
                <a16:creationId xmlns:a16="http://schemas.microsoft.com/office/drawing/2014/main" id="{E1CD828D-85A2-611B-4EB8-6EACE9289ACC}"/>
              </a:ext>
            </a:extLst>
          </p:cNvPr>
          <p:cNvCxnSpPr>
            <a:cxnSpLocks/>
          </p:cNvCxnSpPr>
          <p:nvPr/>
        </p:nvCxnSpPr>
        <p:spPr>
          <a:xfrm>
            <a:off x="2908757" y="4164911"/>
            <a:ext cx="0" cy="35293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DE739BC-BBF7-CD96-4A22-20165140F07D}"/>
              </a:ext>
            </a:extLst>
          </p:cNvPr>
          <p:cNvSpPr txBox="1"/>
          <p:nvPr/>
        </p:nvSpPr>
        <p:spPr>
          <a:xfrm>
            <a:off x="2170462" y="2674973"/>
            <a:ext cx="1485352" cy="276999"/>
          </a:xfrm>
          <a:prstGeom prst="rect">
            <a:avLst/>
          </a:prstGeom>
          <a:noFill/>
        </p:spPr>
        <p:txBody>
          <a:bodyPr wrap="square" lIns="0" tIns="0" rIns="0" bIns="0" rtlCol="0">
            <a:spAutoFit/>
          </a:bodyPr>
          <a:lstStyle/>
          <a:p>
            <a:pPr algn="ctr"/>
            <a:r>
              <a:rPr lang="en-US" b="1" dirty="0" err="1"/>
              <a:t>CardanXYZ</a:t>
            </a:r>
            <a:endParaRPr lang="en-GB" b="1" dirty="0"/>
          </a:p>
        </p:txBody>
      </p:sp>
      <p:sp>
        <p:nvSpPr>
          <p:cNvPr id="20" name="Rectangle 4">
            <a:extLst>
              <a:ext uri="{FF2B5EF4-FFF2-40B4-BE49-F238E27FC236}">
                <a16:creationId xmlns:a16="http://schemas.microsoft.com/office/drawing/2014/main" id="{673802BB-8225-EDC7-4D84-74748EBF58FC}"/>
              </a:ext>
            </a:extLst>
          </p:cNvPr>
          <p:cNvSpPr>
            <a:spLocks noChangeArrowheads="1"/>
          </p:cNvSpPr>
          <p:nvPr/>
        </p:nvSpPr>
        <p:spPr bwMode="auto">
          <a:xfrm>
            <a:off x="488951" y="1305290"/>
            <a:ext cx="548446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struct </a:t>
            </a:r>
            <a:r>
              <a:rPr kumimoji="0" lang="en-US" altLang="en-US" sz="1200" i="0"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TaskTrajectory</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public:</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    </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std::</a:t>
            </a:r>
            <a:r>
              <a:rPr kumimoji="0" lang="en-US" altLang="en-US" sz="1200" b="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shared_ptr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&lt;std::array&lt;</a:t>
            </a:r>
            <a:r>
              <a:rPr kumimoji="0" lang="en-US" altLang="en-US" sz="1200" b="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CubicPolynomial</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3&gt;&gt; </a:t>
            </a:r>
            <a:r>
              <a:rPr kumimoji="0" lang="en-US" altLang="en-US" sz="120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linear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   </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std::</a:t>
            </a:r>
            <a:r>
              <a:rPr kumimoji="0" lang="en-US" altLang="en-US" sz="1200" b="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shared_ptr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&lt;</a:t>
            </a:r>
            <a:r>
              <a:rPr kumimoji="0" lang="en-US" altLang="en-US" sz="120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CubicOrientationSpline</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&gt; </a:t>
            </a:r>
            <a:r>
              <a:rPr kumimoji="0" lang="en-US" altLang="en-US" sz="120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angular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a:t>
            </a:r>
            <a:endPar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endParaRPr>
          </a:p>
        </p:txBody>
      </p:sp>
      <p:sp>
        <p:nvSpPr>
          <p:cNvPr id="8" name="Rectangle: Rounded Corners 7">
            <a:extLst>
              <a:ext uri="{FF2B5EF4-FFF2-40B4-BE49-F238E27FC236}">
                <a16:creationId xmlns:a16="http://schemas.microsoft.com/office/drawing/2014/main" id="{A4D386EE-E204-C3A2-C6C5-D3738E6BB3C5}"/>
              </a:ext>
            </a:extLst>
          </p:cNvPr>
          <p:cNvSpPr/>
          <p:nvPr/>
        </p:nvSpPr>
        <p:spPr>
          <a:xfrm>
            <a:off x="8281752" y="352077"/>
            <a:ext cx="2340363" cy="660640"/>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TaskTrajectoryGenerator</a:t>
            </a:r>
            <a:endParaRPr lang="en-GB" sz="1400" dirty="0">
              <a:solidFill>
                <a:srgbClr val="003399"/>
              </a:solidFill>
            </a:endParaRPr>
          </a:p>
        </p:txBody>
      </p:sp>
      <p:sp>
        <p:nvSpPr>
          <p:cNvPr id="9" name="Freeform 13">
            <a:extLst>
              <a:ext uri="{FF2B5EF4-FFF2-40B4-BE49-F238E27FC236}">
                <a16:creationId xmlns:a16="http://schemas.microsoft.com/office/drawing/2014/main" id="{33EF207F-3DFF-CFB3-7FCA-3F3DC80BD6F6}"/>
              </a:ext>
            </a:extLst>
          </p:cNvPr>
          <p:cNvSpPr/>
          <p:nvPr/>
        </p:nvSpPr>
        <p:spPr>
          <a:xfrm>
            <a:off x="6880875" y="1759933"/>
            <a:ext cx="3831102" cy="3818900"/>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dirty="0"/>
          </a:p>
        </p:txBody>
      </p:sp>
      <p:cxnSp>
        <p:nvCxnSpPr>
          <p:cNvPr id="2" name="Straight Arrow Connector 1">
            <a:extLst>
              <a:ext uri="{FF2B5EF4-FFF2-40B4-BE49-F238E27FC236}">
                <a16:creationId xmlns:a16="http://schemas.microsoft.com/office/drawing/2014/main" id="{599A5585-4986-88DA-243B-34AE79E93CFA}"/>
              </a:ext>
            </a:extLst>
          </p:cNvPr>
          <p:cNvCxnSpPr>
            <a:cxnSpLocks/>
          </p:cNvCxnSpPr>
          <p:nvPr/>
        </p:nvCxnSpPr>
        <p:spPr>
          <a:xfrm flipH="1" flipV="1">
            <a:off x="2213033" y="3987448"/>
            <a:ext cx="695724" cy="186953"/>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8F01B87-335B-5330-FD13-A883EFEA322C}"/>
              </a:ext>
            </a:extLst>
          </p:cNvPr>
          <p:cNvCxnSpPr>
            <a:cxnSpLocks/>
          </p:cNvCxnSpPr>
          <p:nvPr/>
        </p:nvCxnSpPr>
        <p:spPr>
          <a:xfrm>
            <a:off x="1834428" y="3881707"/>
            <a:ext cx="1839980" cy="508937"/>
          </a:xfrm>
          <a:prstGeom prst="line">
            <a:avLst/>
          </a:prstGeom>
          <a:ln w="12700">
            <a:solidFill>
              <a:srgbClr val="00B0F0"/>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443691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Task Trajectory Generator Design</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37</a:t>
            </a:fld>
            <a:endParaRPr lang="en-US" dirty="0"/>
          </a:p>
        </p:txBody>
      </p:sp>
      <p:sp>
        <p:nvSpPr>
          <p:cNvPr id="15" name="TextBox 14">
            <a:extLst>
              <a:ext uri="{FF2B5EF4-FFF2-40B4-BE49-F238E27FC236}">
                <a16:creationId xmlns:a16="http://schemas.microsoft.com/office/drawing/2014/main" id="{6DE739BC-BBF7-CD96-4A22-20165140F07D}"/>
              </a:ext>
            </a:extLst>
          </p:cNvPr>
          <p:cNvSpPr txBox="1"/>
          <p:nvPr/>
        </p:nvSpPr>
        <p:spPr>
          <a:xfrm>
            <a:off x="2170462" y="2672501"/>
            <a:ext cx="1485352" cy="276999"/>
          </a:xfrm>
          <a:prstGeom prst="rect">
            <a:avLst/>
          </a:prstGeom>
          <a:noFill/>
        </p:spPr>
        <p:txBody>
          <a:bodyPr wrap="square" lIns="0" tIns="0" rIns="0" bIns="0" rtlCol="0">
            <a:spAutoFit/>
          </a:bodyPr>
          <a:lstStyle/>
          <a:p>
            <a:pPr algn="ctr"/>
            <a:r>
              <a:rPr lang="en-US" b="1" dirty="0" err="1"/>
              <a:t>CardanYXZ</a:t>
            </a:r>
            <a:endParaRPr lang="en-GB" b="1" dirty="0"/>
          </a:p>
        </p:txBody>
      </p:sp>
      <p:sp>
        <p:nvSpPr>
          <p:cNvPr id="10" name="TextBox 9">
            <a:extLst>
              <a:ext uri="{FF2B5EF4-FFF2-40B4-BE49-F238E27FC236}">
                <a16:creationId xmlns:a16="http://schemas.microsoft.com/office/drawing/2014/main" id="{16CDBD33-F28A-2718-1860-914342F4CF24}"/>
              </a:ext>
            </a:extLst>
          </p:cNvPr>
          <p:cNvSpPr txBox="1"/>
          <p:nvPr/>
        </p:nvSpPr>
        <p:spPr>
          <a:xfrm>
            <a:off x="2293650" y="5140041"/>
            <a:ext cx="1408300" cy="276999"/>
          </a:xfrm>
          <a:prstGeom prst="rect">
            <a:avLst/>
          </a:prstGeom>
          <a:noFill/>
        </p:spPr>
        <p:txBody>
          <a:bodyPr wrap="square" lIns="0" tIns="0" rIns="0" bIns="0" rtlCol="0">
            <a:spAutoFit/>
          </a:bodyPr>
          <a:lstStyle/>
          <a:p>
            <a:pPr algn="ctr"/>
            <a:r>
              <a:rPr lang="en-US" dirty="0">
                <a:solidFill>
                  <a:srgbClr val="FF0000"/>
                </a:solidFill>
              </a:rPr>
              <a:t>Gimbal lock</a:t>
            </a:r>
            <a:endParaRPr lang="en-GB" dirty="0">
              <a:solidFill>
                <a:srgbClr val="FF0000"/>
              </a:solidFill>
            </a:endParaRPr>
          </a:p>
        </p:txBody>
      </p:sp>
      <p:sp>
        <p:nvSpPr>
          <p:cNvPr id="14" name="TextBox 13">
            <a:extLst>
              <a:ext uri="{FF2B5EF4-FFF2-40B4-BE49-F238E27FC236}">
                <a16:creationId xmlns:a16="http://schemas.microsoft.com/office/drawing/2014/main" id="{E8870627-9B01-5136-D2DC-72E8A563EC16}"/>
              </a:ext>
            </a:extLst>
          </p:cNvPr>
          <p:cNvSpPr txBox="1"/>
          <p:nvPr/>
        </p:nvSpPr>
        <p:spPr>
          <a:xfrm>
            <a:off x="3590328" y="5091785"/>
            <a:ext cx="3459547" cy="369332"/>
          </a:xfrm>
          <a:prstGeom prst="rect">
            <a:avLst/>
          </a:prstGeom>
          <a:noFill/>
        </p:spPr>
        <p:txBody>
          <a:bodyPr wrap="square">
            <a:spAutoFit/>
          </a:bodyPr>
          <a:lstStyle/>
          <a:p>
            <a:r>
              <a:rPr lang="en-US" b="1" dirty="0">
                <a:solidFill>
                  <a:srgbClr val="FF0000"/>
                </a:solidFill>
              </a:rPr>
              <a:t>→ Representation singularity </a:t>
            </a:r>
            <a:endParaRPr lang="en-GB" b="1" dirty="0">
              <a:solidFill>
                <a:srgbClr val="FF0000"/>
              </a:solidFill>
            </a:endParaRPr>
          </a:p>
        </p:txBody>
      </p:sp>
      <p:pic>
        <p:nvPicPr>
          <p:cNvPr id="5132" name="Picture 12" descr="Euler (gimbal lock) Explained on Make a GIF">
            <a:extLst>
              <a:ext uri="{FF2B5EF4-FFF2-40B4-BE49-F238E27FC236}">
                <a16:creationId xmlns:a16="http://schemas.microsoft.com/office/drawing/2014/main" id="{7FAA9381-D848-9928-BDF1-5BE730C69D1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331" t="7557" r="13421" b="16546"/>
          <a:stretch/>
        </p:blipFill>
        <p:spPr bwMode="auto">
          <a:xfrm>
            <a:off x="1518130" y="3075306"/>
            <a:ext cx="2916657" cy="2018568"/>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4">
            <a:extLst>
              <a:ext uri="{FF2B5EF4-FFF2-40B4-BE49-F238E27FC236}">
                <a16:creationId xmlns:a16="http://schemas.microsoft.com/office/drawing/2014/main" id="{35843A6B-53D1-4D6B-E653-7D075CD4322A}"/>
              </a:ext>
            </a:extLst>
          </p:cNvPr>
          <p:cNvSpPr>
            <a:spLocks noChangeArrowheads="1"/>
          </p:cNvSpPr>
          <p:nvPr/>
        </p:nvSpPr>
        <p:spPr bwMode="auto">
          <a:xfrm>
            <a:off x="488951" y="1305290"/>
            <a:ext cx="548446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struct </a:t>
            </a:r>
            <a:r>
              <a:rPr kumimoji="0" lang="en-US" altLang="en-US" sz="1200" i="0"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TaskTrajectory</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public:</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    </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std::</a:t>
            </a:r>
            <a:r>
              <a:rPr kumimoji="0" lang="en-US" altLang="en-US" sz="1200" b="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shared_ptr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&lt;std::array&lt;</a:t>
            </a:r>
            <a:r>
              <a:rPr kumimoji="0" lang="en-US" altLang="en-US" sz="1200" b="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CubicPolynomial</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3&gt;&gt; </a:t>
            </a:r>
            <a:r>
              <a:rPr kumimoji="0" lang="en-US" altLang="en-US" sz="120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linear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   </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std::</a:t>
            </a:r>
            <a:r>
              <a:rPr kumimoji="0" lang="en-US" altLang="en-US" sz="1200" b="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shared_ptr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&lt;</a:t>
            </a:r>
            <a:r>
              <a:rPr kumimoji="0" lang="en-US" altLang="en-US" sz="120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CubicOrientationSpline</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&gt; </a:t>
            </a:r>
            <a:r>
              <a:rPr kumimoji="0" lang="en-US" altLang="en-US" sz="120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angular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a:t>
            </a:r>
            <a:endPar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endParaRPr>
          </a:p>
        </p:txBody>
      </p:sp>
      <p:sp>
        <p:nvSpPr>
          <p:cNvPr id="7" name="Rectangle: Rounded Corners 6">
            <a:extLst>
              <a:ext uri="{FF2B5EF4-FFF2-40B4-BE49-F238E27FC236}">
                <a16:creationId xmlns:a16="http://schemas.microsoft.com/office/drawing/2014/main" id="{7396BD92-8DF8-4C9B-7636-244608ECB6D7}"/>
              </a:ext>
            </a:extLst>
          </p:cNvPr>
          <p:cNvSpPr/>
          <p:nvPr/>
        </p:nvSpPr>
        <p:spPr>
          <a:xfrm>
            <a:off x="8281752" y="352077"/>
            <a:ext cx="2340363" cy="660640"/>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TaskTrajectoryGenerator</a:t>
            </a:r>
            <a:endParaRPr lang="en-GB" sz="1400" dirty="0">
              <a:solidFill>
                <a:srgbClr val="003399"/>
              </a:solidFill>
            </a:endParaRPr>
          </a:p>
        </p:txBody>
      </p:sp>
      <p:sp>
        <p:nvSpPr>
          <p:cNvPr id="8" name="Freeform 13">
            <a:extLst>
              <a:ext uri="{FF2B5EF4-FFF2-40B4-BE49-F238E27FC236}">
                <a16:creationId xmlns:a16="http://schemas.microsoft.com/office/drawing/2014/main" id="{6D0C0B09-91D8-D3ED-E6B1-36999907D924}"/>
              </a:ext>
            </a:extLst>
          </p:cNvPr>
          <p:cNvSpPr/>
          <p:nvPr/>
        </p:nvSpPr>
        <p:spPr>
          <a:xfrm>
            <a:off x="6880875" y="1759933"/>
            <a:ext cx="3831102" cy="3818900"/>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4"/>
            <a:stretch>
              <a:fillRect/>
            </a:stretch>
          </a:blipFill>
        </p:spPr>
        <p:txBody>
          <a:bodyPr/>
          <a:lstStyle/>
          <a:p>
            <a:endParaRPr lang="en-GB" dirty="0"/>
          </a:p>
        </p:txBody>
      </p:sp>
    </p:spTree>
    <p:extLst>
      <p:ext uri="{BB962C8B-B14F-4D97-AF65-F5344CB8AC3E}">
        <p14:creationId xmlns:p14="http://schemas.microsoft.com/office/powerpoint/2010/main" val="38758541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Euler (gimbal lock) Explained on Make a GIF">
            <a:extLst>
              <a:ext uri="{FF2B5EF4-FFF2-40B4-BE49-F238E27FC236}">
                <a16:creationId xmlns:a16="http://schemas.microsoft.com/office/drawing/2014/main" id="{BC1879BC-7027-BBC1-6583-D2CE4193519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15" t="6465" r="13153" b="17283"/>
          <a:stretch/>
        </p:blipFill>
        <p:spPr bwMode="auto">
          <a:xfrm>
            <a:off x="1517456" y="3075456"/>
            <a:ext cx="2916657" cy="201856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Task Trajectory Generator Design</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38</a:t>
            </a:fld>
            <a:endParaRPr lang="en-US" dirty="0"/>
          </a:p>
        </p:txBody>
      </p:sp>
      <p:sp>
        <p:nvSpPr>
          <p:cNvPr id="15" name="TextBox 14">
            <a:extLst>
              <a:ext uri="{FF2B5EF4-FFF2-40B4-BE49-F238E27FC236}">
                <a16:creationId xmlns:a16="http://schemas.microsoft.com/office/drawing/2014/main" id="{6DE739BC-BBF7-CD96-4A22-20165140F07D}"/>
              </a:ext>
            </a:extLst>
          </p:cNvPr>
          <p:cNvSpPr txBox="1"/>
          <p:nvPr/>
        </p:nvSpPr>
        <p:spPr>
          <a:xfrm>
            <a:off x="2170462" y="2672501"/>
            <a:ext cx="1485352" cy="276999"/>
          </a:xfrm>
          <a:prstGeom prst="rect">
            <a:avLst/>
          </a:prstGeom>
          <a:noFill/>
        </p:spPr>
        <p:txBody>
          <a:bodyPr wrap="square" lIns="0" tIns="0" rIns="0" bIns="0" rtlCol="0">
            <a:spAutoFit/>
          </a:bodyPr>
          <a:lstStyle/>
          <a:p>
            <a:pPr algn="ctr"/>
            <a:r>
              <a:rPr lang="en-US" b="1" dirty="0" err="1"/>
              <a:t>CardanYXZ</a:t>
            </a:r>
            <a:endParaRPr lang="en-GB" b="1" dirty="0"/>
          </a:p>
        </p:txBody>
      </p:sp>
      <p:sp>
        <p:nvSpPr>
          <p:cNvPr id="10" name="TextBox 9">
            <a:extLst>
              <a:ext uri="{FF2B5EF4-FFF2-40B4-BE49-F238E27FC236}">
                <a16:creationId xmlns:a16="http://schemas.microsoft.com/office/drawing/2014/main" id="{16CDBD33-F28A-2718-1860-914342F4CF24}"/>
              </a:ext>
            </a:extLst>
          </p:cNvPr>
          <p:cNvSpPr txBox="1"/>
          <p:nvPr/>
        </p:nvSpPr>
        <p:spPr>
          <a:xfrm>
            <a:off x="2293650" y="5140041"/>
            <a:ext cx="1408300" cy="276999"/>
          </a:xfrm>
          <a:prstGeom prst="rect">
            <a:avLst/>
          </a:prstGeom>
          <a:noFill/>
        </p:spPr>
        <p:txBody>
          <a:bodyPr wrap="square" lIns="0" tIns="0" rIns="0" bIns="0" rtlCol="0">
            <a:spAutoFit/>
          </a:bodyPr>
          <a:lstStyle/>
          <a:p>
            <a:pPr algn="ctr"/>
            <a:r>
              <a:rPr lang="en-US" dirty="0">
                <a:solidFill>
                  <a:srgbClr val="FF0000"/>
                </a:solidFill>
              </a:rPr>
              <a:t>Gimbal lock</a:t>
            </a:r>
            <a:endParaRPr lang="en-GB" dirty="0">
              <a:solidFill>
                <a:srgbClr val="FF0000"/>
              </a:solidFill>
            </a:endParaRPr>
          </a:p>
        </p:txBody>
      </p:sp>
      <p:sp>
        <p:nvSpPr>
          <p:cNvPr id="9" name="TextBox 8">
            <a:extLst>
              <a:ext uri="{FF2B5EF4-FFF2-40B4-BE49-F238E27FC236}">
                <a16:creationId xmlns:a16="http://schemas.microsoft.com/office/drawing/2014/main" id="{59025274-93AD-66DC-ED69-FBB7851ED639}"/>
              </a:ext>
            </a:extLst>
          </p:cNvPr>
          <p:cNvSpPr txBox="1"/>
          <p:nvPr/>
        </p:nvSpPr>
        <p:spPr>
          <a:xfrm>
            <a:off x="3590328" y="5086530"/>
            <a:ext cx="3459547" cy="369332"/>
          </a:xfrm>
          <a:prstGeom prst="rect">
            <a:avLst/>
          </a:prstGeom>
          <a:noFill/>
        </p:spPr>
        <p:txBody>
          <a:bodyPr wrap="square">
            <a:spAutoFit/>
          </a:bodyPr>
          <a:lstStyle/>
          <a:p>
            <a:r>
              <a:rPr lang="en-US" b="1" dirty="0">
                <a:solidFill>
                  <a:srgbClr val="FFC000"/>
                </a:solidFill>
              </a:rPr>
              <a:t>→ Unexpected movement </a:t>
            </a:r>
            <a:endParaRPr lang="en-GB" b="1" dirty="0">
              <a:solidFill>
                <a:srgbClr val="FFC000"/>
              </a:solidFill>
            </a:endParaRPr>
          </a:p>
        </p:txBody>
      </p:sp>
      <p:sp>
        <p:nvSpPr>
          <p:cNvPr id="11" name="Rectangle 4">
            <a:extLst>
              <a:ext uri="{FF2B5EF4-FFF2-40B4-BE49-F238E27FC236}">
                <a16:creationId xmlns:a16="http://schemas.microsoft.com/office/drawing/2014/main" id="{7960A55F-D4D1-7216-28F1-5CADA5055059}"/>
              </a:ext>
            </a:extLst>
          </p:cNvPr>
          <p:cNvSpPr>
            <a:spLocks noChangeArrowheads="1"/>
          </p:cNvSpPr>
          <p:nvPr/>
        </p:nvSpPr>
        <p:spPr bwMode="auto">
          <a:xfrm>
            <a:off x="488951" y="1305290"/>
            <a:ext cx="548446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struct </a:t>
            </a:r>
            <a:r>
              <a:rPr kumimoji="0" lang="en-US" altLang="en-US" sz="1200" i="0"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TaskTrajectory</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public:</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    </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std::</a:t>
            </a:r>
            <a:r>
              <a:rPr kumimoji="0" lang="en-US" altLang="en-US" sz="1200" b="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shared_ptr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&lt;std::array&lt;</a:t>
            </a:r>
            <a:r>
              <a:rPr kumimoji="0" lang="en-US" altLang="en-US" sz="1200" b="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CubicPolynomial</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3&gt;&gt; </a:t>
            </a:r>
            <a:r>
              <a:rPr kumimoji="0" lang="en-US" altLang="en-US" sz="120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linear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   </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std::</a:t>
            </a:r>
            <a:r>
              <a:rPr kumimoji="0" lang="en-US" altLang="en-US" sz="1200" b="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shared_ptr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&lt;</a:t>
            </a:r>
            <a:r>
              <a:rPr kumimoji="0" lang="en-US" altLang="en-US" sz="120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CubicOrientationSpline</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&gt; </a:t>
            </a:r>
            <a:r>
              <a:rPr kumimoji="0" lang="en-US" altLang="en-US" sz="120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angular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a:t>
            </a:r>
            <a:endPar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endParaRPr>
          </a:p>
        </p:txBody>
      </p:sp>
      <p:sp>
        <p:nvSpPr>
          <p:cNvPr id="7" name="Rectangle: Rounded Corners 6">
            <a:extLst>
              <a:ext uri="{FF2B5EF4-FFF2-40B4-BE49-F238E27FC236}">
                <a16:creationId xmlns:a16="http://schemas.microsoft.com/office/drawing/2014/main" id="{F0A06D5D-FD66-6F08-7065-CE185C5890CA}"/>
              </a:ext>
            </a:extLst>
          </p:cNvPr>
          <p:cNvSpPr/>
          <p:nvPr/>
        </p:nvSpPr>
        <p:spPr>
          <a:xfrm>
            <a:off x="8281752" y="352077"/>
            <a:ext cx="2340363" cy="660640"/>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TaskTrajectoryGenerator</a:t>
            </a:r>
            <a:endParaRPr lang="en-GB" sz="1400" dirty="0">
              <a:solidFill>
                <a:srgbClr val="003399"/>
              </a:solidFill>
            </a:endParaRPr>
          </a:p>
        </p:txBody>
      </p:sp>
      <p:sp>
        <p:nvSpPr>
          <p:cNvPr id="8" name="Freeform 13">
            <a:extLst>
              <a:ext uri="{FF2B5EF4-FFF2-40B4-BE49-F238E27FC236}">
                <a16:creationId xmlns:a16="http://schemas.microsoft.com/office/drawing/2014/main" id="{460E2B21-9A40-D238-0ECC-2A6B9336FCC6}"/>
              </a:ext>
            </a:extLst>
          </p:cNvPr>
          <p:cNvSpPr/>
          <p:nvPr/>
        </p:nvSpPr>
        <p:spPr>
          <a:xfrm>
            <a:off x="6880875" y="1759933"/>
            <a:ext cx="3831102" cy="3818900"/>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4"/>
            <a:stretch>
              <a:fillRect/>
            </a:stretch>
          </a:blipFill>
        </p:spPr>
        <p:txBody>
          <a:bodyPr/>
          <a:lstStyle/>
          <a:p>
            <a:endParaRPr lang="en-GB" dirty="0"/>
          </a:p>
        </p:txBody>
      </p:sp>
    </p:spTree>
    <p:extLst>
      <p:ext uri="{BB962C8B-B14F-4D97-AF65-F5344CB8AC3E}">
        <p14:creationId xmlns:p14="http://schemas.microsoft.com/office/powerpoint/2010/main" val="30855169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Task Trajectory Generator Design</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39</a:t>
            </a:fld>
            <a:endParaRPr lang="en-US" dirty="0"/>
          </a:p>
        </p:txBody>
      </p:sp>
      <p:sp>
        <p:nvSpPr>
          <p:cNvPr id="15" name="TextBox 14">
            <a:extLst>
              <a:ext uri="{FF2B5EF4-FFF2-40B4-BE49-F238E27FC236}">
                <a16:creationId xmlns:a16="http://schemas.microsoft.com/office/drawing/2014/main" id="{6DE739BC-BBF7-CD96-4A22-20165140F07D}"/>
              </a:ext>
            </a:extLst>
          </p:cNvPr>
          <p:cNvSpPr txBox="1"/>
          <p:nvPr/>
        </p:nvSpPr>
        <p:spPr>
          <a:xfrm>
            <a:off x="2065362" y="2467556"/>
            <a:ext cx="1485352" cy="276999"/>
          </a:xfrm>
          <a:prstGeom prst="rect">
            <a:avLst/>
          </a:prstGeom>
          <a:noFill/>
        </p:spPr>
        <p:txBody>
          <a:bodyPr wrap="square" lIns="0" tIns="0" rIns="0" bIns="0" rtlCol="0">
            <a:spAutoFit/>
          </a:bodyPr>
          <a:lstStyle/>
          <a:p>
            <a:pPr algn="ctr"/>
            <a:r>
              <a:rPr lang="en-US" b="1" dirty="0"/>
              <a:t>Quaternions</a:t>
            </a:r>
            <a:endParaRPr lang="en-GB" b="1"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0ED0A99-4E98-87CD-B298-CE3A877D5A32}"/>
                  </a:ext>
                </a:extLst>
              </p:cNvPr>
              <p:cNvSpPr txBox="1"/>
              <p:nvPr/>
            </p:nvSpPr>
            <p:spPr>
              <a:xfrm>
                <a:off x="1685466" y="2786745"/>
                <a:ext cx="240065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l-PL" i="1" dirty="0" smtClean="0">
                          <a:solidFill>
                            <a:schemeClr val="accent1"/>
                          </a:solidFill>
                          <a:latin typeface="Cambria Math" panose="02040503050406030204" pitchFamily="18" charset="0"/>
                        </a:rPr>
                        <m:t>𝑞</m:t>
                      </m:r>
                      <m:r>
                        <a:rPr lang="pl-PL" i="1" dirty="0" smtClean="0">
                          <a:solidFill>
                            <a:schemeClr val="accent1"/>
                          </a:solidFill>
                          <a:latin typeface="Cambria Math" panose="02040503050406030204" pitchFamily="18" charset="0"/>
                        </a:rPr>
                        <m:t>=</m:t>
                      </m:r>
                      <m:r>
                        <a:rPr lang="en-US" i="1" dirty="0" smtClean="0">
                          <a:solidFill>
                            <a:schemeClr val="accent1"/>
                          </a:solidFill>
                          <a:latin typeface="Cambria Math" panose="02040503050406030204" pitchFamily="18" charset="0"/>
                        </a:rPr>
                        <m:t>𝑤</m:t>
                      </m:r>
                      <m:r>
                        <a:rPr lang="en-US" b="0" i="1" dirty="0" smtClean="0">
                          <a:solidFill>
                            <a:schemeClr val="accent1"/>
                          </a:solidFill>
                          <a:latin typeface="Cambria Math" panose="02040503050406030204" pitchFamily="18" charset="0"/>
                        </a:rPr>
                        <m:t>+</m:t>
                      </m:r>
                      <m:r>
                        <a:rPr lang="en-US" b="0" i="1" dirty="0" smtClean="0">
                          <a:solidFill>
                            <a:schemeClr val="accent1"/>
                          </a:solidFill>
                          <a:latin typeface="Cambria Math" panose="02040503050406030204" pitchFamily="18" charset="0"/>
                        </a:rPr>
                        <m:t>𝑥𝑖</m:t>
                      </m:r>
                      <m:r>
                        <a:rPr lang="en-US" b="0" i="1" dirty="0" smtClean="0">
                          <a:solidFill>
                            <a:schemeClr val="accent1"/>
                          </a:solidFill>
                          <a:latin typeface="Cambria Math" panose="02040503050406030204" pitchFamily="18" charset="0"/>
                        </a:rPr>
                        <m:t>+</m:t>
                      </m:r>
                      <m:r>
                        <a:rPr lang="en-US" b="0" i="1" dirty="0" smtClean="0">
                          <a:solidFill>
                            <a:schemeClr val="accent1"/>
                          </a:solidFill>
                          <a:latin typeface="Cambria Math" panose="02040503050406030204" pitchFamily="18" charset="0"/>
                        </a:rPr>
                        <m:t>𝑦𝑗</m:t>
                      </m:r>
                      <m:r>
                        <a:rPr lang="en-US" b="0" i="1" dirty="0" smtClean="0">
                          <a:solidFill>
                            <a:schemeClr val="accent1"/>
                          </a:solidFill>
                          <a:latin typeface="Cambria Math" panose="02040503050406030204" pitchFamily="18" charset="0"/>
                        </a:rPr>
                        <m:t>+</m:t>
                      </m:r>
                      <m:r>
                        <a:rPr lang="en-US" b="0" i="1" dirty="0" smtClean="0">
                          <a:solidFill>
                            <a:schemeClr val="accent1"/>
                          </a:solidFill>
                          <a:latin typeface="Cambria Math" panose="02040503050406030204" pitchFamily="18" charset="0"/>
                        </a:rPr>
                        <m:t>𝑧𝑘</m:t>
                      </m:r>
                    </m:oMath>
                  </m:oMathPara>
                </a14:m>
                <a:endParaRPr lang="en-GB" dirty="0">
                  <a:solidFill>
                    <a:schemeClr val="accent1"/>
                  </a:solidFill>
                </a:endParaRPr>
              </a:p>
            </p:txBody>
          </p:sp>
        </mc:Choice>
        <mc:Fallback xmlns="">
          <p:sp>
            <p:nvSpPr>
              <p:cNvPr id="11" name="TextBox 10">
                <a:extLst>
                  <a:ext uri="{FF2B5EF4-FFF2-40B4-BE49-F238E27FC236}">
                    <a16:creationId xmlns:a16="http://schemas.microsoft.com/office/drawing/2014/main" id="{30ED0A99-4E98-87CD-B298-CE3A877D5A32}"/>
                  </a:ext>
                </a:extLst>
              </p:cNvPr>
              <p:cNvSpPr txBox="1">
                <a:spLocks noRot="1" noChangeAspect="1" noMove="1" noResize="1" noEditPoints="1" noAdjustHandles="1" noChangeArrowheads="1" noChangeShapeType="1" noTextEdit="1"/>
              </p:cNvSpPr>
              <p:nvPr/>
            </p:nvSpPr>
            <p:spPr>
              <a:xfrm>
                <a:off x="1685466" y="2786745"/>
                <a:ext cx="2400652" cy="369332"/>
              </a:xfrm>
              <a:prstGeom prst="rect">
                <a:avLst/>
              </a:prstGeom>
              <a:blipFill>
                <a:blip r:embed="rId4"/>
                <a:stretch>
                  <a:fillRect b="-1475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78C6226-3C1D-68C5-21FF-BF8FA9C90AD3}"/>
                  </a:ext>
                </a:extLst>
              </p:cNvPr>
              <p:cNvSpPr txBox="1"/>
              <p:nvPr/>
            </p:nvSpPr>
            <p:spPr>
              <a:xfrm>
                <a:off x="1537896" y="5146535"/>
                <a:ext cx="2608806" cy="58477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p>
                        <m:sSupPr>
                          <m:ctrlPr>
                            <a:rPr lang="en-US" sz="1600" b="0" i="1" dirty="0" smtClean="0">
                              <a:solidFill>
                                <a:schemeClr val="accent1"/>
                              </a:solidFill>
                              <a:latin typeface="Cambria Math" panose="02040503050406030204" pitchFamily="18" charset="0"/>
                            </a:rPr>
                          </m:ctrlPr>
                        </m:sSupPr>
                        <m:e>
                          <m:r>
                            <a:rPr lang="pl-PL" sz="1600" i="1" dirty="0" smtClean="0">
                              <a:solidFill>
                                <a:schemeClr val="accent1"/>
                              </a:solidFill>
                              <a:latin typeface="Cambria Math" panose="02040503050406030204" pitchFamily="18" charset="0"/>
                            </a:rPr>
                            <m:t>𝑤</m:t>
                          </m:r>
                        </m:e>
                        <m:sup>
                          <m:r>
                            <a:rPr lang="pl-PL" sz="1600" i="1" dirty="0" smtClean="0">
                              <a:solidFill>
                                <a:schemeClr val="accent1"/>
                              </a:solidFill>
                              <a:latin typeface="Cambria Math" panose="02040503050406030204" pitchFamily="18" charset="0"/>
                            </a:rPr>
                            <m:t>2</m:t>
                          </m:r>
                        </m:sup>
                      </m:sSup>
                      <m:r>
                        <a:rPr lang="pl-PL" sz="1600" i="1" dirty="0" smtClean="0">
                          <a:solidFill>
                            <a:schemeClr val="accent1"/>
                          </a:solidFill>
                          <a:latin typeface="Cambria Math" panose="02040503050406030204" pitchFamily="18" charset="0"/>
                        </a:rPr>
                        <m:t>+</m:t>
                      </m:r>
                      <m:sSup>
                        <m:sSupPr>
                          <m:ctrlPr>
                            <a:rPr lang="en-US" sz="1600" b="0" i="1" dirty="0" smtClean="0">
                              <a:solidFill>
                                <a:schemeClr val="accent1"/>
                              </a:solidFill>
                              <a:latin typeface="Cambria Math" panose="02040503050406030204" pitchFamily="18" charset="0"/>
                            </a:rPr>
                          </m:ctrlPr>
                        </m:sSupPr>
                        <m:e>
                          <m:r>
                            <a:rPr lang="pl-PL" sz="1600" i="1" dirty="0" smtClean="0">
                              <a:solidFill>
                                <a:schemeClr val="accent1"/>
                              </a:solidFill>
                              <a:latin typeface="Cambria Math" panose="02040503050406030204" pitchFamily="18" charset="0"/>
                            </a:rPr>
                            <m:t>𝑥</m:t>
                          </m:r>
                        </m:e>
                        <m:sup>
                          <m:r>
                            <a:rPr lang="pl-PL" sz="1600" i="1" dirty="0" smtClean="0">
                              <a:solidFill>
                                <a:schemeClr val="accent1"/>
                              </a:solidFill>
                              <a:latin typeface="Cambria Math" panose="02040503050406030204" pitchFamily="18" charset="0"/>
                            </a:rPr>
                            <m:t>2</m:t>
                          </m:r>
                        </m:sup>
                      </m:sSup>
                      <m:r>
                        <a:rPr lang="pl-PL" sz="1600" i="1" dirty="0" smtClean="0">
                          <a:solidFill>
                            <a:schemeClr val="accent1"/>
                          </a:solidFill>
                          <a:latin typeface="Cambria Math" panose="02040503050406030204" pitchFamily="18" charset="0"/>
                        </a:rPr>
                        <m:t>+</m:t>
                      </m:r>
                      <m:sSup>
                        <m:sSupPr>
                          <m:ctrlPr>
                            <a:rPr lang="en-US" sz="1600" b="0" i="1" dirty="0" smtClean="0">
                              <a:solidFill>
                                <a:schemeClr val="accent1"/>
                              </a:solidFill>
                              <a:latin typeface="Cambria Math" panose="02040503050406030204" pitchFamily="18" charset="0"/>
                            </a:rPr>
                          </m:ctrlPr>
                        </m:sSupPr>
                        <m:e>
                          <m:r>
                            <a:rPr lang="pl-PL" sz="1600" i="1" dirty="0" smtClean="0">
                              <a:solidFill>
                                <a:schemeClr val="accent1"/>
                              </a:solidFill>
                              <a:latin typeface="Cambria Math" panose="02040503050406030204" pitchFamily="18" charset="0"/>
                            </a:rPr>
                            <m:t>𝑦</m:t>
                          </m:r>
                        </m:e>
                        <m:sup>
                          <m:r>
                            <a:rPr lang="pl-PL" sz="1600" i="1" dirty="0" smtClean="0">
                              <a:solidFill>
                                <a:schemeClr val="accent1"/>
                              </a:solidFill>
                              <a:latin typeface="Cambria Math" panose="02040503050406030204" pitchFamily="18" charset="0"/>
                            </a:rPr>
                            <m:t>2</m:t>
                          </m:r>
                        </m:sup>
                      </m:sSup>
                      <m:r>
                        <a:rPr lang="pl-PL" sz="1600" i="1" dirty="0" smtClean="0">
                          <a:solidFill>
                            <a:schemeClr val="accent1"/>
                          </a:solidFill>
                          <a:latin typeface="Cambria Math" panose="02040503050406030204" pitchFamily="18" charset="0"/>
                        </a:rPr>
                        <m:t>+</m:t>
                      </m:r>
                      <m:sSup>
                        <m:sSupPr>
                          <m:ctrlPr>
                            <a:rPr lang="en-US" sz="1600" b="0" i="1" dirty="0" smtClean="0">
                              <a:solidFill>
                                <a:schemeClr val="accent1"/>
                              </a:solidFill>
                              <a:latin typeface="Cambria Math" panose="02040503050406030204" pitchFamily="18" charset="0"/>
                            </a:rPr>
                          </m:ctrlPr>
                        </m:sSupPr>
                        <m:e>
                          <m:r>
                            <a:rPr lang="pl-PL" sz="1600" i="1" dirty="0" smtClean="0">
                              <a:solidFill>
                                <a:schemeClr val="accent1"/>
                              </a:solidFill>
                              <a:latin typeface="Cambria Math" panose="02040503050406030204" pitchFamily="18" charset="0"/>
                            </a:rPr>
                            <m:t>𝑧</m:t>
                          </m:r>
                        </m:e>
                        <m:sup>
                          <m:r>
                            <a:rPr lang="pl-PL" sz="1600" i="1" dirty="0" smtClean="0">
                              <a:solidFill>
                                <a:schemeClr val="accent1"/>
                              </a:solidFill>
                              <a:latin typeface="Cambria Math" panose="02040503050406030204" pitchFamily="18" charset="0"/>
                            </a:rPr>
                            <m:t>2</m:t>
                          </m:r>
                        </m:sup>
                      </m:sSup>
                      <m:r>
                        <a:rPr lang="pl-PL" sz="1600" i="1" dirty="0" smtClean="0">
                          <a:solidFill>
                            <a:schemeClr val="accent1"/>
                          </a:solidFill>
                          <a:latin typeface="Cambria Math" panose="02040503050406030204" pitchFamily="18" charset="0"/>
                        </a:rPr>
                        <m:t>=1</m:t>
                      </m:r>
                    </m:oMath>
                  </m:oMathPara>
                </a14:m>
                <a:endParaRPr lang="en-GB" sz="1600" dirty="0">
                  <a:solidFill>
                    <a:schemeClr val="accent1"/>
                  </a:solidFill>
                </a:endParaRPr>
              </a:p>
              <a:p>
                <a:pPr algn="ctr"/>
                <a:r>
                  <a:rPr lang="en-GB" sz="1600" dirty="0">
                    <a:solidFill>
                      <a:schemeClr val="accent1"/>
                    </a:solidFill>
                  </a:rPr>
                  <a:t>(unit quaternions)</a:t>
                </a:r>
              </a:p>
            </p:txBody>
          </p:sp>
        </mc:Choice>
        <mc:Fallback xmlns="">
          <p:sp>
            <p:nvSpPr>
              <p:cNvPr id="14" name="TextBox 13">
                <a:extLst>
                  <a:ext uri="{FF2B5EF4-FFF2-40B4-BE49-F238E27FC236}">
                    <a16:creationId xmlns:a16="http://schemas.microsoft.com/office/drawing/2014/main" id="{A78C6226-3C1D-68C5-21FF-BF8FA9C90AD3}"/>
                  </a:ext>
                </a:extLst>
              </p:cNvPr>
              <p:cNvSpPr txBox="1">
                <a:spLocks noRot="1" noChangeAspect="1" noMove="1" noResize="1" noEditPoints="1" noAdjustHandles="1" noChangeArrowheads="1" noChangeShapeType="1" noTextEdit="1"/>
              </p:cNvSpPr>
              <p:nvPr/>
            </p:nvSpPr>
            <p:spPr>
              <a:xfrm>
                <a:off x="1537896" y="5146535"/>
                <a:ext cx="2608806" cy="584775"/>
              </a:xfrm>
              <a:prstGeom prst="rect">
                <a:avLst/>
              </a:prstGeom>
              <a:blipFill>
                <a:blip r:embed="rId5"/>
                <a:stretch>
                  <a:fillRect b="-12500"/>
                </a:stretch>
              </a:blipFill>
            </p:spPr>
            <p:txBody>
              <a:bodyPr/>
              <a:lstStyle/>
              <a:p>
                <a:r>
                  <a:rPr lang="en-GB">
                    <a:noFill/>
                  </a:rPr>
                  <a:t> </a:t>
                </a:r>
              </a:p>
            </p:txBody>
          </p:sp>
        </mc:Fallback>
      </mc:AlternateContent>
      <p:sp>
        <p:nvSpPr>
          <p:cNvPr id="16" name="Rectangle 4">
            <a:extLst>
              <a:ext uri="{FF2B5EF4-FFF2-40B4-BE49-F238E27FC236}">
                <a16:creationId xmlns:a16="http://schemas.microsoft.com/office/drawing/2014/main" id="{059751DD-39E2-84FF-2868-6165AE81C9C2}"/>
              </a:ext>
            </a:extLst>
          </p:cNvPr>
          <p:cNvSpPr>
            <a:spLocks noChangeArrowheads="1"/>
          </p:cNvSpPr>
          <p:nvPr/>
        </p:nvSpPr>
        <p:spPr bwMode="auto">
          <a:xfrm>
            <a:off x="488951" y="1305290"/>
            <a:ext cx="548446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struct </a:t>
            </a:r>
            <a:r>
              <a:rPr kumimoji="0" lang="en-US" altLang="en-US" sz="1200" i="0"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TaskTrajectory</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public:</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    </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std::</a:t>
            </a:r>
            <a:r>
              <a:rPr kumimoji="0" lang="en-US" altLang="en-US" sz="1200" b="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shared_ptr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&lt;std::array&lt;</a:t>
            </a:r>
            <a:r>
              <a:rPr kumimoji="0" lang="en-US" altLang="en-US" sz="1200" b="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CubicPolynomial</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3&gt;&gt; </a:t>
            </a:r>
            <a:r>
              <a:rPr kumimoji="0" lang="en-US" altLang="en-US" sz="120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linear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   </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std::</a:t>
            </a:r>
            <a:r>
              <a:rPr kumimoji="0" lang="en-US" altLang="en-US" sz="1200" b="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shared_ptr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&lt;</a:t>
            </a:r>
            <a:r>
              <a:rPr kumimoji="0" lang="en-US" altLang="en-US" sz="120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CubicOrientationSpline</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&gt; </a:t>
            </a:r>
            <a:r>
              <a:rPr kumimoji="0" lang="en-US" altLang="en-US" sz="120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angular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a:t>
            </a:r>
            <a:endPar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endParaRPr>
          </a:p>
        </p:txBody>
      </p:sp>
      <p:cxnSp>
        <p:nvCxnSpPr>
          <p:cNvPr id="8" name="Straight Arrow Connector 7">
            <a:extLst>
              <a:ext uri="{FF2B5EF4-FFF2-40B4-BE49-F238E27FC236}">
                <a16:creationId xmlns:a16="http://schemas.microsoft.com/office/drawing/2014/main" id="{EE6B86F9-CF51-1DAC-142A-4ED3AA6473A9}"/>
              </a:ext>
            </a:extLst>
          </p:cNvPr>
          <p:cNvCxnSpPr>
            <a:cxnSpLocks/>
          </p:cNvCxnSpPr>
          <p:nvPr/>
        </p:nvCxnSpPr>
        <p:spPr>
          <a:xfrm flipH="1">
            <a:off x="3729240" y="4416956"/>
            <a:ext cx="460955" cy="51857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3A228C77-555B-CA2A-3266-EE1D6B1CB3AD}"/>
              </a:ext>
            </a:extLst>
          </p:cNvPr>
          <p:cNvCxnSpPr/>
          <p:nvPr/>
        </p:nvCxnSpPr>
        <p:spPr>
          <a:xfrm flipV="1">
            <a:off x="4190195" y="3413061"/>
            <a:ext cx="0" cy="101438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C95E95B-17D3-7FD2-2795-AF0FF60731D6}"/>
              </a:ext>
            </a:extLst>
          </p:cNvPr>
          <p:cNvCxnSpPr>
            <a:cxnSpLocks/>
          </p:cNvCxnSpPr>
          <p:nvPr/>
        </p:nvCxnSpPr>
        <p:spPr>
          <a:xfrm flipH="1">
            <a:off x="3172670" y="4416956"/>
            <a:ext cx="102192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A3E59E0-BBBB-E517-5EE5-0C40B566F83E}"/>
              </a:ext>
            </a:extLst>
          </p:cNvPr>
          <p:cNvCxnSpPr>
            <a:cxnSpLocks/>
          </p:cNvCxnSpPr>
          <p:nvPr/>
        </p:nvCxnSpPr>
        <p:spPr>
          <a:xfrm flipH="1" flipV="1">
            <a:off x="3491586" y="3682377"/>
            <a:ext cx="703013" cy="734579"/>
          </a:xfrm>
          <a:prstGeom prst="straightConnector1">
            <a:avLst/>
          </a:prstGeom>
          <a:ln w="38100">
            <a:solidFill>
              <a:srgbClr val="2F2F2F"/>
            </a:solidFill>
            <a:tailEnd type="triangle"/>
          </a:ln>
        </p:spPr>
        <p:style>
          <a:lnRef idx="1">
            <a:schemeClr val="accent1"/>
          </a:lnRef>
          <a:fillRef idx="0">
            <a:schemeClr val="accent1"/>
          </a:fillRef>
          <a:effectRef idx="0">
            <a:schemeClr val="accent1"/>
          </a:effectRef>
          <a:fontRef idx="minor">
            <a:schemeClr val="tx1"/>
          </a:fontRef>
        </p:style>
      </p:cxnSp>
      <p:sp>
        <p:nvSpPr>
          <p:cNvPr id="25" name="Arrow: Curved Down 24">
            <a:extLst>
              <a:ext uri="{FF2B5EF4-FFF2-40B4-BE49-F238E27FC236}">
                <a16:creationId xmlns:a16="http://schemas.microsoft.com/office/drawing/2014/main" id="{190615B1-A792-BBF2-6B5D-78475CA884EC}"/>
              </a:ext>
            </a:extLst>
          </p:cNvPr>
          <p:cNvSpPr/>
          <p:nvPr/>
        </p:nvSpPr>
        <p:spPr>
          <a:xfrm rot="18656914" flipV="1">
            <a:off x="3635552" y="3977480"/>
            <a:ext cx="410679" cy="144374"/>
          </a:xfrm>
          <a:prstGeom prst="curvedDown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006A093-301F-80F3-0AEE-4799595CE9D7}"/>
                  </a:ext>
                </a:extLst>
              </p:cNvPr>
              <p:cNvSpPr txBox="1"/>
              <p:nvPr/>
            </p:nvSpPr>
            <p:spPr>
              <a:xfrm>
                <a:off x="3832601" y="3830291"/>
                <a:ext cx="39477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tx2"/>
                          </a:solidFill>
                          <a:latin typeface="Cambria Math" panose="02040503050406030204" pitchFamily="18" charset="0"/>
                        </a:rPr>
                        <m:t>𝜃</m:t>
                      </m:r>
                    </m:oMath>
                  </m:oMathPara>
                </a14:m>
                <a:endParaRPr lang="en-GB" dirty="0">
                  <a:solidFill>
                    <a:schemeClr val="tx2"/>
                  </a:solidFill>
                </a:endParaRPr>
              </a:p>
            </p:txBody>
          </p:sp>
        </mc:Choice>
        <mc:Fallback xmlns="">
          <p:sp>
            <p:nvSpPr>
              <p:cNvPr id="26" name="TextBox 25">
                <a:extLst>
                  <a:ext uri="{FF2B5EF4-FFF2-40B4-BE49-F238E27FC236}">
                    <a16:creationId xmlns:a16="http://schemas.microsoft.com/office/drawing/2014/main" id="{8006A093-301F-80F3-0AEE-4799595CE9D7}"/>
                  </a:ext>
                </a:extLst>
              </p:cNvPr>
              <p:cNvSpPr txBox="1">
                <a:spLocks noRot="1" noChangeAspect="1" noMove="1" noResize="1" noEditPoints="1" noAdjustHandles="1" noChangeArrowheads="1" noChangeShapeType="1" noTextEdit="1"/>
              </p:cNvSpPr>
              <p:nvPr/>
            </p:nvSpPr>
            <p:spPr>
              <a:xfrm>
                <a:off x="3832601" y="3830291"/>
                <a:ext cx="394778" cy="369332"/>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91F8B03C-91C4-A851-F1A5-52E554B069EB}"/>
                  </a:ext>
                </a:extLst>
              </p:cNvPr>
              <p:cNvSpPr txBox="1"/>
              <p:nvPr/>
            </p:nvSpPr>
            <p:spPr>
              <a:xfrm>
                <a:off x="3240184" y="3400586"/>
                <a:ext cx="32815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i="1">
                              <a:solidFill>
                                <a:schemeClr val="tx2"/>
                              </a:solidFill>
                              <a:latin typeface="Cambria Math" panose="02040503050406030204" pitchFamily="18" charset="0"/>
                            </a:rPr>
                          </m:ctrlPr>
                        </m:accPr>
                        <m:e>
                          <m:r>
                            <a:rPr lang="en-US" i="1">
                              <a:solidFill>
                                <a:schemeClr val="tx2"/>
                              </a:solidFill>
                              <a:latin typeface="Cambria Math" panose="02040503050406030204" pitchFamily="18" charset="0"/>
                            </a:rPr>
                            <m:t>𝑒</m:t>
                          </m:r>
                        </m:e>
                      </m:acc>
                    </m:oMath>
                  </m:oMathPara>
                </a14:m>
                <a:endParaRPr lang="en-GB" dirty="0">
                  <a:solidFill>
                    <a:schemeClr val="tx2"/>
                  </a:solidFill>
                </a:endParaRPr>
              </a:p>
            </p:txBody>
          </p:sp>
        </mc:Choice>
        <mc:Fallback xmlns="">
          <p:sp>
            <p:nvSpPr>
              <p:cNvPr id="28" name="TextBox 27">
                <a:extLst>
                  <a:ext uri="{FF2B5EF4-FFF2-40B4-BE49-F238E27FC236}">
                    <a16:creationId xmlns:a16="http://schemas.microsoft.com/office/drawing/2014/main" id="{91F8B03C-91C4-A851-F1A5-52E554B069EB}"/>
                  </a:ext>
                </a:extLst>
              </p:cNvPr>
              <p:cNvSpPr txBox="1">
                <a:spLocks noRot="1" noChangeAspect="1" noMove="1" noResize="1" noEditPoints="1" noAdjustHandles="1" noChangeArrowheads="1" noChangeShapeType="1" noTextEdit="1"/>
              </p:cNvSpPr>
              <p:nvPr/>
            </p:nvSpPr>
            <p:spPr>
              <a:xfrm>
                <a:off x="3240184" y="3400586"/>
                <a:ext cx="328158" cy="369332"/>
              </a:xfrm>
              <a:prstGeom prst="rect">
                <a:avLst/>
              </a:prstGeom>
              <a:blipFill>
                <a:blip r:embed="rId7"/>
                <a:stretch>
                  <a:fillRect t="-5000" r="-3584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71FBEDDB-7387-250B-290E-C56FE4999759}"/>
                  </a:ext>
                </a:extLst>
              </p:cNvPr>
              <p:cNvSpPr txBox="1"/>
              <p:nvPr/>
            </p:nvSpPr>
            <p:spPr>
              <a:xfrm>
                <a:off x="1203526" y="3484633"/>
                <a:ext cx="1638773" cy="1191608"/>
              </a:xfrm>
              <a:prstGeom prst="rect">
                <a:avLst/>
              </a:prstGeom>
              <a:noFill/>
            </p:spPr>
            <p:txBody>
              <a:bodyPr wrap="square">
                <a:spAutoFit/>
              </a:bodyPr>
              <a:lstStyle/>
              <a:p>
                <a14:m>
                  <m:oMath xmlns:m="http://schemas.openxmlformats.org/officeDocument/2006/math">
                    <m:r>
                      <a:rPr lang="en-US" i="1" dirty="0" smtClean="0">
                        <a:solidFill>
                          <a:srgbClr val="2F2F2F"/>
                        </a:solidFill>
                        <a:latin typeface="Cambria Math" panose="02040503050406030204" pitchFamily="18" charset="0"/>
                      </a:rPr>
                      <m:t>𝑤</m:t>
                    </m:r>
                    <m:r>
                      <a:rPr lang="en-US" b="0" i="1" dirty="0" smtClean="0">
                        <a:solidFill>
                          <a:srgbClr val="2F2F2F"/>
                        </a:solidFill>
                        <a:latin typeface="Cambria Math" panose="02040503050406030204" pitchFamily="18" charset="0"/>
                      </a:rPr>
                      <m:t>=</m:t>
                    </m:r>
                    <m:func>
                      <m:funcPr>
                        <m:ctrlPr>
                          <a:rPr lang="en-US" b="0" i="1" dirty="0" smtClean="0">
                            <a:solidFill>
                              <a:srgbClr val="2F2F2F"/>
                            </a:solidFill>
                            <a:latin typeface="Cambria Math" panose="02040503050406030204" pitchFamily="18" charset="0"/>
                          </a:rPr>
                        </m:ctrlPr>
                      </m:funcPr>
                      <m:fName>
                        <m:r>
                          <m:rPr>
                            <m:sty m:val="p"/>
                          </m:rPr>
                          <a:rPr lang="en-US" b="0" i="0" dirty="0" smtClean="0">
                            <a:solidFill>
                              <a:srgbClr val="2F2F2F"/>
                            </a:solidFill>
                            <a:latin typeface="Cambria Math" panose="02040503050406030204" pitchFamily="18" charset="0"/>
                          </a:rPr>
                          <m:t>cos</m:t>
                        </m:r>
                      </m:fName>
                      <m:e>
                        <m:d>
                          <m:dPr>
                            <m:ctrlPr>
                              <a:rPr lang="en-US" b="0" i="1" dirty="0" smtClean="0">
                                <a:solidFill>
                                  <a:srgbClr val="2F2F2F"/>
                                </a:solidFill>
                                <a:latin typeface="Cambria Math" panose="02040503050406030204" pitchFamily="18" charset="0"/>
                              </a:rPr>
                            </m:ctrlPr>
                          </m:dPr>
                          <m:e>
                            <m:f>
                              <m:fPr>
                                <m:ctrlPr>
                                  <a:rPr lang="en-US" b="0" i="1" dirty="0" smtClean="0">
                                    <a:solidFill>
                                      <a:srgbClr val="2F2F2F"/>
                                    </a:solidFill>
                                    <a:latin typeface="Cambria Math" panose="02040503050406030204" pitchFamily="18" charset="0"/>
                                  </a:rPr>
                                </m:ctrlPr>
                              </m:fPr>
                              <m:num>
                                <m:r>
                                  <a:rPr lang="en-US" b="0" i="1" dirty="0" smtClean="0">
                                    <a:solidFill>
                                      <a:srgbClr val="2F2F2F"/>
                                    </a:solidFill>
                                    <a:latin typeface="Cambria Math" panose="02040503050406030204" pitchFamily="18" charset="0"/>
                                  </a:rPr>
                                  <m:t>𝜃</m:t>
                                </m:r>
                              </m:num>
                              <m:den>
                                <m:r>
                                  <a:rPr lang="en-US" b="0" i="1" dirty="0" smtClean="0">
                                    <a:solidFill>
                                      <a:srgbClr val="2F2F2F"/>
                                    </a:solidFill>
                                    <a:latin typeface="Cambria Math" panose="02040503050406030204" pitchFamily="18" charset="0"/>
                                  </a:rPr>
                                  <m:t>2</m:t>
                                </m:r>
                              </m:den>
                            </m:f>
                          </m:e>
                        </m:d>
                      </m:e>
                    </m:func>
                  </m:oMath>
                </a14:m>
                <a:r>
                  <a:rPr lang="en-US" b="0" dirty="0">
                    <a:solidFill>
                      <a:srgbClr val="2F2F2F"/>
                    </a:solidFill>
                  </a:rPr>
                  <a:t> </a:t>
                </a:r>
              </a:p>
              <a:p>
                <a14:m>
                  <m:oMath xmlns:m="http://schemas.openxmlformats.org/officeDocument/2006/math">
                    <m:d>
                      <m:dPr>
                        <m:begChr m:val="["/>
                        <m:endChr m:val="]"/>
                        <m:ctrlPr>
                          <a:rPr lang="en-US" b="0" i="1" smtClean="0">
                            <a:solidFill>
                              <a:srgbClr val="2F2F2F"/>
                            </a:solidFill>
                            <a:latin typeface="Cambria Math" panose="02040503050406030204" pitchFamily="18" charset="0"/>
                          </a:rPr>
                        </m:ctrlPr>
                      </m:dPr>
                      <m:e>
                        <m:m>
                          <m:mPr>
                            <m:mcs>
                              <m:mc>
                                <m:mcPr>
                                  <m:count m:val="1"/>
                                  <m:mcJc m:val="center"/>
                                </m:mcPr>
                              </m:mc>
                            </m:mcs>
                            <m:ctrlPr>
                              <a:rPr lang="en-GB" i="1" smtClean="0">
                                <a:solidFill>
                                  <a:srgbClr val="2F2F2F"/>
                                </a:solidFill>
                                <a:latin typeface="Cambria Math" panose="02040503050406030204" pitchFamily="18" charset="0"/>
                              </a:rPr>
                            </m:ctrlPr>
                          </m:mPr>
                          <m:mr>
                            <m:e>
                              <m:r>
                                <m:rPr>
                                  <m:brk m:alnAt="7"/>
                                </m:rPr>
                                <a:rPr lang="en-US" b="0" i="1" smtClean="0">
                                  <a:solidFill>
                                    <a:srgbClr val="2F2F2F"/>
                                  </a:solidFill>
                                  <a:latin typeface="Cambria Math" panose="02040503050406030204" pitchFamily="18" charset="0"/>
                                </a:rPr>
                                <m:t>𝑥</m:t>
                              </m:r>
                            </m:e>
                          </m:mr>
                          <m:mr>
                            <m:e>
                              <m:r>
                                <a:rPr lang="en-US" b="0" i="1" smtClean="0">
                                  <a:solidFill>
                                    <a:srgbClr val="2F2F2F"/>
                                  </a:solidFill>
                                  <a:latin typeface="Cambria Math" panose="02040503050406030204" pitchFamily="18" charset="0"/>
                                </a:rPr>
                                <m:t>𝑦</m:t>
                              </m:r>
                            </m:e>
                          </m:mr>
                          <m:mr>
                            <m:e>
                              <m:r>
                                <a:rPr lang="en-US" b="0" i="1" smtClean="0">
                                  <a:solidFill>
                                    <a:srgbClr val="2F2F2F"/>
                                  </a:solidFill>
                                  <a:latin typeface="Cambria Math" panose="02040503050406030204" pitchFamily="18" charset="0"/>
                                </a:rPr>
                                <m:t>𝑧</m:t>
                              </m:r>
                            </m:e>
                          </m:mr>
                        </m:m>
                      </m:e>
                    </m:d>
                    <m:r>
                      <a:rPr lang="en-US" b="0" i="1" smtClean="0">
                        <a:solidFill>
                          <a:srgbClr val="2F2F2F"/>
                        </a:solidFill>
                        <a:latin typeface="Cambria Math" panose="02040503050406030204" pitchFamily="18" charset="0"/>
                      </a:rPr>
                      <m:t>=</m:t>
                    </m:r>
                    <m:r>
                      <a:rPr lang="en-US" b="0" i="1" smtClean="0">
                        <a:solidFill>
                          <a:srgbClr val="2F2F2F"/>
                        </a:solidFill>
                        <a:latin typeface="Cambria Math" panose="02040503050406030204" pitchFamily="18" charset="0"/>
                      </a:rPr>
                      <m:t>𝑠𝑖𝑛</m:t>
                    </m:r>
                    <m:d>
                      <m:dPr>
                        <m:ctrlPr>
                          <a:rPr lang="en-US" b="0" i="1" smtClean="0">
                            <a:solidFill>
                              <a:srgbClr val="2F2F2F"/>
                            </a:solidFill>
                            <a:latin typeface="Cambria Math" panose="02040503050406030204" pitchFamily="18" charset="0"/>
                          </a:rPr>
                        </m:ctrlPr>
                      </m:dPr>
                      <m:e>
                        <m:f>
                          <m:fPr>
                            <m:ctrlPr>
                              <a:rPr lang="en-US" b="0" i="1" smtClean="0">
                                <a:solidFill>
                                  <a:srgbClr val="2F2F2F"/>
                                </a:solidFill>
                                <a:latin typeface="Cambria Math" panose="02040503050406030204" pitchFamily="18" charset="0"/>
                              </a:rPr>
                            </m:ctrlPr>
                          </m:fPr>
                          <m:num>
                            <m:r>
                              <a:rPr lang="en-US" b="0" i="1" smtClean="0">
                                <a:solidFill>
                                  <a:srgbClr val="2F2F2F"/>
                                </a:solidFill>
                                <a:latin typeface="Cambria Math" panose="02040503050406030204" pitchFamily="18" charset="0"/>
                              </a:rPr>
                              <m:t>𝜃</m:t>
                            </m:r>
                          </m:num>
                          <m:den>
                            <m:r>
                              <a:rPr lang="en-US" b="0" i="1" smtClean="0">
                                <a:solidFill>
                                  <a:srgbClr val="2F2F2F"/>
                                </a:solidFill>
                                <a:latin typeface="Cambria Math" panose="02040503050406030204" pitchFamily="18" charset="0"/>
                              </a:rPr>
                              <m:t>2</m:t>
                            </m:r>
                          </m:den>
                        </m:f>
                      </m:e>
                    </m:d>
                    <m:acc>
                      <m:accPr>
                        <m:chr m:val="̂"/>
                        <m:ctrlPr>
                          <a:rPr lang="en-US" b="0" i="1" smtClean="0">
                            <a:solidFill>
                              <a:srgbClr val="2F2F2F"/>
                            </a:solidFill>
                            <a:latin typeface="Cambria Math" panose="02040503050406030204" pitchFamily="18" charset="0"/>
                          </a:rPr>
                        </m:ctrlPr>
                      </m:accPr>
                      <m:e>
                        <m:r>
                          <a:rPr lang="en-US" b="0" i="1" smtClean="0">
                            <a:solidFill>
                              <a:srgbClr val="2F2F2F"/>
                            </a:solidFill>
                            <a:latin typeface="Cambria Math" panose="02040503050406030204" pitchFamily="18" charset="0"/>
                          </a:rPr>
                          <m:t>𝑒</m:t>
                        </m:r>
                      </m:e>
                    </m:acc>
                  </m:oMath>
                </a14:m>
                <a:r>
                  <a:rPr lang="en-GB" dirty="0">
                    <a:solidFill>
                      <a:srgbClr val="2F2F2F"/>
                    </a:solidFill>
                  </a:rPr>
                  <a:t> </a:t>
                </a:r>
              </a:p>
            </p:txBody>
          </p:sp>
        </mc:Choice>
        <mc:Fallback xmlns="">
          <p:sp>
            <p:nvSpPr>
              <p:cNvPr id="29" name="TextBox 28">
                <a:extLst>
                  <a:ext uri="{FF2B5EF4-FFF2-40B4-BE49-F238E27FC236}">
                    <a16:creationId xmlns:a16="http://schemas.microsoft.com/office/drawing/2014/main" id="{71FBEDDB-7387-250B-290E-C56FE4999759}"/>
                  </a:ext>
                </a:extLst>
              </p:cNvPr>
              <p:cNvSpPr txBox="1">
                <a:spLocks noRot="1" noChangeAspect="1" noMove="1" noResize="1" noEditPoints="1" noAdjustHandles="1" noChangeArrowheads="1" noChangeShapeType="1" noTextEdit="1"/>
              </p:cNvSpPr>
              <p:nvPr/>
            </p:nvSpPr>
            <p:spPr>
              <a:xfrm>
                <a:off x="1203526" y="3484633"/>
                <a:ext cx="1638773" cy="1191608"/>
              </a:xfrm>
              <a:prstGeom prst="rect">
                <a:avLst/>
              </a:prstGeom>
              <a:blipFill>
                <a:blip r:embed="rId8"/>
                <a:stretch>
                  <a:fillRect/>
                </a:stretch>
              </a:blipFill>
            </p:spPr>
            <p:txBody>
              <a:bodyPr/>
              <a:lstStyle/>
              <a:p>
                <a:r>
                  <a:rPr lang="en-GB">
                    <a:noFill/>
                  </a:rPr>
                  <a:t> </a:t>
                </a:r>
              </a:p>
            </p:txBody>
          </p:sp>
        </mc:Fallback>
      </mc:AlternateContent>
      <p:sp>
        <p:nvSpPr>
          <p:cNvPr id="7" name="Rectangle: Rounded Corners 6">
            <a:extLst>
              <a:ext uri="{FF2B5EF4-FFF2-40B4-BE49-F238E27FC236}">
                <a16:creationId xmlns:a16="http://schemas.microsoft.com/office/drawing/2014/main" id="{18663EEC-6272-A266-A352-F11AD1D0298C}"/>
              </a:ext>
            </a:extLst>
          </p:cNvPr>
          <p:cNvSpPr/>
          <p:nvPr/>
        </p:nvSpPr>
        <p:spPr>
          <a:xfrm>
            <a:off x="8281752" y="352077"/>
            <a:ext cx="2340363" cy="660640"/>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TaskTrajectoryGenerator</a:t>
            </a:r>
            <a:endParaRPr lang="en-GB" sz="1400" dirty="0">
              <a:solidFill>
                <a:srgbClr val="003399"/>
              </a:solidFill>
            </a:endParaRPr>
          </a:p>
        </p:txBody>
      </p:sp>
      <p:sp>
        <p:nvSpPr>
          <p:cNvPr id="13" name="Freeform 13">
            <a:extLst>
              <a:ext uri="{FF2B5EF4-FFF2-40B4-BE49-F238E27FC236}">
                <a16:creationId xmlns:a16="http://schemas.microsoft.com/office/drawing/2014/main" id="{50893A8F-2AF6-CF1E-4432-4EFDBD2B0F97}"/>
              </a:ext>
            </a:extLst>
          </p:cNvPr>
          <p:cNvSpPr/>
          <p:nvPr/>
        </p:nvSpPr>
        <p:spPr>
          <a:xfrm>
            <a:off x="6880875" y="1759933"/>
            <a:ext cx="3831102" cy="3818900"/>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9"/>
            <a:stretch>
              <a:fillRect/>
            </a:stretch>
          </a:blipFill>
        </p:spPr>
        <p:txBody>
          <a:bodyPr/>
          <a:lstStyle/>
          <a:p>
            <a:endParaRPr lang="en-GB" dirty="0"/>
          </a:p>
        </p:txBody>
      </p:sp>
    </p:spTree>
    <p:extLst>
      <p:ext uri="{BB962C8B-B14F-4D97-AF65-F5344CB8AC3E}">
        <p14:creationId xmlns:p14="http://schemas.microsoft.com/office/powerpoint/2010/main" val="21115636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AEE1D7-E615-7BD8-14E6-5F4C23A7142C}"/>
              </a:ext>
            </a:extLst>
          </p:cNvPr>
          <p:cNvSpPr>
            <a:spLocks noGrp="1"/>
          </p:cNvSpPr>
          <p:nvPr>
            <p:ph idx="1"/>
          </p:nvPr>
        </p:nvSpPr>
        <p:spPr/>
        <p:txBody>
          <a:bodyPr/>
          <a:lstStyle/>
          <a:p>
            <a:pPr marL="457200" indent="-457200">
              <a:buFont typeface="+mj-lt"/>
              <a:buAutoNum type="arabicPeriod"/>
            </a:pPr>
            <a:r>
              <a:rPr lang="en-US" b="0" dirty="0"/>
              <a:t>Problem context – CERN Robotics Framework</a:t>
            </a:r>
          </a:p>
          <a:p>
            <a:pPr marL="457200" indent="-457200">
              <a:buFont typeface="+mj-lt"/>
              <a:buAutoNum type="arabicPeriod"/>
            </a:pPr>
            <a:r>
              <a:rPr lang="en-US" b="0" dirty="0"/>
              <a:t>Task Trajectory Generator design</a:t>
            </a:r>
          </a:p>
          <a:p>
            <a:pPr marL="742950" lvl="1" indent="-457200">
              <a:buFont typeface="+mj-lt"/>
              <a:buAutoNum type="arabicPeriod"/>
            </a:pPr>
            <a:r>
              <a:rPr lang="en-US" b="0" dirty="0"/>
              <a:t>Cubic Polynomial algorithm</a:t>
            </a:r>
          </a:p>
          <a:p>
            <a:pPr marL="742950" lvl="1" indent="-457200">
              <a:buFont typeface="+mj-lt"/>
              <a:buAutoNum type="arabicPeriod"/>
            </a:pPr>
            <a:r>
              <a:rPr lang="en-US" b="1" dirty="0"/>
              <a:t>Cubic Orientation Spline algorithm</a:t>
            </a:r>
          </a:p>
          <a:p>
            <a:pPr marL="457200" indent="-457200">
              <a:buFont typeface="+mj-lt"/>
              <a:buAutoNum type="arabicPeriod"/>
            </a:pPr>
            <a:r>
              <a:rPr lang="en-US" b="0" dirty="0"/>
              <a:t>Demonstration</a:t>
            </a:r>
          </a:p>
          <a:p>
            <a:pPr marL="457200" indent="-457200">
              <a:buFont typeface="+mj-lt"/>
              <a:buAutoNum type="arabicPeriod"/>
            </a:pPr>
            <a:r>
              <a:rPr lang="en-US" b="0" dirty="0"/>
              <a:t>Future work</a:t>
            </a:r>
          </a:p>
          <a:p>
            <a:pPr marL="457200" indent="-457200">
              <a:buFont typeface="+mj-lt"/>
              <a:buAutoNum type="arabicPeriod"/>
            </a:pPr>
            <a:endParaRPr lang="en-GB" b="0" dirty="0"/>
          </a:p>
        </p:txBody>
      </p:sp>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Content</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40</a:t>
            </a:fld>
            <a:endParaRPr lang="en-US" dirty="0"/>
          </a:p>
        </p:txBody>
      </p:sp>
    </p:spTree>
    <p:extLst>
      <p:ext uri="{BB962C8B-B14F-4D97-AF65-F5344CB8AC3E}">
        <p14:creationId xmlns:p14="http://schemas.microsoft.com/office/powerpoint/2010/main" val="19582886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Task Trajectory Generator Design</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41</a:t>
            </a:fld>
            <a:endParaRPr lang="en-US" dirty="0"/>
          </a:p>
        </p:txBody>
      </p:sp>
      <p:sp>
        <p:nvSpPr>
          <p:cNvPr id="16" name="Rectangle 4">
            <a:extLst>
              <a:ext uri="{FF2B5EF4-FFF2-40B4-BE49-F238E27FC236}">
                <a16:creationId xmlns:a16="http://schemas.microsoft.com/office/drawing/2014/main" id="{059751DD-39E2-84FF-2868-6165AE81C9C2}"/>
              </a:ext>
            </a:extLst>
          </p:cNvPr>
          <p:cNvSpPr>
            <a:spLocks noChangeArrowheads="1"/>
          </p:cNvSpPr>
          <p:nvPr/>
        </p:nvSpPr>
        <p:spPr bwMode="auto">
          <a:xfrm>
            <a:off x="488951" y="1305290"/>
            <a:ext cx="548446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struct </a:t>
            </a:r>
            <a:r>
              <a:rPr kumimoji="0" lang="en-US" altLang="en-US" sz="1200" i="0"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TaskTrajectory</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public:</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    </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std::</a:t>
            </a:r>
            <a:r>
              <a:rPr kumimoji="0" lang="en-US" altLang="en-US" sz="1200" b="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shared_ptr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&lt;std::array&lt;</a:t>
            </a:r>
            <a:r>
              <a:rPr kumimoji="0" lang="en-US" altLang="en-US" sz="1200" i="0" u="none" strike="noStrike" cap="none" normalizeH="0" baseline="0" dirty="0" err="1">
                <a:ln>
                  <a:noFill/>
                </a:ln>
                <a:solidFill>
                  <a:srgbClr val="CBCBCB"/>
                </a:solidFill>
                <a:effectLst/>
                <a:latin typeface="Cascadia Code" panose="020B0609020000020004" pitchFamily="49" charset="0"/>
                <a:cs typeface="Cascadia Code" panose="020B0609020000020004" pitchFamily="49" charset="0"/>
              </a:rPr>
              <a:t>CubicPolynomial</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3&gt;&gt; </a:t>
            </a:r>
            <a:r>
              <a:rPr kumimoji="0" lang="en-US" altLang="en-US" sz="120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linear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   </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std::</a:t>
            </a:r>
            <a:r>
              <a:rPr kumimoji="0" lang="en-US" altLang="en-US" sz="1200" b="0" i="0" u="none" strike="noStrike" cap="none" normalizeH="0" baseline="0" dirty="0" err="1">
                <a:ln>
                  <a:noFill/>
                </a:ln>
                <a:solidFill>
                  <a:schemeClr val="tx2">
                    <a:lumMod val="25000"/>
                    <a:lumOff val="75000"/>
                  </a:schemeClr>
                </a:solidFill>
                <a:effectLst/>
                <a:latin typeface="Cascadia Code" panose="020B0609020000020004" pitchFamily="49" charset="0"/>
                <a:cs typeface="Cascadia Code" panose="020B0609020000020004" pitchFamily="49" charset="0"/>
              </a:rPr>
              <a:t>shared_ptr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&lt;</a:t>
            </a:r>
            <a:r>
              <a:rPr kumimoji="0" lang="en-US" altLang="en-US" sz="1200" b="1" i="0" u="none" strike="noStrike" cap="none" normalizeH="0" baseline="0" dirty="0" err="1">
                <a:ln>
                  <a:noFill/>
                </a:ln>
                <a:solidFill>
                  <a:srgbClr val="0033A0"/>
                </a:solidFill>
                <a:effectLst/>
                <a:latin typeface="Cascadia Code" panose="020B0609020000020004" pitchFamily="49" charset="0"/>
                <a:cs typeface="Cascadia Code" panose="020B0609020000020004" pitchFamily="49" charset="0"/>
              </a:rPr>
              <a:t>CubicOrientationSpline</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&gt; </a:t>
            </a:r>
            <a:r>
              <a:rPr kumimoji="0" lang="en-US" altLang="en-US" sz="120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angular</a:t>
            </a:r>
            <a:r>
              <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2">
                    <a:lumMod val="25000"/>
                    <a:lumOff val="75000"/>
                  </a:schemeClr>
                </a:solidFill>
                <a:latin typeface="Cascadia Code" panose="020B0609020000020004" pitchFamily="49" charset="0"/>
                <a:cs typeface="Cascadia Code" panose="020B0609020000020004" pitchFamily="49" charset="0"/>
              </a:rPr>
              <a:t>};</a:t>
            </a:r>
            <a:endParaRPr kumimoji="0" lang="en-US" altLang="en-US" sz="1200" b="0" i="0" u="none" strike="noStrike" cap="none" normalizeH="0" baseline="0" dirty="0">
              <a:ln>
                <a:noFill/>
              </a:ln>
              <a:solidFill>
                <a:schemeClr val="tx2">
                  <a:lumMod val="25000"/>
                  <a:lumOff val="75000"/>
                </a:schemeClr>
              </a:solidFill>
              <a:effectLst/>
              <a:latin typeface="Cascadia Code" panose="020B0609020000020004" pitchFamily="49" charset="0"/>
              <a:cs typeface="Cascadia Code" panose="020B0609020000020004" pitchFamily="49" charset="0"/>
            </a:endParaRPr>
          </a:p>
        </p:txBody>
      </p:sp>
      <p:sp>
        <p:nvSpPr>
          <p:cNvPr id="18" name="Rectangle: Rounded Corners 17">
            <a:extLst>
              <a:ext uri="{FF2B5EF4-FFF2-40B4-BE49-F238E27FC236}">
                <a16:creationId xmlns:a16="http://schemas.microsoft.com/office/drawing/2014/main" id="{BEBF5A09-821D-A4A2-965B-BE65681E1D03}"/>
              </a:ext>
            </a:extLst>
          </p:cNvPr>
          <p:cNvSpPr/>
          <p:nvPr/>
        </p:nvSpPr>
        <p:spPr>
          <a:xfrm>
            <a:off x="2358071" y="2130082"/>
            <a:ext cx="1901191" cy="333384"/>
          </a:xfrm>
          <a:prstGeom prst="roundRect">
            <a:avLst/>
          </a:prstGeom>
          <a:solidFill>
            <a:srgbClr val="CDDCF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solidFill>
                  <a:srgbClr val="003399"/>
                </a:solidFill>
              </a:rPr>
              <a:t>CubicOrientationSpline</a:t>
            </a:r>
            <a:endParaRPr lang="en-GB" sz="1100" dirty="0">
              <a:solidFill>
                <a:srgbClr val="003399"/>
              </a:solidFill>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790333B-61E2-F9A7-6A57-A64D05E3396C}"/>
                  </a:ext>
                </a:extLst>
              </p:cNvPr>
              <p:cNvSpPr txBox="1"/>
              <p:nvPr/>
            </p:nvSpPr>
            <p:spPr>
              <a:xfrm>
                <a:off x="1685466" y="2786745"/>
                <a:ext cx="240065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l-PL" i="1" dirty="0" smtClean="0">
                          <a:solidFill>
                            <a:srgbClr val="CBCBCB"/>
                          </a:solidFill>
                          <a:latin typeface="Cambria Math" panose="02040503050406030204" pitchFamily="18" charset="0"/>
                        </a:rPr>
                        <m:t>𝑞</m:t>
                      </m:r>
                      <m:r>
                        <a:rPr lang="pl-PL" i="1" dirty="0" smtClean="0">
                          <a:solidFill>
                            <a:srgbClr val="CBCBCB"/>
                          </a:solidFill>
                          <a:latin typeface="Cambria Math" panose="02040503050406030204" pitchFamily="18" charset="0"/>
                        </a:rPr>
                        <m:t>=</m:t>
                      </m:r>
                      <m:r>
                        <a:rPr lang="en-US" i="1" dirty="0" smtClean="0">
                          <a:solidFill>
                            <a:srgbClr val="CBCBCB"/>
                          </a:solidFill>
                          <a:latin typeface="Cambria Math" panose="02040503050406030204" pitchFamily="18" charset="0"/>
                        </a:rPr>
                        <m:t>𝑤</m:t>
                      </m:r>
                      <m:r>
                        <a:rPr lang="en-US" b="0" i="1" dirty="0" smtClean="0">
                          <a:solidFill>
                            <a:srgbClr val="CBCBCB"/>
                          </a:solidFill>
                          <a:latin typeface="Cambria Math" panose="02040503050406030204" pitchFamily="18" charset="0"/>
                        </a:rPr>
                        <m:t>+</m:t>
                      </m:r>
                      <m:r>
                        <a:rPr lang="en-US" b="0" i="1" dirty="0" smtClean="0">
                          <a:solidFill>
                            <a:srgbClr val="CBCBCB"/>
                          </a:solidFill>
                          <a:latin typeface="Cambria Math" panose="02040503050406030204" pitchFamily="18" charset="0"/>
                        </a:rPr>
                        <m:t>𝑥𝑖</m:t>
                      </m:r>
                      <m:r>
                        <a:rPr lang="en-US" b="0" i="1" dirty="0" smtClean="0">
                          <a:solidFill>
                            <a:srgbClr val="CBCBCB"/>
                          </a:solidFill>
                          <a:latin typeface="Cambria Math" panose="02040503050406030204" pitchFamily="18" charset="0"/>
                        </a:rPr>
                        <m:t>+</m:t>
                      </m:r>
                      <m:r>
                        <a:rPr lang="en-US" b="0" i="1" dirty="0" smtClean="0">
                          <a:solidFill>
                            <a:srgbClr val="CBCBCB"/>
                          </a:solidFill>
                          <a:latin typeface="Cambria Math" panose="02040503050406030204" pitchFamily="18" charset="0"/>
                        </a:rPr>
                        <m:t>𝑦𝑗</m:t>
                      </m:r>
                      <m:r>
                        <a:rPr lang="en-US" b="0" i="1" dirty="0" smtClean="0">
                          <a:solidFill>
                            <a:srgbClr val="CBCBCB"/>
                          </a:solidFill>
                          <a:latin typeface="Cambria Math" panose="02040503050406030204" pitchFamily="18" charset="0"/>
                        </a:rPr>
                        <m:t>+</m:t>
                      </m:r>
                      <m:r>
                        <a:rPr lang="en-US" b="0" i="1" dirty="0" smtClean="0">
                          <a:solidFill>
                            <a:srgbClr val="CBCBCB"/>
                          </a:solidFill>
                          <a:latin typeface="Cambria Math" panose="02040503050406030204" pitchFamily="18" charset="0"/>
                        </a:rPr>
                        <m:t>𝑧𝑘</m:t>
                      </m:r>
                    </m:oMath>
                  </m:oMathPara>
                </a14:m>
                <a:endParaRPr lang="en-GB" dirty="0">
                  <a:solidFill>
                    <a:srgbClr val="CBCBCB"/>
                  </a:solidFill>
                </a:endParaRPr>
              </a:p>
            </p:txBody>
          </p:sp>
        </mc:Choice>
        <mc:Fallback xmlns="">
          <p:sp>
            <p:nvSpPr>
              <p:cNvPr id="19" name="TextBox 18">
                <a:extLst>
                  <a:ext uri="{FF2B5EF4-FFF2-40B4-BE49-F238E27FC236}">
                    <a16:creationId xmlns:a16="http://schemas.microsoft.com/office/drawing/2014/main" id="{D790333B-61E2-F9A7-6A57-A64D05E3396C}"/>
                  </a:ext>
                </a:extLst>
              </p:cNvPr>
              <p:cNvSpPr txBox="1">
                <a:spLocks noRot="1" noChangeAspect="1" noMove="1" noResize="1" noEditPoints="1" noAdjustHandles="1" noChangeArrowheads="1" noChangeShapeType="1" noTextEdit="1"/>
              </p:cNvSpPr>
              <p:nvPr/>
            </p:nvSpPr>
            <p:spPr>
              <a:xfrm>
                <a:off x="1685466" y="2786745"/>
                <a:ext cx="2400652" cy="369332"/>
              </a:xfrm>
              <a:prstGeom prst="rect">
                <a:avLst/>
              </a:prstGeom>
              <a:blipFill>
                <a:blip r:embed="rId4"/>
                <a:stretch>
                  <a:fillRect b="-1475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99CDAD0-DB54-222B-1B66-3C30EA4C6F6F}"/>
                  </a:ext>
                </a:extLst>
              </p:cNvPr>
              <p:cNvSpPr txBox="1"/>
              <p:nvPr/>
            </p:nvSpPr>
            <p:spPr>
              <a:xfrm>
                <a:off x="1537896" y="5146535"/>
                <a:ext cx="2608806" cy="58477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p>
                        <m:sSupPr>
                          <m:ctrlPr>
                            <a:rPr lang="en-US" sz="1600" b="0" i="1" dirty="0" smtClean="0">
                              <a:solidFill>
                                <a:srgbClr val="CBCBCB"/>
                              </a:solidFill>
                              <a:latin typeface="Cambria Math" panose="02040503050406030204" pitchFamily="18" charset="0"/>
                            </a:rPr>
                          </m:ctrlPr>
                        </m:sSupPr>
                        <m:e>
                          <m:r>
                            <a:rPr lang="pl-PL" sz="1600" i="1" dirty="0" smtClean="0">
                              <a:solidFill>
                                <a:srgbClr val="CBCBCB"/>
                              </a:solidFill>
                              <a:latin typeface="Cambria Math" panose="02040503050406030204" pitchFamily="18" charset="0"/>
                            </a:rPr>
                            <m:t>𝑤</m:t>
                          </m:r>
                        </m:e>
                        <m:sup>
                          <m:r>
                            <a:rPr lang="pl-PL" sz="1600" i="1" dirty="0" smtClean="0">
                              <a:solidFill>
                                <a:srgbClr val="CBCBCB"/>
                              </a:solidFill>
                              <a:latin typeface="Cambria Math" panose="02040503050406030204" pitchFamily="18" charset="0"/>
                            </a:rPr>
                            <m:t>2</m:t>
                          </m:r>
                        </m:sup>
                      </m:sSup>
                      <m:r>
                        <a:rPr lang="pl-PL" sz="1600" i="1" dirty="0" smtClean="0">
                          <a:solidFill>
                            <a:srgbClr val="CBCBCB"/>
                          </a:solidFill>
                          <a:latin typeface="Cambria Math" panose="02040503050406030204" pitchFamily="18" charset="0"/>
                        </a:rPr>
                        <m:t>+</m:t>
                      </m:r>
                      <m:sSup>
                        <m:sSupPr>
                          <m:ctrlPr>
                            <a:rPr lang="en-US" sz="1600" b="0" i="1" dirty="0" smtClean="0">
                              <a:solidFill>
                                <a:srgbClr val="CBCBCB"/>
                              </a:solidFill>
                              <a:latin typeface="Cambria Math" panose="02040503050406030204" pitchFamily="18" charset="0"/>
                            </a:rPr>
                          </m:ctrlPr>
                        </m:sSupPr>
                        <m:e>
                          <m:r>
                            <a:rPr lang="pl-PL" sz="1600" i="1" dirty="0" smtClean="0">
                              <a:solidFill>
                                <a:srgbClr val="CBCBCB"/>
                              </a:solidFill>
                              <a:latin typeface="Cambria Math" panose="02040503050406030204" pitchFamily="18" charset="0"/>
                            </a:rPr>
                            <m:t>𝑥</m:t>
                          </m:r>
                        </m:e>
                        <m:sup>
                          <m:r>
                            <a:rPr lang="pl-PL" sz="1600" i="1" dirty="0" smtClean="0">
                              <a:solidFill>
                                <a:srgbClr val="CBCBCB"/>
                              </a:solidFill>
                              <a:latin typeface="Cambria Math" panose="02040503050406030204" pitchFamily="18" charset="0"/>
                            </a:rPr>
                            <m:t>2</m:t>
                          </m:r>
                        </m:sup>
                      </m:sSup>
                      <m:r>
                        <a:rPr lang="pl-PL" sz="1600" i="1" dirty="0" smtClean="0">
                          <a:solidFill>
                            <a:srgbClr val="CBCBCB"/>
                          </a:solidFill>
                          <a:latin typeface="Cambria Math" panose="02040503050406030204" pitchFamily="18" charset="0"/>
                        </a:rPr>
                        <m:t>+</m:t>
                      </m:r>
                      <m:sSup>
                        <m:sSupPr>
                          <m:ctrlPr>
                            <a:rPr lang="en-US" sz="1600" b="0" i="1" dirty="0" smtClean="0">
                              <a:solidFill>
                                <a:srgbClr val="CBCBCB"/>
                              </a:solidFill>
                              <a:latin typeface="Cambria Math" panose="02040503050406030204" pitchFamily="18" charset="0"/>
                            </a:rPr>
                          </m:ctrlPr>
                        </m:sSupPr>
                        <m:e>
                          <m:r>
                            <a:rPr lang="pl-PL" sz="1600" i="1" dirty="0" smtClean="0">
                              <a:solidFill>
                                <a:srgbClr val="CBCBCB"/>
                              </a:solidFill>
                              <a:latin typeface="Cambria Math" panose="02040503050406030204" pitchFamily="18" charset="0"/>
                            </a:rPr>
                            <m:t>𝑦</m:t>
                          </m:r>
                        </m:e>
                        <m:sup>
                          <m:r>
                            <a:rPr lang="pl-PL" sz="1600" i="1" dirty="0" smtClean="0">
                              <a:solidFill>
                                <a:srgbClr val="CBCBCB"/>
                              </a:solidFill>
                              <a:latin typeface="Cambria Math" panose="02040503050406030204" pitchFamily="18" charset="0"/>
                            </a:rPr>
                            <m:t>2</m:t>
                          </m:r>
                        </m:sup>
                      </m:sSup>
                      <m:r>
                        <a:rPr lang="pl-PL" sz="1600" i="1" dirty="0" smtClean="0">
                          <a:solidFill>
                            <a:srgbClr val="CBCBCB"/>
                          </a:solidFill>
                          <a:latin typeface="Cambria Math" panose="02040503050406030204" pitchFamily="18" charset="0"/>
                        </a:rPr>
                        <m:t>+</m:t>
                      </m:r>
                      <m:sSup>
                        <m:sSupPr>
                          <m:ctrlPr>
                            <a:rPr lang="en-US" sz="1600" b="0" i="1" dirty="0" smtClean="0">
                              <a:solidFill>
                                <a:srgbClr val="CBCBCB"/>
                              </a:solidFill>
                              <a:latin typeface="Cambria Math" panose="02040503050406030204" pitchFamily="18" charset="0"/>
                            </a:rPr>
                          </m:ctrlPr>
                        </m:sSupPr>
                        <m:e>
                          <m:r>
                            <a:rPr lang="pl-PL" sz="1600" i="1" dirty="0" smtClean="0">
                              <a:solidFill>
                                <a:srgbClr val="CBCBCB"/>
                              </a:solidFill>
                              <a:latin typeface="Cambria Math" panose="02040503050406030204" pitchFamily="18" charset="0"/>
                            </a:rPr>
                            <m:t>𝑧</m:t>
                          </m:r>
                        </m:e>
                        <m:sup>
                          <m:r>
                            <a:rPr lang="pl-PL" sz="1600" i="1" dirty="0" smtClean="0">
                              <a:solidFill>
                                <a:srgbClr val="CBCBCB"/>
                              </a:solidFill>
                              <a:latin typeface="Cambria Math" panose="02040503050406030204" pitchFamily="18" charset="0"/>
                            </a:rPr>
                            <m:t>2</m:t>
                          </m:r>
                        </m:sup>
                      </m:sSup>
                      <m:r>
                        <a:rPr lang="pl-PL" sz="1600" i="1" dirty="0" smtClean="0">
                          <a:solidFill>
                            <a:srgbClr val="CBCBCB"/>
                          </a:solidFill>
                          <a:latin typeface="Cambria Math" panose="02040503050406030204" pitchFamily="18" charset="0"/>
                        </a:rPr>
                        <m:t>=1</m:t>
                      </m:r>
                    </m:oMath>
                  </m:oMathPara>
                </a14:m>
                <a:endParaRPr lang="en-GB" sz="1600" dirty="0">
                  <a:solidFill>
                    <a:srgbClr val="CBCBCB"/>
                  </a:solidFill>
                </a:endParaRPr>
              </a:p>
              <a:p>
                <a:pPr algn="ctr"/>
                <a:r>
                  <a:rPr lang="en-GB" sz="1600" dirty="0">
                    <a:solidFill>
                      <a:srgbClr val="CBCBCB"/>
                    </a:solidFill>
                  </a:rPr>
                  <a:t>(unit quaternions)</a:t>
                </a:r>
              </a:p>
            </p:txBody>
          </p:sp>
        </mc:Choice>
        <mc:Fallback xmlns="">
          <p:sp>
            <p:nvSpPr>
              <p:cNvPr id="20" name="TextBox 19">
                <a:extLst>
                  <a:ext uri="{FF2B5EF4-FFF2-40B4-BE49-F238E27FC236}">
                    <a16:creationId xmlns:a16="http://schemas.microsoft.com/office/drawing/2014/main" id="{999CDAD0-DB54-222B-1B66-3C30EA4C6F6F}"/>
                  </a:ext>
                </a:extLst>
              </p:cNvPr>
              <p:cNvSpPr txBox="1">
                <a:spLocks noRot="1" noChangeAspect="1" noMove="1" noResize="1" noEditPoints="1" noAdjustHandles="1" noChangeArrowheads="1" noChangeShapeType="1" noTextEdit="1"/>
              </p:cNvSpPr>
              <p:nvPr/>
            </p:nvSpPr>
            <p:spPr>
              <a:xfrm>
                <a:off x="1537896" y="5146535"/>
                <a:ext cx="2608806" cy="584775"/>
              </a:xfrm>
              <a:prstGeom prst="rect">
                <a:avLst/>
              </a:prstGeom>
              <a:blipFill>
                <a:blip r:embed="rId5"/>
                <a:stretch>
                  <a:fillRect b="-12500"/>
                </a:stretch>
              </a:blipFill>
            </p:spPr>
            <p:txBody>
              <a:bodyPr/>
              <a:lstStyle/>
              <a:p>
                <a:r>
                  <a:rPr lang="en-GB">
                    <a:noFill/>
                  </a:rPr>
                  <a:t> </a:t>
                </a:r>
              </a:p>
            </p:txBody>
          </p:sp>
        </mc:Fallback>
      </mc:AlternateContent>
      <p:cxnSp>
        <p:nvCxnSpPr>
          <p:cNvPr id="21" name="Straight Arrow Connector 20">
            <a:extLst>
              <a:ext uri="{FF2B5EF4-FFF2-40B4-BE49-F238E27FC236}">
                <a16:creationId xmlns:a16="http://schemas.microsoft.com/office/drawing/2014/main" id="{CD83949B-1723-6DEF-C6AB-F790B120CF37}"/>
              </a:ext>
            </a:extLst>
          </p:cNvPr>
          <p:cNvCxnSpPr>
            <a:cxnSpLocks/>
          </p:cNvCxnSpPr>
          <p:nvPr/>
        </p:nvCxnSpPr>
        <p:spPr>
          <a:xfrm flipH="1">
            <a:off x="3729240" y="4416956"/>
            <a:ext cx="460955" cy="518571"/>
          </a:xfrm>
          <a:prstGeom prst="straightConnector1">
            <a:avLst/>
          </a:prstGeom>
          <a:ln w="28575">
            <a:solidFill>
              <a:srgbClr val="CBCBCB"/>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948FCB8-B07D-4C15-77F9-E17E087F0633}"/>
              </a:ext>
            </a:extLst>
          </p:cNvPr>
          <p:cNvCxnSpPr/>
          <p:nvPr/>
        </p:nvCxnSpPr>
        <p:spPr>
          <a:xfrm flipV="1">
            <a:off x="4190195" y="3413061"/>
            <a:ext cx="0" cy="1014389"/>
          </a:xfrm>
          <a:prstGeom prst="straightConnector1">
            <a:avLst/>
          </a:prstGeom>
          <a:ln w="28575">
            <a:solidFill>
              <a:srgbClr val="CBCBCB"/>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A55B0F5C-631E-4B8A-49FA-2B878BF3FC17}"/>
              </a:ext>
            </a:extLst>
          </p:cNvPr>
          <p:cNvCxnSpPr>
            <a:cxnSpLocks/>
          </p:cNvCxnSpPr>
          <p:nvPr/>
        </p:nvCxnSpPr>
        <p:spPr>
          <a:xfrm flipH="1">
            <a:off x="3172670" y="4416956"/>
            <a:ext cx="1021929" cy="0"/>
          </a:xfrm>
          <a:prstGeom prst="straightConnector1">
            <a:avLst/>
          </a:prstGeom>
          <a:ln w="28575">
            <a:solidFill>
              <a:srgbClr val="CBCBCB"/>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B3EF386-FAA6-3C5B-74B1-F6DCC7509F6C}"/>
              </a:ext>
            </a:extLst>
          </p:cNvPr>
          <p:cNvCxnSpPr>
            <a:cxnSpLocks/>
          </p:cNvCxnSpPr>
          <p:nvPr/>
        </p:nvCxnSpPr>
        <p:spPr>
          <a:xfrm flipH="1" flipV="1">
            <a:off x="3491586" y="3682377"/>
            <a:ext cx="703013" cy="734579"/>
          </a:xfrm>
          <a:prstGeom prst="straightConnector1">
            <a:avLst/>
          </a:prstGeom>
          <a:ln w="38100">
            <a:solidFill>
              <a:srgbClr val="CBCBCB"/>
            </a:solidFill>
            <a:tailEnd type="triangle"/>
          </a:ln>
        </p:spPr>
        <p:style>
          <a:lnRef idx="1">
            <a:schemeClr val="accent1"/>
          </a:lnRef>
          <a:fillRef idx="0">
            <a:schemeClr val="accent1"/>
          </a:fillRef>
          <a:effectRef idx="0">
            <a:schemeClr val="accent1"/>
          </a:effectRef>
          <a:fontRef idx="minor">
            <a:schemeClr val="tx1"/>
          </a:fontRef>
        </p:style>
      </p:cxnSp>
      <p:sp>
        <p:nvSpPr>
          <p:cNvPr id="25" name="Arrow: Curved Down 24">
            <a:extLst>
              <a:ext uri="{FF2B5EF4-FFF2-40B4-BE49-F238E27FC236}">
                <a16:creationId xmlns:a16="http://schemas.microsoft.com/office/drawing/2014/main" id="{0FD6E75F-4018-F7B3-0AA2-38004CAF44AF}"/>
              </a:ext>
            </a:extLst>
          </p:cNvPr>
          <p:cNvSpPr/>
          <p:nvPr/>
        </p:nvSpPr>
        <p:spPr>
          <a:xfrm rot="18656914" flipV="1">
            <a:off x="3635552" y="3977480"/>
            <a:ext cx="410679" cy="144374"/>
          </a:xfrm>
          <a:prstGeom prst="curvedDownArrow">
            <a:avLst/>
          </a:prstGeom>
          <a:solidFill>
            <a:srgbClr val="CBCBCB"/>
          </a:solidFill>
          <a:ln>
            <a:solidFill>
              <a:srgbClr val="CBCB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CBCBCB"/>
              </a:solidFill>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CE915C5F-5AA6-B9AD-73E9-9CF029026CD4}"/>
                  </a:ext>
                </a:extLst>
              </p:cNvPr>
              <p:cNvSpPr txBox="1"/>
              <p:nvPr/>
            </p:nvSpPr>
            <p:spPr>
              <a:xfrm>
                <a:off x="3832601" y="3830291"/>
                <a:ext cx="39477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srgbClr val="CBCBCB"/>
                          </a:solidFill>
                          <a:latin typeface="Cambria Math" panose="02040503050406030204" pitchFamily="18" charset="0"/>
                        </a:rPr>
                        <m:t>𝜃</m:t>
                      </m:r>
                    </m:oMath>
                  </m:oMathPara>
                </a14:m>
                <a:endParaRPr lang="en-GB" dirty="0">
                  <a:solidFill>
                    <a:srgbClr val="CBCBCB"/>
                  </a:solidFill>
                </a:endParaRPr>
              </a:p>
            </p:txBody>
          </p:sp>
        </mc:Choice>
        <mc:Fallback xmlns="">
          <p:sp>
            <p:nvSpPr>
              <p:cNvPr id="26" name="TextBox 25">
                <a:extLst>
                  <a:ext uri="{FF2B5EF4-FFF2-40B4-BE49-F238E27FC236}">
                    <a16:creationId xmlns:a16="http://schemas.microsoft.com/office/drawing/2014/main" id="{CE915C5F-5AA6-B9AD-73E9-9CF029026CD4}"/>
                  </a:ext>
                </a:extLst>
              </p:cNvPr>
              <p:cNvSpPr txBox="1">
                <a:spLocks noRot="1" noChangeAspect="1" noMove="1" noResize="1" noEditPoints="1" noAdjustHandles="1" noChangeArrowheads="1" noChangeShapeType="1" noTextEdit="1"/>
              </p:cNvSpPr>
              <p:nvPr/>
            </p:nvSpPr>
            <p:spPr>
              <a:xfrm>
                <a:off x="3832601" y="3830291"/>
                <a:ext cx="394778" cy="369332"/>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C36A23E9-B7E6-C996-8238-4067F370FCE3}"/>
                  </a:ext>
                </a:extLst>
              </p:cNvPr>
              <p:cNvSpPr txBox="1"/>
              <p:nvPr/>
            </p:nvSpPr>
            <p:spPr>
              <a:xfrm>
                <a:off x="3240184" y="3400586"/>
                <a:ext cx="32815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i="1" smtClean="0">
                              <a:solidFill>
                                <a:srgbClr val="CBCBCB"/>
                              </a:solidFill>
                              <a:latin typeface="Cambria Math" panose="02040503050406030204" pitchFamily="18" charset="0"/>
                            </a:rPr>
                          </m:ctrlPr>
                        </m:accPr>
                        <m:e>
                          <m:r>
                            <a:rPr lang="en-US" i="1">
                              <a:solidFill>
                                <a:srgbClr val="CBCBCB"/>
                              </a:solidFill>
                              <a:latin typeface="Cambria Math" panose="02040503050406030204" pitchFamily="18" charset="0"/>
                            </a:rPr>
                            <m:t>𝑒</m:t>
                          </m:r>
                        </m:e>
                      </m:acc>
                    </m:oMath>
                  </m:oMathPara>
                </a14:m>
                <a:endParaRPr lang="en-GB" dirty="0">
                  <a:solidFill>
                    <a:srgbClr val="CBCBCB"/>
                  </a:solidFill>
                </a:endParaRPr>
              </a:p>
            </p:txBody>
          </p:sp>
        </mc:Choice>
        <mc:Fallback xmlns="">
          <p:sp>
            <p:nvSpPr>
              <p:cNvPr id="27" name="TextBox 26">
                <a:extLst>
                  <a:ext uri="{FF2B5EF4-FFF2-40B4-BE49-F238E27FC236}">
                    <a16:creationId xmlns:a16="http://schemas.microsoft.com/office/drawing/2014/main" id="{C36A23E9-B7E6-C996-8238-4067F370FCE3}"/>
                  </a:ext>
                </a:extLst>
              </p:cNvPr>
              <p:cNvSpPr txBox="1">
                <a:spLocks noRot="1" noChangeAspect="1" noMove="1" noResize="1" noEditPoints="1" noAdjustHandles="1" noChangeArrowheads="1" noChangeShapeType="1" noTextEdit="1"/>
              </p:cNvSpPr>
              <p:nvPr/>
            </p:nvSpPr>
            <p:spPr>
              <a:xfrm>
                <a:off x="3240184" y="3400586"/>
                <a:ext cx="328158" cy="369332"/>
              </a:xfrm>
              <a:prstGeom prst="rect">
                <a:avLst/>
              </a:prstGeom>
              <a:blipFill>
                <a:blip r:embed="rId7"/>
                <a:stretch>
                  <a:fillRect t="-5000" r="-3584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61286A35-A736-2D0D-B118-8BC5BF66D628}"/>
                  </a:ext>
                </a:extLst>
              </p:cNvPr>
              <p:cNvSpPr txBox="1"/>
              <p:nvPr/>
            </p:nvSpPr>
            <p:spPr>
              <a:xfrm>
                <a:off x="1203526" y="3484633"/>
                <a:ext cx="1638773" cy="1191608"/>
              </a:xfrm>
              <a:prstGeom prst="rect">
                <a:avLst/>
              </a:prstGeom>
              <a:noFill/>
            </p:spPr>
            <p:txBody>
              <a:bodyPr wrap="square">
                <a:spAutoFit/>
              </a:bodyPr>
              <a:lstStyle/>
              <a:p>
                <a14:m>
                  <m:oMath xmlns:m="http://schemas.openxmlformats.org/officeDocument/2006/math">
                    <m:r>
                      <a:rPr lang="en-US" i="1" dirty="0" smtClean="0">
                        <a:solidFill>
                          <a:srgbClr val="CBCBCB"/>
                        </a:solidFill>
                        <a:latin typeface="Cambria Math" panose="02040503050406030204" pitchFamily="18" charset="0"/>
                      </a:rPr>
                      <m:t>𝑤</m:t>
                    </m:r>
                    <m:r>
                      <a:rPr lang="en-US" b="0" i="1" dirty="0" smtClean="0">
                        <a:solidFill>
                          <a:srgbClr val="CBCBCB"/>
                        </a:solidFill>
                        <a:latin typeface="Cambria Math" panose="02040503050406030204" pitchFamily="18" charset="0"/>
                      </a:rPr>
                      <m:t>=</m:t>
                    </m:r>
                    <m:func>
                      <m:funcPr>
                        <m:ctrlPr>
                          <a:rPr lang="en-US" b="0" i="1" dirty="0" smtClean="0">
                            <a:solidFill>
                              <a:srgbClr val="CBCBCB"/>
                            </a:solidFill>
                            <a:latin typeface="Cambria Math" panose="02040503050406030204" pitchFamily="18" charset="0"/>
                          </a:rPr>
                        </m:ctrlPr>
                      </m:funcPr>
                      <m:fName>
                        <m:r>
                          <m:rPr>
                            <m:sty m:val="p"/>
                          </m:rPr>
                          <a:rPr lang="en-US" b="0" i="0" dirty="0" smtClean="0">
                            <a:solidFill>
                              <a:srgbClr val="CBCBCB"/>
                            </a:solidFill>
                            <a:latin typeface="Cambria Math" panose="02040503050406030204" pitchFamily="18" charset="0"/>
                          </a:rPr>
                          <m:t>cos</m:t>
                        </m:r>
                      </m:fName>
                      <m:e>
                        <m:d>
                          <m:dPr>
                            <m:ctrlPr>
                              <a:rPr lang="en-US" b="0" i="1" dirty="0" smtClean="0">
                                <a:solidFill>
                                  <a:srgbClr val="CBCBCB"/>
                                </a:solidFill>
                                <a:latin typeface="Cambria Math" panose="02040503050406030204" pitchFamily="18" charset="0"/>
                              </a:rPr>
                            </m:ctrlPr>
                          </m:dPr>
                          <m:e>
                            <m:f>
                              <m:fPr>
                                <m:ctrlPr>
                                  <a:rPr lang="en-US" b="0" i="1" dirty="0" smtClean="0">
                                    <a:solidFill>
                                      <a:srgbClr val="CBCBCB"/>
                                    </a:solidFill>
                                    <a:latin typeface="Cambria Math" panose="02040503050406030204" pitchFamily="18" charset="0"/>
                                  </a:rPr>
                                </m:ctrlPr>
                              </m:fPr>
                              <m:num>
                                <m:r>
                                  <a:rPr lang="en-US" b="0" i="1" dirty="0" smtClean="0">
                                    <a:solidFill>
                                      <a:srgbClr val="CBCBCB"/>
                                    </a:solidFill>
                                    <a:latin typeface="Cambria Math" panose="02040503050406030204" pitchFamily="18" charset="0"/>
                                  </a:rPr>
                                  <m:t>𝜃</m:t>
                                </m:r>
                              </m:num>
                              <m:den>
                                <m:r>
                                  <a:rPr lang="en-US" b="0" i="1" dirty="0" smtClean="0">
                                    <a:solidFill>
                                      <a:srgbClr val="CBCBCB"/>
                                    </a:solidFill>
                                    <a:latin typeface="Cambria Math" panose="02040503050406030204" pitchFamily="18" charset="0"/>
                                  </a:rPr>
                                  <m:t>2</m:t>
                                </m:r>
                              </m:den>
                            </m:f>
                          </m:e>
                        </m:d>
                      </m:e>
                    </m:func>
                  </m:oMath>
                </a14:m>
                <a:r>
                  <a:rPr lang="en-US" b="0" dirty="0">
                    <a:solidFill>
                      <a:srgbClr val="CBCBCB"/>
                    </a:solidFill>
                  </a:rPr>
                  <a:t> </a:t>
                </a:r>
              </a:p>
              <a:p>
                <a14:m>
                  <m:oMath xmlns:m="http://schemas.openxmlformats.org/officeDocument/2006/math">
                    <m:d>
                      <m:dPr>
                        <m:begChr m:val="["/>
                        <m:endChr m:val="]"/>
                        <m:ctrlPr>
                          <a:rPr lang="en-US" b="0" i="1" smtClean="0">
                            <a:solidFill>
                              <a:srgbClr val="CBCBCB"/>
                            </a:solidFill>
                            <a:latin typeface="Cambria Math" panose="02040503050406030204" pitchFamily="18" charset="0"/>
                          </a:rPr>
                        </m:ctrlPr>
                      </m:dPr>
                      <m:e>
                        <m:m>
                          <m:mPr>
                            <m:mcs>
                              <m:mc>
                                <m:mcPr>
                                  <m:count m:val="1"/>
                                  <m:mcJc m:val="center"/>
                                </m:mcPr>
                              </m:mc>
                            </m:mcs>
                            <m:ctrlPr>
                              <a:rPr lang="en-GB" i="1" smtClean="0">
                                <a:solidFill>
                                  <a:srgbClr val="CBCBCB"/>
                                </a:solidFill>
                                <a:latin typeface="Cambria Math" panose="02040503050406030204" pitchFamily="18" charset="0"/>
                              </a:rPr>
                            </m:ctrlPr>
                          </m:mPr>
                          <m:mr>
                            <m:e>
                              <m:r>
                                <m:rPr>
                                  <m:brk m:alnAt="7"/>
                                </m:rPr>
                                <a:rPr lang="en-US" b="0" i="1" smtClean="0">
                                  <a:solidFill>
                                    <a:srgbClr val="CBCBCB"/>
                                  </a:solidFill>
                                  <a:latin typeface="Cambria Math" panose="02040503050406030204" pitchFamily="18" charset="0"/>
                                </a:rPr>
                                <m:t>𝑥</m:t>
                              </m:r>
                            </m:e>
                          </m:mr>
                          <m:mr>
                            <m:e>
                              <m:r>
                                <a:rPr lang="en-US" b="0" i="1" smtClean="0">
                                  <a:solidFill>
                                    <a:srgbClr val="CBCBCB"/>
                                  </a:solidFill>
                                  <a:latin typeface="Cambria Math" panose="02040503050406030204" pitchFamily="18" charset="0"/>
                                </a:rPr>
                                <m:t>𝑦</m:t>
                              </m:r>
                            </m:e>
                          </m:mr>
                          <m:mr>
                            <m:e>
                              <m:r>
                                <a:rPr lang="en-US" b="0" i="1" smtClean="0">
                                  <a:solidFill>
                                    <a:srgbClr val="CBCBCB"/>
                                  </a:solidFill>
                                  <a:latin typeface="Cambria Math" panose="02040503050406030204" pitchFamily="18" charset="0"/>
                                </a:rPr>
                                <m:t>𝑧</m:t>
                              </m:r>
                            </m:e>
                          </m:mr>
                        </m:m>
                      </m:e>
                    </m:d>
                    <m:r>
                      <a:rPr lang="en-US" b="0" i="1" smtClean="0">
                        <a:solidFill>
                          <a:srgbClr val="CBCBCB"/>
                        </a:solidFill>
                        <a:latin typeface="Cambria Math" panose="02040503050406030204" pitchFamily="18" charset="0"/>
                      </a:rPr>
                      <m:t>=</m:t>
                    </m:r>
                    <m:r>
                      <a:rPr lang="en-US" b="0" i="1" smtClean="0">
                        <a:solidFill>
                          <a:srgbClr val="CBCBCB"/>
                        </a:solidFill>
                        <a:latin typeface="Cambria Math" panose="02040503050406030204" pitchFamily="18" charset="0"/>
                      </a:rPr>
                      <m:t>𝑠𝑖𝑛</m:t>
                    </m:r>
                    <m:d>
                      <m:dPr>
                        <m:ctrlPr>
                          <a:rPr lang="en-US" b="0" i="1" smtClean="0">
                            <a:solidFill>
                              <a:srgbClr val="CBCBCB"/>
                            </a:solidFill>
                            <a:latin typeface="Cambria Math" panose="02040503050406030204" pitchFamily="18" charset="0"/>
                          </a:rPr>
                        </m:ctrlPr>
                      </m:dPr>
                      <m:e>
                        <m:f>
                          <m:fPr>
                            <m:ctrlPr>
                              <a:rPr lang="en-US" b="0" i="1" smtClean="0">
                                <a:solidFill>
                                  <a:srgbClr val="CBCBCB"/>
                                </a:solidFill>
                                <a:latin typeface="Cambria Math" panose="02040503050406030204" pitchFamily="18" charset="0"/>
                              </a:rPr>
                            </m:ctrlPr>
                          </m:fPr>
                          <m:num>
                            <m:r>
                              <a:rPr lang="en-US" b="0" i="1" smtClean="0">
                                <a:solidFill>
                                  <a:srgbClr val="CBCBCB"/>
                                </a:solidFill>
                                <a:latin typeface="Cambria Math" panose="02040503050406030204" pitchFamily="18" charset="0"/>
                              </a:rPr>
                              <m:t>𝜃</m:t>
                            </m:r>
                          </m:num>
                          <m:den>
                            <m:r>
                              <a:rPr lang="en-US" b="0" i="1" smtClean="0">
                                <a:solidFill>
                                  <a:srgbClr val="CBCBCB"/>
                                </a:solidFill>
                                <a:latin typeface="Cambria Math" panose="02040503050406030204" pitchFamily="18" charset="0"/>
                              </a:rPr>
                              <m:t>2</m:t>
                            </m:r>
                          </m:den>
                        </m:f>
                      </m:e>
                    </m:d>
                    <m:acc>
                      <m:accPr>
                        <m:chr m:val="̂"/>
                        <m:ctrlPr>
                          <a:rPr lang="en-US" b="0" i="1" smtClean="0">
                            <a:solidFill>
                              <a:srgbClr val="CBCBCB"/>
                            </a:solidFill>
                            <a:latin typeface="Cambria Math" panose="02040503050406030204" pitchFamily="18" charset="0"/>
                          </a:rPr>
                        </m:ctrlPr>
                      </m:accPr>
                      <m:e>
                        <m:r>
                          <a:rPr lang="en-US" b="0" i="1" smtClean="0">
                            <a:solidFill>
                              <a:srgbClr val="CBCBCB"/>
                            </a:solidFill>
                            <a:latin typeface="Cambria Math" panose="02040503050406030204" pitchFamily="18" charset="0"/>
                          </a:rPr>
                          <m:t>𝑒</m:t>
                        </m:r>
                      </m:e>
                    </m:acc>
                  </m:oMath>
                </a14:m>
                <a:r>
                  <a:rPr lang="en-GB" dirty="0">
                    <a:solidFill>
                      <a:srgbClr val="CBCBCB"/>
                    </a:solidFill>
                  </a:rPr>
                  <a:t> </a:t>
                </a:r>
              </a:p>
            </p:txBody>
          </p:sp>
        </mc:Choice>
        <mc:Fallback xmlns="">
          <p:sp>
            <p:nvSpPr>
              <p:cNvPr id="28" name="TextBox 27">
                <a:extLst>
                  <a:ext uri="{FF2B5EF4-FFF2-40B4-BE49-F238E27FC236}">
                    <a16:creationId xmlns:a16="http://schemas.microsoft.com/office/drawing/2014/main" id="{61286A35-A736-2D0D-B118-8BC5BF66D628}"/>
                  </a:ext>
                </a:extLst>
              </p:cNvPr>
              <p:cNvSpPr txBox="1">
                <a:spLocks noRot="1" noChangeAspect="1" noMove="1" noResize="1" noEditPoints="1" noAdjustHandles="1" noChangeArrowheads="1" noChangeShapeType="1" noTextEdit="1"/>
              </p:cNvSpPr>
              <p:nvPr/>
            </p:nvSpPr>
            <p:spPr>
              <a:xfrm>
                <a:off x="1203526" y="3484633"/>
                <a:ext cx="1638773" cy="1191608"/>
              </a:xfrm>
              <a:prstGeom prst="rect">
                <a:avLst/>
              </a:prstGeom>
              <a:blipFill>
                <a:blip r:embed="rId8"/>
                <a:stretch>
                  <a:fillRect/>
                </a:stretch>
              </a:blipFill>
            </p:spPr>
            <p:txBody>
              <a:bodyPr/>
              <a:lstStyle/>
              <a:p>
                <a:r>
                  <a:rPr lang="en-GB">
                    <a:noFill/>
                  </a:rPr>
                  <a:t> </a:t>
                </a:r>
              </a:p>
            </p:txBody>
          </p:sp>
        </mc:Fallback>
      </mc:AlternateContent>
      <p:sp>
        <p:nvSpPr>
          <p:cNvPr id="2" name="Rectangle: Rounded Corners 1">
            <a:extLst>
              <a:ext uri="{FF2B5EF4-FFF2-40B4-BE49-F238E27FC236}">
                <a16:creationId xmlns:a16="http://schemas.microsoft.com/office/drawing/2014/main" id="{66DB9055-B63B-3938-A5D7-2DC1355AC0F6}"/>
              </a:ext>
            </a:extLst>
          </p:cNvPr>
          <p:cNvSpPr/>
          <p:nvPr/>
        </p:nvSpPr>
        <p:spPr>
          <a:xfrm>
            <a:off x="8281752" y="352077"/>
            <a:ext cx="2340363" cy="660640"/>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TaskTrajectoryGenerator</a:t>
            </a:r>
            <a:endParaRPr lang="en-GB" sz="1400" dirty="0">
              <a:solidFill>
                <a:srgbClr val="003399"/>
              </a:solidFill>
            </a:endParaRPr>
          </a:p>
        </p:txBody>
      </p:sp>
      <p:sp>
        <p:nvSpPr>
          <p:cNvPr id="8" name="Freeform 13">
            <a:extLst>
              <a:ext uri="{FF2B5EF4-FFF2-40B4-BE49-F238E27FC236}">
                <a16:creationId xmlns:a16="http://schemas.microsoft.com/office/drawing/2014/main" id="{FD48700D-EC20-0E61-C80B-A0EF6F01874F}"/>
              </a:ext>
            </a:extLst>
          </p:cNvPr>
          <p:cNvSpPr/>
          <p:nvPr/>
        </p:nvSpPr>
        <p:spPr>
          <a:xfrm>
            <a:off x="6880875" y="1759933"/>
            <a:ext cx="3831102" cy="3818900"/>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9"/>
            <a:stretch>
              <a:fillRect/>
            </a:stretch>
          </a:blipFill>
        </p:spPr>
        <p:txBody>
          <a:bodyPr/>
          <a:lstStyle/>
          <a:p>
            <a:endParaRPr lang="en-GB" dirty="0"/>
          </a:p>
        </p:txBody>
      </p:sp>
    </p:spTree>
    <p:extLst>
      <p:ext uri="{BB962C8B-B14F-4D97-AF65-F5344CB8AC3E}">
        <p14:creationId xmlns:p14="http://schemas.microsoft.com/office/powerpoint/2010/main" val="11608660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Rounded Corners 24">
            <a:extLst>
              <a:ext uri="{FF2B5EF4-FFF2-40B4-BE49-F238E27FC236}">
                <a16:creationId xmlns:a16="http://schemas.microsoft.com/office/drawing/2014/main" id="{E761714E-D62E-EFEE-8E9C-4DC3A350E9FA}"/>
              </a:ext>
            </a:extLst>
          </p:cNvPr>
          <p:cNvSpPr/>
          <p:nvPr/>
        </p:nvSpPr>
        <p:spPr>
          <a:xfrm>
            <a:off x="8292353" y="345766"/>
            <a:ext cx="2303929" cy="622422"/>
          </a:xfrm>
          <a:prstGeom prst="roundRect">
            <a:avLst/>
          </a:prstGeom>
          <a:solidFill>
            <a:srgbClr val="CDDCF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CubicOrientationSpline</a:t>
            </a:r>
            <a:endParaRPr lang="en-GB" sz="1200" dirty="0">
              <a:solidFill>
                <a:srgbClr val="003399"/>
              </a:solidFill>
            </a:endParaRPr>
          </a:p>
        </p:txBody>
      </p:sp>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Cubic Orientation Spline Algorithm </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42</a:t>
            </a:fld>
            <a:endParaRPr lang="en-US" dirty="0"/>
          </a:p>
        </p:txBody>
      </p:sp>
      <p:pic>
        <p:nvPicPr>
          <p:cNvPr id="12" name="Picture 11">
            <a:extLst>
              <a:ext uri="{FF2B5EF4-FFF2-40B4-BE49-F238E27FC236}">
                <a16:creationId xmlns:a16="http://schemas.microsoft.com/office/drawing/2014/main" id="{C7B3D8F0-D931-96C7-89EE-77D6334C086F}"/>
              </a:ext>
            </a:extLst>
          </p:cNvPr>
          <p:cNvPicPr>
            <a:picLocks noChangeAspect="1"/>
          </p:cNvPicPr>
          <p:nvPr/>
        </p:nvPicPr>
        <p:blipFill rotWithShape="1">
          <a:blip r:embed="rId3"/>
          <a:srcRect b="2673"/>
          <a:stretch/>
        </p:blipFill>
        <p:spPr>
          <a:xfrm>
            <a:off x="2105024" y="1008066"/>
            <a:ext cx="7801633" cy="5230810"/>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74D8C7D-FC47-675D-0B57-AFE0B569A344}"/>
                  </a:ext>
                </a:extLst>
              </p:cNvPr>
              <p:cNvSpPr txBox="1"/>
              <p:nvPr/>
            </p:nvSpPr>
            <p:spPr>
              <a:xfrm>
                <a:off x="3636376" y="5693734"/>
                <a:ext cx="733647" cy="241605"/>
              </a:xfrm>
              <a:prstGeom prst="rect">
                <a:avLst/>
              </a:prstGeom>
              <a:solidFill>
                <a:schemeClr val="bg1"/>
              </a:solid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AU" sz="1400" b="0" i="1" smtClean="0">
                              <a:solidFill>
                                <a:srgbClr val="2F2F2F"/>
                              </a:solidFill>
                              <a:latin typeface="Cambria Math" panose="02040503050406030204" pitchFamily="18" charset="0"/>
                            </a:rPr>
                          </m:ctrlPr>
                        </m:sSubPr>
                        <m:e>
                          <m:acc>
                            <m:accPr>
                              <m:chr m:val="⃗"/>
                              <m:ctrlPr>
                                <a:rPr lang="en-AU" sz="1400" i="1" smtClean="0">
                                  <a:solidFill>
                                    <a:srgbClr val="2F2F2F"/>
                                  </a:solidFill>
                                  <a:latin typeface="Cambria Math" panose="02040503050406030204" pitchFamily="18" charset="0"/>
                                </a:rPr>
                              </m:ctrlPr>
                            </m:accPr>
                            <m:e>
                              <m:r>
                                <a:rPr lang="en-AU" sz="1400" b="0" i="1" smtClean="0">
                                  <a:solidFill>
                                    <a:srgbClr val="2F2F2F"/>
                                  </a:solidFill>
                                  <a:latin typeface="Cambria Math" panose="02040503050406030204" pitchFamily="18" charset="0"/>
                                </a:rPr>
                                <m:t>𝑅</m:t>
                              </m:r>
                            </m:e>
                          </m:acc>
                        </m:e>
                        <m:sub>
                          <m:r>
                            <a:rPr lang="en-AU" sz="1400" b="0" i="1" smtClean="0">
                              <a:solidFill>
                                <a:srgbClr val="2F2F2F"/>
                              </a:solidFill>
                              <a:latin typeface="Cambria Math" panose="02040503050406030204" pitchFamily="18" charset="0"/>
                            </a:rPr>
                            <m:t>1</m:t>
                          </m:r>
                        </m:sub>
                      </m:sSub>
                      <m:d>
                        <m:dPr>
                          <m:ctrlPr>
                            <a:rPr lang="en-AU" sz="1400" b="0" i="1" smtClean="0">
                              <a:solidFill>
                                <a:srgbClr val="2F2F2F"/>
                              </a:solidFill>
                              <a:latin typeface="Cambria Math" panose="02040503050406030204" pitchFamily="18" charset="0"/>
                            </a:rPr>
                          </m:ctrlPr>
                        </m:dPr>
                        <m:e>
                          <m:r>
                            <a:rPr lang="en-AU" sz="1400" b="0" i="1" smtClean="0">
                              <a:solidFill>
                                <a:srgbClr val="2F2F2F"/>
                              </a:solidFill>
                              <a:latin typeface="Cambria Math" panose="02040503050406030204" pitchFamily="18" charset="0"/>
                            </a:rPr>
                            <m:t>𝑡</m:t>
                          </m:r>
                        </m:e>
                      </m:d>
                    </m:oMath>
                  </m:oMathPara>
                </a14:m>
                <a:endParaRPr lang="en-AU" sz="1400" dirty="0">
                  <a:solidFill>
                    <a:srgbClr val="2F2F2F"/>
                  </a:solidFill>
                </a:endParaRPr>
              </a:p>
            </p:txBody>
          </p:sp>
        </mc:Choice>
        <mc:Fallback xmlns="">
          <p:sp>
            <p:nvSpPr>
              <p:cNvPr id="2" name="TextBox 1">
                <a:extLst>
                  <a:ext uri="{FF2B5EF4-FFF2-40B4-BE49-F238E27FC236}">
                    <a16:creationId xmlns:a16="http://schemas.microsoft.com/office/drawing/2014/main" id="{374D8C7D-FC47-675D-0B57-AFE0B569A344}"/>
                  </a:ext>
                </a:extLst>
              </p:cNvPr>
              <p:cNvSpPr txBox="1">
                <a:spLocks noRot="1" noChangeAspect="1" noMove="1" noResize="1" noEditPoints="1" noAdjustHandles="1" noChangeArrowheads="1" noChangeShapeType="1" noTextEdit="1"/>
              </p:cNvSpPr>
              <p:nvPr/>
            </p:nvSpPr>
            <p:spPr>
              <a:xfrm>
                <a:off x="3636376" y="5693734"/>
                <a:ext cx="733647" cy="241605"/>
              </a:xfrm>
              <a:prstGeom prst="rect">
                <a:avLst/>
              </a:prstGeom>
              <a:blipFill>
                <a:blip r:embed="rId4"/>
                <a:stretch>
                  <a:fillRect b="-15000"/>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32D627A-2CC0-E84A-D151-4C86D306554C}"/>
                  </a:ext>
                </a:extLst>
              </p:cNvPr>
              <p:cNvSpPr txBox="1"/>
              <p:nvPr/>
            </p:nvSpPr>
            <p:spPr>
              <a:xfrm>
                <a:off x="5073206" y="5693733"/>
                <a:ext cx="733647" cy="241605"/>
              </a:xfrm>
              <a:prstGeom prst="rect">
                <a:avLst/>
              </a:prstGeom>
              <a:solidFill>
                <a:schemeClr val="bg1"/>
              </a:solid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AU" sz="1400" b="0" i="1" smtClean="0">
                              <a:solidFill>
                                <a:srgbClr val="2F2F2F"/>
                              </a:solidFill>
                              <a:latin typeface="Cambria Math" panose="02040503050406030204" pitchFamily="18" charset="0"/>
                            </a:rPr>
                          </m:ctrlPr>
                        </m:sSubPr>
                        <m:e>
                          <m:acc>
                            <m:accPr>
                              <m:chr m:val="⃗"/>
                              <m:ctrlPr>
                                <a:rPr lang="en-AU" sz="1400" i="1" smtClean="0">
                                  <a:solidFill>
                                    <a:srgbClr val="2F2F2F"/>
                                  </a:solidFill>
                                  <a:latin typeface="Cambria Math" panose="02040503050406030204" pitchFamily="18" charset="0"/>
                                </a:rPr>
                              </m:ctrlPr>
                            </m:accPr>
                            <m:e>
                              <m:r>
                                <a:rPr lang="en-AU" sz="1400" b="0" i="1" smtClean="0">
                                  <a:solidFill>
                                    <a:srgbClr val="2F2F2F"/>
                                  </a:solidFill>
                                  <a:latin typeface="Cambria Math" panose="02040503050406030204" pitchFamily="18" charset="0"/>
                                </a:rPr>
                                <m:t>𝑅</m:t>
                              </m:r>
                            </m:e>
                          </m:acc>
                        </m:e>
                        <m:sub>
                          <m:r>
                            <a:rPr lang="en-AU" sz="1400" b="0" i="1" smtClean="0">
                              <a:solidFill>
                                <a:srgbClr val="2F2F2F"/>
                              </a:solidFill>
                              <a:latin typeface="Cambria Math" panose="02040503050406030204" pitchFamily="18" charset="0"/>
                            </a:rPr>
                            <m:t>2</m:t>
                          </m:r>
                        </m:sub>
                      </m:sSub>
                      <m:d>
                        <m:dPr>
                          <m:ctrlPr>
                            <a:rPr lang="en-AU" sz="1400" b="0" i="1" smtClean="0">
                              <a:solidFill>
                                <a:srgbClr val="2F2F2F"/>
                              </a:solidFill>
                              <a:latin typeface="Cambria Math" panose="02040503050406030204" pitchFamily="18" charset="0"/>
                            </a:rPr>
                          </m:ctrlPr>
                        </m:dPr>
                        <m:e>
                          <m:r>
                            <a:rPr lang="en-AU" sz="1400" b="0" i="1" smtClean="0">
                              <a:solidFill>
                                <a:srgbClr val="2F2F2F"/>
                              </a:solidFill>
                              <a:latin typeface="Cambria Math" panose="02040503050406030204" pitchFamily="18" charset="0"/>
                            </a:rPr>
                            <m:t>𝑡</m:t>
                          </m:r>
                        </m:e>
                      </m:d>
                    </m:oMath>
                  </m:oMathPara>
                </a14:m>
                <a:endParaRPr lang="en-AU" sz="1400" dirty="0">
                  <a:solidFill>
                    <a:srgbClr val="2F2F2F"/>
                  </a:solidFill>
                </a:endParaRPr>
              </a:p>
            </p:txBody>
          </p:sp>
        </mc:Choice>
        <mc:Fallback xmlns="">
          <p:sp>
            <p:nvSpPr>
              <p:cNvPr id="7" name="TextBox 6">
                <a:extLst>
                  <a:ext uri="{FF2B5EF4-FFF2-40B4-BE49-F238E27FC236}">
                    <a16:creationId xmlns:a16="http://schemas.microsoft.com/office/drawing/2014/main" id="{232D627A-2CC0-E84A-D151-4C86D306554C}"/>
                  </a:ext>
                </a:extLst>
              </p:cNvPr>
              <p:cNvSpPr txBox="1">
                <a:spLocks noRot="1" noChangeAspect="1" noMove="1" noResize="1" noEditPoints="1" noAdjustHandles="1" noChangeArrowheads="1" noChangeShapeType="1" noTextEdit="1"/>
              </p:cNvSpPr>
              <p:nvPr/>
            </p:nvSpPr>
            <p:spPr>
              <a:xfrm>
                <a:off x="5073206" y="5693733"/>
                <a:ext cx="733647" cy="241605"/>
              </a:xfrm>
              <a:prstGeom prst="rect">
                <a:avLst/>
              </a:prstGeom>
              <a:blipFill>
                <a:blip r:embed="rId5"/>
                <a:stretch>
                  <a:fillRect b="-15000"/>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8C7B044-B1D3-C953-B5FE-A892E28C4A80}"/>
                  </a:ext>
                </a:extLst>
              </p:cNvPr>
              <p:cNvSpPr txBox="1"/>
              <p:nvPr/>
            </p:nvSpPr>
            <p:spPr>
              <a:xfrm>
                <a:off x="6542650" y="5693732"/>
                <a:ext cx="733647" cy="241605"/>
              </a:xfrm>
              <a:prstGeom prst="rect">
                <a:avLst/>
              </a:prstGeom>
              <a:solidFill>
                <a:schemeClr val="bg1"/>
              </a:solid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AU" sz="1400" b="0" i="1" smtClean="0">
                              <a:solidFill>
                                <a:srgbClr val="2F2F2F"/>
                              </a:solidFill>
                              <a:latin typeface="Cambria Math" panose="02040503050406030204" pitchFamily="18" charset="0"/>
                            </a:rPr>
                          </m:ctrlPr>
                        </m:sSubPr>
                        <m:e>
                          <m:acc>
                            <m:accPr>
                              <m:chr m:val="⃗"/>
                              <m:ctrlPr>
                                <a:rPr lang="en-AU" sz="1400" i="1" smtClean="0">
                                  <a:solidFill>
                                    <a:srgbClr val="2F2F2F"/>
                                  </a:solidFill>
                                  <a:latin typeface="Cambria Math" panose="02040503050406030204" pitchFamily="18" charset="0"/>
                                </a:rPr>
                              </m:ctrlPr>
                            </m:accPr>
                            <m:e>
                              <m:r>
                                <a:rPr lang="en-AU" sz="1400" b="0" i="1" smtClean="0">
                                  <a:solidFill>
                                    <a:srgbClr val="2F2F2F"/>
                                  </a:solidFill>
                                  <a:latin typeface="Cambria Math" panose="02040503050406030204" pitchFamily="18" charset="0"/>
                                </a:rPr>
                                <m:t>𝑅</m:t>
                              </m:r>
                            </m:e>
                          </m:acc>
                        </m:e>
                        <m:sub>
                          <m:r>
                            <a:rPr lang="en-AU" sz="1400" b="0" i="1" smtClean="0">
                              <a:solidFill>
                                <a:srgbClr val="2F2F2F"/>
                              </a:solidFill>
                              <a:latin typeface="Cambria Math" panose="02040503050406030204" pitchFamily="18" charset="0"/>
                            </a:rPr>
                            <m:t>3</m:t>
                          </m:r>
                        </m:sub>
                      </m:sSub>
                      <m:d>
                        <m:dPr>
                          <m:ctrlPr>
                            <a:rPr lang="en-AU" sz="1400" b="0" i="1" smtClean="0">
                              <a:solidFill>
                                <a:srgbClr val="2F2F2F"/>
                              </a:solidFill>
                              <a:latin typeface="Cambria Math" panose="02040503050406030204" pitchFamily="18" charset="0"/>
                            </a:rPr>
                          </m:ctrlPr>
                        </m:dPr>
                        <m:e>
                          <m:r>
                            <a:rPr lang="en-AU" sz="1400" b="0" i="1" smtClean="0">
                              <a:solidFill>
                                <a:srgbClr val="2F2F2F"/>
                              </a:solidFill>
                              <a:latin typeface="Cambria Math" panose="02040503050406030204" pitchFamily="18" charset="0"/>
                            </a:rPr>
                            <m:t>𝑡</m:t>
                          </m:r>
                        </m:e>
                      </m:d>
                    </m:oMath>
                  </m:oMathPara>
                </a14:m>
                <a:endParaRPr lang="en-AU" sz="1400" dirty="0">
                  <a:solidFill>
                    <a:srgbClr val="2F2F2F"/>
                  </a:solidFill>
                </a:endParaRPr>
              </a:p>
            </p:txBody>
          </p:sp>
        </mc:Choice>
        <mc:Fallback xmlns="">
          <p:sp>
            <p:nvSpPr>
              <p:cNvPr id="8" name="TextBox 7">
                <a:extLst>
                  <a:ext uri="{FF2B5EF4-FFF2-40B4-BE49-F238E27FC236}">
                    <a16:creationId xmlns:a16="http://schemas.microsoft.com/office/drawing/2014/main" id="{68C7B044-B1D3-C953-B5FE-A892E28C4A80}"/>
                  </a:ext>
                </a:extLst>
              </p:cNvPr>
              <p:cNvSpPr txBox="1">
                <a:spLocks noRot="1" noChangeAspect="1" noMove="1" noResize="1" noEditPoints="1" noAdjustHandles="1" noChangeArrowheads="1" noChangeShapeType="1" noTextEdit="1"/>
              </p:cNvSpPr>
              <p:nvPr/>
            </p:nvSpPr>
            <p:spPr>
              <a:xfrm>
                <a:off x="6542650" y="5693732"/>
                <a:ext cx="733647" cy="241605"/>
              </a:xfrm>
              <a:prstGeom prst="rect">
                <a:avLst/>
              </a:prstGeom>
              <a:blipFill>
                <a:blip r:embed="rId6"/>
                <a:stretch>
                  <a:fillRect b="-15000"/>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3801F85-9FEB-7E2B-4085-462FC6C12DC0}"/>
                  </a:ext>
                </a:extLst>
              </p:cNvPr>
              <p:cNvSpPr txBox="1"/>
              <p:nvPr/>
            </p:nvSpPr>
            <p:spPr>
              <a:xfrm>
                <a:off x="7925529" y="5697668"/>
                <a:ext cx="733647" cy="241605"/>
              </a:xfrm>
              <a:prstGeom prst="rect">
                <a:avLst/>
              </a:prstGeom>
              <a:solidFill>
                <a:schemeClr val="bg1"/>
              </a:solid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AU" sz="1400" b="0" i="1" smtClean="0">
                              <a:solidFill>
                                <a:srgbClr val="2F2F2F"/>
                              </a:solidFill>
                              <a:latin typeface="Cambria Math" panose="02040503050406030204" pitchFamily="18" charset="0"/>
                            </a:rPr>
                          </m:ctrlPr>
                        </m:sSubPr>
                        <m:e>
                          <m:acc>
                            <m:accPr>
                              <m:chr m:val="⃗"/>
                              <m:ctrlPr>
                                <a:rPr lang="en-AU" sz="1400" i="1" smtClean="0">
                                  <a:solidFill>
                                    <a:srgbClr val="2F2F2F"/>
                                  </a:solidFill>
                                  <a:latin typeface="Cambria Math" panose="02040503050406030204" pitchFamily="18" charset="0"/>
                                </a:rPr>
                              </m:ctrlPr>
                            </m:accPr>
                            <m:e>
                              <m:r>
                                <a:rPr lang="en-AU" sz="1400" b="0" i="1" smtClean="0">
                                  <a:solidFill>
                                    <a:srgbClr val="2F2F2F"/>
                                  </a:solidFill>
                                  <a:latin typeface="Cambria Math" panose="02040503050406030204" pitchFamily="18" charset="0"/>
                                </a:rPr>
                                <m:t>𝑅</m:t>
                              </m:r>
                            </m:e>
                          </m:acc>
                        </m:e>
                        <m:sub>
                          <m:r>
                            <a:rPr lang="en-AU" sz="1400" b="0" i="1" smtClean="0">
                              <a:solidFill>
                                <a:srgbClr val="2F2F2F"/>
                              </a:solidFill>
                              <a:latin typeface="Cambria Math" panose="02040503050406030204" pitchFamily="18" charset="0"/>
                            </a:rPr>
                            <m:t>4</m:t>
                          </m:r>
                        </m:sub>
                      </m:sSub>
                      <m:d>
                        <m:dPr>
                          <m:ctrlPr>
                            <a:rPr lang="en-AU" sz="1400" b="0" i="1" smtClean="0">
                              <a:solidFill>
                                <a:srgbClr val="2F2F2F"/>
                              </a:solidFill>
                              <a:latin typeface="Cambria Math" panose="02040503050406030204" pitchFamily="18" charset="0"/>
                            </a:rPr>
                          </m:ctrlPr>
                        </m:dPr>
                        <m:e>
                          <m:r>
                            <a:rPr lang="en-AU" sz="1400" b="0" i="1" smtClean="0">
                              <a:solidFill>
                                <a:srgbClr val="2F2F2F"/>
                              </a:solidFill>
                              <a:latin typeface="Cambria Math" panose="02040503050406030204" pitchFamily="18" charset="0"/>
                            </a:rPr>
                            <m:t>𝑡</m:t>
                          </m:r>
                        </m:e>
                      </m:d>
                    </m:oMath>
                  </m:oMathPara>
                </a14:m>
                <a:endParaRPr lang="en-AU" sz="1400" dirty="0">
                  <a:solidFill>
                    <a:srgbClr val="2F2F2F"/>
                  </a:solidFill>
                </a:endParaRPr>
              </a:p>
            </p:txBody>
          </p:sp>
        </mc:Choice>
        <mc:Fallback xmlns="">
          <p:sp>
            <p:nvSpPr>
              <p:cNvPr id="9" name="TextBox 8">
                <a:extLst>
                  <a:ext uri="{FF2B5EF4-FFF2-40B4-BE49-F238E27FC236}">
                    <a16:creationId xmlns:a16="http://schemas.microsoft.com/office/drawing/2014/main" id="{93801F85-9FEB-7E2B-4085-462FC6C12DC0}"/>
                  </a:ext>
                </a:extLst>
              </p:cNvPr>
              <p:cNvSpPr txBox="1">
                <a:spLocks noRot="1" noChangeAspect="1" noMove="1" noResize="1" noEditPoints="1" noAdjustHandles="1" noChangeArrowheads="1" noChangeShapeType="1" noTextEdit="1"/>
              </p:cNvSpPr>
              <p:nvPr/>
            </p:nvSpPr>
            <p:spPr>
              <a:xfrm>
                <a:off x="7925529" y="5697668"/>
                <a:ext cx="733647" cy="241605"/>
              </a:xfrm>
              <a:prstGeom prst="rect">
                <a:avLst/>
              </a:prstGeom>
              <a:blipFill>
                <a:blip r:embed="rId7"/>
                <a:stretch>
                  <a:fillRect b="-17949"/>
                </a:stretch>
              </a:blipFill>
            </p:spPr>
            <p:txBody>
              <a:bodyPr/>
              <a:lstStyle/>
              <a:p>
                <a:r>
                  <a:rPr lang="en-AU">
                    <a:noFill/>
                  </a:rPr>
                  <a:t> </a:t>
                </a:r>
              </a:p>
            </p:txBody>
          </p:sp>
        </mc:Fallback>
      </mc:AlternateContent>
    </p:spTree>
    <p:extLst>
      <p:ext uri="{BB962C8B-B14F-4D97-AF65-F5344CB8AC3E}">
        <p14:creationId xmlns:p14="http://schemas.microsoft.com/office/powerpoint/2010/main" val="275055980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8" name="Group 127">
            <a:extLst>
              <a:ext uri="{FF2B5EF4-FFF2-40B4-BE49-F238E27FC236}">
                <a16:creationId xmlns:a16="http://schemas.microsoft.com/office/drawing/2014/main" id="{340693A8-A7F1-E567-9BCE-4AC2FEA85FC4}"/>
              </a:ext>
            </a:extLst>
          </p:cNvPr>
          <p:cNvGrpSpPr/>
          <p:nvPr/>
        </p:nvGrpSpPr>
        <p:grpSpPr>
          <a:xfrm rot="18885688">
            <a:off x="3519256" y="2299452"/>
            <a:ext cx="1021929" cy="1522466"/>
            <a:chOff x="1071439" y="1596445"/>
            <a:chExt cx="1021929" cy="1522466"/>
          </a:xfrm>
        </p:grpSpPr>
        <p:cxnSp>
          <p:nvCxnSpPr>
            <p:cNvPr id="129" name="Straight Arrow Connector 128">
              <a:extLst>
                <a:ext uri="{FF2B5EF4-FFF2-40B4-BE49-F238E27FC236}">
                  <a16:creationId xmlns:a16="http://schemas.microsoft.com/office/drawing/2014/main" id="{8C6C039A-562D-D34F-6A4F-EA20D3FF225D}"/>
                </a:ext>
              </a:extLst>
            </p:cNvPr>
            <p:cNvCxnSpPr>
              <a:cxnSpLocks/>
            </p:cNvCxnSpPr>
            <p:nvPr/>
          </p:nvCxnSpPr>
          <p:spPr>
            <a:xfrm flipH="1">
              <a:off x="1628009" y="2600340"/>
              <a:ext cx="460955" cy="51857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ED2B3468-DB03-0313-79C2-78144EFEF7E1}"/>
                </a:ext>
              </a:extLst>
            </p:cNvPr>
            <p:cNvCxnSpPr/>
            <p:nvPr/>
          </p:nvCxnSpPr>
          <p:spPr>
            <a:xfrm flipV="1">
              <a:off x="2088964" y="1596445"/>
              <a:ext cx="0" cy="101438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68960DC9-0BD1-B912-EE48-18A4D7B8AA23}"/>
                </a:ext>
              </a:extLst>
            </p:cNvPr>
            <p:cNvCxnSpPr>
              <a:cxnSpLocks/>
            </p:cNvCxnSpPr>
            <p:nvPr/>
          </p:nvCxnSpPr>
          <p:spPr>
            <a:xfrm flipH="1">
              <a:off x="1071439" y="2600340"/>
              <a:ext cx="102192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786107"/>
          </a:xfrm>
        </p:spPr>
        <p:txBody>
          <a:bodyPr/>
          <a:lstStyle/>
          <a:p>
            <a:r>
              <a:rPr lang="en-US" dirty="0"/>
              <a:t>Cubic Orientation Spline Algorithm </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43</a:t>
            </a:fld>
            <a:endParaRPr lang="en-US" dirty="0"/>
          </a:p>
        </p:txBody>
      </p:sp>
      <p:sp>
        <p:nvSpPr>
          <p:cNvPr id="9" name="Rectangle: Rounded Corners 8">
            <a:extLst>
              <a:ext uri="{FF2B5EF4-FFF2-40B4-BE49-F238E27FC236}">
                <a16:creationId xmlns:a16="http://schemas.microsoft.com/office/drawing/2014/main" id="{B57F9A30-FFD9-84B0-88A3-7D6F60558107}"/>
              </a:ext>
            </a:extLst>
          </p:cNvPr>
          <p:cNvSpPr/>
          <p:nvPr/>
        </p:nvSpPr>
        <p:spPr>
          <a:xfrm>
            <a:off x="8292353" y="345766"/>
            <a:ext cx="2303929" cy="622422"/>
          </a:xfrm>
          <a:prstGeom prst="roundRect">
            <a:avLst/>
          </a:prstGeom>
          <a:solidFill>
            <a:srgbClr val="CDDCF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CubicOrientationSpline</a:t>
            </a:r>
            <a:endParaRPr lang="en-GB" sz="1200" dirty="0">
              <a:solidFill>
                <a:srgbClr val="003399"/>
              </a:solidFill>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8D8F7A8-093E-5F3E-9C29-EE5E44736851}"/>
                  </a:ext>
                </a:extLst>
              </p:cNvPr>
              <p:cNvSpPr txBox="1"/>
              <p:nvPr/>
            </p:nvSpPr>
            <p:spPr>
              <a:xfrm>
                <a:off x="7174259" y="1781991"/>
                <a:ext cx="2977228"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𝑞</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𝑡</m:t>
                          </m:r>
                        </m:e>
                      </m:d>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𝑞</m:t>
                          </m:r>
                        </m:e>
                        <m:sub>
                          <m:r>
                            <a:rPr lang="en-US" b="0" i="1" smtClean="0">
                              <a:solidFill>
                                <a:schemeClr val="tx1"/>
                              </a:solidFill>
                              <a:latin typeface="Cambria Math" panose="02040503050406030204" pitchFamily="18" charset="0"/>
                            </a:rPr>
                            <m:t>𝑖</m:t>
                          </m:r>
                        </m:sub>
                      </m:sSub>
                      <m:r>
                        <m:rPr>
                          <m:sty m:val="p"/>
                        </m:rPr>
                        <a:rPr lang="en-US" b="0" i="0" smtClean="0">
                          <a:solidFill>
                            <a:schemeClr val="tx1"/>
                          </a:solidFill>
                          <a:latin typeface="Cambria Math" panose="02040503050406030204" pitchFamily="18" charset="0"/>
                        </a:rPr>
                        <m:t>Δ</m:t>
                      </m:r>
                      <m:r>
                        <a:rPr lang="en-US" b="0" i="1" smtClean="0">
                          <a:solidFill>
                            <a:schemeClr val="tx1"/>
                          </a:solidFill>
                          <a:latin typeface="Cambria Math" panose="02040503050406030204" pitchFamily="18" charset="0"/>
                        </a:rPr>
                        <m:t>𝑞</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𝑡</m:t>
                      </m:r>
                      <m:r>
                        <a:rPr lang="en-US" b="0" i="1" smtClean="0">
                          <a:solidFill>
                            <a:schemeClr val="tx1"/>
                          </a:solidFill>
                          <a:latin typeface="Cambria Math" panose="02040503050406030204" pitchFamily="18" charset="0"/>
                        </a:rPr>
                        <m:t>)</m:t>
                      </m:r>
                    </m:oMath>
                  </m:oMathPara>
                </a14:m>
                <a:endParaRPr lang="en-GB" dirty="0">
                  <a:solidFill>
                    <a:schemeClr val="tx1"/>
                  </a:solidFill>
                </a:endParaRPr>
              </a:p>
            </p:txBody>
          </p:sp>
        </mc:Choice>
        <mc:Fallback xmlns="">
          <p:sp>
            <p:nvSpPr>
              <p:cNvPr id="7" name="TextBox 6">
                <a:extLst>
                  <a:ext uri="{FF2B5EF4-FFF2-40B4-BE49-F238E27FC236}">
                    <a16:creationId xmlns:a16="http://schemas.microsoft.com/office/drawing/2014/main" id="{68D8F7A8-093E-5F3E-9C29-EE5E44736851}"/>
                  </a:ext>
                </a:extLst>
              </p:cNvPr>
              <p:cNvSpPr txBox="1">
                <a:spLocks noRot="1" noChangeAspect="1" noMove="1" noResize="1" noEditPoints="1" noAdjustHandles="1" noChangeArrowheads="1" noChangeShapeType="1" noTextEdit="1"/>
              </p:cNvSpPr>
              <p:nvPr/>
            </p:nvSpPr>
            <p:spPr>
              <a:xfrm>
                <a:off x="7174259" y="1781991"/>
                <a:ext cx="2977228" cy="276999"/>
              </a:xfrm>
              <a:prstGeom prst="rect">
                <a:avLst/>
              </a:prstGeom>
              <a:blipFill>
                <a:blip r:embed="rId3"/>
                <a:stretch>
                  <a:fillRect b="-34783"/>
                </a:stretch>
              </a:blipFill>
            </p:spPr>
            <p:txBody>
              <a:bodyPr/>
              <a:lstStyle/>
              <a:p>
                <a:r>
                  <a:rPr lang="en-GB">
                    <a:noFill/>
                  </a:rPr>
                  <a:t> </a:t>
                </a:r>
              </a:p>
            </p:txBody>
          </p:sp>
        </mc:Fallback>
      </mc:AlternateContent>
      <p:grpSp>
        <p:nvGrpSpPr>
          <p:cNvPr id="127" name="Group 126">
            <a:extLst>
              <a:ext uri="{FF2B5EF4-FFF2-40B4-BE49-F238E27FC236}">
                <a16:creationId xmlns:a16="http://schemas.microsoft.com/office/drawing/2014/main" id="{7830E2C3-32B7-EF83-E732-553A03124E25}"/>
              </a:ext>
            </a:extLst>
          </p:cNvPr>
          <p:cNvGrpSpPr/>
          <p:nvPr/>
        </p:nvGrpSpPr>
        <p:grpSpPr>
          <a:xfrm>
            <a:off x="1695692" y="2933394"/>
            <a:ext cx="1021929" cy="1522466"/>
            <a:chOff x="1071439" y="1596445"/>
            <a:chExt cx="1021929" cy="1522466"/>
          </a:xfrm>
        </p:grpSpPr>
        <p:cxnSp>
          <p:nvCxnSpPr>
            <p:cNvPr id="124" name="Straight Arrow Connector 123">
              <a:extLst>
                <a:ext uri="{FF2B5EF4-FFF2-40B4-BE49-F238E27FC236}">
                  <a16:creationId xmlns:a16="http://schemas.microsoft.com/office/drawing/2014/main" id="{B5E0BB66-A256-E621-69C5-EBC2F5EB68F0}"/>
                </a:ext>
              </a:extLst>
            </p:cNvPr>
            <p:cNvCxnSpPr>
              <a:cxnSpLocks/>
            </p:cNvCxnSpPr>
            <p:nvPr/>
          </p:nvCxnSpPr>
          <p:spPr>
            <a:xfrm flipH="1">
              <a:off x="1628009" y="2600340"/>
              <a:ext cx="460955" cy="51857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38EF1EC4-31B9-F7DE-ED4C-04EE8801065A}"/>
                </a:ext>
              </a:extLst>
            </p:cNvPr>
            <p:cNvCxnSpPr/>
            <p:nvPr/>
          </p:nvCxnSpPr>
          <p:spPr>
            <a:xfrm flipV="1">
              <a:off x="2088964" y="1596445"/>
              <a:ext cx="0" cy="101438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FA7B4B5D-FB9C-8B0A-50E7-E2D5E08969D9}"/>
                </a:ext>
              </a:extLst>
            </p:cNvPr>
            <p:cNvCxnSpPr>
              <a:cxnSpLocks/>
            </p:cNvCxnSpPr>
            <p:nvPr/>
          </p:nvCxnSpPr>
          <p:spPr>
            <a:xfrm flipH="1">
              <a:off x="1071439" y="2600340"/>
              <a:ext cx="102192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50" name="Arrow: Curved Down 149">
            <a:extLst>
              <a:ext uri="{FF2B5EF4-FFF2-40B4-BE49-F238E27FC236}">
                <a16:creationId xmlns:a16="http://schemas.microsoft.com/office/drawing/2014/main" id="{1E32A8D0-1006-1870-CDDC-CD18AC97D344}"/>
              </a:ext>
            </a:extLst>
          </p:cNvPr>
          <p:cNvSpPr/>
          <p:nvPr/>
        </p:nvSpPr>
        <p:spPr>
          <a:xfrm rot="19977682" flipV="1">
            <a:off x="2878089" y="3405434"/>
            <a:ext cx="2319071" cy="1092550"/>
          </a:xfrm>
          <a:prstGeom prst="curvedDownArrow">
            <a:avLst>
              <a:gd name="adj1" fmla="val 0"/>
              <a:gd name="adj2" fmla="val 21287"/>
              <a:gd name="adj3" fmla="val 11700"/>
            </a:avLst>
          </a:prstGeom>
          <a:solidFill>
            <a:srgbClr val="000000"/>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mc:AlternateContent xmlns:mc="http://schemas.openxmlformats.org/markup-compatibility/2006" xmlns:a14="http://schemas.microsoft.com/office/drawing/2010/main">
        <mc:Choice Requires="a14">
          <p:sp>
            <p:nvSpPr>
              <p:cNvPr id="151" name="TextBox 150">
                <a:extLst>
                  <a:ext uri="{FF2B5EF4-FFF2-40B4-BE49-F238E27FC236}">
                    <a16:creationId xmlns:a16="http://schemas.microsoft.com/office/drawing/2014/main" id="{EB395618-EE4B-C30E-BB34-BDB47CFE4E3A}"/>
                  </a:ext>
                </a:extLst>
              </p:cNvPr>
              <p:cNvSpPr txBox="1"/>
              <p:nvPr/>
            </p:nvSpPr>
            <p:spPr>
              <a:xfrm>
                <a:off x="4116388" y="4537509"/>
                <a:ext cx="542760"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m:rPr>
                          <m:sty m:val="p"/>
                        </m:rPr>
                        <a:rPr lang="en-US" b="0" i="0" smtClean="0">
                          <a:solidFill>
                            <a:schemeClr val="tx2"/>
                          </a:solidFill>
                          <a:latin typeface="Cambria Math" panose="02040503050406030204" pitchFamily="18" charset="0"/>
                        </a:rPr>
                        <m:t>Δ</m:t>
                      </m:r>
                      <m:r>
                        <a:rPr lang="en-US" b="0" i="1" smtClean="0">
                          <a:solidFill>
                            <a:schemeClr val="tx2"/>
                          </a:solidFill>
                          <a:latin typeface="Cambria Math" panose="02040503050406030204" pitchFamily="18" charset="0"/>
                        </a:rPr>
                        <m:t>𝑞</m:t>
                      </m:r>
                      <m:r>
                        <a:rPr lang="en-US" b="0" i="1" smtClean="0">
                          <a:solidFill>
                            <a:schemeClr val="tx2"/>
                          </a:solidFill>
                          <a:latin typeface="Cambria Math" panose="02040503050406030204" pitchFamily="18" charset="0"/>
                        </a:rPr>
                        <m:t>(</m:t>
                      </m:r>
                      <m:r>
                        <a:rPr lang="en-US" b="0" i="1" smtClean="0">
                          <a:solidFill>
                            <a:schemeClr val="tx2"/>
                          </a:solidFill>
                          <a:latin typeface="Cambria Math" panose="02040503050406030204" pitchFamily="18" charset="0"/>
                        </a:rPr>
                        <m:t>𝑡</m:t>
                      </m:r>
                      <m:r>
                        <a:rPr lang="en-US" b="0" i="1" smtClean="0">
                          <a:solidFill>
                            <a:schemeClr val="tx2"/>
                          </a:solidFill>
                          <a:latin typeface="Cambria Math" panose="02040503050406030204" pitchFamily="18" charset="0"/>
                        </a:rPr>
                        <m:t>)</m:t>
                      </m:r>
                    </m:oMath>
                  </m:oMathPara>
                </a14:m>
                <a:endParaRPr lang="en-GB" dirty="0">
                  <a:solidFill>
                    <a:schemeClr val="tx2"/>
                  </a:solidFill>
                </a:endParaRPr>
              </a:p>
            </p:txBody>
          </p:sp>
        </mc:Choice>
        <mc:Fallback xmlns="">
          <p:sp>
            <p:nvSpPr>
              <p:cNvPr id="151" name="TextBox 150">
                <a:extLst>
                  <a:ext uri="{FF2B5EF4-FFF2-40B4-BE49-F238E27FC236}">
                    <a16:creationId xmlns:a16="http://schemas.microsoft.com/office/drawing/2014/main" id="{EB395618-EE4B-C30E-BB34-BDB47CFE4E3A}"/>
                  </a:ext>
                </a:extLst>
              </p:cNvPr>
              <p:cNvSpPr txBox="1">
                <a:spLocks noRot="1" noChangeAspect="1" noMove="1" noResize="1" noEditPoints="1" noAdjustHandles="1" noChangeArrowheads="1" noChangeShapeType="1" noTextEdit="1"/>
              </p:cNvSpPr>
              <p:nvPr/>
            </p:nvSpPr>
            <p:spPr>
              <a:xfrm>
                <a:off x="4116388" y="4537509"/>
                <a:ext cx="542760" cy="276999"/>
              </a:xfrm>
              <a:prstGeom prst="rect">
                <a:avLst/>
              </a:prstGeom>
              <a:blipFill>
                <a:blip r:embed="rId4"/>
                <a:stretch>
                  <a:fillRect l="-14607" r="-22472" b="-3478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2" name="TextBox 151">
                <a:extLst>
                  <a:ext uri="{FF2B5EF4-FFF2-40B4-BE49-F238E27FC236}">
                    <a16:creationId xmlns:a16="http://schemas.microsoft.com/office/drawing/2014/main" id="{3176885B-9F3C-25B0-71D0-E37EB3F10DA8}"/>
                  </a:ext>
                </a:extLst>
              </p:cNvPr>
              <p:cNvSpPr txBox="1"/>
              <p:nvPr/>
            </p:nvSpPr>
            <p:spPr>
              <a:xfrm>
                <a:off x="2261040" y="3594365"/>
                <a:ext cx="542760"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𝑞</m:t>
                          </m:r>
                        </m:e>
                        <m:sub>
                          <m:r>
                            <a:rPr lang="en-US" b="0" i="1" smtClean="0">
                              <a:solidFill>
                                <a:schemeClr val="tx2"/>
                              </a:solidFill>
                              <a:latin typeface="Cambria Math" panose="02040503050406030204" pitchFamily="18" charset="0"/>
                            </a:rPr>
                            <m:t>𝑖</m:t>
                          </m:r>
                        </m:sub>
                      </m:sSub>
                    </m:oMath>
                  </m:oMathPara>
                </a14:m>
                <a:endParaRPr lang="en-GB" dirty="0">
                  <a:solidFill>
                    <a:schemeClr val="tx2"/>
                  </a:solidFill>
                </a:endParaRPr>
              </a:p>
            </p:txBody>
          </p:sp>
        </mc:Choice>
        <mc:Fallback xmlns="">
          <p:sp>
            <p:nvSpPr>
              <p:cNvPr id="152" name="TextBox 151">
                <a:extLst>
                  <a:ext uri="{FF2B5EF4-FFF2-40B4-BE49-F238E27FC236}">
                    <a16:creationId xmlns:a16="http://schemas.microsoft.com/office/drawing/2014/main" id="{3176885B-9F3C-25B0-71D0-E37EB3F10DA8}"/>
                  </a:ext>
                </a:extLst>
              </p:cNvPr>
              <p:cNvSpPr txBox="1">
                <a:spLocks noRot="1" noChangeAspect="1" noMove="1" noResize="1" noEditPoints="1" noAdjustHandles="1" noChangeArrowheads="1" noChangeShapeType="1" noTextEdit="1"/>
              </p:cNvSpPr>
              <p:nvPr/>
            </p:nvSpPr>
            <p:spPr>
              <a:xfrm>
                <a:off x="2261040" y="3594365"/>
                <a:ext cx="542760" cy="276999"/>
              </a:xfrm>
              <a:prstGeom prst="rect">
                <a:avLst/>
              </a:prstGeom>
              <a:blipFill>
                <a:blip r:embed="rId5"/>
                <a:stretch>
                  <a:fillRect b="-2888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3" name="TextBox 152">
                <a:extLst>
                  <a:ext uri="{FF2B5EF4-FFF2-40B4-BE49-F238E27FC236}">
                    <a16:creationId xmlns:a16="http://schemas.microsoft.com/office/drawing/2014/main" id="{03E543BB-7D75-288E-E88D-A5B19498D02B}"/>
                  </a:ext>
                </a:extLst>
              </p:cNvPr>
              <p:cNvSpPr txBox="1"/>
              <p:nvPr/>
            </p:nvSpPr>
            <p:spPr>
              <a:xfrm>
                <a:off x="3963254" y="2676973"/>
                <a:ext cx="542760"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a:rPr lang="en-US" b="0" i="1" smtClean="0">
                          <a:solidFill>
                            <a:schemeClr val="tx2"/>
                          </a:solidFill>
                          <a:latin typeface="Cambria Math" panose="02040503050406030204" pitchFamily="18" charset="0"/>
                        </a:rPr>
                        <m:t>𝑞</m:t>
                      </m:r>
                      <m:r>
                        <a:rPr lang="en-US" b="0" i="1" smtClean="0">
                          <a:solidFill>
                            <a:schemeClr val="tx2"/>
                          </a:solidFill>
                          <a:latin typeface="Cambria Math" panose="02040503050406030204" pitchFamily="18" charset="0"/>
                        </a:rPr>
                        <m:t>(</m:t>
                      </m:r>
                      <m:r>
                        <a:rPr lang="en-US" b="0" i="1" smtClean="0">
                          <a:solidFill>
                            <a:schemeClr val="tx2"/>
                          </a:solidFill>
                          <a:latin typeface="Cambria Math" panose="02040503050406030204" pitchFamily="18" charset="0"/>
                        </a:rPr>
                        <m:t>𝑡</m:t>
                      </m:r>
                      <m:r>
                        <a:rPr lang="en-US" b="0" i="1" smtClean="0">
                          <a:solidFill>
                            <a:schemeClr val="tx2"/>
                          </a:solidFill>
                          <a:latin typeface="Cambria Math" panose="02040503050406030204" pitchFamily="18" charset="0"/>
                        </a:rPr>
                        <m:t>)</m:t>
                      </m:r>
                    </m:oMath>
                  </m:oMathPara>
                </a14:m>
                <a:endParaRPr lang="en-GB" dirty="0">
                  <a:solidFill>
                    <a:schemeClr val="tx2"/>
                  </a:solidFill>
                </a:endParaRPr>
              </a:p>
            </p:txBody>
          </p:sp>
        </mc:Choice>
        <mc:Fallback xmlns="">
          <p:sp>
            <p:nvSpPr>
              <p:cNvPr id="153" name="TextBox 152">
                <a:extLst>
                  <a:ext uri="{FF2B5EF4-FFF2-40B4-BE49-F238E27FC236}">
                    <a16:creationId xmlns:a16="http://schemas.microsoft.com/office/drawing/2014/main" id="{03E543BB-7D75-288E-E88D-A5B19498D02B}"/>
                  </a:ext>
                </a:extLst>
              </p:cNvPr>
              <p:cNvSpPr txBox="1">
                <a:spLocks noRot="1" noChangeAspect="1" noMove="1" noResize="1" noEditPoints="1" noAdjustHandles="1" noChangeArrowheads="1" noChangeShapeType="1" noTextEdit="1"/>
              </p:cNvSpPr>
              <p:nvPr/>
            </p:nvSpPr>
            <p:spPr>
              <a:xfrm>
                <a:off x="3963254" y="2676973"/>
                <a:ext cx="542760" cy="276999"/>
              </a:xfrm>
              <a:prstGeom prst="rect">
                <a:avLst/>
              </a:prstGeom>
              <a:blipFill>
                <a:blip r:embed="rId6"/>
                <a:stretch>
                  <a:fillRect l="-4494" r="-8989" b="-34783"/>
                </a:stretch>
              </a:blipFill>
            </p:spPr>
            <p:txBody>
              <a:bodyPr/>
              <a:lstStyle/>
              <a:p>
                <a:r>
                  <a:rPr lang="en-GB">
                    <a:noFill/>
                  </a:rPr>
                  <a:t> </a:t>
                </a:r>
              </a:p>
            </p:txBody>
          </p:sp>
        </mc:Fallback>
      </mc:AlternateContent>
    </p:spTree>
    <p:extLst>
      <p:ext uri="{BB962C8B-B14F-4D97-AF65-F5344CB8AC3E}">
        <p14:creationId xmlns:p14="http://schemas.microsoft.com/office/powerpoint/2010/main" val="12471156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8" name="Group 127">
            <a:extLst>
              <a:ext uri="{FF2B5EF4-FFF2-40B4-BE49-F238E27FC236}">
                <a16:creationId xmlns:a16="http://schemas.microsoft.com/office/drawing/2014/main" id="{340693A8-A7F1-E567-9BCE-4AC2FEA85FC4}"/>
              </a:ext>
            </a:extLst>
          </p:cNvPr>
          <p:cNvGrpSpPr/>
          <p:nvPr/>
        </p:nvGrpSpPr>
        <p:grpSpPr>
          <a:xfrm rot="18885688">
            <a:off x="3519256" y="2299452"/>
            <a:ext cx="1021929" cy="1522466"/>
            <a:chOff x="1071439" y="1596445"/>
            <a:chExt cx="1021929" cy="1522466"/>
          </a:xfrm>
        </p:grpSpPr>
        <p:cxnSp>
          <p:nvCxnSpPr>
            <p:cNvPr id="129" name="Straight Arrow Connector 128">
              <a:extLst>
                <a:ext uri="{FF2B5EF4-FFF2-40B4-BE49-F238E27FC236}">
                  <a16:creationId xmlns:a16="http://schemas.microsoft.com/office/drawing/2014/main" id="{8C6C039A-562D-D34F-6A4F-EA20D3FF225D}"/>
                </a:ext>
              </a:extLst>
            </p:cNvPr>
            <p:cNvCxnSpPr>
              <a:cxnSpLocks/>
            </p:cNvCxnSpPr>
            <p:nvPr/>
          </p:nvCxnSpPr>
          <p:spPr>
            <a:xfrm flipH="1">
              <a:off x="1628009" y="2600340"/>
              <a:ext cx="460955" cy="51857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ED2B3468-DB03-0313-79C2-78144EFEF7E1}"/>
                </a:ext>
              </a:extLst>
            </p:cNvPr>
            <p:cNvCxnSpPr/>
            <p:nvPr/>
          </p:nvCxnSpPr>
          <p:spPr>
            <a:xfrm flipV="1">
              <a:off x="2088964" y="1596445"/>
              <a:ext cx="0" cy="101438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68960DC9-0BD1-B912-EE48-18A4D7B8AA23}"/>
                </a:ext>
              </a:extLst>
            </p:cNvPr>
            <p:cNvCxnSpPr>
              <a:cxnSpLocks/>
            </p:cNvCxnSpPr>
            <p:nvPr/>
          </p:nvCxnSpPr>
          <p:spPr>
            <a:xfrm flipH="1">
              <a:off x="1071439" y="2600340"/>
              <a:ext cx="102192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786107"/>
          </a:xfrm>
        </p:spPr>
        <p:txBody>
          <a:bodyPr/>
          <a:lstStyle/>
          <a:p>
            <a:r>
              <a:rPr lang="en-US" dirty="0"/>
              <a:t>Cubic Orientation Spline Algorithm </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44</a:t>
            </a:fld>
            <a:endParaRPr lang="en-US" dirty="0"/>
          </a:p>
        </p:txBody>
      </p:sp>
      <p:sp>
        <p:nvSpPr>
          <p:cNvPr id="9" name="Rectangle: Rounded Corners 8">
            <a:extLst>
              <a:ext uri="{FF2B5EF4-FFF2-40B4-BE49-F238E27FC236}">
                <a16:creationId xmlns:a16="http://schemas.microsoft.com/office/drawing/2014/main" id="{B57F9A30-FFD9-84B0-88A3-7D6F60558107}"/>
              </a:ext>
            </a:extLst>
          </p:cNvPr>
          <p:cNvSpPr/>
          <p:nvPr/>
        </p:nvSpPr>
        <p:spPr>
          <a:xfrm>
            <a:off x="8292353" y="345766"/>
            <a:ext cx="2303929" cy="622422"/>
          </a:xfrm>
          <a:prstGeom prst="roundRect">
            <a:avLst/>
          </a:prstGeom>
          <a:solidFill>
            <a:srgbClr val="CDDCF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CubicOrientationSpline</a:t>
            </a:r>
            <a:endParaRPr lang="en-GB" sz="1200" dirty="0">
              <a:solidFill>
                <a:srgbClr val="003399"/>
              </a:solidFill>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8D8F7A8-093E-5F3E-9C29-EE5E44736851}"/>
                  </a:ext>
                </a:extLst>
              </p:cNvPr>
              <p:cNvSpPr txBox="1"/>
              <p:nvPr/>
            </p:nvSpPr>
            <p:spPr>
              <a:xfrm>
                <a:off x="7174259" y="1781991"/>
                <a:ext cx="2977228"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a:rPr lang="en-US" b="0" i="1" smtClean="0">
                          <a:solidFill>
                            <a:schemeClr val="tx2"/>
                          </a:solidFill>
                          <a:latin typeface="Cambria Math" panose="02040503050406030204" pitchFamily="18" charset="0"/>
                        </a:rPr>
                        <m:t>𝑞</m:t>
                      </m:r>
                      <m:d>
                        <m:dPr>
                          <m:ctrlPr>
                            <a:rPr lang="en-US" b="0" i="1" smtClean="0">
                              <a:solidFill>
                                <a:schemeClr val="tx2"/>
                              </a:solidFill>
                              <a:latin typeface="Cambria Math" panose="02040503050406030204" pitchFamily="18" charset="0"/>
                            </a:rPr>
                          </m:ctrlPr>
                        </m:dPr>
                        <m:e>
                          <m:r>
                            <a:rPr lang="en-US" b="0" i="1" smtClean="0">
                              <a:solidFill>
                                <a:schemeClr val="tx2"/>
                              </a:solidFill>
                              <a:latin typeface="Cambria Math" panose="02040503050406030204" pitchFamily="18" charset="0"/>
                            </a:rPr>
                            <m:t>𝑡</m:t>
                          </m:r>
                        </m:e>
                      </m:d>
                      <m:r>
                        <a:rPr lang="en-US" b="0" i="1" smtClean="0">
                          <a:solidFill>
                            <a:schemeClr val="tx2"/>
                          </a:solidFill>
                          <a:latin typeface="Cambria Math" panose="02040503050406030204" pitchFamily="18" charset="0"/>
                        </a:rPr>
                        <m:t>=</m:t>
                      </m:r>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𝑞</m:t>
                          </m:r>
                        </m:e>
                        <m:sub>
                          <m:r>
                            <a:rPr lang="en-US" b="0" i="1" smtClean="0">
                              <a:solidFill>
                                <a:schemeClr val="tx2"/>
                              </a:solidFill>
                              <a:latin typeface="Cambria Math" panose="02040503050406030204" pitchFamily="18" charset="0"/>
                            </a:rPr>
                            <m:t>𝑖</m:t>
                          </m:r>
                        </m:sub>
                      </m:sSub>
                      <m:r>
                        <m:rPr>
                          <m:sty m:val="p"/>
                        </m:rPr>
                        <a:rPr lang="en-US" b="0" i="0" smtClean="0">
                          <a:solidFill>
                            <a:schemeClr val="tx2"/>
                          </a:solidFill>
                          <a:latin typeface="Cambria Math" panose="02040503050406030204" pitchFamily="18" charset="0"/>
                        </a:rPr>
                        <m:t>Δ</m:t>
                      </m:r>
                      <m:r>
                        <a:rPr lang="en-US" b="0" i="1" smtClean="0">
                          <a:solidFill>
                            <a:schemeClr val="tx2"/>
                          </a:solidFill>
                          <a:latin typeface="Cambria Math" panose="02040503050406030204" pitchFamily="18" charset="0"/>
                        </a:rPr>
                        <m:t>𝑞</m:t>
                      </m:r>
                      <m:r>
                        <a:rPr lang="en-US" b="0" i="1" smtClean="0">
                          <a:solidFill>
                            <a:schemeClr val="tx2"/>
                          </a:solidFill>
                          <a:latin typeface="Cambria Math" panose="02040503050406030204" pitchFamily="18" charset="0"/>
                        </a:rPr>
                        <m:t>(</m:t>
                      </m:r>
                      <m:r>
                        <a:rPr lang="en-US" b="0" i="1" smtClean="0">
                          <a:solidFill>
                            <a:schemeClr val="tx2"/>
                          </a:solidFill>
                          <a:latin typeface="Cambria Math" panose="02040503050406030204" pitchFamily="18" charset="0"/>
                        </a:rPr>
                        <m:t>𝑡</m:t>
                      </m:r>
                      <m:r>
                        <a:rPr lang="en-US" b="0" i="1" smtClean="0">
                          <a:solidFill>
                            <a:schemeClr val="tx2"/>
                          </a:solidFill>
                          <a:latin typeface="Cambria Math" panose="02040503050406030204" pitchFamily="18" charset="0"/>
                        </a:rPr>
                        <m:t>)</m:t>
                      </m:r>
                    </m:oMath>
                  </m:oMathPara>
                </a14:m>
                <a:endParaRPr lang="en-GB" dirty="0">
                  <a:solidFill>
                    <a:schemeClr val="tx2"/>
                  </a:solidFill>
                </a:endParaRPr>
              </a:p>
            </p:txBody>
          </p:sp>
        </mc:Choice>
        <mc:Fallback xmlns="">
          <p:sp>
            <p:nvSpPr>
              <p:cNvPr id="7" name="TextBox 6">
                <a:extLst>
                  <a:ext uri="{FF2B5EF4-FFF2-40B4-BE49-F238E27FC236}">
                    <a16:creationId xmlns:a16="http://schemas.microsoft.com/office/drawing/2014/main" id="{68D8F7A8-093E-5F3E-9C29-EE5E44736851}"/>
                  </a:ext>
                </a:extLst>
              </p:cNvPr>
              <p:cNvSpPr txBox="1">
                <a:spLocks noRot="1" noChangeAspect="1" noMove="1" noResize="1" noEditPoints="1" noAdjustHandles="1" noChangeArrowheads="1" noChangeShapeType="1" noTextEdit="1"/>
              </p:cNvSpPr>
              <p:nvPr/>
            </p:nvSpPr>
            <p:spPr>
              <a:xfrm>
                <a:off x="7174259" y="1781991"/>
                <a:ext cx="2977228" cy="276999"/>
              </a:xfrm>
              <a:prstGeom prst="rect">
                <a:avLst/>
              </a:prstGeom>
              <a:blipFill>
                <a:blip r:embed="rId3"/>
                <a:stretch>
                  <a:fillRect b="-3478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B0B6FF6-6B69-EFBE-9AE5-272E89A175D0}"/>
                  </a:ext>
                </a:extLst>
              </p:cNvPr>
              <p:cNvSpPr txBox="1"/>
              <p:nvPr/>
            </p:nvSpPr>
            <p:spPr>
              <a:xfrm>
                <a:off x="5980826" y="2417717"/>
                <a:ext cx="2977228" cy="114973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b="0" i="0" smtClean="0">
                          <a:solidFill>
                            <a:srgbClr val="2F2F2F"/>
                          </a:solidFill>
                          <a:latin typeface="Cambria Math" panose="02040503050406030204" pitchFamily="18" charset="0"/>
                        </a:rPr>
                        <m:t>Δ</m:t>
                      </m:r>
                      <m:r>
                        <a:rPr lang="en-US" b="0" i="1" smtClean="0">
                          <a:solidFill>
                            <a:srgbClr val="2F2F2F"/>
                          </a:solidFill>
                          <a:latin typeface="Cambria Math" panose="02040503050406030204" pitchFamily="18" charset="0"/>
                        </a:rPr>
                        <m:t>𝑞</m:t>
                      </m:r>
                      <m:d>
                        <m:dPr>
                          <m:ctrlPr>
                            <a:rPr lang="en-US" b="0" i="1" smtClean="0">
                              <a:solidFill>
                                <a:srgbClr val="2F2F2F"/>
                              </a:solidFill>
                              <a:latin typeface="Cambria Math" panose="02040503050406030204" pitchFamily="18" charset="0"/>
                            </a:rPr>
                          </m:ctrlPr>
                        </m:dPr>
                        <m:e>
                          <m:r>
                            <a:rPr lang="en-US" b="0" i="1" smtClean="0">
                              <a:solidFill>
                                <a:srgbClr val="2F2F2F"/>
                              </a:solidFill>
                              <a:latin typeface="Cambria Math" panose="02040503050406030204" pitchFamily="18" charset="0"/>
                            </a:rPr>
                            <m:t>𝑡</m:t>
                          </m:r>
                        </m:e>
                      </m:d>
                      <m:r>
                        <a:rPr lang="en-US" b="0" i="1" smtClean="0">
                          <a:solidFill>
                            <a:srgbClr val="2F2F2F"/>
                          </a:solidFill>
                          <a:latin typeface="Cambria Math" panose="02040503050406030204" pitchFamily="18" charset="0"/>
                        </a:rPr>
                        <m:t>=</m:t>
                      </m:r>
                      <m:d>
                        <m:dPr>
                          <m:begChr m:val="["/>
                          <m:endChr m:val="]"/>
                          <m:ctrlPr>
                            <a:rPr lang="en-US" b="0" i="1" smtClean="0">
                              <a:solidFill>
                                <a:srgbClr val="2F2F2F"/>
                              </a:solidFill>
                              <a:latin typeface="Cambria Math" panose="02040503050406030204" pitchFamily="18" charset="0"/>
                            </a:rPr>
                          </m:ctrlPr>
                        </m:dPr>
                        <m:e>
                          <m:m>
                            <m:mPr>
                              <m:mcs>
                                <m:mc>
                                  <m:mcPr>
                                    <m:count m:val="1"/>
                                    <m:mcJc m:val="center"/>
                                  </m:mcPr>
                                </m:mc>
                              </m:mcs>
                              <m:ctrlPr>
                                <a:rPr lang="en-US" b="0" i="1" smtClean="0">
                                  <a:solidFill>
                                    <a:srgbClr val="2F2F2F"/>
                                  </a:solidFill>
                                  <a:latin typeface="Cambria Math" panose="02040503050406030204" pitchFamily="18" charset="0"/>
                                </a:rPr>
                              </m:ctrlPr>
                            </m:mPr>
                            <m:mr>
                              <m:e>
                                <m:r>
                                  <m:rPr>
                                    <m:sty m:val="p"/>
                                    <m:brk m:alnAt="7"/>
                                  </m:rPr>
                                  <a:rPr lang="en-US" b="0" i="0" smtClean="0">
                                    <a:solidFill>
                                      <a:srgbClr val="2F2F2F"/>
                                    </a:solidFill>
                                    <a:latin typeface="Cambria Math" panose="02040503050406030204" pitchFamily="18" charset="0"/>
                                  </a:rPr>
                                  <m:t>c</m:t>
                                </m:r>
                                <m:r>
                                  <m:rPr>
                                    <m:sty m:val="p"/>
                                  </m:rPr>
                                  <a:rPr lang="en-US" b="0" i="0" smtClean="0">
                                    <a:solidFill>
                                      <a:srgbClr val="2F2F2F"/>
                                    </a:solidFill>
                                    <a:latin typeface="Cambria Math" panose="02040503050406030204" pitchFamily="18" charset="0"/>
                                  </a:rPr>
                                  <m:t>os</m:t>
                                </m:r>
                                <m:r>
                                  <m:rPr>
                                    <m:brk m:alnAt="7"/>
                                  </m:rPr>
                                  <a:rPr lang="en-US" b="0" i="1" smtClean="0">
                                    <a:solidFill>
                                      <a:srgbClr val="2F2F2F"/>
                                    </a:solidFill>
                                    <a:latin typeface="Cambria Math" panose="02040503050406030204" pitchFamily="18" charset="0"/>
                                  </a:rPr>
                                  <m:t>⁡</m:t>
                                </m:r>
                                <m:r>
                                  <a:rPr lang="en-US" b="0" i="1" smtClean="0">
                                    <a:solidFill>
                                      <a:srgbClr val="2F2F2F"/>
                                    </a:solidFill>
                                    <a:latin typeface="Cambria Math" panose="02040503050406030204" pitchFamily="18" charset="0"/>
                                  </a:rPr>
                                  <m:t>(</m:t>
                                </m:r>
                                <m:r>
                                  <a:rPr lang="en-US" b="1" i="1" smtClean="0">
                                    <a:solidFill>
                                      <a:schemeClr val="tx1"/>
                                    </a:solidFill>
                                    <a:latin typeface="Cambria Math" panose="02040503050406030204" pitchFamily="18" charset="0"/>
                                  </a:rPr>
                                  <m:t>𝜽</m:t>
                                </m:r>
                                <m:d>
                                  <m:dPr>
                                    <m:ctrlPr>
                                      <a:rPr lang="en-US" b="1" i="1" smtClean="0">
                                        <a:solidFill>
                                          <a:schemeClr val="tx1"/>
                                        </a:solidFill>
                                        <a:latin typeface="Cambria Math" panose="02040503050406030204" pitchFamily="18" charset="0"/>
                                      </a:rPr>
                                    </m:ctrlPr>
                                  </m:dPr>
                                  <m:e>
                                    <m:r>
                                      <a:rPr lang="en-US" b="1" i="1" smtClean="0">
                                        <a:solidFill>
                                          <a:schemeClr val="tx1"/>
                                        </a:solidFill>
                                        <a:latin typeface="Cambria Math" panose="02040503050406030204" pitchFamily="18" charset="0"/>
                                      </a:rPr>
                                      <m:t>𝒕</m:t>
                                    </m:r>
                                  </m:e>
                                </m:d>
                                <m:r>
                                  <a:rPr lang="en-US" b="0" i="1" smtClean="0">
                                    <a:solidFill>
                                      <a:srgbClr val="2F2F2F"/>
                                    </a:solidFill>
                                    <a:latin typeface="Cambria Math" panose="02040503050406030204" pitchFamily="18" charset="0"/>
                                  </a:rPr>
                                  <m:t>/2)</m:t>
                                </m:r>
                              </m:e>
                            </m:mr>
                            <m:mr>
                              <m:e>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𝒖</m:t>
                                    </m:r>
                                  </m:e>
                                  <m:sub>
                                    <m:r>
                                      <a:rPr lang="en-US" b="1" i="1" smtClean="0">
                                        <a:solidFill>
                                          <a:schemeClr val="tx1"/>
                                        </a:solidFill>
                                        <a:latin typeface="Cambria Math" panose="02040503050406030204" pitchFamily="18" charset="0"/>
                                      </a:rPr>
                                      <m:t>𝟏</m:t>
                                    </m:r>
                                  </m:sub>
                                </m:sSub>
                                <m:d>
                                  <m:dPr>
                                    <m:ctrlPr>
                                      <a:rPr lang="en-US" b="1" i="1" smtClean="0">
                                        <a:solidFill>
                                          <a:schemeClr val="tx1"/>
                                        </a:solidFill>
                                        <a:latin typeface="Cambria Math" panose="02040503050406030204" pitchFamily="18" charset="0"/>
                                      </a:rPr>
                                    </m:ctrlPr>
                                  </m:dPr>
                                  <m:e>
                                    <m:r>
                                      <a:rPr lang="en-US" b="1" i="1" smtClean="0">
                                        <a:solidFill>
                                          <a:schemeClr val="tx1"/>
                                        </a:solidFill>
                                        <a:latin typeface="Cambria Math" panose="02040503050406030204" pitchFamily="18" charset="0"/>
                                      </a:rPr>
                                      <m:t>𝒕</m:t>
                                    </m:r>
                                  </m:e>
                                </m:d>
                                <m:r>
                                  <a:rPr lang="en-US" b="0" i="1" smtClean="0">
                                    <a:solidFill>
                                      <a:srgbClr val="2F2F2F"/>
                                    </a:solidFill>
                                    <a:latin typeface="Cambria Math" panose="02040503050406030204" pitchFamily="18" charset="0"/>
                                  </a:rPr>
                                  <m:t>𝑠𝑖𝑛</m:t>
                                </m:r>
                                <m:r>
                                  <m:rPr>
                                    <m:brk m:alnAt="7"/>
                                  </m:rPr>
                                  <a:rPr lang="en-US" i="1">
                                    <a:solidFill>
                                      <a:srgbClr val="2F2F2F"/>
                                    </a:solidFill>
                                    <a:latin typeface="Cambria Math" panose="02040503050406030204" pitchFamily="18" charset="0"/>
                                  </a:rPr>
                                  <m:t>(</m:t>
                                </m:r>
                                <m:r>
                                  <a:rPr lang="en-US" b="1" i="1" smtClean="0">
                                    <a:solidFill>
                                      <a:schemeClr val="tx1"/>
                                    </a:solidFill>
                                    <a:latin typeface="Cambria Math" panose="02040503050406030204" pitchFamily="18" charset="0"/>
                                  </a:rPr>
                                  <m:t>𝜽</m:t>
                                </m:r>
                                <m:d>
                                  <m:dPr>
                                    <m:ctrlPr>
                                      <a:rPr lang="en-US" b="1" i="1">
                                        <a:solidFill>
                                          <a:schemeClr val="tx1"/>
                                        </a:solidFill>
                                        <a:latin typeface="Cambria Math" panose="02040503050406030204" pitchFamily="18" charset="0"/>
                                      </a:rPr>
                                    </m:ctrlPr>
                                  </m:dPr>
                                  <m:e>
                                    <m:r>
                                      <a:rPr lang="en-US" b="1" i="1">
                                        <a:solidFill>
                                          <a:schemeClr val="tx1"/>
                                        </a:solidFill>
                                        <a:latin typeface="Cambria Math" panose="02040503050406030204" pitchFamily="18" charset="0"/>
                                      </a:rPr>
                                      <m:t>𝒕</m:t>
                                    </m:r>
                                  </m:e>
                                </m:d>
                                <m:r>
                                  <a:rPr lang="en-US" i="1">
                                    <a:solidFill>
                                      <a:srgbClr val="2F2F2F"/>
                                    </a:solidFill>
                                    <a:latin typeface="Cambria Math" panose="02040503050406030204" pitchFamily="18" charset="0"/>
                                  </a:rPr>
                                  <m:t>/2)</m:t>
                                </m:r>
                              </m:e>
                            </m:mr>
                            <m:mr>
                              <m:e>
                                <m:eqArr>
                                  <m:eqArrPr>
                                    <m:ctrlPr>
                                      <a:rPr lang="en-US" b="0" i="1" smtClean="0">
                                        <a:solidFill>
                                          <a:srgbClr val="2F2F2F"/>
                                        </a:solidFill>
                                        <a:latin typeface="Cambria Math" panose="02040503050406030204" pitchFamily="18" charset="0"/>
                                      </a:rPr>
                                    </m:ctrlPr>
                                  </m:eqArrPr>
                                  <m:e>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𝒖</m:t>
                                        </m:r>
                                      </m:e>
                                      <m:sub>
                                        <m:r>
                                          <a:rPr lang="en-US" b="1" i="1" smtClean="0">
                                            <a:solidFill>
                                              <a:schemeClr val="tx1"/>
                                            </a:solidFill>
                                            <a:latin typeface="Cambria Math" panose="02040503050406030204" pitchFamily="18" charset="0"/>
                                          </a:rPr>
                                          <m:t>𝟐</m:t>
                                        </m:r>
                                      </m:sub>
                                    </m:sSub>
                                    <m:d>
                                      <m:dPr>
                                        <m:ctrlPr>
                                          <a:rPr lang="en-US" b="1" i="1" smtClean="0">
                                            <a:solidFill>
                                              <a:schemeClr val="tx1"/>
                                            </a:solidFill>
                                            <a:latin typeface="Cambria Math" panose="02040503050406030204" pitchFamily="18" charset="0"/>
                                          </a:rPr>
                                        </m:ctrlPr>
                                      </m:dPr>
                                      <m:e>
                                        <m:r>
                                          <a:rPr lang="en-US" b="1" i="1" smtClean="0">
                                            <a:solidFill>
                                              <a:schemeClr val="tx1"/>
                                            </a:solidFill>
                                            <a:latin typeface="Cambria Math" panose="02040503050406030204" pitchFamily="18" charset="0"/>
                                          </a:rPr>
                                          <m:t>𝒕</m:t>
                                        </m:r>
                                      </m:e>
                                    </m:d>
                                    <m:r>
                                      <m:rPr>
                                        <m:sty m:val="p"/>
                                      </m:rPr>
                                      <a:rPr lang="en-US" b="0" i="0" smtClean="0">
                                        <a:solidFill>
                                          <a:srgbClr val="2F2F2F"/>
                                        </a:solidFill>
                                        <a:latin typeface="Cambria Math" panose="02040503050406030204" pitchFamily="18" charset="0"/>
                                      </a:rPr>
                                      <m:t>sin</m:t>
                                    </m:r>
                                    <m:r>
                                      <a:rPr lang="en-US" b="0" i="1" smtClean="0">
                                        <a:solidFill>
                                          <a:srgbClr val="2F2F2F"/>
                                        </a:solidFill>
                                        <a:latin typeface="Cambria Math" panose="02040503050406030204" pitchFamily="18" charset="0"/>
                                      </a:rPr>
                                      <m:t>⁡</m:t>
                                    </m:r>
                                    <m:r>
                                      <m:rPr>
                                        <m:brk m:alnAt="7"/>
                                      </m:rPr>
                                      <a:rPr lang="en-US" i="1">
                                        <a:solidFill>
                                          <a:srgbClr val="2F2F2F"/>
                                        </a:solidFill>
                                        <a:latin typeface="Cambria Math" panose="02040503050406030204" pitchFamily="18" charset="0"/>
                                      </a:rPr>
                                      <m:t>(</m:t>
                                    </m:r>
                                    <m:r>
                                      <a:rPr lang="en-US" b="1" i="1" smtClean="0">
                                        <a:solidFill>
                                          <a:schemeClr val="tx1"/>
                                        </a:solidFill>
                                        <a:latin typeface="Cambria Math" panose="02040503050406030204" pitchFamily="18" charset="0"/>
                                      </a:rPr>
                                      <m:t>𝜽</m:t>
                                    </m:r>
                                    <m:d>
                                      <m:dPr>
                                        <m:ctrlPr>
                                          <a:rPr lang="en-US" b="1" i="1">
                                            <a:solidFill>
                                              <a:schemeClr val="tx1"/>
                                            </a:solidFill>
                                            <a:latin typeface="Cambria Math" panose="02040503050406030204" pitchFamily="18" charset="0"/>
                                          </a:rPr>
                                        </m:ctrlPr>
                                      </m:dPr>
                                      <m:e>
                                        <m:r>
                                          <a:rPr lang="en-US" b="1" i="1">
                                            <a:solidFill>
                                              <a:schemeClr val="tx1"/>
                                            </a:solidFill>
                                            <a:latin typeface="Cambria Math" panose="02040503050406030204" pitchFamily="18" charset="0"/>
                                          </a:rPr>
                                          <m:t>𝒕</m:t>
                                        </m:r>
                                      </m:e>
                                    </m:d>
                                    <m:r>
                                      <a:rPr lang="en-US" i="1">
                                        <a:solidFill>
                                          <a:srgbClr val="2F2F2F"/>
                                        </a:solidFill>
                                        <a:latin typeface="Cambria Math" panose="02040503050406030204" pitchFamily="18" charset="0"/>
                                      </a:rPr>
                                      <m:t>/2)</m:t>
                                    </m:r>
                                  </m:e>
                                  <m:e>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𝒖</m:t>
                                        </m:r>
                                      </m:e>
                                      <m:sub>
                                        <m:r>
                                          <a:rPr lang="en-US" b="1" i="1" smtClean="0">
                                            <a:solidFill>
                                              <a:schemeClr val="tx1"/>
                                            </a:solidFill>
                                            <a:latin typeface="Cambria Math" panose="02040503050406030204" pitchFamily="18" charset="0"/>
                                          </a:rPr>
                                          <m:t>𝟑</m:t>
                                        </m:r>
                                      </m:sub>
                                    </m:sSub>
                                    <m:d>
                                      <m:dPr>
                                        <m:ctrlPr>
                                          <a:rPr lang="en-US" b="1" i="1" smtClean="0">
                                            <a:solidFill>
                                              <a:schemeClr val="tx1"/>
                                            </a:solidFill>
                                            <a:latin typeface="Cambria Math" panose="02040503050406030204" pitchFamily="18" charset="0"/>
                                          </a:rPr>
                                        </m:ctrlPr>
                                      </m:dPr>
                                      <m:e>
                                        <m:r>
                                          <a:rPr lang="en-US" b="1" i="1" smtClean="0">
                                            <a:solidFill>
                                              <a:schemeClr val="tx1"/>
                                            </a:solidFill>
                                            <a:latin typeface="Cambria Math" panose="02040503050406030204" pitchFamily="18" charset="0"/>
                                          </a:rPr>
                                          <m:t>𝒕</m:t>
                                        </m:r>
                                      </m:e>
                                    </m:d>
                                    <m:r>
                                      <a:rPr lang="en-US" b="0" i="1" smtClean="0">
                                        <a:solidFill>
                                          <a:srgbClr val="2F2F2F"/>
                                        </a:solidFill>
                                        <a:latin typeface="Cambria Math" panose="02040503050406030204" pitchFamily="18" charset="0"/>
                                      </a:rPr>
                                      <m:t>𝑠𝑖𝑛</m:t>
                                    </m:r>
                                    <m:r>
                                      <m:rPr>
                                        <m:brk m:alnAt="7"/>
                                      </m:rPr>
                                      <a:rPr lang="en-US" i="1">
                                        <a:solidFill>
                                          <a:srgbClr val="2F2F2F"/>
                                        </a:solidFill>
                                        <a:latin typeface="Cambria Math" panose="02040503050406030204" pitchFamily="18" charset="0"/>
                                      </a:rPr>
                                      <m:t>(</m:t>
                                    </m:r>
                                    <m:r>
                                      <a:rPr lang="en-US" b="1" i="1" smtClean="0">
                                        <a:solidFill>
                                          <a:schemeClr val="tx1"/>
                                        </a:solidFill>
                                        <a:latin typeface="Cambria Math" panose="02040503050406030204" pitchFamily="18" charset="0"/>
                                      </a:rPr>
                                      <m:t>𝜽</m:t>
                                    </m:r>
                                    <m:d>
                                      <m:dPr>
                                        <m:ctrlPr>
                                          <a:rPr lang="en-US" b="1" i="1">
                                            <a:solidFill>
                                              <a:schemeClr val="tx1"/>
                                            </a:solidFill>
                                            <a:latin typeface="Cambria Math" panose="02040503050406030204" pitchFamily="18" charset="0"/>
                                          </a:rPr>
                                        </m:ctrlPr>
                                      </m:dPr>
                                      <m:e>
                                        <m:r>
                                          <a:rPr lang="en-US" b="1" i="1">
                                            <a:solidFill>
                                              <a:schemeClr val="tx1"/>
                                            </a:solidFill>
                                            <a:latin typeface="Cambria Math" panose="02040503050406030204" pitchFamily="18" charset="0"/>
                                          </a:rPr>
                                          <m:t>𝒕</m:t>
                                        </m:r>
                                      </m:e>
                                    </m:d>
                                    <m:r>
                                      <a:rPr lang="en-US" i="1">
                                        <a:solidFill>
                                          <a:srgbClr val="2F2F2F"/>
                                        </a:solidFill>
                                        <a:latin typeface="Cambria Math" panose="02040503050406030204" pitchFamily="18" charset="0"/>
                                      </a:rPr>
                                      <m:t>/2)</m:t>
                                    </m:r>
                                  </m:e>
                                </m:eqArr>
                              </m:e>
                            </m:mr>
                          </m:m>
                        </m:e>
                      </m:d>
                    </m:oMath>
                  </m:oMathPara>
                </a14:m>
                <a:endParaRPr lang="en-GB" dirty="0">
                  <a:solidFill>
                    <a:srgbClr val="2F2F2F"/>
                  </a:solidFill>
                </a:endParaRPr>
              </a:p>
            </p:txBody>
          </p:sp>
        </mc:Choice>
        <mc:Fallback xmlns="">
          <p:sp>
            <p:nvSpPr>
              <p:cNvPr id="19" name="TextBox 18">
                <a:extLst>
                  <a:ext uri="{FF2B5EF4-FFF2-40B4-BE49-F238E27FC236}">
                    <a16:creationId xmlns:a16="http://schemas.microsoft.com/office/drawing/2014/main" id="{4B0B6FF6-6B69-EFBE-9AE5-272E89A175D0}"/>
                  </a:ext>
                </a:extLst>
              </p:cNvPr>
              <p:cNvSpPr txBox="1">
                <a:spLocks noRot="1" noChangeAspect="1" noMove="1" noResize="1" noEditPoints="1" noAdjustHandles="1" noChangeArrowheads="1" noChangeShapeType="1" noTextEdit="1"/>
              </p:cNvSpPr>
              <p:nvPr/>
            </p:nvSpPr>
            <p:spPr>
              <a:xfrm>
                <a:off x="5980826" y="2417717"/>
                <a:ext cx="2977228" cy="1149738"/>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6EE3495-1B34-A351-0654-24F953BFF553}"/>
                  </a:ext>
                </a:extLst>
              </p:cNvPr>
              <p:cNvSpPr txBox="1"/>
              <p:nvPr/>
            </p:nvSpPr>
            <p:spPr>
              <a:xfrm>
                <a:off x="9281143" y="2361941"/>
                <a:ext cx="1645968" cy="498278"/>
              </a:xfrm>
              <a:prstGeom prst="rect">
                <a:avLst/>
              </a:prstGeom>
              <a:noFill/>
            </p:spPr>
            <p:txBody>
              <a:bodyPr wrap="square" lIns="0" tIns="0" rIns="0" bIns="0" rtlCol="0">
                <a:spAutoFit/>
              </a:bodyPr>
              <a:lstStyle/>
              <a:p>
                <a:pPr algn="ctr"/>
                <a14:m>
                  <m:oMath xmlns:m="http://schemas.openxmlformats.org/officeDocument/2006/math">
                    <m:acc>
                      <m:accPr>
                        <m:chr m:val="̂"/>
                        <m:ctrlPr>
                          <a:rPr lang="en-US" b="1" i="1" smtClean="0">
                            <a:solidFill>
                              <a:schemeClr val="tx1"/>
                            </a:solidFill>
                            <a:latin typeface="Cambria Math" panose="02040503050406030204" pitchFamily="18" charset="0"/>
                          </a:rPr>
                        </m:ctrlPr>
                      </m:accPr>
                      <m:e>
                        <m:r>
                          <a:rPr lang="en-US" b="1" i="1" smtClean="0">
                            <a:solidFill>
                              <a:schemeClr val="tx1"/>
                            </a:solidFill>
                            <a:latin typeface="Cambria Math" panose="02040503050406030204" pitchFamily="18" charset="0"/>
                          </a:rPr>
                          <m:t>𝒖</m:t>
                        </m:r>
                      </m:e>
                    </m:acc>
                    <m:d>
                      <m:dPr>
                        <m:ctrlPr>
                          <a:rPr lang="en-US" b="1" i="1" smtClean="0">
                            <a:solidFill>
                              <a:schemeClr val="tx1"/>
                            </a:solidFill>
                            <a:latin typeface="Cambria Math" panose="02040503050406030204" pitchFamily="18" charset="0"/>
                          </a:rPr>
                        </m:ctrlPr>
                      </m:dPr>
                      <m:e>
                        <m:r>
                          <a:rPr lang="en-US" b="1" i="1" smtClean="0">
                            <a:solidFill>
                              <a:schemeClr val="tx1"/>
                            </a:solidFill>
                            <a:latin typeface="Cambria Math" panose="02040503050406030204" pitchFamily="18" charset="0"/>
                          </a:rPr>
                          <m:t>𝒕</m:t>
                        </m:r>
                      </m:e>
                    </m:d>
                    <m:r>
                      <a:rPr lang="en-US" b="0" i="1" smtClean="0">
                        <a:solidFill>
                          <a:schemeClr val="tx2"/>
                        </a:solidFill>
                        <a:latin typeface="Cambria Math" panose="02040503050406030204" pitchFamily="18" charset="0"/>
                      </a:rPr>
                      <m:t>=</m:t>
                    </m:r>
                  </m:oMath>
                </a14:m>
                <a:r>
                  <a:rPr lang="en-US" dirty="0">
                    <a:solidFill>
                      <a:schemeClr val="tx2"/>
                    </a:solidFill>
                  </a:rPr>
                  <a:t> </a:t>
                </a:r>
                <a14:m>
                  <m:oMath xmlns:m="http://schemas.openxmlformats.org/officeDocument/2006/math">
                    <m:f>
                      <m:fPr>
                        <m:ctrlPr>
                          <a:rPr lang="en-US" b="0" i="1" smtClean="0">
                            <a:solidFill>
                              <a:schemeClr val="tx2"/>
                            </a:solidFill>
                            <a:latin typeface="Cambria Math" panose="02040503050406030204" pitchFamily="18" charset="0"/>
                          </a:rPr>
                        </m:ctrlPr>
                      </m:fPr>
                      <m:num>
                        <m:acc>
                          <m:accPr>
                            <m:chr m:val="⃗"/>
                            <m:ctrlPr>
                              <a:rPr lang="en-US" i="1">
                                <a:solidFill>
                                  <a:schemeClr val="tx2"/>
                                </a:solidFill>
                                <a:latin typeface="Cambria Math" panose="02040503050406030204" pitchFamily="18" charset="0"/>
                              </a:rPr>
                            </m:ctrlPr>
                          </m:accPr>
                          <m:e>
                            <m:r>
                              <a:rPr lang="en-US" b="0" i="1" smtClean="0">
                                <a:solidFill>
                                  <a:schemeClr val="tx2"/>
                                </a:solidFill>
                                <a:latin typeface="Cambria Math" panose="02040503050406030204" pitchFamily="18" charset="0"/>
                              </a:rPr>
                              <m:t>𝑅</m:t>
                            </m:r>
                          </m:e>
                        </m:acc>
                        <m:d>
                          <m:dPr>
                            <m:ctrlPr>
                              <a:rPr lang="en-US" i="1">
                                <a:solidFill>
                                  <a:schemeClr val="tx2"/>
                                </a:solidFill>
                                <a:latin typeface="Cambria Math" panose="02040503050406030204" pitchFamily="18" charset="0"/>
                              </a:rPr>
                            </m:ctrlPr>
                          </m:dPr>
                          <m:e>
                            <m:r>
                              <a:rPr lang="en-US" b="0" i="1" smtClean="0">
                                <a:solidFill>
                                  <a:schemeClr val="tx2"/>
                                </a:solidFill>
                                <a:latin typeface="Cambria Math" panose="02040503050406030204" pitchFamily="18" charset="0"/>
                              </a:rPr>
                              <m:t>𝑡</m:t>
                            </m:r>
                          </m:e>
                        </m:d>
                      </m:num>
                      <m:den>
                        <m:d>
                          <m:dPr>
                            <m:begChr m:val="|"/>
                            <m:endChr m:val="|"/>
                            <m:ctrlPr>
                              <a:rPr lang="en-US" i="1" smtClean="0">
                                <a:solidFill>
                                  <a:schemeClr val="tx2"/>
                                </a:solidFill>
                                <a:latin typeface="Cambria Math" panose="02040503050406030204" pitchFamily="18" charset="0"/>
                              </a:rPr>
                            </m:ctrlPr>
                          </m:dPr>
                          <m:e>
                            <m:acc>
                              <m:accPr>
                                <m:chr m:val="⃗"/>
                                <m:ctrlPr>
                                  <a:rPr lang="en-US" i="1">
                                    <a:solidFill>
                                      <a:schemeClr val="tx2"/>
                                    </a:solidFill>
                                    <a:latin typeface="Cambria Math" panose="02040503050406030204" pitchFamily="18" charset="0"/>
                                  </a:rPr>
                                </m:ctrlPr>
                              </m:accPr>
                              <m:e>
                                <m:r>
                                  <a:rPr lang="en-US" b="0" i="1" smtClean="0">
                                    <a:solidFill>
                                      <a:schemeClr val="tx2"/>
                                    </a:solidFill>
                                    <a:latin typeface="Cambria Math" panose="02040503050406030204" pitchFamily="18" charset="0"/>
                                  </a:rPr>
                                  <m:t>𝑅</m:t>
                                </m:r>
                              </m:e>
                            </m:acc>
                            <m:d>
                              <m:dPr>
                                <m:ctrlPr>
                                  <a:rPr lang="en-US" i="1">
                                    <a:solidFill>
                                      <a:schemeClr val="tx2"/>
                                    </a:solidFill>
                                    <a:latin typeface="Cambria Math" panose="02040503050406030204" pitchFamily="18" charset="0"/>
                                  </a:rPr>
                                </m:ctrlPr>
                              </m:dPr>
                              <m:e>
                                <m:r>
                                  <a:rPr lang="en-US" i="1">
                                    <a:solidFill>
                                      <a:schemeClr val="tx2"/>
                                    </a:solidFill>
                                    <a:latin typeface="Cambria Math" panose="02040503050406030204" pitchFamily="18" charset="0"/>
                                  </a:rPr>
                                  <m:t>𝑡</m:t>
                                </m:r>
                              </m:e>
                            </m:d>
                          </m:e>
                        </m:d>
                      </m:den>
                    </m:f>
                  </m:oMath>
                </a14:m>
                <a:endParaRPr lang="en-GB" dirty="0">
                  <a:solidFill>
                    <a:schemeClr val="tx2"/>
                  </a:solidFill>
                </a:endParaRPr>
              </a:p>
            </p:txBody>
          </p:sp>
        </mc:Choice>
        <mc:Fallback xmlns="">
          <p:sp>
            <p:nvSpPr>
              <p:cNvPr id="20" name="TextBox 19">
                <a:extLst>
                  <a:ext uri="{FF2B5EF4-FFF2-40B4-BE49-F238E27FC236}">
                    <a16:creationId xmlns:a16="http://schemas.microsoft.com/office/drawing/2014/main" id="{E6EE3495-1B34-A351-0654-24F953BFF553}"/>
                  </a:ext>
                </a:extLst>
              </p:cNvPr>
              <p:cNvSpPr txBox="1">
                <a:spLocks noRot="1" noChangeAspect="1" noMove="1" noResize="1" noEditPoints="1" noAdjustHandles="1" noChangeArrowheads="1" noChangeShapeType="1" noTextEdit="1"/>
              </p:cNvSpPr>
              <p:nvPr/>
            </p:nvSpPr>
            <p:spPr>
              <a:xfrm>
                <a:off x="9281143" y="2361941"/>
                <a:ext cx="1645968" cy="498278"/>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67B6A6E-CB09-CA04-C3DC-3CE187E5E5EC}"/>
                  </a:ext>
                </a:extLst>
              </p:cNvPr>
              <p:cNvSpPr txBox="1"/>
              <p:nvPr/>
            </p:nvSpPr>
            <p:spPr>
              <a:xfrm>
                <a:off x="9285710" y="3076615"/>
                <a:ext cx="1682750" cy="42518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𝜽</m:t>
                      </m:r>
                      <m:d>
                        <m:dPr>
                          <m:ctrlPr>
                            <a:rPr lang="en-US" b="1" i="1" smtClean="0">
                              <a:solidFill>
                                <a:schemeClr val="tx1"/>
                              </a:solidFill>
                              <a:latin typeface="Cambria Math" panose="02040503050406030204" pitchFamily="18" charset="0"/>
                            </a:rPr>
                          </m:ctrlPr>
                        </m:dPr>
                        <m:e>
                          <m:r>
                            <a:rPr lang="en-US" b="1" i="1" smtClean="0">
                              <a:solidFill>
                                <a:schemeClr val="tx1"/>
                              </a:solidFill>
                              <a:latin typeface="Cambria Math" panose="02040503050406030204" pitchFamily="18" charset="0"/>
                            </a:rPr>
                            <m:t>𝒕</m:t>
                          </m:r>
                        </m:e>
                      </m:d>
                      <m:r>
                        <a:rPr lang="en-US" b="0" i="1" smtClean="0">
                          <a:solidFill>
                            <a:schemeClr val="tx2"/>
                          </a:solidFill>
                          <a:latin typeface="Cambria Math" panose="02040503050406030204" pitchFamily="18" charset="0"/>
                        </a:rPr>
                        <m:t>=</m:t>
                      </m:r>
                      <m:d>
                        <m:dPr>
                          <m:begChr m:val="|"/>
                          <m:endChr m:val="|"/>
                          <m:ctrlPr>
                            <a:rPr lang="en-US" b="0" i="1" smtClean="0">
                              <a:solidFill>
                                <a:schemeClr val="tx2"/>
                              </a:solidFill>
                              <a:latin typeface="Cambria Math" panose="02040503050406030204" pitchFamily="18" charset="0"/>
                            </a:rPr>
                          </m:ctrlPr>
                        </m:dPr>
                        <m:e>
                          <m:acc>
                            <m:accPr>
                              <m:chr m:val="⃗"/>
                              <m:ctrlPr>
                                <a:rPr lang="en-US" i="1">
                                  <a:solidFill>
                                    <a:schemeClr val="tx2"/>
                                  </a:solidFill>
                                  <a:latin typeface="Cambria Math" panose="02040503050406030204" pitchFamily="18" charset="0"/>
                                </a:rPr>
                              </m:ctrlPr>
                            </m:accPr>
                            <m:e>
                              <m:r>
                                <a:rPr lang="en-US" b="0" i="1" smtClean="0">
                                  <a:solidFill>
                                    <a:schemeClr val="tx2"/>
                                  </a:solidFill>
                                  <a:latin typeface="Cambria Math" panose="02040503050406030204" pitchFamily="18" charset="0"/>
                                </a:rPr>
                                <m:t>𝑅</m:t>
                              </m:r>
                            </m:e>
                          </m:acc>
                          <m:d>
                            <m:dPr>
                              <m:ctrlPr>
                                <a:rPr lang="en-US" i="1">
                                  <a:solidFill>
                                    <a:schemeClr val="tx2"/>
                                  </a:solidFill>
                                  <a:latin typeface="Cambria Math" panose="02040503050406030204" pitchFamily="18" charset="0"/>
                                </a:rPr>
                              </m:ctrlPr>
                            </m:dPr>
                            <m:e>
                              <m:r>
                                <a:rPr lang="en-US" i="1">
                                  <a:solidFill>
                                    <a:schemeClr val="tx2"/>
                                  </a:solidFill>
                                  <a:latin typeface="Cambria Math" panose="02040503050406030204" pitchFamily="18" charset="0"/>
                                </a:rPr>
                                <m:t>𝑡</m:t>
                              </m:r>
                            </m:e>
                          </m:d>
                        </m:e>
                      </m:d>
                    </m:oMath>
                  </m:oMathPara>
                </a14:m>
                <a:endParaRPr lang="en-GB" dirty="0"/>
              </a:p>
            </p:txBody>
          </p:sp>
        </mc:Choice>
        <mc:Fallback xmlns="">
          <p:sp>
            <p:nvSpPr>
              <p:cNvPr id="22" name="TextBox 21">
                <a:extLst>
                  <a:ext uri="{FF2B5EF4-FFF2-40B4-BE49-F238E27FC236}">
                    <a16:creationId xmlns:a16="http://schemas.microsoft.com/office/drawing/2014/main" id="{467B6A6E-CB09-CA04-C3DC-3CE187E5E5EC}"/>
                  </a:ext>
                </a:extLst>
              </p:cNvPr>
              <p:cNvSpPr txBox="1">
                <a:spLocks noRot="1" noChangeAspect="1" noMove="1" noResize="1" noEditPoints="1" noAdjustHandles="1" noChangeArrowheads="1" noChangeShapeType="1" noTextEdit="1"/>
              </p:cNvSpPr>
              <p:nvPr/>
            </p:nvSpPr>
            <p:spPr>
              <a:xfrm>
                <a:off x="9285710" y="3076615"/>
                <a:ext cx="1682750" cy="425181"/>
              </a:xfrm>
              <a:prstGeom prst="rect">
                <a:avLst/>
              </a:prstGeom>
              <a:blipFill>
                <a:blip r:embed="rId6"/>
                <a:stretch>
                  <a:fillRect/>
                </a:stretch>
              </a:blipFill>
            </p:spPr>
            <p:txBody>
              <a:bodyPr/>
              <a:lstStyle/>
              <a:p>
                <a:r>
                  <a:rPr lang="en-GB">
                    <a:noFill/>
                  </a:rPr>
                  <a:t> </a:t>
                </a:r>
              </a:p>
            </p:txBody>
          </p:sp>
        </mc:Fallback>
      </mc:AlternateContent>
      <p:grpSp>
        <p:nvGrpSpPr>
          <p:cNvPr id="127" name="Group 126">
            <a:extLst>
              <a:ext uri="{FF2B5EF4-FFF2-40B4-BE49-F238E27FC236}">
                <a16:creationId xmlns:a16="http://schemas.microsoft.com/office/drawing/2014/main" id="{7830E2C3-32B7-EF83-E732-553A03124E25}"/>
              </a:ext>
            </a:extLst>
          </p:cNvPr>
          <p:cNvGrpSpPr/>
          <p:nvPr/>
        </p:nvGrpSpPr>
        <p:grpSpPr>
          <a:xfrm>
            <a:off x="1695692" y="2933394"/>
            <a:ext cx="1021929" cy="1522466"/>
            <a:chOff x="1071439" y="1596445"/>
            <a:chExt cx="1021929" cy="1522466"/>
          </a:xfrm>
        </p:grpSpPr>
        <p:cxnSp>
          <p:nvCxnSpPr>
            <p:cNvPr id="124" name="Straight Arrow Connector 123">
              <a:extLst>
                <a:ext uri="{FF2B5EF4-FFF2-40B4-BE49-F238E27FC236}">
                  <a16:creationId xmlns:a16="http://schemas.microsoft.com/office/drawing/2014/main" id="{B5E0BB66-A256-E621-69C5-EBC2F5EB68F0}"/>
                </a:ext>
              </a:extLst>
            </p:cNvPr>
            <p:cNvCxnSpPr>
              <a:cxnSpLocks/>
            </p:cNvCxnSpPr>
            <p:nvPr/>
          </p:nvCxnSpPr>
          <p:spPr>
            <a:xfrm flipH="1">
              <a:off x="1628009" y="2600340"/>
              <a:ext cx="460955" cy="51857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38EF1EC4-31B9-F7DE-ED4C-04EE8801065A}"/>
                </a:ext>
              </a:extLst>
            </p:cNvPr>
            <p:cNvCxnSpPr/>
            <p:nvPr/>
          </p:nvCxnSpPr>
          <p:spPr>
            <a:xfrm flipV="1">
              <a:off x="2088964" y="1596445"/>
              <a:ext cx="0" cy="101438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FA7B4B5D-FB9C-8B0A-50E7-E2D5E08969D9}"/>
                </a:ext>
              </a:extLst>
            </p:cNvPr>
            <p:cNvCxnSpPr>
              <a:cxnSpLocks/>
            </p:cNvCxnSpPr>
            <p:nvPr/>
          </p:nvCxnSpPr>
          <p:spPr>
            <a:xfrm flipH="1">
              <a:off x="1071439" y="2600340"/>
              <a:ext cx="102192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50" name="Arrow: Curved Down 149">
            <a:extLst>
              <a:ext uri="{FF2B5EF4-FFF2-40B4-BE49-F238E27FC236}">
                <a16:creationId xmlns:a16="http://schemas.microsoft.com/office/drawing/2014/main" id="{1E32A8D0-1006-1870-CDDC-CD18AC97D344}"/>
              </a:ext>
            </a:extLst>
          </p:cNvPr>
          <p:cNvSpPr/>
          <p:nvPr/>
        </p:nvSpPr>
        <p:spPr>
          <a:xfrm rot="19977682" flipV="1">
            <a:off x="2878089" y="3405434"/>
            <a:ext cx="2319071" cy="1092550"/>
          </a:xfrm>
          <a:prstGeom prst="curvedDownArrow">
            <a:avLst>
              <a:gd name="adj1" fmla="val 0"/>
              <a:gd name="adj2" fmla="val 21287"/>
              <a:gd name="adj3" fmla="val 11700"/>
            </a:avLst>
          </a:prstGeom>
          <a:solidFill>
            <a:srgbClr val="000000"/>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mc:AlternateContent xmlns:mc="http://schemas.openxmlformats.org/markup-compatibility/2006" xmlns:a14="http://schemas.microsoft.com/office/drawing/2010/main">
        <mc:Choice Requires="a14">
          <p:sp>
            <p:nvSpPr>
              <p:cNvPr id="151" name="TextBox 150">
                <a:extLst>
                  <a:ext uri="{FF2B5EF4-FFF2-40B4-BE49-F238E27FC236}">
                    <a16:creationId xmlns:a16="http://schemas.microsoft.com/office/drawing/2014/main" id="{EB395618-EE4B-C30E-BB34-BDB47CFE4E3A}"/>
                  </a:ext>
                </a:extLst>
              </p:cNvPr>
              <p:cNvSpPr txBox="1"/>
              <p:nvPr/>
            </p:nvSpPr>
            <p:spPr>
              <a:xfrm>
                <a:off x="4116388" y="4537509"/>
                <a:ext cx="542760"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m:rPr>
                          <m:sty m:val="p"/>
                        </m:rPr>
                        <a:rPr lang="en-US" b="0" i="0" smtClean="0">
                          <a:solidFill>
                            <a:schemeClr val="tx2"/>
                          </a:solidFill>
                          <a:latin typeface="Cambria Math" panose="02040503050406030204" pitchFamily="18" charset="0"/>
                        </a:rPr>
                        <m:t>Δ</m:t>
                      </m:r>
                      <m:r>
                        <a:rPr lang="en-US" b="0" i="1" smtClean="0">
                          <a:solidFill>
                            <a:schemeClr val="tx2"/>
                          </a:solidFill>
                          <a:latin typeface="Cambria Math" panose="02040503050406030204" pitchFamily="18" charset="0"/>
                        </a:rPr>
                        <m:t>𝑞</m:t>
                      </m:r>
                      <m:r>
                        <a:rPr lang="en-US" b="0" i="1" smtClean="0">
                          <a:solidFill>
                            <a:schemeClr val="tx2"/>
                          </a:solidFill>
                          <a:latin typeface="Cambria Math" panose="02040503050406030204" pitchFamily="18" charset="0"/>
                        </a:rPr>
                        <m:t>(</m:t>
                      </m:r>
                      <m:r>
                        <a:rPr lang="en-US" b="0" i="1" smtClean="0">
                          <a:solidFill>
                            <a:schemeClr val="tx2"/>
                          </a:solidFill>
                          <a:latin typeface="Cambria Math" panose="02040503050406030204" pitchFamily="18" charset="0"/>
                        </a:rPr>
                        <m:t>𝑡</m:t>
                      </m:r>
                      <m:r>
                        <a:rPr lang="en-US" b="0" i="1" smtClean="0">
                          <a:solidFill>
                            <a:schemeClr val="tx2"/>
                          </a:solidFill>
                          <a:latin typeface="Cambria Math" panose="02040503050406030204" pitchFamily="18" charset="0"/>
                        </a:rPr>
                        <m:t>)</m:t>
                      </m:r>
                    </m:oMath>
                  </m:oMathPara>
                </a14:m>
                <a:endParaRPr lang="en-GB" dirty="0">
                  <a:solidFill>
                    <a:schemeClr val="tx2"/>
                  </a:solidFill>
                </a:endParaRPr>
              </a:p>
            </p:txBody>
          </p:sp>
        </mc:Choice>
        <mc:Fallback xmlns="">
          <p:sp>
            <p:nvSpPr>
              <p:cNvPr id="151" name="TextBox 150">
                <a:extLst>
                  <a:ext uri="{FF2B5EF4-FFF2-40B4-BE49-F238E27FC236}">
                    <a16:creationId xmlns:a16="http://schemas.microsoft.com/office/drawing/2014/main" id="{EB395618-EE4B-C30E-BB34-BDB47CFE4E3A}"/>
                  </a:ext>
                </a:extLst>
              </p:cNvPr>
              <p:cNvSpPr txBox="1">
                <a:spLocks noRot="1" noChangeAspect="1" noMove="1" noResize="1" noEditPoints="1" noAdjustHandles="1" noChangeArrowheads="1" noChangeShapeType="1" noTextEdit="1"/>
              </p:cNvSpPr>
              <p:nvPr/>
            </p:nvSpPr>
            <p:spPr>
              <a:xfrm>
                <a:off x="4116388" y="4537509"/>
                <a:ext cx="542760" cy="276999"/>
              </a:xfrm>
              <a:prstGeom prst="rect">
                <a:avLst/>
              </a:prstGeom>
              <a:blipFill>
                <a:blip r:embed="rId7"/>
                <a:stretch>
                  <a:fillRect l="-14607" r="-22472" b="-3478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2" name="TextBox 151">
                <a:extLst>
                  <a:ext uri="{FF2B5EF4-FFF2-40B4-BE49-F238E27FC236}">
                    <a16:creationId xmlns:a16="http://schemas.microsoft.com/office/drawing/2014/main" id="{3176885B-9F3C-25B0-71D0-E37EB3F10DA8}"/>
                  </a:ext>
                </a:extLst>
              </p:cNvPr>
              <p:cNvSpPr txBox="1"/>
              <p:nvPr/>
            </p:nvSpPr>
            <p:spPr>
              <a:xfrm>
                <a:off x="2261040" y="3594365"/>
                <a:ext cx="542760"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𝑞</m:t>
                          </m:r>
                        </m:e>
                        <m:sub>
                          <m:r>
                            <a:rPr lang="en-US" b="0" i="1" smtClean="0">
                              <a:solidFill>
                                <a:schemeClr val="tx2"/>
                              </a:solidFill>
                              <a:latin typeface="Cambria Math" panose="02040503050406030204" pitchFamily="18" charset="0"/>
                            </a:rPr>
                            <m:t>𝑖</m:t>
                          </m:r>
                        </m:sub>
                      </m:sSub>
                    </m:oMath>
                  </m:oMathPara>
                </a14:m>
                <a:endParaRPr lang="en-GB" dirty="0">
                  <a:solidFill>
                    <a:schemeClr val="tx2"/>
                  </a:solidFill>
                </a:endParaRPr>
              </a:p>
            </p:txBody>
          </p:sp>
        </mc:Choice>
        <mc:Fallback xmlns="">
          <p:sp>
            <p:nvSpPr>
              <p:cNvPr id="152" name="TextBox 151">
                <a:extLst>
                  <a:ext uri="{FF2B5EF4-FFF2-40B4-BE49-F238E27FC236}">
                    <a16:creationId xmlns:a16="http://schemas.microsoft.com/office/drawing/2014/main" id="{3176885B-9F3C-25B0-71D0-E37EB3F10DA8}"/>
                  </a:ext>
                </a:extLst>
              </p:cNvPr>
              <p:cNvSpPr txBox="1">
                <a:spLocks noRot="1" noChangeAspect="1" noMove="1" noResize="1" noEditPoints="1" noAdjustHandles="1" noChangeArrowheads="1" noChangeShapeType="1" noTextEdit="1"/>
              </p:cNvSpPr>
              <p:nvPr/>
            </p:nvSpPr>
            <p:spPr>
              <a:xfrm>
                <a:off x="2261040" y="3594365"/>
                <a:ext cx="542760" cy="276999"/>
              </a:xfrm>
              <a:prstGeom prst="rect">
                <a:avLst/>
              </a:prstGeom>
              <a:blipFill>
                <a:blip r:embed="rId8"/>
                <a:stretch>
                  <a:fillRect b="-2888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3" name="TextBox 152">
                <a:extLst>
                  <a:ext uri="{FF2B5EF4-FFF2-40B4-BE49-F238E27FC236}">
                    <a16:creationId xmlns:a16="http://schemas.microsoft.com/office/drawing/2014/main" id="{03E543BB-7D75-288E-E88D-A5B19498D02B}"/>
                  </a:ext>
                </a:extLst>
              </p:cNvPr>
              <p:cNvSpPr txBox="1"/>
              <p:nvPr/>
            </p:nvSpPr>
            <p:spPr>
              <a:xfrm>
                <a:off x="3963254" y="2676973"/>
                <a:ext cx="542760"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a:rPr lang="en-US" b="0" i="1" smtClean="0">
                          <a:solidFill>
                            <a:schemeClr val="tx2"/>
                          </a:solidFill>
                          <a:latin typeface="Cambria Math" panose="02040503050406030204" pitchFamily="18" charset="0"/>
                        </a:rPr>
                        <m:t>𝑞</m:t>
                      </m:r>
                      <m:r>
                        <a:rPr lang="en-US" b="0" i="1" smtClean="0">
                          <a:solidFill>
                            <a:schemeClr val="tx2"/>
                          </a:solidFill>
                          <a:latin typeface="Cambria Math" panose="02040503050406030204" pitchFamily="18" charset="0"/>
                        </a:rPr>
                        <m:t>(</m:t>
                      </m:r>
                      <m:r>
                        <a:rPr lang="en-US" b="0" i="1" smtClean="0">
                          <a:solidFill>
                            <a:schemeClr val="tx2"/>
                          </a:solidFill>
                          <a:latin typeface="Cambria Math" panose="02040503050406030204" pitchFamily="18" charset="0"/>
                        </a:rPr>
                        <m:t>𝑡</m:t>
                      </m:r>
                      <m:r>
                        <a:rPr lang="en-US" b="0" i="1" smtClean="0">
                          <a:solidFill>
                            <a:schemeClr val="tx2"/>
                          </a:solidFill>
                          <a:latin typeface="Cambria Math" panose="02040503050406030204" pitchFamily="18" charset="0"/>
                        </a:rPr>
                        <m:t>)</m:t>
                      </m:r>
                    </m:oMath>
                  </m:oMathPara>
                </a14:m>
                <a:endParaRPr lang="en-GB" dirty="0">
                  <a:solidFill>
                    <a:schemeClr val="tx2"/>
                  </a:solidFill>
                </a:endParaRPr>
              </a:p>
            </p:txBody>
          </p:sp>
        </mc:Choice>
        <mc:Fallback xmlns="">
          <p:sp>
            <p:nvSpPr>
              <p:cNvPr id="153" name="TextBox 152">
                <a:extLst>
                  <a:ext uri="{FF2B5EF4-FFF2-40B4-BE49-F238E27FC236}">
                    <a16:creationId xmlns:a16="http://schemas.microsoft.com/office/drawing/2014/main" id="{03E543BB-7D75-288E-E88D-A5B19498D02B}"/>
                  </a:ext>
                </a:extLst>
              </p:cNvPr>
              <p:cNvSpPr txBox="1">
                <a:spLocks noRot="1" noChangeAspect="1" noMove="1" noResize="1" noEditPoints="1" noAdjustHandles="1" noChangeArrowheads="1" noChangeShapeType="1" noTextEdit="1"/>
              </p:cNvSpPr>
              <p:nvPr/>
            </p:nvSpPr>
            <p:spPr>
              <a:xfrm>
                <a:off x="3963254" y="2676973"/>
                <a:ext cx="542760" cy="276999"/>
              </a:xfrm>
              <a:prstGeom prst="rect">
                <a:avLst/>
              </a:prstGeom>
              <a:blipFill>
                <a:blip r:embed="rId9"/>
                <a:stretch>
                  <a:fillRect l="-4494" r="-8989" b="-34783"/>
                </a:stretch>
              </a:blipFill>
            </p:spPr>
            <p:txBody>
              <a:bodyPr/>
              <a:lstStyle/>
              <a:p>
                <a:r>
                  <a:rPr lang="en-GB">
                    <a:noFill/>
                  </a:rPr>
                  <a:t> </a:t>
                </a:r>
              </a:p>
            </p:txBody>
          </p:sp>
        </mc:Fallback>
      </mc:AlternateContent>
      <p:grpSp>
        <p:nvGrpSpPr>
          <p:cNvPr id="35" name="Group 34">
            <a:extLst>
              <a:ext uri="{FF2B5EF4-FFF2-40B4-BE49-F238E27FC236}">
                <a16:creationId xmlns:a16="http://schemas.microsoft.com/office/drawing/2014/main" id="{746A915D-A319-BD18-341C-2DC0438C2CEE}"/>
              </a:ext>
            </a:extLst>
          </p:cNvPr>
          <p:cNvGrpSpPr/>
          <p:nvPr/>
        </p:nvGrpSpPr>
        <p:grpSpPr>
          <a:xfrm>
            <a:off x="3509556" y="3766599"/>
            <a:ext cx="725078" cy="1013921"/>
            <a:chOff x="7567275" y="4676008"/>
            <a:chExt cx="725078" cy="1013921"/>
          </a:xfrm>
        </p:grpSpPr>
        <p:grpSp>
          <p:nvGrpSpPr>
            <p:cNvPr id="32" name="Group 31">
              <a:extLst>
                <a:ext uri="{FF2B5EF4-FFF2-40B4-BE49-F238E27FC236}">
                  <a16:creationId xmlns:a16="http://schemas.microsoft.com/office/drawing/2014/main" id="{EC99F8A9-6C63-1658-8204-E022385DE6E9}"/>
                </a:ext>
              </a:extLst>
            </p:cNvPr>
            <p:cNvGrpSpPr/>
            <p:nvPr/>
          </p:nvGrpSpPr>
          <p:grpSpPr>
            <a:xfrm>
              <a:off x="7594476" y="4704397"/>
              <a:ext cx="697877" cy="985532"/>
              <a:chOff x="7594476" y="4704397"/>
              <a:chExt cx="697877" cy="985532"/>
            </a:xfrm>
          </p:grpSpPr>
          <p:cxnSp>
            <p:nvCxnSpPr>
              <p:cNvPr id="23" name="Straight Arrow Connector 22">
                <a:extLst>
                  <a:ext uri="{FF2B5EF4-FFF2-40B4-BE49-F238E27FC236}">
                    <a16:creationId xmlns:a16="http://schemas.microsoft.com/office/drawing/2014/main" id="{A726CBC8-A34D-9034-F37A-580E43255B21}"/>
                  </a:ext>
                </a:extLst>
              </p:cNvPr>
              <p:cNvCxnSpPr>
                <a:cxnSpLocks/>
              </p:cNvCxnSpPr>
              <p:nvPr/>
            </p:nvCxnSpPr>
            <p:spPr>
              <a:xfrm flipH="1">
                <a:off x="7974559" y="5354244"/>
                <a:ext cx="314787" cy="33568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0DCE943-1336-3D94-5D95-E0D0F65311C1}"/>
                  </a:ext>
                </a:extLst>
              </p:cNvPr>
              <p:cNvCxnSpPr/>
              <p:nvPr/>
            </p:nvCxnSpPr>
            <p:spPr>
              <a:xfrm flipV="1">
                <a:off x="8289346" y="4704397"/>
                <a:ext cx="0" cy="656641"/>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002E2DA-801D-15C1-9E04-6E62F754839A}"/>
                  </a:ext>
                </a:extLst>
              </p:cNvPr>
              <p:cNvCxnSpPr>
                <a:cxnSpLocks/>
              </p:cNvCxnSpPr>
              <p:nvPr/>
            </p:nvCxnSpPr>
            <p:spPr>
              <a:xfrm flipH="1">
                <a:off x="7594476" y="5354244"/>
                <a:ext cx="697877"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6" name="Straight Arrow Connector 25">
              <a:extLst>
                <a:ext uri="{FF2B5EF4-FFF2-40B4-BE49-F238E27FC236}">
                  <a16:creationId xmlns:a16="http://schemas.microsoft.com/office/drawing/2014/main" id="{67DD3FC4-D9A6-422A-D279-CCC32208D1CB}"/>
                </a:ext>
              </a:extLst>
            </p:cNvPr>
            <p:cNvCxnSpPr>
              <a:cxnSpLocks/>
            </p:cNvCxnSpPr>
            <p:nvPr/>
          </p:nvCxnSpPr>
          <p:spPr>
            <a:xfrm flipH="1" flipV="1">
              <a:off x="7812264" y="4878732"/>
              <a:ext cx="480089" cy="475512"/>
            </a:xfrm>
            <a:prstGeom prst="straightConnector1">
              <a:avLst/>
            </a:prstGeom>
            <a:ln w="38100">
              <a:solidFill>
                <a:srgbClr val="2F2F2F"/>
              </a:solidFill>
              <a:tailEnd type="triangle"/>
            </a:ln>
          </p:spPr>
          <p:style>
            <a:lnRef idx="1">
              <a:schemeClr val="accent1"/>
            </a:lnRef>
            <a:fillRef idx="0">
              <a:schemeClr val="accent1"/>
            </a:fillRef>
            <a:effectRef idx="0">
              <a:schemeClr val="accent1"/>
            </a:effectRef>
            <a:fontRef idx="minor">
              <a:schemeClr val="tx1"/>
            </a:fontRef>
          </p:style>
        </p:cxnSp>
        <p:sp>
          <p:nvSpPr>
            <p:cNvPr id="27" name="Arrow: Curved Down 26">
              <a:extLst>
                <a:ext uri="{FF2B5EF4-FFF2-40B4-BE49-F238E27FC236}">
                  <a16:creationId xmlns:a16="http://schemas.microsoft.com/office/drawing/2014/main" id="{B50E6524-12A6-AAD3-A49C-6067D12481CA}"/>
                </a:ext>
              </a:extLst>
            </p:cNvPr>
            <p:cNvSpPr/>
            <p:nvPr/>
          </p:nvSpPr>
          <p:spPr>
            <a:xfrm rot="18656914" flipV="1">
              <a:off x="7917884" y="5067192"/>
              <a:ext cx="265843" cy="98593"/>
            </a:xfrm>
            <a:prstGeom prst="curvedDown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265E95E1-07F5-2890-D745-3E72CA6A2DA2}"/>
                    </a:ext>
                  </a:extLst>
                </p:cNvPr>
                <p:cNvSpPr txBox="1"/>
                <p:nvPr/>
              </p:nvSpPr>
              <p:spPr>
                <a:xfrm>
                  <a:off x="7932435" y="4742574"/>
                  <a:ext cx="269594"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tx2"/>
                            </a:solidFill>
                            <a:latin typeface="Cambria Math" panose="02040503050406030204" pitchFamily="18" charset="0"/>
                          </a:rPr>
                          <m:t>𝜃</m:t>
                        </m:r>
                      </m:oMath>
                    </m:oMathPara>
                  </a14:m>
                  <a:endParaRPr lang="en-GB" sz="1400" dirty="0">
                    <a:solidFill>
                      <a:schemeClr val="tx2"/>
                    </a:solidFill>
                  </a:endParaRPr>
                </a:p>
              </p:txBody>
            </p:sp>
          </mc:Choice>
          <mc:Fallback xmlns="">
            <p:sp>
              <p:nvSpPr>
                <p:cNvPr id="28" name="TextBox 27">
                  <a:extLst>
                    <a:ext uri="{FF2B5EF4-FFF2-40B4-BE49-F238E27FC236}">
                      <a16:creationId xmlns:a16="http://schemas.microsoft.com/office/drawing/2014/main" id="{265E95E1-07F5-2890-D745-3E72CA6A2DA2}"/>
                    </a:ext>
                  </a:extLst>
                </p:cNvPr>
                <p:cNvSpPr txBox="1">
                  <a:spLocks noRot="1" noChangeAspect="1" noMove="1" noResize="1" noEditPoints="1" noAdjustHandles="1" noChangeArrowheads="1" noChangeShapeType="1" noTextEdit="1"/>
                </p:cNvSpPr>
                <p:nvPr/>
              </p:nvSpPr>
              <p:spPr>
                <a:xfrm>
                  <a:off x="7932435" y="4742574"/>
                  <a:ext cx="269594" cy="307777"/>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3F8F702-0B05-14C1-CBAA-651D7145B950}"/>
                    </a:ext>
                  </a:extLst>
                </p:cNvPr>
                <p:cNvSpPr txBox="1"/>
                <p:nvPr/>
              </p:nvSpPr>
              <p:spPr>
                <a:xfrm>
                  <a:off x="7567275" y="4676008"/>
                  <a:ext cx="33397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sz="1400" i="1" smtClean="0">
                                <a:solidFill>
                                  <a:schemeClr val="tx2"/>
                                </a:solidFill>
                                <a:latin typeface="Cambria Math" panose="02040503050406030204" pitchFamily="18" charset="0"/>
                              </a:rPr>
                            </m:ctrlPr>
                          </m:accPr>
                          <m:e>
                            <m:r>
                              <a:rPr lang="en-US" sz="1400" b="0" i="1" smtClean="0">
                                <a:solidFill>
                                  <a:schemeClr val="tx2"/>
                                </a:solidFill>
                                <a:latin typeface="Cambria Math" panose="02040503050406030204" pitchFamily="18" charset="0"/>
                              </a:rPr>
                              <m:t>𝑢</m:t>
                            </m:r>
                          </m:e>
                        </m:acc>
                      </m:oMath>
                    </m:oMathPara>
                  </a14:m>
                  <a:endParaRPr lang="en-GB" sz="1400" dirty="0">
                    <a:solidFill>
                      <a:schemeClr val="tx2"/>
                    </a:solidFill>
                  </a:endParaRPr>
                </a:p>
              </p:txBody>
            </p:sp>
          </mc:Choice>
          <mc:Fallback xmlns="">
            <p:sp>
              <p:nvSpPr>
                <p:cNvPr id="29" name="TextBox 28">
                  <a:extLst>
                    <a:ext uri="{FF2B5EF4-FFF2-40B4-BE49-F238E27FC236}">
                      <a16:creationId xmlns:a16="http://schemas.microsoft.com/office/drawing/2014/main" id="{23F8F702-0B05-14C1-CBAA-651D7145B950}"/>
                    </a:ext>
                  </a:extLst>
                </p:cNvPr>
                <p:cNvSpPr txBox="1">
                  <a:spLocks noRot="1" noChangeAspect="1" noMove="1" noResize="1" noEditPoints="1" noAdjustHandles="1" noChangeArrowheads="1" noChangeShapeType="1" noTextEdit="1"/>
                </p:cNvSpPr>
                <p:nvPr/>
              </p:nvSpPr>
              <p:spPr>
                <a:xfrm>
                  <a:off x="7567275" y="4676008"/>
                  <a:ext cx="333977" cy="307777"/>
                </a:xfrm>
                <a:prstGeom prst="rect">
                  <a:avLst/>
                </a:prstGeom>
                <a:blipFill>
                  <a:blip r:embed="rId11"/>
                  <a:stretch>
                    <a:fillRect r="-3636"/>
                  </a:stretch>
                </a:blipFill>
              </p:spPr>
              <p:txBody>
                <a:bodyPr/>
                <a:lstStyle/>
                <a:p>
                  <a:r>
                    <a:rPr lang="en-GB">
                      <a:noFill/>
                    </a:rPr>
                    <a:t> </a:t>
                  </a:r>
                </a:p>
              </p:txBody>
            </p:sp>
          </mc:Fallback>
        </mc:AlternateContent>
      </p:grpSp>
    </p:spTree>
    <p:extLst>
      <p:ext uri="{BB962C8B-B14F-4D97-AF65-F5344CB8AC3E}">
        <p14:creationId xmlns:p14="http://schemas.microsoft.com/office/powerpoint/2010/main" val="28245362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786107"/>
          </a:xfrm>
        </p:spPr>
        <p:txBody>
          <a:bodyPr/>
          <a:lstStyle/>
          <a:p>
            <a:r>
              <a:rPr lang="en-US" dirty="0"/>
              <a:t>Cubic Orientation Spline Algorithm </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45</a:t>
            </a:fld>
            <a:endParaRPr lang="en-US" dirty="0"/>
          </a:p>
        </p:txBody>
      </p:sp>
      <p:sp>
        <p:nvSpPr>
          <p:cNvPr id="9" name="Rectangle: Rounded Corners 8">
            <a:extLst>
              <a:ext uri="{FF2B5EF4-FFF2-40B4-BE49-F238E27FC236}">
                <a16:creationId xmlns:a16="http://schemas.microsoft.com/office/drawing/2014/main" id="{B57F9A30-FFD9-84B0-88A3-7D6F60558107}"/>
              </a:ext>
            </a:extLst>
          </p:cNvPr>
          <p:cNvSpPr/>
          <p:nvPr/>
        </p:nvSpPr>
        <p:spPr>
          <a:xfrm>
            <a:off x="8292353" y="345766"/>
            <a:ext cx="2303929" cy="622422"/>
          </a:xfrm>
          <a:prstGeom prst="roundRect">
            <a:avLst/>
          </a:prstGeom>
          <a:solidFill>
            <a:srgbClr val="CDDCF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CubicOrientationSpline</a:t>
            </a:r>
            <a:endParaRPr lang="en-GB" sz="1200" dirty="0">
              <a:solidFill>
                <a:srgbClr val="003399"/>
              </a:solidFill>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8D8F7A8-093E-5F3E-9C29-EE5E44736851}"/>
                  </a:ext>
                </a:extLst>
              </p:cNvPr>
              <p:cNvSpPr txBox="1"/>
              <p:nvPr/>
            </p:nvSpPr>
            <p:spPr>
              <a:xfrm>
                <a:off x="7174259" y="1781991"/>
                <a:ext cx="2977228"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a:rPr lang="en-US" b="0" i="1" smtClean="0">
                          <a:solidFill>
                            <a:schemeClr val="tx2"/>
                          </a:solidFill>
                          <a:latin typeface="Cambria Math" panose="02040503050406030204" pitchFamily="18" charset="0"/>
                        </a:rPr>
                        <m:t>𝑞</m:t>
                      </m:r>
                      <m:d>
                        <m:dPr>
                          <m:ctrlPr>
                            <a:rPr lang="en-US" b="0" i="1" smtClean="0">
                              <a:solidFill>
                                <a:schemeClr val="tx2"/>
                              </a:solidFill>
                              <a:latin typeface="Cambria Math" panose="02040503050406030204" pitchFamily="18" charset="0"/>
                            </a:rPr>
                          </m:ctrlPr>
                        </m:dPr>
                        <m:e>
                          <m:r>
                            <a:rPr lang="en-US" b="0" i="1" smtClean="0">
                              <a:solidFill>
                                <a:schemeClr val="tx2"/>
                              </a:solidFill>
                              <a:latin typeface="Cambria Math" panose="02040503050406030204" pitchFamily="18" charset="0"/>
                            </a:rPr>
                            <m:t>𝑡</m:t>
                          </m:r>
                        </m:e>
                      </m:d>
                      <m:r>
                        <a:rPr lang="en-US" b="0" i="1" smtClean="0">
                          <a:solidFill>
                            <a:schemeClr val="tx2"/>
                          </a:solidFill>
                          <a:latin typeface="Cambria Math" panose="02040503050406030204" pitchFamily="18" charset="0"/>
                        </a:rPr>
                        <m:t>=</m:t>
                      </m:r>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𝑞</m:t>
                          </m:r>
                        </m:e>
                        <m:sub>
                          <m:r>
                            <a:rPr lang="en-US" b="0" i="1" smtClean="0">
                              <a:solidFill>
                                <a:schemeClr val="tx2"/>
                              </a:solidFill>
                              <a:latin typeface="Cambria Math" panose="02040503050406030204" pitchFamily="18" charset="0"/>
                            </a:rPr>
                            <m:t>𝑖</m:t>
                          </m:r>
                        </m:sub>
                      </m:sSub>
                      <m:r>
                        <m:rPr>
                          <m:sty m:val="p"/>
                        </m:rPr>
                        <a:rPr lang="en-US" b="0" i="0" smtClean="0">
                          <a:solidFill>
                            <a:schemeClr val="tx2"/>
                          </a:solidFill>
                          <a:latin typeface="Cambria Math" panose="02040503050406030204" pitchFamily="18" charset="0"/>
                        </a:rPr>
                        <m:t>Δ</m:t>
                      </m:r>
                      <m:r>
                        <a:rPr lang="en-US" b="0" i="1" smtClean="0">
                          <a:solidFill>
                            <a:schemeClr val="tx2"/>
                          </a:solidFill>
                          <a:latin typeface="Cambria Math" panose="02040503050406030204" pitchFamily="18" charset="0"/>
                        </a:rPr>
                        <m:t>𝑞</m:t>
                      </m:r>
                      <m:r>
                        <a:rPr lang="en-US" b="0" i="1" smtClean="0">
                          <a:solidFill>
                            <a:schemeClr val="tx2"/>
                          </a:solidFill>
                          <a:latin typeface="Cambria Math" panose="02040503050406030204" pitchFamily="18" charset="0"/>
                        </a:rPr>
                        <m:t>(</m:t>
                      </m:r>
                      <m:r>
                        <a:rPr lang="en-US" b="0" i="1" smtClean="0">
                          <a:solidFill>
                            <a:schemeClr val="tx2"/>
                          </a:solidFill>
                          <a:latin typeface="Cambria Math" panose="02040503050406030204" pitchFamily="18" charset="0"/>
                        </a:rPr>
                        <m:t>𝑡</m:t>
                      </m:r>
                      <m:r>
                        <a:rPr lang="en-US" b="0" i="1" smtClean="0">
                          <a:solidFill>
                            <a:schemeClr val="tx2"/>
                          </a:solidFill>
                          <a:latin typeface="Cambria Math" panose="02040503050406030204" pitchFamily="18" charset="0"/>
                        </a:rPr>
                        <m:t>)</m:t>
                      </m:r>
                    </m:oMath>
                  </m:oMathPara>
                </a14:m>
                <a:endParaRPr lang="en-GB" dirty="0">
                  <a:solidFill>
                    <a:schemeClr val="tx2"/>
                  </a:solidFill>
                </a:endParaRPr>
              </a:p>
            </p:txBody>
          </p:sp>
        </mc:Choice>
        <mc:Fallback xmlns="">
          <p:sp>
            <p:nvSpPr>
              <p:cNvPr id="7" name="TextBox 6">
                <a:extLst>
                  <a:ext uri="{FF2B5EF4-FFF2-40B4-BE49-F238E27FC236}">
                    <a16:creationId xmlns:a16="http://schemas.microsoft.com/office/drawing/2014/main" id="{68D8F7A8-093E-5F3E-9C29-EE5E44736851}"/>
                  </a:ext>
                </a:extLst>
              </p:cNvPr>
              <p:cNvSpPr txBox="1">
                <a:spLocks noRot="1" noChangeAspect="1" noMove="1" noResize="1" noEditPoints="1" noAdjustHandles="1" noChangeArrowheads="1" noChangeShapeType="1" noTextEdit="1"/>
              </p:cNvSpPr>
              <p:nvPr/>
            </p:nvSpPr>
            <p:spPr>
              <a:xfrm>
                <a:off x="7174259" y="1781991"/>
                <a:ext cx="2977228" cy="276999"/>
              </a:xfrm>
              <a:prstGeom prst="rect">
                <a:avLst/>
              </a:prstGeom>
              <a:blipFill>
                <a:blip r:embed="rId3"/>
                <a:stretch>
                  <a:fillRect b="-3478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B0B6FF6-6B69-EFBE-9AE5-272E89A175D0}"/>
                  </a:ext>
                </a:extLst>
              </p:cNvPr>
              <p:cNvSpPr txBox="1"/>
              <p:nvPr/>
            </p:nvSpPr>
            <p:spPr>
              <a:xfrm>
                <a:off x="5980826" y="2417717"/>
                <a:ext cx="2977228" cy="114973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b="0" i="0" smtClean="0">
                          <a:solidFill>
                            <a:srgbClr val="2F2F2F"/>
                          </a:solidFill>
                          <a:latin typeface="Cambria Math" panose="02040503050406030204" pitchFamily="18" charset="0"/>
                        </a:rPr>
                        <m:t>Δ</m:t>
                      </m:r>
                      <m:r>
                        <a:rPr lang="en-US" b="0" i="1" smtClean="0">
                          <a:solidFill>
                            <a:srgbClr val="2F2F2F"/>
                          </a:solidFill>
                          <a:latin typeface="Cambria Math" panose="02040503050406030204" pitchFamily="18" charset="0"/>
                        </a:rPr>
                        <m:t>𝑞</m:t>
                      </m:r>
                      <m:d>
                        <m:dPr>
                          <m:ctrlPr>
                            <a:rPr lang="en-US" b="0" i="1" smtClean="0">
                              <a:solidFill>
                                <a:srgbClr val="2F2F2F"/>
                              </a:solidFill>
                              <a:latin typeface="Cambria Math" panose="02040503050406030204" pitchFamily="18" charset="0"/>
                            </a:rPr>
                          </m:ctrlPr>
                        </m:dPr>
                        <m:e>
                          <m:r>
                            <a:rPr lang="en-US" b="0" i="1" smtClean="0">
                              <a:solidFill>
                                <a:srgbClr val="2F2F2F"/>
                              </a:solidFill>
                              <a:latin typeface="Cambria Math" panose="02040503050406030204" pitchFamily="18" charset="0"/>
                            </a:rPr>
                            <m:t>𝑡</m:t>
                          </m:r>
                        </m:e>
                      </m:d>
                      <m:r>
                        <a:rPr lang="en-US" b="0" i="1" smtClean="0">
                          <a:solidFill>
                            <a:srgbClr val="2F2F2F"/>
                          </a:solidFill>
                          <a:latin typeface="Cambria Math" panose="02040503050406030204" pitchFamily="18" charset="0"/>
                        </a:rPr>
                        <m:t>=</m:t>
                      </m:r>
                      <m:d>
                        <m:dPr>
                          <m:begChr m:val="["/>
                          <m:endChr m:val="]"/>
                          <m:ctrlPr>
                            <a:rPr lang="en-US" b="0" i="1" smtClean="0">
                              <a:solidFill>
                                <a:srgbClr val="2F2F2F"/>
                              </a:solidFill>
                              <a:latin typeface="Cambria Math" panose="02040503050406030204" pitchFamily="18" charset="0"/>
                            </a:rPr>
                          </m:ctrlPr>
                        </m:dPr>
                        <m:e>
                          <m:m>
                            <m:mPr>
                              <m:mcs>
                                <m:mc>
                                  <m:mcPr>
                                    <m:count m:val="1"/>
                                    <m:mcJc m:val="center"/>
                                  </m:mcPr>
                                </m:mc>
                              </m:mcs>
                              <m:ctrlPr>
                                <a:rPr lang="en-US" b="0" i="1" smtClean="0">
                                  <a:solidFill>
                                    <a:srgbClr val="2F2F2F"/>
                                  </a:solidFill>
                                  <a:latin typeface="Cambria Math" panose="02040503050406030204" pitchFamily="18" charset="0"/>
                                </a:rPr>
                              </m:ctrlPr>
                            </m:mPr>
                            <m:mr>
                              <m:e>
                                <m:r>
                                  <m:rPr>
                                    <m:sty m:val="p"/>
                                    <m:brk m:alnAt="7"/>
                                  </m:rPr>
                                  <a:rPr lang="en-US" b="0" i="0" smtClean="0">
                                    <a:solidFill>
                                      <a:srgbClr val="2F2F2F"/>
                                    </a:solidFill>
                                    <a:latin typeface="Cambria Math" panose="02040503050406030204" pitchFamily="18" charset="0"/>
                                  </a:rPr>
                                  <m:t>c</m:t>
                                </m:r>
                                <m:r>
                                  <m:rPr>
                                    <m:sty m:val="p"/>
                                  </m:rPr>
                                  <a:rPr lang="en-US" b="0" i="0" smtClean="0">
                                    <a:solidFill>
                                      <a:srgbClr val="2F2F2F"/>
                                    </a:solidFill>
                                    <a:latin typeface="Cambria Math" panose="02040503050406030204" pitchFamily="18" charset="0"/>
                                  </a:rPr>
                                  <m:t>os</m:t>
                                </m:r>
                                <m:r>
                                  <m:rPr>
                                    <m:brk m:alnAt="7"/>
                                  </m:rPr>
                                  <a:rPr lang="en-US" b="0" i="1" smtClean="0">
                                    <a:solidFill>
                                      <a:srgbClr val="2F2F2F"/>
                                    </a:solidFill>
                                    <a:latin typeface="Cambria Math" panose="02040503050406030204" pitchFamily="18" charset="0"/>
                                  </a:rPr>
                                  <m:t>⁡</m:t>
                                </m:r>
                                <m:r>
                                  <a:rPr lang="en-US" b="0" i="1" smtClean="0">
                                    <a:solidFill>
                                      <a:srgbClr val="2F2F2F"/>
                                    </a:solidFill>
                                    <a:latin typeface="Cambria Math" panose="02040503050406030204" pitchFamily="18" charset="0"/>
                                  </a:rPr>
                                  <m:t>(</m:t>
                                </m:r>
                                <m:r>
                                  <a:rPr lang="en-US" b="0" i="1" smtClean="0">
                                    <a:solidFill>
                                      <a:srgbClr val="2F2F2F"/>
                                    </a:solidFill>
                                    <a:latin typeface="Cambria Math" panose="02040503050406030204" pitchFamily="18" charset="0"/>
                                  </a:rPr>
                                  <m:t>𝜃</m:t>
                                </m:r>
                                <m:d>
                                  <m:dPr>
                                    <m:ctrlPr>
                                      <a:rPr lang="en-US" b="0" i="1" smtClean="0">
                                        <a:solidFill>
                                          <a:srgbClr val="2F2F2F"/>
                                        </a:solidFill>
                                        <a:latin typeface="Cambria Math" panose="02040503050406030204" pitchFamily="18" charset="0"/>
                                      </a:rPr>
                                    </m:ctrlPr>
                                  </m:dPr>
                                  <m:e>
                                    <m:r>
                                      <a:rPr lang="en-US" b="0" i="1" smtClean="0">
                                        <a:solidFill>
                                          <a:srgbClr val="2F2F2F"/>
                                        </a:solidFill>
                                        <a:latin typeface="Cambria Math" panose="02040503050406030204" pitchFamily="18" charset="0"/>
                                      </a:rPr>
                                      <m:t>𝑡</m:t>
                                    </m:r>
                                  </m:e>
                                </m:d>
                                <m:r>
                                  <a:rPr lang="en-US" b="0" i="1" smtClean="0">
                                    <a:solidFill>
                                      <a:srgbClr val="2F2F2F"/>
                                    </a:solidFill>
                                    <a:latin typeface="Cambria Math" panose="02040503050406030204" pitchFamily="18" charset="0"/>
                                  </a:rPr>
                                  <m:t>/2)</m:t>
                                </m:r>
                              </m:e>
                            </m:mr>
                            <m:mr>
                              <m:e>
                                <m:sSub>
                                  <m:sSubPr>
                                    <m:ctrlPr>
                                      <a:rPr lang="en-US" b="0" i="1" smtClean="0">
                                        <a:solidFill>
                                          <a:srgbClr val="2F2F2F"/>
                                        </a:solidFill>
                                        <a:latin typeface="Cambria Math" panose="02040503050406030204" pitchFamily="18" charset="0"/>
                                      </a:rPr>
                                    </m:ctrlPr>
                                  </m:sSubPr>
                                  <m:e>
                                    <m:r>
                                      <a:rPr lang="en-US" b="0" i="1" smtClean="0">
                                        <a:solidFill>
                                          <a:srgbClr val="2F2F2F"/>
                                        </a:solidFill>
                                        <a:latin typeface="Cambria Math" panose="02040503050406030204" pitchFamily="18" charset="0"/>
                                      </a:rPr>
                                      <m:t>𝑢</m:t>
                                    </m:r>
                                  </m:e>
                                  <m:sub>
                                    <m:r>
                                      <a:rPr lang="en-US" b="0" i="1" smtClean="0">
                                        <a:solidFill>
                                          <a:srgbClr val="2F2F2F"/>
                                        </a:solidFill>
                                        <a:latin typeface="Cambria Math" panose="02040503050406030204" pitchFamily="18" charset="0"/>
                                      </a:rPr>
                                      <m:t>1</m:t>
                                    </m:r>
                                  </m:sub>
                                </m:sSub>
                                <m:d>
                                  <m:dPr>
                                    <m:ctrlPr>
                                      <a:rPr lang="en-US" b="0" i="1" smtClean="0">
                                        <a:solidFill>
                                          <a:srgbClr val="2F2F2F"/>
                                        </a:solidFill>
                                        <a:latin typeface="Cambria Math" panose="02040503050406030204" pitchFamily="18" charset="0"/>
                                      </a:rPr>
                                    </m:ctrlPr>
                                  </m:dPr>
                                  <m:e>
                                    <m:r>
                                      <a:rPr lang="en-US" b="0" i="1" smtClean="0">
                                        <a:solidFill>
                                          <a:srgbClr val="2F2F2F"/>
                                        </a:solidFill>
                                        <a:latin typeface="Cambria Math" panose="02040503050406030204" pitchFamily="18" charset="0"/>
                                      </a:rPr>
                                      <m:t>𝑡</m:t>
                                    </m:r>
                                  </m:e>
                                </m:d>
                                <m:r>
                                  <a:rPr lang="en-US" b="0" i="1" smtClean="0">
                                    <a:solidFill>
                                      <a:srgbClr val="2F2F2F"/>
                                    </a:solidFill>
                                    <a:latin typeface="Cambria Math" panose="02040503050406030204" pitchFamily="18" charset="0"/>
                                  </a:rPr>
                                  <m:t>𝑠𝑖𝑛</m:t>
                                </m:r>
                                <m:r>
                                  <m:rPr>
                                    <m:brk m:alnAt="7"/>
                                  </m:rPr>
                                  <a:rPr lang="en-US" i="1">
                                    <a:solidFill>
                                      <a:srgbClr val="2F2F2F"/>
                                    </a:solidFill>
                                    <a:latin typeface="Cambria Math" panose="02040503050406030204" pitchFamily="18" charset="0"/>
                                  </a:rPr>
                                  <m:t>(</m:t>
                                </m:r>
                                <m:r>
                                  <a:rPr lang="en-US" i="1">
                                    <a:solidFill>
                                      <a:srgbClr val="2F2F2F"/>
                                    </a:solidFill>
                                    <a:latin typeface="Cambria Math" panose="02040503050406030204" pitchFamily="18" charset="0"/>
                                  </a:rPr>
                                  <m:t>𝜃</m:t>
                                </m:r>
                                <m:d>
                                  <m:dPr>
                                    <m:ctrlPr>
                                      <a:rPr lang="en-US" i="1">
                                        <a:solidFill>
                                          <a:srgbClr val="2F2F2F"/>
                                        </a:solidFill>
                                        <a:latin typeface="Cambria Math" panose="02040503050406030204" pitchFamily="18" charset="0"/>
                                      </a:rPr>
                                    </m:ctrlPr>
                                  </m:dPr>
                                  <m:e>
                                    <m:r>
                                      <a:rPr lang="en-US" i="1">
                                        <a:solidFill>
                                          <a:srgbClr val="2F2F2F"/>
                                        </a:solidFill>
                                        <a:latin typeface="Cambria Math" panose="02040503050406030204" pitchFamily="18" charset="0"/>
                                      </a:rPr>
                                      <m:t>𝑡</m:t>
                                    </m:r>
                                  </m:e>
                                </m:d>
                                <m:r>
                                  <a:rPr lang="en-US" i="1">
                                    <a:solidFill>
                                      <a:srgbClr val="2F2F2F"/>
                                    </a:solidFill>
                                    <a:latin typeface="Cambria Math" panose="02040503050406030204" pitchFamily="18" charset="0"/>
                                  </a:rPr>
                                  <m:t>/2)</m:t>
                                </m:r>
                              </m:e>
                            </m:mr>
                            <m:mr>
                              <m:e>
                                <m:eqArr>
                                  <m:eqArrPr>
                                    <m:ctrlPr>
                                      <a:rPr lang="en-US" b="0" i="1" smtClean="0">
                                        <a:solidFill>
                                          <a:srgbClr val="2F2F2F"/>
                                        </a:solidFill>
                                        <a:latin typeface="Cambria Math" panose="02040503050406030204" pitchFamily="18" charset="0"/>
                                      </a:rPr>
                                    </m:ctrlPr>
                                  </m:eqArrPr>
                                  <m:e>
                                    <m:sSub>
                                      <m:sSubPr>
                                        <m:ctrlPr>
                                          <a:rPr lang="en-US" b="0" i="1" smtClean="0">
                                            <a:solidFill>
                                              <a:srgbClr val="2F2F2F"/>
                                            </a:solidFill>
                                            <a:latin typeface="Cambria Math" panose="02040503050406030204" pitchFamily="18" charset="0"/>
                                          </a:rPr>
                                        </m:ctrlPr>
                                      </m:sSubPr>
                                      <m:e>
                                        <m:r>
                                          <a:rPr lang="en-US" b="0" i="1" smtClean="0">
                                            <a:solidFill>
                                              <a:srgbClr val="2F2F2F"/>
                                            </a:solidFill>
                                            <a:latin typeface="Cambria Math" panose="02040503050406030204" pitchFamily="18" charset="0"/>
                                          </a:rPr>
                                          <m:t>𝑢</m:t>
                                        </m:r>
                                      </m:e>
                                      <m:sub>
                                        <m:r>
                                          <a:rPr lang="en-US" b="0" i="1" smtClean="0">
                                            <a:solidFill>
                                              <a:srgbClr val="2F2F2F"/>
                                            </a:solidFill>
                                            <a:latin typeface="Cambria Math" panose="02040503050406030204" pitchFamily="18" charset="0"/>
                                          </a:rPr>
                                          <m:t>2</m:t>
                                        </m:r>
                                      </m:sub>
                                    </m:sSub>
                                    <m:d>
                                      <m:dPr>
                                        <m:ctrlPr>
                                          <a:rPr lang="en-US" b="0" i="1" smtClean="0">
                                            <a:solidFill>
                                              <a:srgbClr val="2F2F2F"/>
                                            </a:solidFill>
                                            <a:latin typeface="Cambria Math" panose="02040503050406030204" pitchFamily="18" charset="0"/>
                                          </a:rPr>
                                        </m:ctrlPr>
                                      </m:dPr>
                                      <m:e>
                                        <m:r>
                                          <a:rPr lang="en-US" b="0" i="1" smtClean="0">
                                            <a:solidFill>
                                              <a:srgbClr val="2F2F2F"/>
                                            </a:solidFill>
                                            <a:latin typeface="Cambria Math" panose="02040503050406030204" pitchFamily="18" charset="0"/>
                                          </a:rPr>
                                          <m:t>𝑡</m:t>
                                        </m:r>
                                      </m:e>
                                    </m:d>
                                    <m:r>
                                      <m:rPr>
                                        <m:sty m:val="p"/>
                                      </m:rPr>
                                      <a:rPr lang="en-US" b="0" i="0" smtClean="0">
                                        <a:solidFill>
                                          <a:srgbClr val="2F2F2F"/>
                                        </a:solidFill>
                                        <a:latin typeface="Cambria Math" panose="02040503050406030204" pitchFamily="18" charset="0"/>
                                      </a:rPr>
                                      <m:t>sin</m:t>
                                    </m:r>
                                    <m:r>
                                      <a:rPr lang="en-US" b="0" i="1" smtClean="0">
                                        <a:solidFill>
                                          <a:srgbClr val="2F2F2F"/>
                                        </a:solidFill>
                                        <a:latin typeface="Cambria Math" panose="02040503050406030204" pitchFamily="18" charset="0"/>
                                      </a:rPr>
                                      <m:t>⁡</m:t>
                                    </m:r>
                                    <m:r>
                                      <m:rPr>
                                        <m:brk m:alnAt="7"/>
                                      </m:rPr>
                                      <a:rPr lang="en-US" i="1">
                                        <a:solidFill>
                                          <a:srgbClr val="2F2F2F"/>
                                        </a:solidFill>
                                        <a:latin typeface="Cambria Math" panose="02040503050406030204" pitchFamily="18" charset="0"/>
                                      </a:rPr>
                                      <m:t>(</m:t>
                                    </m:r>
                                    <m:r>
                                      <a:rPr lang="en-US" i="1">
                                        <a:solidFill>
                                          <a:srgbClr val="2F2F2F"/>
                                        </a:solidFill>
                                        <a:latin typeface="Cambria Math" panose="02040503050406030204" pitchFamily="18" charset="0"/>
                                      </a:rPr>
                                      <m:t>𝜃</m:t>
                                    </m:r>
                                    <m:d>
                                      <m:dPr>
                                        <m:ctrlPr>
                                          <a:rPr lang="en-US" i="1">
                                            <a:solidFill>
                                              <a:srgbClr val="2F2F2F"/>
                                            </a:solidFill>
                                            <a:latin typeface="Cambria Math" panose="02040503050406030204" pitchFamily="18" charset="0"/>
                                          </a:rPr>
                                        </m:ctrlPr>
                                      </m:dPr>
                                      <m:e>
                                        <m:r>
                                          <a:rPr lang="en-US" i="1">
                                            <a:solidFill>
                                              <a:srgbClr val="2F2F2F"/>
                                            </a:solidFill>
                                            <a:latin typeface="Cambria Math" panose="02040503050406030204" pitchFamily="18" charset="0"/>
                                          </a:rPr>
                                          <m:t>𝑡</m:t>
                                        </m:r>
                                      </m:e>
                                    </m:d>
                                    <m:r>
                                      <a:rPr lang="en-US" i="1">
                                        <a:solidFill>
                                          <a:srgbClr val="2F2F2F"/>
                                        </a:solidFill>
                                        <a:latin typeface="Cambria Math" panose="02040503050406030204" pitchFamily="18" charset="0"/>
                                      </a:rPr>
                                      <m:t>/2)</m:t>
                                    </m:r>
                                  </m:e>
                                  <m:e>
                                    <m:sSub>
                                      <m:sSubPr>
                                        <m:ctrlPr>
                                          <a:rPr lang="en-US" b="0" i="1" smtClean="0">
                                            <a:solidFill>
                                              <a:srgbClr val="2F2F2F"/>
                                            </a:solidFill>
                                            <a:latin typeface="Cambria Math" panose="02040503050406030204" pitchFamily="18" charset="0"/>
                                          </a:rPr>
                                        </m:ctrlPr>
                                      </m:sSubPr>
                                      <m:e>
                                        <m:r>
                                          <a:rPr lang="en-US" b="0" i="1" smtClean="0">
                                            <a:solidFill>
                                              <a:srgbClr val="2F2F2F"/>
                                            </a:solidFill>
                                            <a:latin typeface="Cambria Math" panose="02040503050406030204" pitchFamily="18" charset="0"/>
                                          </a:rPr>
                                          <m:t>𝑢</m:t>
                                        </m:r>
                                      </m:e>
                                      <m:sub>
                                        <m:r>
                                          <a:rPr lang="en-US" b="0" i="1" smtClean="0">
                                            <a:solidFill>
                                              <a:srgbClr val="2F2F2F"/>
                                            </a:solidFill>
                                            <a:latin typeface="Cambria Math" panose="02040503050406030204" pitchFamily="18" charset="0"/>
                                          </a:rPr>
                                          <m:t>3</m:t>
                                        </m:r>
                                      </m:sub>
                                    </m:sSub>
                                    <m:d>
                                      <m:dPr>
                                        <m:ctrlPr>
                                          <a:rPr lang="en-US" b="0" i="1" smtClean="0">
                                            <a:solidFill>
                                              <a:srgbClr val="2F2F2F"/>
                                            </a:solidFill>
                                            <a:latin typeface="Cambria Math" panose="02040503050406030204" pitchFamily="18" charset="0"/>
                                          </a:rPr>
                                        </m:ctrlPr>
                                      </m:dPr>
                                      <m:e>
                                        <m:r>
                                          <a:rPr lang="en-US" b="0" i="1" smtClean="0">
                                            <a:solidFill>
                                              <a:srgbClr val="2F2F2F"/>
                                            </a:solidFill>
                                            <a:latin typeface="Cambria Math" panose="02040503050406030204" pitchFamily="18" charset="0"/>
                                          </a:rPr>
                                          <m:t>𝑡</m:t>
                                        </m:r>
                                      </m:e>
                                    </m:d>
                                    <m:r>
                                      <a:rPr lang="en-US" b="0" i="1" smtClean="0">
                                        <a:solidFill>
                                          <a:srgbClr val="2F2F2F"/>
                                        </a:solidFill>
                                        <a:latin typeface="Cambria Math" panose="02040503050406030204" pitchFamily="18" charset="0"/>
                                      </a:rPr>
                                      <m:t>𝑠𝑖𝑛</m:t>
                                    </m:r>
                                    <m:r>
                                      <m:rPr>
                                        <m:brk m:alnAt="7"/>
                                      </m:rPr>
                                      <a:rPr lang="en-US" i="1">
                                        <a:solidFill>
                                          <a:srgbClr val="2F2F2F"/>
                                        </a:solidFill>
                                        <a:latin typeface="Cambria Math" panose="02040503050406030204" pitchFamily="18" charset="0"/>
                                      </a:rPr>
                                      <m:t>(</m:t>
                                    </m:r>
                                    <m:r>
                                      <a:rPr lang="en-US" i="1">
                                        <a:solidFill>
                                          <a:srgbClr val="2F2F2F"/>
                                        </a:solidFill>
                                        <a:latin typeface="Cambria Math" panose="02040503050406030204" pitchFamily="18" charset="0"/>
                                      </a:rPr>
                                      <m:t>𝜃</m:t>
                                    </m:r>
                                    <m:d>
                                      <m:dPr>
                                        <m:ctrlPr>
                                          <a:rPr lang="en-US" i="1">
                                            <a:solidFill>
                                              <a:srgbClr val="2F2F2F"/>
                                            </a:solidFill>
                                            <a:latin typeface="Cambria Math" panose="02040503050406030204" pitchFamily="18" charset="0"/>
                                          </a:rPr>
                                        </m:ctrlPr>
                                      </m:dPr>
                                      <m:e>
                                        <m:r>
                                          <a:rPr lang="en-US" i="1">
                                            <a:solidFill>
                                              <a:srgbClr val="2F2F2F"/>
                                            </a:solidFill>
                                            <a:latin typeface="Cambria Math" panose="02040503050406030204" pitchFamily="18" charset="0"/>
                                          </a:rPr>
                                          <m:t>𝑡</m:t>
                                        </m:r>
                                      </m:e>
                                    </m:d>
                                    <m:r>
                                      <a:rPr lang="en-US" i="1">
                                        <a:solidFill>
                                          <a:srgbClr val="2F2F2F"/>
                                        </a:solidFill>
                                        <a:latin typeface="Cambria Math" panose="02040503050406030204" pitchFamily="18" charset="0"/>
                                      </a:rPr>
                                      <m:t>/2)</m:t>
                                    </m:r>
                                  </m:e>
                                </m:eqArr>
                              </m:e>
                            </m:mr>
                          </m:m>
                        </m:e>
                      </m:d>
                    </m:oMath>
                  </m:oMathPara>
                </a14:m>
                <a:endParaRPr lang="en-GB" dirty="0">
                  <a:solidFill>
                    <a:srgbClr val="2F2F2F"/>
                  </a:solidFill>
                </a:endParaRPr>
              </a:p>
            </p:txBody>
          </p:sp>
        </mc:Choice>
        <mc:Fallback xmlns="">
          <p:sp>
            <p:nvSpPr>
              <p:cNvPr id="19" name="TextBox 18">
                <a:extLst>
                  <a:ext uri="{FF2B5EF4-FFF2-40B4-BE49-F238E27FC236}">
                    <a16:creationId xmlns:a16="http://schemas.microsoft.com/office/drawing/2014/main" id="{4B0B6FF6-6B69-EFBE-9AE5-272E89A175D0}"/>
                  </a:ext>
                </a:extLst>
              </p:cNvPr>
              <p:cNvSpPr txBox="1">
                <a:spLocks noRot="1" noChangeAspect="1" noMove="1" noResize="1" noEditPoints="1" noAdjustHandles="1" noChangeArrowheads="1" noChangeShapeType="1" noTextEdit="1"/>
              </p:cNvSpPr>
              <p:nvPr/>
            </p:nvSpPr>
            <p:spPr>
              <a:xfrm>
                <a:off x="5980826" y="2417717"/>
                <a:ext cx="2977228" cy="1149738"/>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6EE3495-1B34-A351-0654-24F953BFF553}"/>
                  </a:ext>
                </a:extLst>
              </p:cNvPr>
              <p:cNvSpPr txBox="1"/>
              <p:nvPr/>
            </p:nvSpPr>
            <p:spPr>
              <a:xfrm>
                <a:off x="9281143" y="2361941"/>
                <a:ext cx="1645968" cy="509307"/>
              </a:xfrm>
              <a:prstGeom prst="rect">
                <a:avLst/>
              </a:prstGeom>
              <a:noFill/>
            </p:spPr>
            <p:txBody>
              <a:bodyPr wrap="square" lIns="0" tIns="0" rIns="0" bIns="0" rtlCol="0">
                <a:spAutoFit/>
              </a:bodyPr>
              <a:lstStyle/>
              <a:p>
                <a:pPr algn="ctr"/>
                <a14:m>
                  <m:oMath xmlns:m="http://schemas.openxmlformats.org/officeDocument/2006/math">
                    <m:acc>
                      <m:accPr>
                        <m:chr m:val="̂"/>
                        <m:ctrlPr>
                          <a:rPr lang="en-US" b="0" i="1" smtClean="0">
                            <a:solidFill>
                              <a:schemeClr val="tx2"/>
                            </a:solidFill>
                            <a:latin typeface="Cambria Math" panose="02040503050406030204" pitchFamily="18" charset="0"/>
                          </a:rPr>
                        </m:ctrlPr>
                      </m:accPr>
                      <m:e>
                        <m:r>
                          <a:rPr lang="en-US" b="0" i="1" smtClean="0">
                            <a:solidFill>
                              <a:schemeClr val="tx2"/>
                            </a:solidFill>
                            <a:latin typeface="Cambria Math" panose="02040503050406030204" pitchFamily="18" charset="0"/>
                          </a:rPr>
                          <m:t>𝑢</m:t>
                        </m:r>
                      </m:e>
                    </m:acc>
                    <m:d>
                      <m:dPr>
                        <m:ctrlPr>
                          <a:rPr lang="en-US" b="0" i="1" smtClean="0">
                            <a:solidFill>
                              <a:schemeClr val="tx2"/>
                            </a:solidFill>
                            <a:latin typeface="Cambria Math" panose="02040503050406030204" pitchFamily="18" charset="0"/>
                          </a:rPr>
                        </m:ctrlPr>
                      </m:dPr>
                      <m:e>
                        <m:r>
                          <a:rPr lang="en-US" b="0" i="1" smtClean="0">
                            <a:solidFill>
                              <a:schemeClr val="tx2"/>
                            </a:solidFill>
                            <a:latin typeface="Cambria Math" panose="02040503050406030204" pitchFamily="18" charset="0"/>
                          </a:rPr>
                          <m:t>𝑡</m:t>
                        </m:r>
                      </m:e>
                    </m:d>
                    <m:r>
                      <a:rPr lang="en-US" b="0" i="1" smtClean="0">
                        <a:solidFill>
                          <a:schemeClr val="tx2"/>
                        </a:solidFill>
                        <a:latin typeface="Cambria Math" panose="02040503050406030204" pitchFamily="18" charset="0"/>
                      </a:rPr>
                      <m:t>=</m:t>
                    </m:r>
                  </m:oMath>
                </a14:m>
                <a:r>
                  <a:rPr lang="en-US" dirty="0">
                    <a:solidFill>
                      <a:schemeClr val="tx2"/>
                    </a:solidFill>
                  </a:rPr>
                  <a:t> </a:t>
                </a:r>
                <a14:m>
                  <m:oMath xmlns:m="http://schemas.openxmlformats.org/officeDocument/2006/math">
                    <m:f>
                      <m:fPr>
                        <m:ctrlPr>
                          <a:rPr lang="en-US" b="0" i="1" smtClean="0">
                            <a:solidFill>
                              <a:schemeClr val="tx2"/>
                            </a:solidFill>
                            <a:latin typeface="Cambria Math" panose="02040503050406030204" pitchFamily="18" charset="0"/>
                          </a:rPr>
                        </m:ctrlPr>
                      </m:fPr>
                      <m:num>
                        <m:acc>
                          <m:accPr>
                            <m:chr m:val="⃗"/>
                            <m:ctrlPr>
                              <a:rPr lang="en-US" b="1" i="1" smtClean="0">
                                <a:solidFill>
                                  <a:schemeClr val="tx1"/>
                                </a:solidFill>
                                <a:latin typeface="Cambria Math" panose="02040503050406030204" pitchFamily="18" charset="0"/>
                              </a:rPr>
                            </m:ctrlPr>
                          </m:accPr>
                          <m:e>
                            <m:r>
                              <a:rPr lang="en-US" b="1" i="1" smtClean="0">
                                <a:solidFill>
                                  <a:schemeClr val="tx1"/>
                                </a:solidFill>
                                <a:latin typeface="Cambria Math" panose="02040503050406030204" pitchFamily="18" charset="0"/>
                              </a:rPr>
                              <m:t>𝑹</m:t>
                            </m:r>
                          </m:e>
                        </m:acc>
                        <m:d>
                          <m:dPr>
                            <m:ctrlPr>
                              <a:rPr lang="en-US" b="1" i="1">
                                <a:solidFill>
                                  <a:schemeClr val="tx1"/>
                                </a:solidFill>
                                <a:latin typeface="Cambria Math" panose="02040503050406030204" pitchFamily="18" charset="0"/>
                              </a:rPr>
                            </m:ctrlPr>
                          </m:dPr>
                          <m:e>
                            <m:r>
                              <a:rPr lang="en-US" b="1" i="1" smtClean="0">
                                <a:solidFill>
                                  <a:schemeClr val="tx1"/>
                                </a:solidFill>
                                <a:latin typeface="Cambria Math" panose="02040503050406030204" pitchFamily="18" charset="0"/>
                              </a:rPr>
                              <m:t>𝒕</m:t>
                            </m:r>
                          </m:e>
                        </m:d>
                      </m:num>
                      <m:den>
                        <m:d>
                          <m:dPr>
                            <m:begChr m:val="|"/>
                            <m:endChr m:val="|"/>
                            <m:ctrlPr>
                              <a:rPr lang="en-US" i="1" smtClean="0">
                                <a:solidFill>
                                  <a:schemeClr val="tx2"/>
                                </a:solidFill>
                                <a:latin typeface="Cambria Math" panose="02040503050406030204" pitchFamily="18" charset="0"/>
                              </a:rPr>
                            </m:ctrlPr>
                          </m:dPr>
                          <m:e>
                            <m:acc>
                              <m:accPr>
                                <m:chr m:val="⃗"/>
                                <m:ctrlPr>
                                  <a:rPr lang="en-US" b="1" i="1" smtClean="0">
                                    <a:solidFill>
                                      <a:schemeClr val="tx1"/>
                                    </a:solidFill>
                                    <a:latin typeface="Cambria Math" panose="02040503050406030204" pitchFamily="18" charset="0"/>
                                  </a:rPr>
                                </m:ctrlPr>
                              </m:accPr>
                              <m:e>
                                <m:r>
                                  <a:rPr lang="en-US" b="1" i="1" smtClean="0">
                                    <a:solidFill>
                                      <a:schemeClr val="tx1"/>
                                    </a:solidFill>
                                    <a:latin typeface="Cambria Math" panose="02040503050406030204" pitchFamily="18" charset="0"/>
                                  </a:rPr>
                                  <m:t>𝑹</m:t>
                                </m:r>
                              </m:e>
                            </m:acc>
                            <m:d>
                              <m:dPr>
                                <m:ctrlPr>
                                  <a:rPr lang="en-US" b="1" i="1">
                                    <a:solidFill>
                                      <a:schemeClr val="tx1"/>
                                    </a:solidFill>
                                    <a:latin typeface="Cambria Math" panose="02040503050406030204" pitchFamily="18" charset="0"/>
                                  </a:rPr>
                                </m:ctrlPr>
                              </m:dPr>
                              <m:e>
                                <m:r>
                                  <a:rPr lang="en-US" b="1" i="1">
                                    <a:solidFill>
                                      <a:schemeClr val="tx1"/>
                                    </a:solidFill>
                                    <a:latin typeface="Cambria Math" panose="02040503050406030204" pitchFamily="18" charset="0"/>
                                  </a:rPr>
                                  <m:t>𝒕</m:t>
                                </m:r>
                              </m:e>
                            </m:d>
                          </m:e>
                        </m:d>
                      </m:den>
                    </m:f>
                  </m:oMath>
                </a14:m>
                <a:endParaRPr lang="en-GB" dirty="0">
                  <a:solidFill>
                    <a:schemeClr val="tx2"/>
                  </a:solidFill>
                </a:endParaRPr>
              </a:p>
            </p:txBody>
          </p:sp>
        </mc:Choice>
        <mc:Fallback xmlns="">
          <p:sp>
            <p:nvSpPr>
              <p:cNvPr id="20" name="TextBox 19">
                <a:extLst>
                  <a:ext uri="{FF2B5EF4-FFF2-40B4-BE49-F238E27FC236}">
                    <a16:creationId xmlns:a16="http://schemas.microsoft.com/office/drawing/2014/main" id="{E6EE3495-1B34-A351-0654-24F953BFF553}"/>
                  </a:ext>
                </a:extLst>
              </p:cNvPr>
              <p:cNvSpPr txBox="1">
                <a:spLocks noRot="1" noChangeAspect="1" noMove="1" noResize="1" noEditPoints="1" noAdjustHandles="1" noChangeArrowheads="1" noChangeShapeType="1" noTextEdit="1"/>
              </p:cNvSpPr>
              <p:nvPr/>
            </p:nvSpPr>
            <p:spPr>
              <a:xfrm>
                <a:off x="9281143" y="2361941"/>
                <a:ext cx="1645968" cy="509307"/>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67B6A6E-CB09-CA04-C3DC-3CE187E5E5EC}"/>
                  </a:ext>
                </a:extLst>
              </p:cNvPr>
              <p:cNvSpPr txBox="1"/>
              <p:nvPr/>
            </p:nvSpPr>
            <p:spPr>
              <a:xfrm>
                <a:off x="9285710" y="3076615"/>
                <a:ext cx="1682750" cy="42518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tx2"/>
                          </a:solidFill>
                          <a:latin typeface="Cambria Math" panose="02040503050406030204" pitchFamily="18" charset="0"/>
                        </a:rPr>
                        <m:t>𝜃</m:t>
                      </m:r>
                      <m:d>
                        <m:dPr>
                          <m:ctrlPr>
                            <a:rPr lang="en-US" b="0" i="1" smtClean="0">
                              <a:solidFill>
                                <a:schemeClr val="tx2"/>
                              </a:solidFill>
                              <a:latin typeface="Cambria Math" panose="02040503050406030204" pitchFamily="18" charset="0"/>
                            </a:rPr>
                          </m:ctrlPr>
                        </m:dPr>
                        <m:e>
                          <m:r>
                            <a:rPr lang="en-US" b="0" i="1" smtClean="0">
                              <a:solidFill>
                                <a:schemeClr val="tx2"/>
                              </a:solidFill>
                              <a:latin typeface="Cambria Math" panose="02040503050406030204" pitchFamily="18" charset="0"/>
                            </a:rPr>
                            <m:t>𝑡</m:t>
                          </m:r>
                        </m:e>
                      </m:d>
                      <m:r>
                        <a:rPr lang="en-US" b="0" i="1" smtClean="0">
                          <a:solidFill>
                            <a:schemeClr val="tx2"/>
                          </a:solidFill>
                          <a:latin typeface="Cambria Math" panose="02040503050406030204" pitchFamily="18" charset="0"/>
                        </a:rPr>
                        <m:t>=</m:t>
                      </m:r>
                      <m:d>
                        <m:dPr>
                          <m:begChr m:val="|"/>
                          <m:endChr m:val="|"/>
                          <m:ctrlPr>
                            <a:rPr lang="en-US" b="0" i="1" smtClean="0">
                              <a:solidFill>
                                <a:schemeClr val="tx2"/>
                              </a:solidFill>
                              <a:latin typeface="Cambria Math" panose="02040503050406030204" pitchFamily="18" charset="0"/>
                            </a:rPr>
                          </m:ctrlPr>
                        </m:dPr>
                        <m:e>
                          <m:acc>
                            <m:accPr>
                              <m:chr m:val="⃗"/>
                              <m:ctrlPr>
                                <a:rPr lang="en-US" b="1" i="1" smtClean="0">
                                  <a:solidFill>
                                    <a:schemeClr val="tx1"/>
                                  </a:solidFill>
                                  <a:latin typeface="Cambria Math" panose="02040503050406030204" pitchFamily="18" charset="0"/>
                                </a:rPr>
                              </m:ctrlPr>
                            </m:accPr>
                            <m:e>
                              <m:r>
                                <a:rPr lang="en-US" b="1" i="1" smtClean="0">
                                  <a:solidFill>
                                    <a:schemeClr val="tx1"/>
                                  </a:solidFill>
                                  <a:latin typeface="Cambria Math" panose="02040503050406030204" pitchFamily="18" charset="0"/>
                                </a:rPr>
                                <m:t>𝑹</m:t>
                              </m:r>
                            </m:e>
                          </m:acc>
                          <m:d>
                            <m:dPr>
                              <m:ctrlPr>
                                <a:rPr lang="en-US" b="1" i="1">
                                  <a:solidFill>
                                    <a:schemeClr val="tx1"/>
                                  </a:solidFill>
                                  <a:latin typeface="Cambria Math" panose="02040503050406030204" pitchFamily="18" charset="0"/>
                                </a:rPr>
                              </m:ctrlPr>
                            </m:dPr>
                            <m:e>
                              <m:r>
                                <a:rPr lang="en-US" b="1" i="1">
                                  <a:solidFill>
                                    <a:schemeClr val="tx1"/>
                                  </a:solidFill>
                                  <a:latin typeface="Cambria Math" panose="02040503050406030204" pitchFamily="18" charset="0"/>
                                </a:rPr>
                                <m:t>𝒕</m:t>
                              </m:r>
                            </m:e>
                          </m:d>
                        </m:e>
                      </m:d>
                    </m:oMath>
                  </m:oMathPara>
                </a14:m>
                <a:endParaRPr lang="en-GB" dirty="0"/>
              </a:p>
            </p:txBody>
          </p:sp>
        </mc:Choice>
        <mc:Fallback xmlns="">
          <p:sp>
            <p:nvSpPr>
              <p:cNvPr id="22" name="TextBox 21">
                <a:extLst>
                  <a:ext uri="{FF2B5EF4-FFF2-40B4-BE49-F238E27FC236}">
                    <a16:creationId xmlns:a16="http://schemas.microsoft.com/office/drawing/2014/main" id="{467B6A6E-CB09-CA04-C3DC-3CE187E5E5EC}"/>
                  </a:ext>
                </a:extLst>
              </p:cNvPr>
              <p:cNvSpPr txBox="1">
                <a:spLocks noRot="1" noChangeAspect="1" noMove="1" noResize="1" noEditPoints="1" noAdjustHandles="1" noChangeArrowheads="1" noChangeShapeType="1" noTextEdit="1"/>
              </p:cNvSpPr>
              <p:nvPr/>
            </p:nvSpPr>
            <p:spPr>
              <a:xfrm>
                <a:off x="9285710" y="3076615"/>
                <a:ext cx="1682750" cy="425181"/>
              </a:xfrm>
              <a:prstGeom prst="rect">
                <a:avLst/>
              </a:prstGeom>
              <a:blipFill>
                <a:blip r:embed="rId6"/>
                <a:stretch>
                  <a:fillRect/>
                </a:stretch>
              </a:blipFill>
            </p:spPr>
            <p:txBody>
              <a:bodyPr/>
              <a:lstStyle/>
              <a:p>
                <a:r>
                  <a:rPr lang="en-GB">
                    <a:noFill/>
                  </a:rPr>
                  <a:t> </a:t>
                </a:r>
              </a:p>
            </p:txBody>
          </p:sp>
        </mc:Fallback>
      </mc:AlternateContent>
      <p:grpSp>
        <p:nvGrpSpPr>
          <p:cNvPr id="2" name="Group 1">
            <a:extLst>
              <a:ext uri="{FF2B5EF4-FFF2-40B4-BE49-F238E27FC236}">
                <a16:creationId xmlns:a16="http://schemas.microsoft.com/office/drawing/2014/main" id="{993170D2-84E0-BACC-693E-A8F94911493B}"/>
              </a:ext>
            </a:extLst>
          </p:cNvPr>
          <p:cNvGrpSpPr/>
          <p:nvPr/>
        </p:nvGrpSpPr>
        <p:grpSpPr>
          <a:xfrm rot="18885688">
            <a:off x="3519256" y="2299452"/>
            <a:ext cx="1021929" cy="1522466"/>
            <a:chOff x="1071439" y="1596445"/>
            <a:chExt cx="1021929" cy="1522466"/>
          </a:xfrm>
        </p:grpSpPr>
        <p:cxnSp>
          <p:nvCxnSpPr>
            <p:cNvPr id="8" name="Straight Arrow Connector 7">
              <a:extLst>
                <a:ext uri="{FF2B5EF4-FFF2-40B4-BE49-F238E27FC236}">
                  <a16:creationId xmlns:a16="http://schemas.microsoft.com/office/drawing/2014/main" id="{F1389717-8C53-5AC4-AF85-59B69138AE75}"/>
                </a:ext>
              </a:extLst>
            </p:cNvPr>
            <p:cNvCxnSpPr>
              <a:cxnSpLocks/>
            </p:cNvCxnSpPr>
            <p:nvPr/>
          </p:nvCxnSpPr>
          <p:spPr>
            <a:xfrm flipH="1">
              <a:off x="1628009" y="2600340"/>
              <a:ext cx="460955" cy="51857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37CAB8B-F576-F813-7407-FF6EBF07EACE}"/>
                </a:ext>
              </a:extLst>
            </p:cNvPr>
            <p:cNvCxnSpPr/>
            <p:nvPr/>
          </p:nvCxnSpPr>
          <p:spPr>
            <a:xfrm flipV="1">
              <a:off x="2088964" y="1596445"/>
              <a:ext cx="0" cy="101438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D561111-3FEE-D383-FACF-8F752A07B02B}"/>
                </a:ext>
              </a:extLst>
            </p:cNvPr>
            <p:cNvCxnSpPr>
              <a:cxnSpLocks/>
            </p:cNvCxnSpPr>
            <p:nvPr/>
          </p:nvCxnSpPr>
          <p:spPr>
            <a:xfrm flipH="1">
              <a:off x="1071439" y="2600340"/>
              <a:ext cx="102192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8EFA5305-A670-B5FC-D131-B452B708972C}"/>
              </a:ext>
            </a:extLst>
          </p:cNvPr>
          <p:cNvGrpSpPr/>
          <p:nvPr/>
        </p:nvGrpSpPr>
        <p:grpSpPr>
          <a:xfrm>
            <a:off x="1695692" y="2933394"/>
            <a:ext cx="1021929" cy="1522466"/>
            <a:chOff x="1071439" y="1596445"/>
            <a:chExt cx="1021929" cy="1522466"/>
          </a:xfrm>
        </p:grpSpPr>
        <p:cxnSp>
          <p:nvCxnSpPr>
            <p:cNvPr id="13" name="Straight Arrow Connector 12">
              <a:extLst>
                <a:ext uri="{FF2B5EF4-FFF2-40B4-BE49-F238E27FC236}">
                  <a16:creationId xmlns:a16="http://schemas.microsoft.com/office/drawing/2014/main" id="{C6884E69-EE0C-14DE-4D38-E1A818277892}"/>
                </a:ext>
              </a:extLst>
            </p:cNvPr>
            <p:cNvCxnSpPr>
              <a:cxnSpLocks/>
            </p:cNvCxnSpPr>
            <p:nvPr/>
          </p:nvCxnSpPr>
          <p:spPr>
            <a:xfrm flipH="1">
              <a:off x="1628009" y="2600340"/>
              <a:ext cx="460955" cy="51857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35BC33E-A4BB-A7AD-18AE-CF70860D1B77}"/>
                </a:ext>
              </a:extLst>
            </p:cNvPr>
            <p:cNvCxnSpPr/>
            <p:nvPr/>
          </p:nvCxnSpPr>
          <p:spPr>
            <a:xfrm flipV="1">
              <a:off x="2088964" y="1596445"/>
              <a:ext cx="0" cy="101438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6121B1D-957D-B3C1-4E62-5CF62C1609A8}"/>
                </a:ext>
              </a:extLst>
            </p:cNvPr>
            <p:cNvCxnSpPr>
              <a:cxnSpLocks/>
            </p:cNvCxnSpPr>
            <p:nvPr/>
          </p:nvCxnSpPr>
          <p:spPr>
            <a:xfrm flipH="1">
              <a:off x="1071439" y="2600340"/>
              <a:ext cx="102192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6" name="Arrow: Curved Down 15">
            <a:extLst>
              <a:ext uri="{FF2B5EF4-FFF2-40B4-BE49-F238E27FC236}">
                <a16:creationId xmlns:a16="http://schemas.microsoft.com/office/drawing/2014/main" id="{DB524701-5C01-4474-2650-DC3FF64DBCB3}"/>
              </a:ext>
            </a:extLst>
          </p:cNvPr>
          <p:cNvSpPr/>
          <p:nvPr/>
        </p:nvSpPr>
        <p:spPr>
          <a:xfrm rot="19977682" flipV="1">
            <a:off x="2878089" y="3405434"/>
            <a:ext cx="2319071" cy="1092550"/>
          </a:xfrm>
          <a:prstGeom prst="curvedDownArrow">
            <a:avLst>
              <a:gd name="adj1" fmla="val 0"/>
              <a:gd name="adj2" fmla="val 21287"/>
              <a:gd name="adj3" fmla="val 11700"/>
            </a:avLst>
          </a:prstGeom>
          <a:solidFill>
            <a:srgbClr val="000000"/>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9599CF9-2322-C046-A043-30063A8B81A1}"/>
                  </a:ext>
                </a:extLst>
              </p:cNvPr>
              <p:cNvSpPr txBox="1"/>
              <p:nvPr/>
            </p:nvSpPr>
            <p:spPr>
              <a:xfrm>
                <a:off x="4116388" y="4537509"/>
                <a:ext cx="542760"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m:rPr>
                          <m:sty m:val="p"/>
                        </m:rPr>
                        <a:rPr lang="en-US" b="0" i="0" smtClean="0">
                          <a:solidFill>
                            <a:schemeClr val="tx2"/>
                          </a:solidFill>
                          <a:latin typeface="Cambria Math" panose="02040503050406030204" pitchFamily="18" charset="0"/>
                        </a:rPr>
                        <m:t>Δ</m:t>
                      </m:r>
                      <m:r>
                        <a:rPr lang="en-US" b="0" i="1" smtClean="0">
                          <a:solidFill>
                            <a:schemeClr val="tx2"/>
                          </a:solidFill>
                          <a:latin typeface="Cambria Math" panose="02040503050406030204" pitchFamily="18" charset="0"/>
                        </a:rPr>
                        <m:t>𝑞</m:t>
                      </m:r>
                      <m:r>
                        <a:rPr lang="en-US" b="0" i="1" smtClean="0">
                          <a:solidFill>
                            <a:schemeClr val="tx2"/>
                          </a:solidFill>
                          <a:latin typeface="Cambria Math" panose="02040503050406030204" pitchFamily="18" charset="0"/>
                        </a:rPr>
                        <m:t>(</m:t>
                      </m:r>
                      <m:r>
                        <a:rPr lang="en-US" b="0" i="1" smtClean="0">
                          <a:solidFill>
                            <a:schemeClr val="tx2"/>
                          </a:solidFill>
                          <a:latin typeface="Cambria Math" panose="02040503050406030204" pitchFamily="18" charset="0"/>
                        </a:rPr>
                        <m:t>𝑡</m:t>
                      </m:r>
                      <m:r>
                        <a:rPr lang="en-US" b="0" i="1" smtClean="0">
                          <a:solidFill>
                            <a:schemeClr val="tx2"/>
                          </a:solidFill>
                          <a:latin typeface="Cambria Math" panose="02040503050406030204" pitchFamily="18" charset="0"/>
                        </a:rPr>
                        <m:t>)</m:t>
                      </m:r>
                    </m:oMath>
                  </m:oMathPara>
                </a14:m>
                <a:endParaRPr lang="en-GB" dirty="0">
                  <a:solidFill>
                    <a:schemeClr val="tx2"/>
                  </a:solidFill>
                </a:endParaRPr>
              </a:p>
            </p:txBody>
          </p:sp>
        </mc:Choice>
        <mc:Fallback xmlns="">
          <p:sp>
            <p:nvSpPr>
              <p:cNvPr id="17" name="TextBox 16">
                <a:extLst>
                  <a:ext uri="{FF2B5EF4-FFF2-40B4-BE49-F238E27FC236}">
                    <a16:creationId xmlns:a16="http://schemas.microsoft.com/office/drawing/2014/main" id="{99599CF9-2322-C046-A043-30063A8B81A1}"/>
                  </a:ext>
                </a:extLst>
              </p:cNvPr>
              <p:cNvSpPr txBox="1">
                <a:spLocks noRot="1" noChangeAspect="1" noMove="1" noResize="1" noEditPoints="1" noAdjustHandles="1" noChangeArrowheads="1" noChangeShapeType="1" noTextEdit="1"/>
              </p:cNvSpPr>
              <p:nvPr/>
            </p:nvSpPr>
            <p:spPr>
              <a:xfrm>
                <a:off x="4116388" y="4537509"/>
                <a:ext cx="542760" cy="276999"/>
              </a:xfrm>
              <a:prstGeom prst="rect">
                <a:avLst/>
              </a:prstGeom>
              <a:blipFill>
                <a:blip r:embed="rId7"/>
                <a:stretch>
                  <a:fillRect l="-14607" r="-22472" b="-3478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342BF69-D5FF-5BB7-F701-D3A4B05874B2}"/>
                  </a:ext>
                </a:extLst>
              </p:cNvPr>
              <p:cNvSpPr txBox="1"/>
              <p:nvPr/>
            </p:nvSpPr>
            <p:spPr>
              <a:xfrm>
                <a:off x="2261040" y="3594365"/>
                <a:ext cx="542760"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𝑞</m:t>
                          </m:r>
                        </m:e>
                        <m:sub>
                          <m:r>
                            <a:rPr lang="en-US" b="0" i="1" smtClean="0">
                              <a:solidFill>
                                <a:schemeClr val="tx2"/>
                              </a:solidFill>
                              <a:latin typeface="Cambria Math" panose="02040503050406030204" pitchFamily="18" charset="0"/>
                            </a:rPr>
                            <m:t>𝑖</m:t>
                          </m:r>
                        </m:sub>
                      </m:sSub>
                    </m:oMath>
                  </m:oMathPara>
                </a14:m>
                <a:endParaRPr lang="en-GB" dirty="0">
                  <a:solidFill>
                    <a:schemeClr val="tx2"/>
                  </a:solidFill>
                </a:endParaRPr>
              </a:p>
            </p:txBody>
          </p:sp>
        </mc:Choice>
        <mc:Fallback xmlns="">
          <p:sp>
            <p:nvSpPr>
              <p:cNvPr id="18" name="TextBox 17">
                <a:extLst>
                  <a:ext uri="{FF2B5EF4-FFF2-40B4-BE49-F238E27FC236}">
                    <a16:creationId xmlns:a16="http://schemas.microsoft.com/office/drawing/2014/main" id="{3342BF69-D5FF-5BB7-F701-D3A4B05874B2}"/>
                  </a:ext>
                </a:extLst>
              </p:cNvPr>
              <p:cNvSpPr txBox="1">
                <a:spLocks noRot="1" noChangeAspect="1" noMove="1" noResize="1" noEditPoints="1" noAdjustHandles="1" noChangeArrowheads="1" noChangeShapeType="1" noTextEdit="1"/>
              </p:cNvSpPr>
              <p:nvPr/>
            </p:nvSpPr>
            <p:spPr>
              <a:xfrm>
                <a:off x="2261040" y="3594365"/>
                <a:ext cx="542760" cy="276999"/>
              </a:xfrm>
              <a:prstGeom prst="rect">
                <a:avLst/>
              </a:prstGeom>
              <a:blipFill>
                <a:blip r:embed="rId8"/>
                <a:stretch>
                  <a:fillRect b="-2888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CEA316C-4B3E-5177-0B75-728AB28D4148}"/>
                  </a:ext>
                </a:extLst>
              </p:cNvPr>
              <p:cNvSpPr txBox="1"/>
              <p:nvPr/>
            </p:nvSpPr>
            <p:spPr>
              <a:xfrm>
                <a:off x="3963254" y="2676973"/>
                <a:ext cx="542760"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a:rPr lang="en-US" b="0" i="1" smtClean="0">
                          <a:solidFill>
                            <a:schemeClr val="tx2"/>
                          </a:solidFill>
                          <a:latin typeface="Cambria Math" panose="02040503050406030204" pitchFamily="18" charset="0"/>
                        </a:rPr>
                        <m:t>𝑞</m:t>
                      </m:r>
                      <m:r>
                        <a:rPr lang="en-US" b="0" i="1" smtClean="0">
                          <a:solidFill>
                            <a:schemeClr val="tx2"/>
                          </a:solidFill>
                          <a:latin typeface="Cambria Math" panose="02040503050406030204" pitchFamily="18" charset="0"/>
                        </a:rPr>
                        <m:t>(</m:t>
                      </m:r>
                      <m:r>
                        <a:rPr lang="en-US" b="0" i="1" smtClean="0">
                          <a:solidFill>
                            <a:schemeClr val="tx2"/>
                          </a:solidFill>
                          <a:latin typeface="Cambria Math" panose="02040503050406030204" pitchFamily="18" charset="0"/>
                        </a:rPr>
                        <m:t>𝑡</m:t>
                      </m:r>
                      <m:r>
                        <a:rPr lang="en-US" b="0" i="1" smtClean="0">
                          <a:solidFill>
                            <a:schemeClr val="tx2"/>
                          </a:solidFill>
                          <a:latin typeface="Cambria Math" panose="02040503050406030204" pitchFamily="18" charset="0"/>
                        </a:rPr>
                        <m:t>)</m:t>
                      </m:r>
                    </m:oMath>
                  </m:oMathPara>
                </a14:m>
                <a:endParaRPr lang="en-GB" dirty="0">
                  <a:solidFill>
                    <a:schemeClr val="tx2"/>
                  </a:solidFill>
                </a:endParaRPr>
              </a:p>
            </p:txBody>
          </p:sp>
        </mc:Choice>
        <mc:Fallback xmlns="">
          <p:sp>
            <p:nvSpPr>
              <p:cNvPr id="21" name="TextBox 20">
                <a:extLst>
                  <a:ext uri="{FF2B5EF4-FFF2-40B4-BE49-F238E27FC236}">
                    <a16:creationId xmlns:a16="http://schemas.microsoft.com/office/drawing/2014/main" id="{0CEA316C-4B3E-5177-0B75-728AB28D4148}"/>
                  </a:ext>
                </a:extLst>
              </p:cNvPr>
              <p:cNvSpPr txBox="1">
                <a:spLocks noRot="1" noChangeAspect="1" noMove="1" noResize="1" noEditPoints="1" noAdjustHandles="1" noChangeArrowheads="1" noChangeShapeType="1" noTextEdit="1"/>
              </p:cNvSpPr>
              <p:nvPr/>
            </p:nvSpPr>
            <p:spPr>
              <a:xfrm>
                <a:off x="3963254" y="2676973"/>
                <a:ext cx="542760" cy="276999"/>
              </a:xfrm>
              <a:prstGeom prst="rect">
                <a:avLst/>
              </a:prstGeom>
              <a:blipFill>
                <a:blip r:embed="rId9"/>
                <a:stretch>
                  <a:fillRect l="-4494" r="-8989" b="-34783"/>
                </a:stretch>
              </a:blipFill>
            </p:spPr>
            <p:txBody>
              <a:bodyPr/>
              <a:lstStyle/>
              <a:p>
                <a:r>
                  <a:rPr lang="en-GB">
                    <a:noFill/>
                  </a:rPr>
                  <a:t> </a:t>
                </a:r>
              </a:p>
            </p:txBody>
          </p:sp>
        </mc:Fallback>
      </mc:AlternateContent>
      <p:grpSp>
        <p:nvGrpSpPr>
          <p:cNvPr id="23" name="Group 22">
            <a:extLst>
              <a:ext uri="{FF2B5EF4-FFF2-40B4-BE49-F238E27FC236}">
                <a16:creationId xmlns:a16="http://schemas.microsoft.com/office/drawing/2014/main" id="{585FDBC1-F42E-9BAB-F133-C4A64A54B969}"/>
              </a:ext>
            </a:extLst>
          </p:cNvPr>
          <p:cNvGrpSpPr/>
          <p:nvPr/>
        </p:nvGrpSpPr>
        <p:grpSpPr>
          <a:xfrm>
            <a:off x="3509556" y="3766599"/>
            <a:ext cx="725078" cy="1013921"/>
            <a:chOff x="7567275" y="4676008"/>
            <a:chExt cx="725078" cy="1013921"/>
          </a:xfrm>
        </p:grpSpPr>
        <p:grpSp>
          <p:nvGrpSpPr>
            <p:cNvPr id="24" name="Group 23">
              <a:extLst>
                <a:ext uri="{FF2B5EF4-FFF2-40B4-BE49-F238E27FC236}">
                  <a16:creationId xmlns:a16="http://schemas.microsoft.com/office/drawing/2014/main" id="{9BCC16FB-BEA4-A695-37C8-35B58F161B17}"/>
                </a:ext>
              </a:extLst>
            </p:cNvPr>
            <p:cNvGrpSpPr/>
            <p:nvPr/>
          </p:nvGrpSpPr>
          <p:grpSpPr>
            <a:xfrm>
              <a:off x="7594476" y="4704397"/>
              <a:ext cx="697877" cy="985532"/>
              <a:chOff x="7594476" y="4704397"/>
              <a:chExt cx="697877" cy="985532"/>
            </a:xfrm>
          </p:grpSpPr>
          <p:cxnSp>
            <p:nvCxnSpPr>
              <p:cNvPr id="29" name="Straight Arrow Connector 28">
                <a:extLst>
                  <a:ext uri="{FF2B5EF4-FFF2-40B4-BE49-F238E27FC236}">
                    <a16:creationId xmlns:a16="http://schemas.microsoft.com/office/drawing/2014/main" id="{F1A2853F-D863-611D-F8AE-AAED1BD6BFEC}"/>
                  </a:ext>
                </a:extLst>
              </p:cNvPr>
              <p:cNvCxnSpPr>
                <a:cxnSpLocks/>
              </p:cNvCxnSpPr>
              <p:nvPr/>
            </p:nvCxnSpPr>
            <p:spPr>
              <a:xfrm flipH="1">
                <a:off x="7974559" y="5354244"/>
                <a:ext cx="314787" cy="33568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B5A9277F-103D-1595-0592-BF57D46FF216}"/>
                  </a:ext>
                </a:extLst>
              </p:cNvPr>
              <p:cNvCxnSpPr/>
              <p:nvPr/>
            </p:nvCxnSpPr>
            <p:spPr>
              <a:xfrm flipV="1">
                <a:off x="8289346" y="4704397"/>
                <a:ext cx="0" cy="656641"/>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987BB739-FDA6-BF81-DDA0-1ACC60E5A85C}"/>
                  </a:ext>
                </a:extLst>
              </p:cNvPr>
              <p:cNvCxnSpPr>
                <a:cxnSpLocks/>
              </p:cNvCxnSpPr>
              <p:nvPr/>
            </p:nvCxnSpPr>
            <p:spPr>
              <a:xfrm flipH="1">
                <a:off x="7594476" y="5354244"/>
                <a:ext cx="697877"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5" name="Straight Arrow Connector 24">
              <a:extLst>
                <a:ext uri="{FF2B5EF4-FFF2-40B4-BE49-F238E27FC236}">
                  <a16:creationId xmlns:a16="http://schemas.microsoft.com/office/drawing/2014/main" id="{B56CBB0C-BBE2-E85B-D241-D1098FDDBE16}"/>
                </a:ext>
              </a:extLst>
            </p:cNvPr>
            <p:cNvCxnSpPr>
              <a:cxnSpLocks/>
            </p:cNvCxnSpPr>
            <p:nvPr/>
          </p:nvCxnSpPr>
          <p:spPr>
            <a:xfrm flipH="1" flipV="1">
              <a:off x="7812264" y="4878732"/>
              <a:ext cx="480089" cy="475512"/>
            </a:xfrm>
            <a:prstGeom prst="straightConnector1">
              <a:avLst/>
            </a:prstGeom>
            <a:ln w="38100">
              <a:solidFill>
                <a:srgbClr val="2F2F2F"/>
              </a:solidFill>
              <a:tailEnd type="triangle"/>
            </a:ln>
          </p:spPr>
          <p:style>
            <a:lnRef idx="1">
              <a:schemeClr val="accent1"/>
            </a:lnRef>
            <a:fillRef idx="0">
              <a:schemeClr val="accent1"/>
            </a:fillRef>
            <a:effectRef idx="0">
              <a:schemeClr val="accent1"/>
            </a:effectRef>
            <a:fontRef idx="minor">
              <a:schemeClr val="tx1"/>
            </a:fontRef>
          </p:style>
        </p:cxnSp>
        <p:sp>
          <p:nvSpPr>
            <p:cNvPr id="26" name="Arrow: Curved Down 25">
              <a:extLst>
                <a:ext uri="{FF2B5EF4-FFF2-40B4-BE49-F238E27FC236}">
                  <a16:creationId xmlns:a16="http://schemas.microsoft.com/office/drawing/2014/main" id="{75F7CA5C-3364-D4A8-CC87-8AB76E9B1D36}"/>
                </a:ext>
              </a:extLst>
            </p:cNvPr>
            <p:cNvSpPr/>
            <p:nvPr/>
          </p:nvSpPr>
          <p:spPr>
            <a:xfrm rot="18656914" flipV="1">
              <a:off x="7917884" y="5067192"/>
              <a:ext cx="265843" cy="98593"/>
            </a:xfrm>
            <a:prstGeom prst="curvedDown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FAD32B45-9847-9662-FE6F-1095571A31D2}"/>
                    </a:ext>
                  </a:extLst>
                </p:cNvPr>
                <p:cNvSpPr txBox="1"/>
                <p:nvPr/>
              </p:nvSpPr>
              <p:spPr>
                <a:xfrm>
                  <a:off x="7932435" y="4742574"/>
                  <a:ext cx="269594"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tx2"/>
                            </a:solidFill>
                            <a:latin typeface="Cambria Math" panose="02040503050406030204" pitchFamily="18" charset="0"/>
                          </a:rPr>
                          <m:t>𝜃</m:t>
                        </m:r>
                      </m:oMath>
                    </m:oMathPara>
                  </a14:m>
                  <a:endParaRPr lang="en-GB" sz="1400" dirty="0">
                    <a:solidFill>
                      <a:schemeClr val="tx2"/>
                    </a:solidFill>
                  </a:endParaRPr>
                </a:p>
              </p:txBody>
            </p:sp>
          </mc:Choice>
          <mc:Fallback xmlns="">
            <p:sp>
              <p:nvSpPr>
                <p:cNvPr id="27" name="TextBox 26">
                  <a:extLst>
                    <a:ext uri="{FF2B5EF4-FFF2-40B4-BE49-F238E27FC236}">
                      <a16:creationId xmlns:a16="http://schemas.microsoft.com/office/drawing/2014/main" id="{FAD32B45-9847-9662-FE6F-1095571A31D2}"/>
                    </a:ext>
                  </a:extLst>
                </p:cNvPr>
                <p:cNvSpPr txBox="1">
                  <a:spLocks noRot="1" noChangeAspect="1" noMove="1" noResize="1" noEditPoints="1" noAdjustHandles="1" noChangeArrowheads="1" noChangeShapeType="1" noTextEdit="1"/>
                </p:cNvSpPr>
                <p:nvPr/>
              </p:nvSpPr>
              <p:spPr>
                <a:xfrm>
                  <a:off x="7932435" y="4742574"/>
                  <a:ext cx="269594" cy="307777"/>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4E4B5A6A-71C6-018F-6F36-52A4EF71B504}"/>
                    </a:ext>
                  </a:extLst>
                </p:cNvPr>
                <p:cNvSpPr txBox="1"/>
                <p:nvPr/>
              </p:nvSpPr>
              <p:spPr>
                <a:xfrm>
                  <a:off x="7567275" y="4676008"/>
                  <a:ext cx="33397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sz="1400" i="1" smtClean="0">
                                <a:solidFill>
                                  <a:schemeClr val="tx2"/>
                                </a:solidFill>
                                <a:latin typeface="Cambria Math" panose="02040503050406030204" pitchFamily="18" charset="0"/>
                              </a:rPr>
                            </m:ctrlPr>
                          </m:accPr>
                          <m:e>
                            <m:r>
                              <a:rPr lang="en-US" sz="1400" b="0" i="1" smtClean="0">
                                <a:solidFill>
                                  <a:schemeClr val="tx2"/>
                                </a:solidFill>
                                <a:latin typeface="Cambria Math" panose="02040503050406030204" pitchFamily="18" charset="0"/>
                              </a:rPr>
                              <m:t>𝑢</m:t>
                            </m:r>
                          </m:e>
                        </m:acc>
                      </m:oMath>
                    </m:oMathPara>
                  </a14:m>
                  <a:endParaRPr lang="en-GB" sz="1400" dirty="0">
                    <a:solidFill>
                      <a:schemeClr val="tx2"/>
                    </a:solidFill>
                  </a:endParaRPr>
                </a:p>
              </p:txBody>
            </p:sp>
          </mc:Choice>
          <mc:Fallback xmlns="">
            <p:sp>
              <p:nvSpPr>
                <p:cNvPr id="28" name="TextBox 27">
                  <a:extLst>
                    <a:ext uri="{FF2B5EF4-FFF2-40B4-BE49-F238E27FC236}">
                      <a16:creationId xmlns:a16="http://schemas.microsoft.com/office/drawing/2014/main" id="{4E4B5A6A-71C6-018F-6F36-52A4EF71B504}"/>
                    </a:ext>
                  </a:extLst>
                </p:cNvPr>
                <p:cNvSpPr txBox="1">
                  <a:spLocks noRot="1" noChangeAspect="1" noMove="1" noResize="1" noEditPoints="1" noAdjustHandles="1" noChangeArrowheads="1" noChangeShapeType="1" noTextEdit="1"/>
                </p:cNvSpPr>
                <p:nvPr/>
              </p:nvSpPr>
              <p:spPr>
                <a:xfrm>
                  <a:off x="7567275" y="4676008"/>
                  <a:ext cx="333977" cy="307777"/>
                </a:xfrm>
                <a:prstGeom prst="rect">
                  <a:avLst/>
                </a:prstGeom>
                <a:blipFill>
                  <a:blip r:embed="rId11"/>
                  <a:stretch>
                    <a:fillRect r="-3636"/>
                  </a:stretch>
                </a:blipFill>
              </p:spPr>
              <p:txBody>
                <a:bodyPr/>
                <a:lstStyle/>
                <a:p>
                  <a:r>
                    <a:rPr lang="en-GB">
                      <a:noFill/>
                    </a:rPr>
                    <a:t> </a:t>
                  </a:r>
                </a:p>
              </p:txBody>
            </p:sp>
          </mc:Fallback>
        </mc:AlternateContent>
      </p:grpSp>
    </p:spTree>
    <p:extLst>
      <p:ext uri="{BB962C8B-B14F-4D97-AF65-F5344CB8AC3E}">
        <p14:creationId xmlns:p14="http://schemas.microsoft.com/office/powerpoint/2010/main" val="7981812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7FE98051-9BD5-4376-BDFB-79360DAF33C4}"/>
              </a:ext>
            </a:extLst>
          </p:cNvPr>
          <p:cNvPicPr>
            <a:picLocks noChangeAspect="1"/>
          </p:cNvPicPr>
          <p:nvPr/>
        </p:nvPicPr>
        <p:blipFill>
          <a:blip r:embed="rId3"/>
          <a:stretch>
            <a:fillRect/>
          </a:stretch>
        </p:blipFill>
        <p:spPr>
          <a:xfrm>
            <a:off x="5926355" y="3964998"/>
            <a:ext cx="5459196" cy="294835"/>
          </a:xfrm>
          <a:prstGeom prst="rect">
            <a:avLst/>
          </a:prstGeom>
        </p:spPr>
      </p:pic>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786107"/>
          </a:xfrm>
        </p:spPr>
        <p:txBody>
          <a:bodyPr/>
          <a:lstStyle/>
          <a:p>
            <a:r>
              <a:rPr lang="en-US" dirty="0"/>
              <a:t>Cubic Orientation Spline Algorithm </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46</a:t>
            </a:fld>
            <a:endParaRPr lang="en-US" dirty="0"/>
          </a:p>
        </p:txBody>
      </p:sp>
      <p:sp>
        <p:nvSpPr>
          <p:cNvPr id="9" name="Rectangle: Rounded Corners 8">
            <a:extLst>
              <a:ext uri="{FF2B5EF4-FFF2-40B4-BE49-F238E27FC236}">
                <a16:creationId xmlns:a16="http://schemas.microsoft.com/office/drawing/2014/main" id="{B57F9A30-FFD9-84B0-88A3-7D6F60558107}"/>
              </a:ext>
            </a:extLst>
          </p:cNvPr>
          <p:cNvSpPr/>
          <p:nvPr/>
        </p:nvSpPr>
        <p:spPr>
          <a:xfrm>
            <a:off x="8292353" y="345766"/>
            <a:ext cx="2303929" cy="622422"/>
          </a:xfrm>
          <a:prstGeom prst="roundRect">
            <a:avLst/>
          </a:prstGeom>
          <a:solidFill>
            <a:srgbClr val="CDDCF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CubicOrientationSpline</a:t>
            </a:r>
            <a:endParaRPr lang="en-GB" sz="1200" dirty="0">
              <a:solidFill>
                <a:srgbClr val="003399"/>
              </a:solidFill>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8D8F7A8-093E-5F3E-9C29-EE5E44736851}"/>
                  </a:ext>
                </a:extLst>
              </p:cNvPr>
              <p:cNvSpPr txBox="1"/>
              <p:nvPr/>
            </p:nvSpPr>
            <p:spPr>
              <a:xfrm>
                <a:off x="7174259" y="1781991"/>
                <a:ext cx="2977228"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a:rPr lang="en-US" b="0" i="1" smtClean="0">
                          <a:solidFill>
                            <a:schemeClr val="tx2"/>
                          </a:solidFill>
                          <a:latin typeface="Cambria Math" panose="02040503050406030204" pitchFamily="18" charset="0"/>
                        </a:rPr>
                        <m:t>𝑞</m:t>
                      </m:r>
                      <m:d>
                        <m:dPr>
                          <m:ctrlPr>
                            <a:rPr lang="en-US" b="0" i="1" smtClean="0">
                              <a:solidFill>
                                <a:schemeClr val="tx2"/>
                              </a:solidFill>
                              <a:latin typeface="Cambria Math" panose="02040503050406030204" pitchFamily="18" charset="0"/>
                            </a:rPr>
                          </m:ctrlPr>
                        </m:dPr>
                        <m:e>
                          <m:r>
                            <a:rPr lang="en-US" b="0" i="1" smtClean="0">
                              <a:solidFill>
                                <a:schemeClr val="tx2"/>
                              </a:solidFill>
                              <a:latin typeface="Cambria Math" panose="02040503050406030204" pitchFamily="18" charset="0"/>
                            </a:rPr>
                            <m:t>𝑡</m:t>
                          </m:r>
                        </m:e>
                      </m:d>
                      <m:r>
                        <a:rPr lang="en-US" b="0" i="1" smtClean="0">
                          <a:solidFill>
                            <a:schemeClr val="tx2"/>
                          </a:solidFill>
                          <a:latin typeface="Cambria Math" panose="02040503050406030204" pitchFamily="18" charset="0"/>
                        </a:rPr>
                        <m:t>=</m:t>
                      </m:r>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𝑞</m:t>
                          </m:r>
                        </m:e>
                        <m:sub>
                          <m:r>
                            <a:rPr lang="en-US" b="0" i="1" smtClean="0">
                              <a:solidFill>
                                <a:schemeClr val="tx2"/>
                              </a:solidFill>
                              <a:latin typeface="Cambria Math" panose="02040503050406030204" pitchFamily="18" charset="0"/>
                            </a:rPr>
                            <m:t>𝑖</m:t>
                          </m:r>
                        </m:sub>
                      </m:sSub>
                      <m:r>
                        <m:rPr>
                          <m:sty m:val="p"/>
                        </m:rPr>
                        <a:rPr lang="en-US" b="0" i="0" smtClean="0">
                          <a:solidFill>
                            <a:schemeClr val="tx2"/>
                          </a:solidFill>
                          <a:latin typeface="Cambria Math" panose="02040503050406030204" pitchFamily="18" charset="0"/>
                        </a:rPr>
                        <m:t>Δ</m:t>
                      </m:r>
                      <m:r>
                        <a:rPr lang="en-US" b="0" i="1" smtClean="0">
                          <a:solidFill>
                            <a:schemeClr val="tx2"/>
                          </a:solidFill>
                          <a:latin typeface="Cambria Math" panose="02040503050406030204" pitchFamily="18" charset="0"/>
                        </a:rPr>
                        <m:t>𝑞</m:t>
                      </m:r>
                      <m:r>
                        <a:rPr lang="en-US" b="0" i="1" smtClean="0">
                          <a:solidFill>
                            <a:schemeClr val="tx2"/>
                          </a:solidFill>
                          <a:latin typeface="Cambria Math" panose="02040503050406030204" pitchFamily="18" charset="0"/>
                        </a:rPr>
                        <m:t>(</m:t>
                      </m:r>
                      <m:r>
                        <a:rPr lang="en-US" b="0" i="1" smtClean="0">
                          <a:solidFill>
                            <a:schemeClr val="tx2"/>
                          </a:solidFill>
                          <a:latin typeface="Cambria Math" panose="02040503050406030204" pitchFamily="18" charset="0"/>
                        </a:rPr>
                        <m:t>𝑡</m:t>
                      </m:r>
                      <m:r>
                        <a:rPr lang="en-US" b="0" i="1" smtClean="0">
                          <a:solidFill>
                            <a:schemeClr val="tx2"/>
                          </a:solidFill>
                          <a:latin typeface="Cambria Math" panose="02040503050406030204" pitchFamily="18" charset="0"/>
                        </a:rPr>
                        <m:t>)</m:t>
                      </m:r>
                    </m:oMath>
                  </m:oMathPara>
                </a14:m>
                <a:endParaRPr lang="en-GB" dirty="0">
                  <a:solidFill>
                    <a:schemeClr val="tx2"/>
                  </a:solidFill>
                </a:endParaRPr>
              </a:p>
            </p:txBody>
          </p:sp>
        </mc:Choice>
        <mc:Fallback xmlns="">
          <p:sp>
            <p:nvSpPr>
              <p:cNvPr id="7" name="TextBox 6">
                <a:extLst>
                  <a:ext uri="{FF2B5EF4-FFF2-40B4-BE49-F238E27FC236}">
                    <a16:creationId xmlns:a16="http://schemas.microsoft.com/office/drawing/2014/main" id="{68D8F7A8-093E-5F3E-9C29-EE5E44736851}"/>
                  </a:ext>
                </a:extLst>
              </p:cNvPr>
              <p:cNvSpPr txBox="1">
                <a:spLocks noRot="1" noChangeAspect="1" noMove="1" noResize="1" noEditPoints="1" noAdjustHandles="1" noChangeArrowheads="1" noChangeShapeType="1" noTextEdit="1"/>
              </p:cNvSpPr>
              <p:nvPr/>
            </p:nvSpPr>
            <p:spPr>
              <a:xfrm>
                <a:off x="7174259" y="1781991"/>
                <a:ext cx="2977228" cy="276999"/>
              </a:xfrm>
              <a:prstGeom prst="rect">
                <a:avLst/>
              </a:prstGeom>
              <a:blipFill>
                <a:blip r:embed="rId4"/>
                <a:stretch>
                  <a:fillRect b="-3478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B0B6FF6-6B69-EFBE-9AE5-272E89A175D0}"/>
                  </a:ext>
                </a:extLst>
              </p:cNvPr>
              <p:cNvSpPr txBox="1"/>
              <p:nvPr/>
            </p:nvSpPr>
            <p:spPr>
              <a:xfrm>
                <a:off x="5980826" y="2417717"/>
                <a:ext cx="2977228" cy="114973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b="0" i="0" smtClean="0">
                          <a:solidFill>
                            <a:srgbClr val="2F2F2F"/>
                          </a:solidFill>
                          <a:latin typeface="Cambria Math" panose="02040503050406030204" pitchFamily="18" charset="0"/>
                        </a:rPr>
                        <m:t>Δ</m:t>
                      </m:r>
                      <m:r>
                        <a:rPr lang="en-US" b="0" i="1" smtClean="0">
                          <a:solidFill>
                            <a:srgbClr val="2F2F2F"/>
                          </a:solidFill>
                          <a:latin typeface="Cambria Math" panose="02040503050406030204" pitchFamily="18" charset="0"/>
                        </a:rPr>
                        <m:t>𝑞</m:t>
                      </m:r>
                      <m:d>
                        <m:dPr>
                          <m:ctrlPr>
                            <a:rPr lang="en-US" b="0" i="1" smtClean="0">
                              <a:solidFill>
                                <a:srgbClr val="2F2F2F"/>
                              </a:solidFill>
                              <a:latin typeface="Cambria Math" panose="02040503050406030204" pitchFamily="18" charset="0"/>
                            </a:rPr>
                          </m:ctrlPr>
                        </m:dPr>
                        <m:e>
                          <m:r>
                            <a:rPr lang="en-US" b="0" i="1" smtClean="0">
                              <a:solidFill>
                                <a:srgbClr val="2F2F2F"/>
                              </a:solidFill>
                              <a:latin typeface="Cambria Math" panose="02040503050406030204" pitchFamily="18" charset="0"/>
                            </a:rPr>
                            <m:t>𝑡</m:t>
                          </m:r>
                        </m:e>
                      </m:d>
                      <m:r>
                        <a:rPr lang="en-US" b="0" i="1" smtClean="0">
                          <a:solidFill>
                            <a:srgbClr val="2F2F2F"/>
                          </a:solidFill>
                          <a:latin typeface="Cambria Math" panose="02040503050406030204" pitchFamily="18" charset="0"/>
                        </a:rPr>
                        <m:t>=</m:t>
                      </m:r>
                      <m:d>
                        <m:dPr>
                          <m:begChr m:val="["/>
                          <m:endChr m:val="]"/>
                          <m:ctrlPr>
                            <a:rPr lang="en-US" b="0" i="1" smtClean="0">
                              <a:solidFill>
                                <a:srgbClr val="2F2F2F"/>
                              </a:solidFill>
                              <a:latin typeface="Cambria Math" panose="02040503050406030204" pitchFamily="18" charset="0"/>
                            </a:rPr>
                          </m:ctrlPr>
                        </m:dPr>
                        <m:e>
                          <m:m>
                            <m:mPr>
                              <m:mcs>
                                <m:mc>
                                  <m:mcPr>
                                    <m:count m:val="1"/>
                                    <m:mcJc m:val="center"/>
                                  </m:mcPr>
                                </m:mc>
                              </m:mcs>
                              <m:ctrlPr>
                                <a:rPr lang="en-US" b="0" i="1" smtClean="0">
                                  <a:solidFill>
                                    <a:srgbClr val="2F2F2F"/>
                                  </a:solidFill>
                                  <a:latin typeface="Cambria Math" panose="02040503050406030204" pitchFamily="18" charset="0"/>
                                </a:rPr>
                              </m:ctrlPr>
                            </m:mPr>
                            <m:mr>
                              <m:e>
                                <m:r>
                                  <m:rPr>
                                    <m:sty m:val="p"/>
                                    <m:brk m:alnAt="7"/>
                                  </m:rPr>
                                  <a:rPr lang="en-US" b="0" i="0" smtClean="0">
                                    <a:solidFill>
                                      <a:srgbClr val="2F2F2F"/>
                                    </a:solidFill>
                                    <a:latin typeface="Cambria Math" panose="02040503050406030204" pitchFamily="18" charset="0"/>
                                  </a:rPr>
                                  <m:t>c</m:t>
                                </m:r>
                                <m:r>
                                  <m:rPr>
                                    <m:sty m:val="p"/>
                                  </m:rPr>
                                  <a:rPr lang="en-US" b="0" i="0" smtClean="0">
                                    <a:solidFill>
                                      <a:srgbClr val="2F2F2F"/>
                                    </a:solidFill>
                                    <a:latin typeface="Cambria Math" panose="02040503050406030204" pitchFamily="18" charset="0"/>
                                  </a:rPr>
                                  <m:t>os</m:t>
                                </m:r>
                                <m:r>
                                  <m:rPr>
                                    <m:brk m:alnAt="7"/>
                                  </m:rPr>
                                  <a:rPr lang="en-US" b="0" i="1" smtClean="0">
                                    <a:solidFill>
                                      <a:srgbClr val="2F2F2F"/>
                                    </a:solidFill>
                                    <a:latin typeface="Cambria Math" panose="02040503050406030204" pitchFamily="18" charset="0"/>
                                  </a:rPr>
                                  <m:t>⁡</m:t>
                                </m:r>
                                <m:r>
                                  <a:rPr lang="en-US" b="0" i="1" smtClean="0">
                                    <a:solidFill>
                                      <a:srgbClr val="2F2F2F"/>
                                    </a:solidFill>
                                    <a:latin typeface="Cambria Math" panose="02040503050406030204" pitchFamily="18" charset="0"/>
                                  </a:rPr>
                                  <m:t>(</m:t>
                                </m:r>
                                <m:r>
                                  <a:rPr lang="en-US" b="0" i="1" smtClean="0">
                                    <a:solidFill>
                                      <a:srgbClr val="2F2F2F"/>
                                    </a:solidFill>
                                    <a:latin typeface="Cambria Math" panose="02040503050406030204" pitchFamily="18" charset="0"/>
                                  </a:rPr>
                                  <m:t>𝜃</m:t>
                                </m:r>
                                <m:d>
                                  <m:dPr>
                                    <m:ctrlPr>
                                      <a:rPr lang="en-US" b="0" i="1" smtClean="0">
                                        <a:solidFill>
                                          <a:srgbClr val="2F2F2F"/>
                                        </a:solidFill>
                                        <a:latin typeface="Cambria Math" panose="02040503050406030204" pitchFamily="18" charset="0"/>
                                      </a:rPr>
                                    </m:ctrlPr>
                                  </m:dPr>
                                  <m:e>
                                    <m:r>
                                      <a:rPr lang="en-US" b="0" i="1" smtClean="0">
                                        <a:solidFill>
                                          <a:srgbClr val="2F2F2F"/>
                                        </a:solidFill>
                                        <a:latin typeface="Cambria Math" panose="02040503050406030204" pitchFamily="18" charset="0"/>
                                      </a:rPr>
                                      <m:t>𝑡</m:t>
                                    </m:r>
                                  </m:e>
                                </m:d>
                                <m:r>
                                  <a:rPr lang="en-US" b="0" i="1" smtClean="0">
                                    <a:solidFill>
                                      <a:srgbClr val="2F2F2F"/>
                                    </a:solidFill>
                                    <a:latin typeface="Cambria Math" panose="02040503050406030204" pitchFamily="18" charset="0"/>
                                  </a:rPr>
                                  <m:t>/2)</m:t>
                                </m:r>
                              </m:e>
                            </m:mr>
                            <m:mr>
                              <m:e>
                                <m:sSub>
                                  <m:sSubPr>
                                    <m:ctrlPr>
                                      <a:rPr lang="en-US" b="0" i="1" smtClean="0">
                                        <a:solidFill>
                                          <a:srgbClr val="2F2F2F"/>
                                        </a:solidFill>
                                        <a:latin typeface="Cambria Math" panose="02040503050406030204" pitchFamily="18" charset="0"/>
                                      </a:rPr>
                                    </m:ctrlPr>
                                  </m:sSubPr>
                                  <m:e>
                                    <m:r>
                                      <a:rPr lang="en-US" b="0" i="1" smtClean="0">
                                        <a:solidFill>
                                          <a:srgbClr val="2F2F2F"/>
                                        </a:solidFill>
                                        <a:latin typeface="Cambria Math" panose="02040503050406030204" pitchFamily="18" charset="0"/>
                                      </a:rPr>
                                      <m:t>𝑢</m:t>
                                    </m:r>
                                  </m:e>
                                  <m:sub>
                                    <m:r>
                                      <a:rPr lang="en-US" b="0" i="1" smtClean="0">
                                        <a:solidFill>
                                          <a:srgbClr val="2F2F2F"/>
                                        </a:solidFill>
                                        <a:latin typeface="Cambria Math" panose="02040503050406030204" pitchFamily="18" charset="0"/>
                                      </a:rPr>
                                      <m:t>1</m:t>
                                    </m:r>
                                  </m:sub>
                                </m:sSub>
                                <m:d>
                                  <m:dPr>
                                    <m:ctrlPr>
                                      <a:rPr lang="en-US" b="0" i="1" smtClean="0">
                                        <a:solidFill>
                                          <a:srgbClr val="2F2F2F"/>
                                        </a:solidFill>
                                        <a:latin typeface="Cambria Math" panose="02040503050406030204" pitchFamily="18" charset="0"/>
                                      </a:rPr>
                                    </m:ctrlPr>
                                  </m:dPr>
                                  <m:e>
                                    <m:r>
                                      <a:rPr lang="en-US" b="0" i="1" smtClean="0">
                                        <a:solidFill>
                                          <a:srgbClr val="2F2F2F"/>
                                        </a:solidFill>
                                        <a:latin typeface="Cambria Math" panose="02040503050406030204" pitchFamily="18" charset="0"/>
                                      </a:rPr>
                                      <m:t>𝑡</m:t>
                                    </m:r>
                                  </m:e>
                                </m:d>
                                <m:r>
                                  <a:rPr lang="en-US" b="0" i="1" smtClean="0">
                                    <a:solidFill>
                                      <a:srgbClr val="2F2F2F"/>
                                    </a:solidFill>
                                    <a:latin typeface="Cambria Math" panose="02040503050406030204" pitchFamily="18" charset="0"/>
                                  </a:rPr>
                                  <m:t>𝑠𝑖𝑛</m:t>
                                </m:r>
                                <m:r>
                                  <m:rPr>
                                    <m:brk m:alnAt="7"/>
                                  </m:rPr>
                                  <a:rPr lang="en-US" i="1">
                                    <a:solidFill>
                                      <a:srgbClr val="2F2F2F"/>
                                    </a:solidFill>
                                    <a:latin typeface="Cambria Math" panose="02040503050406030204" pitchFamily="18" charset="0"/>
                                  </a:rPr>
                                  <m:t>(</m:t>
                                </m:r>
                                <m:r>
                                  <a:rPr lang="en-US" i="1">
                                    <a:solidFill>
                                      <a:srgbClr val="2F2F2F"/>
                                    </a:solidFill>
                                    <a:latin typeface="Cambria Math" panose="02040503050406030204" pitchFamily="18" charset="0"/>
                                  </a:rPr>
                                  <m:t>𝜃</m:t>
                                </m:r>
                                <m:d>
                                  <m:dPr>
                                    <m:ctrlPr>
                                      <a:rPr lang="en-US" i="1">
                                        <a:solidFill>
                                          <a:srgbClr val="2F2F2F"/>
                                        </a:solidFill>
                                        <a:latin typeface="Cambria Math" panose="02040503050406030204" pitchFamily="18" charset="0"/>
                                      </a:rPr>
                                    </m:ctrlPr>
                                  </m:dPr>
                                  <m:e>
                                    <m:r>
                                      <a:rPr lang="en-US" i="1">
                                        <a:solidFill>
                                          <a:srgbClr val="2F2F2F"/>
                                        </a:solidFill>
                                        <a:latin typeface="Cambria Math" panose="02040503050406030204" pitchFamily="18" charset="0"/>
                                      </a:rPr>
                                      <m:t>𝑡</m:t>
                                    </m:r>
                                  </m:e>
                                </m:d>
                                <m:r>
                                  <a:rPr lang="en-US" i="1">
                                    <a:solidFill>
                                      <a:srgbClr val="2F2F2F"/>
                                    </a:solidFill>
                                    <a:latin typeface="Cambria Math" panose="02040503050406030204" pitchFamily="18" charset="0"/>
                                  </a:rPr>
                                  <m:t>/2)</m:t>
                                </m:r>
                              </m:e>
                            </m:mr>
                            <m:mr>
                              <m:e>
                                <m:eqArr>
                                  <m:eqArrPr>
                                    <m:ctrlPr>
                                      <a:rPr lang="en-US" b="0" i="1" smtClean="0">
                                        <a:solidFill>
                                          <a:srgbClr val="2F2F2F"/>
                                        </a:solidFill>
                                        <a:latin typeface="Cambria Math" panose="02040503050406030204" pitchFamily="18" charset="0"/>
                                      </a:rPr>
                                    </m:ctrlPr>
                                  </m:eqArrPr>
                                  <m:e>
                                    <m:sSub>
                                      <m:sSubPr>
                                        <m:ctrlPr>
                                          <a:rPr lang="en-US" b="0" i="1" smtClean="0">
                                            <a:solidFill>
                                              <a:srgbClr val="2F2F2F"/>
                                            </a:solidFill>
                                            <a:latin typeface="Cambria Math" panose="02040503050406030204" pitchFamily="18" charset="0"/>
                                          </a:rPr>
                                        </m:ctrlPr>
                                      </m:sSubPr>
                                      <m:e>
                                        <m:r>
                                          <a:rPr lang="en-US" b="0" i="1" smtClean="0">
                                            <a:solidFill>
                                              <a:srgbClr val="2F2F2F"/>
                                            </a:solidFill>
                                            <a:latin typeface="Cambria Math" panose="02040503050406030204" pitchFamily="18" charset="0"/>
                                          </a:rPr>
                                          <m:t>𝑢</m:t>
                                        </m:r>
                                      </m:e>
                                      <m:sub>
                                        <m:r>
                                          <a:rPr lang="en-US" b="0" i="1" smtClean="0">
                                            <a:solidFill>
                                              <a:srgbClr val="2F2F2F"/>
                                            </a:solidFill>
                                            <a:latin typeface="Cambria Math" panose="02040503050406030204" pitchFamily="18" charset="0"/>
                                          </a:rPr>
                                          <m:t>2</m:t>
                                        </m:r>
                                      </m:sub>
                                    </m:sSub>
                                    <m:d>
                                      <m:dPr>
                                        <m:ctrlPr>
                                          <a:rPr lang="en-US" b="0" i="1" smtClean="0">
                                            <a:solidFill>
                                              <a:srgbClr val="2F2F2F"/>
                                            </a:solidFill>
                                            <a:latin typeface="Cambria Math" panose="02040503050406030204" pitchFamily="18" charset="0"/>
                                          </a:rPr>
                                        </m:ctrlPr>
                                      </m:dPr>
                                      <m:e>
                                        <m:r>
                                          <a:rPr lang="en-US" b="0" i="1" smtClean="0">
                                            <a:solidFill>
                                              <a:srgbClr val="2F2F2F"/>
                                            </a:solidFill>
                                            <a:latin typeface="Cambria Math" panose="02040503050406030204" pitchFamily="18" charset="0"/>
                                          </a:rPr>
                                          <m:t>𝑡</m:t>
                                        </m:r>
                                      </m:e>
                                    </m:d>
                                    <m:r>
                                      <m:rPr>
                                        <m:sty m:val="p"/>
                                      </m:rPr>
                                      <a:rPr lang="en-US" b="0" i="0" smtClean="0">
                                        <a:solidFill>
                                          <a:srgbClr val="2F2F2F"/>
                                        </a:solidFill>
                                        <a:latin typeface="Cambria Math" panose="02040503050406030204" pitchFamily="18" charset="0"/>
                                      </a:rPr>
                                      <m:t>sin</m:t>
                                    </m:r>
                                    <m:r>
                                      <a:rPr lang="en-US" b="0" i="1" smtClean="0">
                                        <a:solidFill>
                                          <a:srgbClr val="2F2F2F"/>
                                        </a:solidFill>
                                        <a:latin typeface="Cambria Math" panose="02040503050406030204" pitchFamily="18" charset="0"/>
                                      </a:rPr>
                                      <m:t>⁡</m:t>
                                    </m:r>
                                    <m:r>
                                      <m:rPr>
                                        <m:brk m:alnAt="7"/>
                                      </m:rPr>
                                      <a:rPr lang="en-US" i="1">
                                        <a:solidFill>
                                          <a:srgbClr val="2F2F2F"/>
                                        </a:solidFill>
                                        <a:latin typeface="Cambria Math" panose="02040503050406030204" pitchFamily="18" charset="0"/>
                                      </a:rPr>
                                      <m:t>(</m:t>
                                    </m:r>
                                    <m:r>
                                      <a:rPr lang="en-US" i="1">
                                        <a:solidFill>
                                          <a:srgbClr val="2F2F2F"/>
                                        </a:solidFill>
                                        <a:latin typeface="Cambria Math" panose="02040503050406030204" pitchFamily="18" charset="0"/>
                                      </a:rPr>
                                      <m:t>𝜃</m:t>
                                    </m:r>
                                    <m:d>
                                      <m:dPr>
                                        <m:ctrlPr>
                                          <a:rPr lang="en-US" i="1">
                                            <a:solidFill>
                                              <a:srgbClr val="2F2F2F"/>
                                            </a:solidFill>
                                            <a:latin typeface="Cambria Math" panose="02040503050406030204" pitchFamily="18" charset="0"/>
                                          </a:rPr>
                                        </m:ctrlPr>
                                      </m:dPr>
                                      <m:e>
                                        <m:r>
                                          <a:rPr lang="en-US" i="1">
                                            <a:solidFill>
                                              <a:srgbClr val="2F2F2F"/>
                                            </a:solidFill>
                                            <a:latin typeface="Cambria Math" panose="02040503050406030204" pitchFamily="18" charset="0"/>
                                          </a:rPr>
                                          <m:t>𝑡</m:t>
                                        </m:r>
                                      </m:e>
                                    </m:d>
                                    <m:r>
                                      <a:rPr lang="en-US" i="1">
                                        <a:solidFill>
                                          <a:srgbClr val="2F2F2F"/>
                                        </a:solidFill>
                                        <a:latin typeface="Cambria Math" panose="02040503050406030204" pitchFamily="18" charset="0"/>
                                      </a:rPr>
                                      <m:t>/2)</m:t>
                                    </m:r>
                                  </m:e>
                                  <m:e>
                                    <m:sSub>
                                      <m:sSubPr>
                                        <m:ctrlPr>
                                          <a:rPr lang="en-US" b="0" i="1" smtClean="0">
                                            <a:solidFill>
                                              <a:srgbClr val="2F2F2F"/>
                                            </a:solidFill>
                                            <a:latin typeface="Cambria Math" panose="02040503050406030204" pitchFamily="18" charset="0"/>
                                          </a:rPr>
                                        </m:ctrlPr>
                                      </m:sSubPr>
                                      <m:e>
                                        <m:r>
                                          <a:rPr lang="en-US" b="0" i="1" smtClean="0">
                                            <a:solidFill>
                                              <a:srgbClr val="2F2F2F"/>
                                            </a:solidFill>
                                            <a:latin typeface="Cambria Math" panose="02040503050406030204" pitchFamily="18" charset="0"/>
                                          </a:rPr>
                                          <m:t>𝑢</m:t>
                                        </m:r>
                                      </m:e>
                                      <m:sub>
                                        <m:r>
                                          <a:rPr lang="en-US" b="0" i="1" smtClean="0">
                                            <a:solidFill>
                                              <a:srgbClr val="2F2F2F"/>
                                            </a:solidFill>
                                            <a:latin typeface="Cambria Math" panose="02040503050406030204" pitchFamily="18" charset="0"/>
                                          </a:rPr>
                                          <m:t>3</m:t>
                                        </m:r>
                                      </m:sub>
                                    </m:sSub>
                                    <m:d>
                                      <m:dPr>
                                        <m:ctrlPr>
                                          <a:rPr lang="en-US" b="0" i="1" smtClean="0">
                                            <a:solidFill>
                                              <a:srgbClr val="2F2F2F"/>
                                            </a:solidFill>
                                            <a:latin typeface="Cambria Math" panose="02040503050406030204" pitchFamily="18" charset="0"/>
                                          </a:rPr>
                                        </m:ctrlPr>
                                      </m:dPr>
                                      <m:e>
                                        <m:r>
                                          <a:rPr lang="en-US" b="0" i="1" smtClean="0">
                                            <a:solidFill>
                                              <a:srgbClr val="2F2F2F"/>
                                            </a:solidFill>
                                            <a:latin typeface="Cambria Math" panose="02040503050406030204" pitchFamily="18" charset="0"/>
                                          </a:rPr>
                                          <m:t>𝑡</m:t>
                                        </m:r>
                                      </m:e>
                                    </m:d>
                                    <m:r>
                                      <a:rPr lang="en-US" b="0" i="1" smtClean="0">
                                        <a:solidFill>
                                          <a:srgbClr val="2F2F2F"/>
                                        </a:solidFill>
                                        <a:latin typeface="Cambria Math" panose="02040503050406030204" pitchFamily="18" charset="0"/>
                                      </a:rPr>
                                      <m:t>𝑠𝑖𝑛</m:t>
                                    </m:r>
                                    <m:r>
                                      <m:rPr>
                                        <m:brk m:alnAt="7"/>
                                      </m:rPr>
                                      <a:rPr lang="en-US" i="1">
                                        <a:solidFill>
                                          <a:srgbClr val="2F2F2F"/>
                                        </a:solidFill>
                                        <a:latin typeface="Cambria Math" panose="02040503050406030204" pitchFamily="18" charset="0"/>
                                      </a:rPr>
                                      <m:t>(</m:t>
                                    </m:r>
                                    <m:r>
                                      <a:rPr lang="en-US" i="1">
                                        <a:solidFill>
                                          <a:srgbClr val="2F2F2F"/>
                                        </a:solidFill>
                                        <a:latin typeface="Cambria Math" panose="02040503050406030204" pitchFamily="18" charset="0"/>
                                      </a:rPr>
                                      <m:t>𝜃</m:t>
                                    </m:r>
                                    <m:d>
                                      <m:dPr>
                                        <m:ctrlPr>
                                          <a:rPr lang="en-US" i="1">
                                            <a:solidFill>
                                              <a:srgbClr val="2F2F2F"/>
                                            </a:solidFill>
                                            <a:latin typeface="Cambria Math" panose="02040503050406030204" pitchFamily="18" charset="0"/>
                                          </a:rPr>
                                        </m:ctrlPr>
                                      </m:dPr>
                                      <m:e>
                                        <m:r>
                                          <a:rPr lang="en-US" i="1">
                                            <a:solidFill>
                                              <a:srgbClr val="2F2F2F"/>
                                            </a:solidFill>
                                            <a:latin typeface="Cambria Math" panose="02040503050406030204" pitchFamily="18" charset="0"/>
                                          </a:rPr>
                                          <m:t>𝑡</m:t>
                                        </m:r>
                                      </m:e>
                                    </m:d>
                                    <m:r>
                                      <a:rPr lang="en-US" i="1">
                                        <a:solidFill>
                                          <a:srgbClr val="2F2F2F"/>
                                        </a:solidFill>
                                        <a:latin typeface="Cambria Math" panose="02040503050406030204" pitchFamily="18" charset="0"/>
                                      </a:rPr>
                                      <m:t>/2)</m:t>
                                    </m:r>
                                  </m:e>
                                </m:eqArr>
                              </m:e>
                            </m:mr>
                          </m:m>
                        </m:e>
                      </m:d>
                    </m:oMath>
                  </m:oMathPara>
                </a14:m>
                <a:endParaRPr lang="en-GB" dirty="0">
                  <a:solidFill>
                    <a:srgbClr val="2F2F2F"/>
                  </a:solidFill>
                </a:endParaRPr>
              </a:p>
            </p:txBody>
          </p:sp>
        </mc:Choice>
        <mc:Fallback xmlns="">
          <p:sp>
            <p:nvSpPr>
              <p:cNvPr id="19" name="TextBox 18">
                <a:extLst>
                  <a:ext uri="{FF2B5EF4-FFF2-40B4-BE49-F238E27FC236}">
                    <a16:creationId xmlns:a16="http://schemas.microsoft.com/office/drawing/2014/main" id="{4B0B6FF6-6B69-EFBE-9AE5-272E89A175D0}"/>
                  </a:ext>
                </a:extLst>
              </p:cNvPr>
              <p:cNvSpPr txBox="1">
                <a:spLocks noRot="1" noChangeAspect="1" noMove="1" noResize="1" noEditPoints="1" noAdjustHandles="1" noChangeArrowheads="1" noChangeShapeType="1" noTextEdit="1"/>
              </p:cNvSpPr>
              <p:nvPr/>
            </p:nvSpPr>
            <p:spPr>
              <a:xfrm>
                <a:off x="5980826" y="2417717"/>
                <a:ext cx="2977228" cy="1149738"/>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6EE3495-1B34-A351-0654-24F953BFF553}"/>
                  </a:ext>
                </a:extLst>
              </p:cNvPr>
              <p:cNvSpPr txBox="1"/>
              <p:nvPr/>
            </p:nvSpPr>
            <p:spPr>
              <a:xfrm>
                <a:off x="9281143" y="2361941"/>
                <a:ext cx="1645968" cy="498278"/>
              </a:xfrm>
              <a:prstGeom prst="rect">
                <a:avLst/>
              </a:prstGeom>
              <a:noFill/>
            </p:spPr>
            <p:txBody>
              <a:bodyPr wrap="square" lIns="0" tIns="0" rIns="0" bIns="0" rtlCol="0">
                <a:spAutoFit/>
              </a:bodyPr>
              <a:lstStyle/>
              <a:p>
                <a:pPr algn="ctr"/>
                <a14:m>
                  <m:oMath xmlns:m="http://schemas.openxmlformats.org/officeDocument/2006/math">
                    <m:acc>
                      <m:accPr>
                        <m:chr m:val="̂"/>
                        <m:ctrlPr>
                          <a:rPr lang="en-US" b="0" i="1" smtClean="0">
                            <a:solidFill>
                              <a:schemeClr val="tx2"/>
                            </a:solidFill>
                            <a:latin typeface="Cambria Math" panose="02040503050406030204" pitchFamily="18" charset="0"/>
                          </a:rPr>
                        </m:ctrlPr>
                      </m:accPr>
                      <m:e>
                        <m:r>
                          <a:rPr lang="en-US" b="0" i="1" smtClean="0">
                            <a:solidFill>
                              <a:schemeClr val="tx2"/>
                            </a:solidFill>
                            <a:latin typeface="Cambria Math" panose="02040503050406030204" pitchFamily="18" charset="0"/>
                          </a:rPr>
                          <m:t>𝑢</m:t>
                        </m:r>
                      </m:e>
                    </m:acc>
                    <m:d>
                      <m:dPr>
                        <m:ctrlPr>
                          <a:rPr lang="en-US" b="0" i="1" smtClean="0">
                            <a:solidFill>
                              <a:schemeClr val="tx2"/>
                            </a:solidFill>
                            <a:latin typeface="Cambria Math" panose="02040503050406030204" pitchFamily="18" charset="0"/>
                          </a:rPr>
                        </m:ctrlPr>
                      </m:dPr>
                      <m:e>
                        <m:r>
                          <a:rPr lang="en-US" b="0" i="1" smtClean="0">
                            <a:solidFill>
                              <a:schemeClr val="tx2"/>
                            </a:solidFill>
                            <a:latin typeface="Cambria Math" panose="02040503050406030204" pitchFamily="18" charset="0"/>
                          </a:rPr>
                          <m:t>𝑡</m:t>
                        </m:r>
                      </m:e>
                    </m:d>
                    <m:r>
                      <a:rPr lang="en-US" b="0" i="1" smtClean="0">
                        <a:solidFill>
                          <a:schemeClr val="tx2"/>
                        </a:solidFill>
                        <a:latin typeface="Cambria Math" panose="02040503050406030204" pitchFamily="18" charset="0"/>
                      </a:rPr>
                      <m:t>=</m:t>
                    </m:r>
                  </m:oMath>
                </a14:m>
                <a:r>
                  <a:rPr lang="en-US" dirty="0">
                    <a:solidFill>
                      <a:schemeClr val="tx2"/>
                    </a:solidFill>
                  </a:rPr>
                  <a:t> </a:t>
                </a:r>
                <a14:m>
                  <m:oMath xmlns:m="http://schemas.openxmlformats.org/officeDocument/2006/math">
                    <m:f>
                      <m:fPr>
                        <m:ctrlPr>
                          <a:rPr lang="en-US" b="0" i="1" smtClean="0">
                            <a:solidFill>
                              <a:schemeClr val="tx2"/>
                            </a:solidFill>
                            <a:latin typeface="Cambria Math" panose="02040503050406030204" pitchFamily="18" charset="0"/>
                          </a:rPr>
                        </m:ctrlPr>
                      </m:fPr>
                      <m:num>
                        <m:acc>
                          <m:accPr>
                            <m:chr m:val="⃗"/>
                            <m:ctrlPr>
                              <a:rPr lang="en-US" i="1">
                                <a:solidFill>
                                  <a:schemeClr val="tx2"/>
                                </a:solidFill>
                                <a:latin typeface="Cambria Math" panose="02040503050406030204" pitchFamily="18" charset="0"/>
                              </a:rPr>
                            </m:ctrlPr>
                          </m:accPr>
                          <m:e>
                            <m:r>
                              <a:rPr lang="en-US" b="0" i="1" smtClean="0">
                                <a:solidFill>
                                  <a:schemeClr val="tx2"/>
                                </a:solidFill>
                                <a:latin typeface="Cambria Math" panose="02040503050406030204" pitchFamily="18" charset="0"/>
                              </a:rPr>
                              <m:t>𝑅</m:t>
                            </m:r>
                          </m:e>
                        </m:acc>
                        <m:d>
                          <m:dPr>
                            <m:ctrlPr>
                              <a:rPr lang="en-US" i="1">
                                <a:solidFill>
                                  <a:schemeClr val="tx2"/>
                                </a:solidFill>
                                <a:latin typeface="Cambria Math" panose="02040503050406030204" pitchFamily="18" charset="0"/>
                              </a:rPr>
                            </m:ctrlPr>
                          </m:dPr>
                          <m:e>
                            <m:r>
                              <a:rPr lang="en-US" b="0" i="1" smtClean="0">
                                <a:solidFill>
                                  <a:schemeClr val="tx2"/>
                                </a:solidFill>
                                <a:latin typeface="Cambria Math" panose="02040503050406030204" pitchFamily="18" charset="0"/>
                              </a:rPr>
                              <m:t>𝑡</m:t>
                            </m:r>
                          </m:e>
                        </m:d>
                      </m:num>
                      <m:den>
                        <m:d>
                          <m:dPr>
                            <m:begChr m:val="|"/>
                            <m:endChr m:val="|"/>
                            <m:ctrlPr>
                              <a:rPr lang="en-US" i="1" smtClean="0">
                                <a:solidFill>
                                  <a:schemeClr val="tx2"/>
                                </a:solidFill>
                                <a:latin typeface="Cambria Math" panose="02040503050406030204" pitchFamily="18" charset="0"/>
                              </a:rPr>
                            </m:ctrlPr>
                          </m:dPr>
                          <m:e>
                            <m:acc>
                              <m:accPr>
                                <m:chr m:val="⃗"/>
                                <m:ctrlPr>
                                  <a:rPr lang="en-US" i="1">
                                    <a:solidFill>
                                      <a:schemeClr val="tx2"/>
                                    </a:solidFill>
                                    <a:latin typeface="Cambria Math" panose="02040503050406030204" pitchFamily="18" charset="0"/>
                                  </a:rPr>
                                </m:ctrlPr>
                              </m:accPr>
                              <m:e>
                                <m:r>
                                  <a:rPr lang="en-US" b="0" i="1" smtClean="0">
                                    <a:solidFill>
                                      <a:schemeClr val="tx2"/>
                                    </a:solidFill>
                                    <a:latin typeface="Cambria Math" panose="02040503050406030204" pitchFamily="18" charset="0"/>
                                  </a:rPr>
                                  <m:t>𝑅</m:t>
                                </m:r>
                              </m:e>
                            </m:acc>
                            <m:d>
                              <m:dPr>
                                <m:ctrlPr>
                                  <a:rPr lang="en-US" i="1">
                                    <a:solidFill>
                                      <a:schemeClr val="tx2"/>
                                    </a:solidFill>
                                    <a:latin typeface="Cambria Math" panose="02040503050406030204" pitchFamily="18" charset="0"/>
                                  </a:rPr>
                                </m:ctrlPr>
                              </m:dPr>
                              <m:e>
                                <m:r>
                                  <a:rPr lang="en-US" i="1">
                                    <a:solidFill>
                                      <a:schemeClr val="tx2"/>
                                    </a:solidFill>
                                    <a:latin typeface="Cambria Math" panose="02040503050406030204" pitchFamily="18" charset="0"/>
                                  </a:rPr>
                                  <m:t>𝑡</m:t>
                                </m:r>
                              </m:e>
                            </m:d>
                          </m:e>
                        </m:d>
                      </m:den>
                    </m:f>
                  </m:oMath>
                </a14:m>
                <a:endParaRPr lang="en-GB" dirty="0">
                  <a:solidFill>
                    <a:schemeClr val="tx2"/>
                  </a:solidFill>
                </a:endParaRPr>
              </a:p>
            </p:txBody>
          </p:sp>
        </mc:Choice>
        <mc:Fallback xmlns="">
          <p:sp>
            <p:nvSpPr>
              <p:cNvPr id="20" name="TextBox 19">
                <a:extLst>
                  <a:ext uri="{FF2B5EF4-FFF2-40B4-BE49-F238E27FC236}">
                    <a16:creationId xmlns:a16="http://schemas.microsoft.com/office/drawing/2014/main" id="{E6EE3495-1B34-A351-0654-24F953BFF553}"/>
                  </a:ext>
                </a:extLst>
              </p:cNvPr>
              <p:cNvSpPr txBox="1">
                <a:spLocks noRot="1" noChangeAspect="1" noMove="1" noResize="1" noEditPoints="1" noAdjustHandles="1" noChangeArrowheads="1" noChangeShapeType="1" noTextEdit="1"/>
              </p:cNvSpPr>
              <p:nvPr/>
            </p:nvSpPr>
            <p:spPr>
              <a:xfrm>
                <a:off x="9281143" y="2361941"/>
                <a:ext cx="1645968" cy="498278"/>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67B6A6E-CB09-CA04-C3DC-3CE187E5E5EC}"/>
                  </a:ext>
                </a:extLst>
              </p:cNvPr>
              <p:cNvSpPr txBox="1"/>
              <p:nvPr/>
            </p:nvSpPr>
            <p:spPr>
              <a:xfrm>
                <a:off x="9285710" y="3076615"/>
                <a:ext cx="1682750" cy="42518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tx2"/>
                          </a:solidFill>
                          <a:latin typeface="Cambria Math" panose="02040503050406030204" pitchFamily="18" charset="0"/>
                        </a:rPr>
                        <m:t>𝜃</m:t>
                      </m:r>
                      <m:d>
                        <m:dPr>
                          <m:ctrlPr>
                            <a:rPr lang="en-US" b="0" i="1" smtClean="0">
                              <a:solidFill>
                                <a:schemeClr val="tx2"/>
                              </a:solidFill>
                              <a:latin typeface="Cambria Math" panose="02040503050406030204" pitchFamily="18" charset="0"/>
                            </a:rPr>
                          </m:ctrlPr>
                        </m:dPr>
                        <m:e>
                          <m:r>
                            <a:rPr lang="en-US" b="0" i="1" smtClean="0">
                              <a:solidFill>
                                <a:schemeClr val="tx2"/>
                              </a:solidFill>
                              <a:latin typeface="Cambria Math" panose="02040503050406030204" pitchFamily="18" charset="0"/>
                            </a:rPr>
                            <m:t>𝑡</m:t>
                          </m:r>
                        </m:e>
                      </m:d>
                      <m:r>
                        <a:rPr lang="en-US" b="0" i="1" smtClean="0">
                          <a:solidFill>
                            <a:schemeClr val="tx2"/>
                          </a:solidFill>
                          <a:latin typeface="Cambria Math" panose="02040503050406030204" pitchFamily="18" charset="0"/>
                        </a:rPr>
                        <m:t>=</m:t>
                      </m:r>
                      <m:d>
                        <m:dPr>
                          <m:begChr m:val="|"/>
                          <m:endChr m:val="|"/>
                          <m:ctrlPr>
                            <a:rPr lang="en-US" b="0" i="1" smtClean="0">
                              <a:solidFill>
                                <a:schemeClr val="tx2"/>
                              </a:solidFill>
                              <a:latin typeface="Cambria Math" panose="02040503050406030204" pitchFamily="18" charset="0"/>
                            </a:rPr>
                          </m:ctrlPr>
                        </m:dPr>
                        <m:e>
                          <m:acc>
                            <m:accPr>
                              <m:chr m:val="⃗"/>
                              <m:ctrlPr>
                                <a:rPr lang="en-US" i="1">
                                  <a:solidFill>
                                    <a:schemeClr val="tx2"/>
                                  </a:solidFill>
                                  <a:latin typeface="Cambria Math" panose="02040503050406030204" pitchFamily="18" charset="0"/>
                                </a:rPr>
                              </m:ctrlPr>
                            </m:accPr>
                            <m:e>
                              <m:r>
                                <a:rPr lang="en-US" b="0" i="1" smtClean="0">
                                  <a:solidFill>
                                    <a:schemeClr val="tx2"/>
                                  </a:solidFill>
                                  <a:latin typeface="Cambria Math" panose="02040503050406030204" pitchFamily="18" charset="0"/>
                                </a:rPr>
                                <m:t>𝑅</m:t>
                              </m:r>
                            </m:e>
                          </m:acc>
                          <m:d>
                            <m:dPr>
                              <m:ctrlPr>
                                <a:rPr lang="en-US" i="1">
                                  <a:solidFill>
                                    <a:schemeClr val="tx2"/>
                                  </a:solidFill>
                                  <a:latin typeface="Cambria Math" panose="02040503050406030204" pitchFamily="18" charset="0"/>
                                </a:rPr>
                              </m:ctrlPr>
                            </m:dPr>
                            <m:e>
                              <m:r>
                                <a:rPr lang="en-US" i="1">
                                  <a:solidFill>
                                    <a:schemeClr val="tx2"/>
                                  </a:solidFill>
                                  <a:latin typeface="Cambria Math" panose="02040503050406030204" pitchFamily="18" charset="0"/>
                                </a:rPr>
                                <m:t>𝑡</m:t>
                              </m:r>
                            </m:e>
                          </m:d>
                        </m:e>
                      </m:d>
                    </m:oMath>
                  </m:oMathPara>
                </a14:m>
                <a:endParaRPr lang="en-GB" dirty="0"/>
              </a:p>
            </p:txBody>
          </p:sp>
        </mc:Choice>
        <mc:Fallback xmlns="">
          <p:sp>
            <p:nvSpPr>
              <p:cNvPr id="22" name="TextBox 21">
                <a:extLst>
                  <a:ext uri="{FF2B5EF4-FFF2-40B4-BE49-F238E27FC236}">
                    <a16:creationId xmlns:a16="http://schemas.microsoft.com/office/drawing/2014/main" id="{467B6A6E-CB09-CA04-C3DC-3CE187E5E5EC}"/>
                  </a:ext>
                </a:extLst>
              </p:cNvPr>
              <p:cNvSpPr txBox="1">
                <a:spLocks noRot="1" noChangeAspect="1" noMove="1" noResize="1" noEditPoints="1" noAdjustHandles="1" noChangeArrowheads="1" noChangeShapeType="1" noTextEdit="1"/>
              </p:cNvSpPr>
              <p:nvPr/>
            </p:nvSpPr>
            <p:spPr>
              <a:xfrm>
                <a:off x="9285710" y="3076615"/>
                <a:ext cx="1682750" cy="425181"/>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0182CAC-90A8-A165-F267-393B6085B94E}"/>
                  </a:ext>
                </a:extLst>
              </p:cNvPr>
              <p:cNvSpPr txBox="1"/>
              <p:nvPr/>
            </p:nvSpPr>
            <p:spPr>
              <a:xfrm>
                <a:off x="7835718" y="4572297"/>
                <a:ext cx="1645968" cy="578428"/>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b="0" i="1" smtClean="0">
                          <a:solidFill>
                            <a:schemeClr val="tx2"/>
                          </a:solidFill>
                          <a:latin typeface="Cambria Math" panose="02040503050406030204" pitchFamily="18" charset="0"/>
                        </a:rPr>
                        <m:t>𝑥</m:t>
                      </m:r>
                      <m:r>
                        <a:rPr lang="en-US" b="0" i="1" smtClean="0">
                          <a:solidFill>
                            <a:schemeClr val="tx2"/>
                          </a:solidFill>
                          <a:latin typeface="Cambria Math" panose="02040503050406030204" pitchFamily="18" charset="0"/>
                        </a:rPr>
                        <m:t>=</m:t>
                      </m:r>
                      <m:f>
                        <m:fPr>
                          <m:ctrlPr>
                            <a:rPr lang="en-US" b="0" i="1" smtClean="0">
                              <a:solidFill>
                                <a:schemeClr val="tx2"/>
                              </a:solidFill>
                              <a:latin typeface="Cambria Math" panose="02040503050406030204" pitchFamily="18" charset="0"/>
                            </a:rPr>
                          </m:ctrlPr>
                        </m:fPr>
                        <m:num>
                          <m:r>
                            <a:rPr lang="en-US" b="0" i="1" smtClean="0">
                              <a:solidFill>
                                <a:schemeClr val="tx2"/>
                              </a:solidFill>
                              <a:latin typeface="Cambria Math" panose="02040503050406030204" pitchFamily="18" charset="0"/>
                            </a:rPr>
                            <m:t>𝑡</m:t>
                          </m:r>
                          <m:r>
                            <a:rPr lang="en-US" b="0" i="1" smtClean="0">
                              <a:solidFill>
                                <a:schemeClr val="tx2"/>
                              </a:solidFill>
                              <a:latin typeface="Cambria Math" panose="02040503050406030204" pitchFamily="18" charset="0"/>
                            </a:rPr>
                            <m:t>−</m:t>
                          </m:r>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𝑡</m:t>
                              </m:r>
                            </m:e>
                            <m:sub>
                              <m:r>
                                <a:rPr lang="en-US" b="0" i="1" smtClean="0">
                                  <a:solidFill>
                                    <a:schemeClr val="tx2"/>
                                  </a:solidFill>
                                  <a:latin typeface="Cambria Math" panose="02040503050406030204" pitchFamily="18" charset="0"/>
                                </a:rPr>
                                <m:t>𝑖</m:t>
                              </m:r>
                            </m:sub>
                          </m:sSub>
                        </m:num>
                        <m:den>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𝑡</m:t>
                              </m:r>
                            </m:e>
                            <m:sub>
                              <m:r>
                                <a:rPr lang="en-US" b="0" i="1" smtClean="0">
                                  <a:solidFill>
                                    <a:schemeClr val="tx2"/>
                                  </a:solidFill>
                                  <a:latin typeface="Cambria Math" panose="02040503050406030204" pitchFamily="18" charset="0"/>
                                </a:rPr>
                                <m:t>𝑓</m:t>
                              </m:r>
                            </m:sub>
                          </m:sSub>
                          <m:r>
                            <a:rPr lang="en-US" b="0" i="1" smtClean="0">
                              <a:solidFill>
                                <a:schemeClr val="tx2"/>
                              </a:solidFill>
                              <a:latin typeface="Cambria Math" panose="02040503050406030204" pitchFamily="18" charset="0"/>
                            </a:rPr>
                            <m:t>−</m:t>
                          </m:r>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𝑡</m:t>
                              </m:r>
                            </m:e>
                            <m:sub>
                              <m:r>
                                <a:rPr lang="en-US" b="0" i="1" smtClean="0">
                                  <a:solidFill>
                                    <a:schemeClr val="tx2"/>
                                  </a:solidFill>
                                  <a:latin typeface="Cambria Math" panose="02040503050406030204" pitchFamily="18" charset="0"/>
                                </a:rPr>
                                <m:t>𝑖</m:t>
                              </m:r>
                            </m:sub>
                          </m:sSub>
                        </m:den>
                      </m:f>
                    </m:oMath>
                  </m:oMathPara>
                </a14:m>
                <a:endParaRPr lang="en-GB" dirty="0">
                  <a:solidFill>
                    <a:schemeClr val="tx2"/>
                  </a:solidFill>
                </a:endParaRPr>
              </a:p>
            </p:txBody>
          </p:sp>
        </mc:Choice>
        <mc:Fallback xmlns="">
          <p:sp>
            <p:nvSpPr>
              <p:cNvPr id="8" name="TextBox 7">
                <a:extLst>
                  <a:ext uri="{FF2B5EF4-FFF2-40B4-BE49-F238E27FC236}">
                    <a16:creationId xmlns:a16="http://schemas.microsoft.com/office/drawing/2014/main" id="{B0182CAC-90A8-A165-F267-393B6085B94E}"/>
                  </a:ext>
                </a:extLst>
              </p:cNvPr>
              <p:cNvSpPr txBox="1">
                <a:spLocks noRot="1" noChangeAspect="1" noMove="1" noResize="1" noEditPoints="1" noAdjustHandles="1" noChangeArrowheads="1" noChangeShapeType="1" noTextEdit="1"/>
              </p:cNvSpPr>
              <p:nvPr/>
            </p:nvSpPr>
            <p:spPr>
              <a:xfrm>
                <a:off x="7835718" y="4572297"/>
                <a:ext cx="1645968" cy="578428"/>
              </a:xfrm>
              <a:prstGeom prst="rect">
                <a:avLst/>
              </a:prstGeom>
              <a:blipFill>
                <a:blip r:embed="rId8"/>
                <a:stretch>
                  <a:fillRect/>
                </a:stretch>
              </a:blipFill>
            </p:spPr>
            <p:txBody>
              <a:bodyPr/>
              <a:lstStyle/>
              <a:p>
                <a:r>
                  <a:rPr lang="en-GB">
                    <a:noFill/>
                  </a:rPr>
                  <a:t> </a:t>
                </a:r>
              </a:p>
            </p:txBody>
          </p:sp>
        </mc:Fallback>
      </mc:AlternateContent>
      <p:grpSp>
        <p:nvGrpSpPr>
          <p:cNvPr id="34" name="Group 33">
            <a:extLst>
              <a:ext uri="{FF2B5EF4-FFF2-40B4-BE49-F238E27FC236}">
                <a16:creationId xmlns:a16="http://schemas.microsoft.com/office/drawing/2014/main" id="{66AD7908-EC87-979D-8224-476061443C2C}"/>
              </a:ext>
            </a:extLst>
          </p:cNvPr>
          <p:cNvGrpSpPr/>
          <p:nvPr/>
        </p:nvGrpSpPr>
        <p:grpSpPr>
          <a:xfrm rot="18885688">
            <a:off x="3519256" y="2299452"/>
            <a:ext cx="1021929" cy="1522466"/>
            <a:chOff x="1071439" y="1596445"/>
            <a:chExt cx="1021929" cy="1522466"/>
          </a:xfrm>
        </p:grpSpPr>
        <p:cxnSp>
          <p:nvCxnSpPr>
            <p:cNvPr id="35" name="Straight Arrow Connector 34">
              <a:extLst>
                <a:ext uri="{FF2B5EF4-FFF2-40B4-BE49-F238E27FC236}">
                  <a16:creationId xmlns:a16="http://schemas.microsoft.com/office/drawing/2014/main" id="{7F24CFEC-523F-1824-7A2F-3737B7E50BB2}"/>
                </a:ext>
              </a:extLst>
            </p:cNvPr>
            <p:cNvCxnSpPr>
              <a:cxnSpLocks/>
            </p:cNvCxnSpPr>
            <p:nvPr/>
          </p:nvCxnSpPr>
          <p:spPr>
            <a:xfrm flipH="1">
              <a:off x="1628009" y="2600340"/>
              <a:ext cx="460955" cy="51857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E5C3EC1-D8CA-486E-EF6C-66950071213E}"/>
                </a:ext>
              </a:extLst>
            </p:cNvPr>
            <p:cNvCxnSpPr/>
            <p:nvPr/>
          </p:nvCxnSpPr>
          <p:spPr>
            <a:xfrm flipV="1">
              <a:off x="2088964" y="1596445"/>
              <a:ext cx="0" cy="101438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E2A5D2A1-B7B3-ABF2-86B3-85A06B2F5E6C}"/>
                </a:ext>
              </a:extLst>
            </p:cNvPr>
            <p:cNvCxnSpPr>
              <a:cxnSpLocks/>
            </p:cNvCxnSpPr>
            <p:nvPr/>
          </p:nvCxnSpPr>
          <p:spPr>
            <a:xfrm flipH="1">
              <a:off x="1071439" y="2600340"/>
              <a:ext cx="102192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9AEE5341-CAC1-2D4F-A6E0-57535B587249}"/>
              </a:ext>
            </a:extLst>
          </p:cNvPr>
          <p:cNvGrpSpPr/>
          <p:nvPr/>
        </p:nvGrpSpPr>
        <p:grpSpPr>
          <a:xfrm>
            <a:off x="1695692" y="2933394"/>
            <a:ext cx="1021929" cy="1522466"/>
            <a:chOff x="1071439" y="1596445"/>
            <a:chExt cx="1021929" cy="1522466"/>
          </a:xfrm>
        </p:grpSpPr>
        <p:cxnSp>
          <p:nvCxnSpPr>
            <p:cNvPr id="39" name="Straight Arrow Connector 38">
              <a:extLst>
                <a:ext uri="{FF2B5EF4-FFF2-40B4-BE49-F238E27FC236}">
                  <a16:creationId xmlns:a16="http://schemas.microsoft.com/office/drawing/2014/main" id="{CE0E9E77-4999-3963-30B4-C6E0AF64C58C}"/>
                </a:ext>
              </a:extLst>
            </p:cNvPr>
            <p:cNvCxnSpPr>
              <a:cxnSpLocks/>
            </p:cNvCxnSpPr>
            <p:nvPr/>
          </p:nvCxnSpPr>
          <p:spPr>
            <a:xfrm flipH="1">
              <a:off x="1628009" y="2600340"/>
              <a:ext cx="460955" cy="51857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5DB32C2-A089-ADAD-5C9A-01387E4D77D7}"/>
                </a:ext>
              </a:extLst>
            </p:cNvPr>
            <p:cNvCxnSpPr/>
            <p:nvPr/>
          </p:nvCxnSpPr>
          <p:spPr>
            <a:xfrm flipV="1">
              <a:off x="2088964" y="1596445"/>
              <a:ext cx="0" cy="101438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742C704-0C7A-CFBE-31CE-9855B6D8B130}"/>
                </a:ext>
              </a:extLst>
            </p:cNvPr>
            <p:cNvCxnSpPr>
              <a:cxnSpLocks/>
            </p:cNvCxnSpPr>
            <p:nvPr/>
          </p:nvCxnSpPr>
          <p:spPr>
            <a:xfrm flipH="1">
              <a:off x="1071439" y="2600340"/>
              <a:ext cx="102192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42" name="Arrow: Curved Down 41">
            <a:extLst>
              <a:ext uri="{FF2B5EF4-FFF2-40B4-BE49-F238E27FC236}">
                <a16:creationId xmlns:a16="http://schemas.microsoft.com/office/drawing/2014/main" id="{99ED225E-8528-79B2-A287-CB2865CA9C15}"/>
              </a:ext>
            </a:extLst>
          </p:cNvPr>
          <p:cNvSpPr/>
          <p:nvPr/>
        </p:nvSpPr>
        <p:spPr>
          <a:xfrm rot="19977682" flipV="1">
            <a:off x="2878089" y="3405434"/>
            <a:ext cx="2319071" cy="1092550"/>
          </a:xfrm>
          <a:prstGeom prst="curvedDownArrow">
            <a:avLst>
              <a:gd name="adj1" fmla="val 0"/>
              <a:gd name="adj2" fmla="val 21287"/>
              <a:gd name="adj3" fmla="val 11700"/>
            </a:avLst>
          </a:prstGeom>
          <a:solidFill>
            <a:srgbClr val="000000"/>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CB868ED6-11AA-11BE-8781-272BCBC9E0A4}"/>
                  </a:ext>
                </a:extLst>
              </p:cNvPr>
              <p:cNvSpPr txBox="1"/>
              <p:nvPr/>
            </p:nvSpPr>
            <p:spPr>
              <a:xfrm>
                <a:off x="4116388" y="4537509"/>
                <a:ext cx="542760"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m:rPr>
                          <m:sty m:val="p"/>
                        </m:rPr>
                        <a:rPr lang="en-US" b="0" i="0" smtClean="0">
                          <a:solidFill>
                            <a:schemeClr val="tx2"/>
                          </a:solidFill>
                          <a:latin typeface="Cambria Math" panose="02040503050406030204" pitchFamily="18" charset="0"/>
                        </a:rPr>
                        <m:t>Δ</m:t>
                      </m:r>
                      <m:r>
                        <a:rPr lang="en-US" b="0" i="1" smtClean="0">
                          <a:solidFill>
                            <a:schemeClr val="tx2"/>
                          </a:solidFill>
                          <a:latin typeface="Cambria Math" panose="02040503050406030204" pitchFamily="18" charset="0"/>
                        </a:rPr>
                        <m:t>𝑞</m:t>
                      </m:r>
                      <m:r>
                        <a:rPr lang="en-US" b="0" i="1" smtClean="0">
                          <a:solidFill>
                            <a:schemeClr val="tx2"/>
                          </a:solidFill>
                          <a:latin typeface="Cambria Math" panose="02040503050406030204" pitchFamily="18" charset="0"/>
                        </a:rPr>
                        <m:t>(</m:t>
                      </m:r>
                      <m:r>
                        <a:rPr lang="en-US" b="0" i="1" smtClean="0">
                          <a:solidFill>
                            <a:schemeClr val="tx2"/>
                          </a:solidFill>
                          <a:latin typeface="Cambria Math" panose="02040503050406030204" pitchFamily="18" charset="0"/>
                        </a:rPr>
                        <m:t>𝑡</m:t>
                      </m:r>
                      <m:r>
                        <a:rPr lang="en-US" b="0" i="1" smtClean="0">
                          <a:solidFill>
                            <a:schemeClr val="tx2"/>
                          </a:solidFill>
                          <a:latin typeface="Cambria Math" panose="02040503050406030204" pitchFamily="18" charset="0"/>
                        </a:rPr>
                        <m:t>)</m:t>
                      </m:r>
                    </m:oMath>
                  </m:oMathPara>
                </a14:m>
                <a:endParaRPr lang="en-GB" dirty="0">
                  <a:solidFill>
                    <a:schemeClr val="tx2"/>
                  </a:solidFill>
                </a:endParaRPr>
              </a:p>
            </p:txBody>
          </p:sp>
        </mc:Choice>
        <mc:Fallback xmlns="">
          <p:sp>
            <p:nvSpPr>
              <p:cNvPr id="43" name="TextBox 42">
                <a:extLst>
                  <a:ext uri="{FF2B5EF4-FFF2-40B4-BE49-F238E27FC236}">
                    <a16:creationId xmlns:a16="http://schemas.microsoft.com/office/drawing/2014/main" id="{CB868ED6-11AA-11BE-8781-272BCBC9E0A4}"/>
                  </a:ext>
                </a:extLst>
              </p:cNvPr>
              <p:cNvSpPr txBox="1">
                <a:spLocks noRot="1" noChangeAspect="1" noMove="1" noResize="1" noEditPoints="1" noAdjustHandles="1" noChangeArrowheads="1" noChangeShapeType="1" noTextEdit="1"/>
              </p:cNvSpPr>
              <p:nvPr/>
            </p:nvSpPr>
            <p:spPr>
              <a:xfrm>
                <a:off x="4116388" y="4537509"/>
                <a:ext cx="542760" cy="276999"/>
              </a:xfrm>
              <a:prstGeom prst="rect">
                <a:avLst/>
              </a:prstGeom>
              <a:blipFill>
                <a:blip r:embed="rId9"/>
                <a:stretch>
                  <a:fillRect l="-14607" r="-22472" b="-3478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BA6E8D8-6B37-E01D-8DC7-F10F38D122DD}"/>
                  </a:ext>
                </a:extLst>
              </p:cNvPr>
              <p:cNvSpPr txBox="1"/>
              <p:nvPr/>
            </p:nvSpPr>
            <p:spPr>
              <a:xfrm>
                <a:off x="2261040" y="3594365"/>
                <a:ext cx="542760"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𝑞</m:t>
                          </m:r>
                        </m:e>
                        <m:sub>
                          <m:r>
                            <a:rPr lang="en-US" b="0" i="1" smtClean="0">
                              <a:solidFill>
                                <a:schemeClr val="tx2"/>
                              </a:solidFill>
                              <a:latin typeface="Cambria Math" panose="02040503050406030204" pitchFamily="18" charset="0"/>
                            </a:rPr>
                            <m:t>𝑖</m:t>
                          </m:r>
                        </m:sub>
                      </m:sSub>
                    </m:oMath>
                  </m:oMathPara>
                </a14:m>
                <a:endParaRPr lang="en-GB" dirty="0">
                  <a:solidFill>
                    <a:schemeClr val="tx2"/>
                  </a:solidFill>
                </a:endParaRPr>
              </a:p>
            </p:txBody>
          </p:sp>
        </mc:Choice>
        <mc:Fallback xmlns="">
          <p:sp>
            <p:nvSpPr>
              <p:cNvPr id="44" name="TextBox 43">
                <a:extLst>
                  <a:ext uri="{FF2B5EF4-FFF2-40B4-BE49-F238E27FC236}">
                    <a16:creationId xmlns:a16="http://schemas.microsoft.com/office/drawing/2014/main" id="{1BA6E8D8-6B37-E01D-8DC7-F10F38D122DD}"/>
                  </a:ext>
                </a:extLst>
              </p:cNvPr>
              <p:cNvSpPr txBox="1">
                <a:spLocks noRot="1" noChangeAspect="1" noMove="1" noResize="1" noEditPoints="1" noAdjustHandles="1" noChangeArrowheads="1" noChangeShapeType="1" noTextEdit="1"/>
              </p:cNvSpPr>
              <p:nvPr/>
            </p:nvSpPr>
            <p:spPr>
              <a:xfrm>
                <a:off x="2261040" y="3594365"/>
                <a:ext cx="542760" cy="276999"/>
              </a:xfrm>
              <a:prstGeom prst="rect">
                <a:avLst/>
              </a:prstGeom>
              <a:blipFill>
                <a:blip r:embed="rId10"/>
                <a:stretch>
                  <a:fillRect b="-2888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DB5228D7-4DA2-61DB-46C4-3CC8CC2D7CE4}"/>
                  </a:ext>
                </a:extLst>
              </p:cNvPr>
              <p:cNvSpPr txBox="1"/>
              <p:nvPr/>
            </p:nvSpPr>
            <p:spPr>
              <a:xfrm>
                <a:off x="3963254" y="2676973"/>
                <a:ext cx="542760"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a:rPr lang="en-US" b="0" i="1" smtClean="0">
                          <a:solidFill>
                            <a:schemeClr val="tx2"/>
                          </a:solidFill>
                          <a:latin typeface="Cambria Math" panose="02040503050406030204" pitchFamily="18" charset="0"/>
                        </a:rPr>
                        <m:t>𝑞</m:t>
                      </m:r>
                      <m:r>
                        <a:rPr lang="en-US" b="0" i="1" smtClean="0">
                          <a:solidFill>
                            <a:schemeClr val="tx2"/>
                          </a:solidFill>
                          <a:latin typeface="Cambria Math" panose="02040503050406030204" pitchFamily="18" charset="0"/>
                        </a:rPr>
                        <m:t>(</m:t>
                      </m:r>
                      <m:r>
                        <a:rPr lang="en-US" b="0" i="1" smtClean="0">
                          <a:solidFill>
                            <a:schemeClr val="tx2"/>
                          </a:solidFill>
                          <a:latin typeface="Cambria Math" panose="02040503050406030204" pitchFamily="18" charset="0"/>
                        </a:rPr>
                        <m:t>𝑡</m:t>
                      </m:r>
                      <m:r>
                        <a:rPr lang="en-US" b="0" i="1" smtClean="0">
                          <a:solidFill>
                            <a:schemeClr val="tx2"/>
                          </a:solidFill>
                          <a:latin typeface="Cambria Math" panose="02040503050406030204" pitchFamily="18" charset="0"/>
                        </a:rPr>
                        <m:t>)</m:t>
                      </m:r>
                    </m:oMath>
                  </m:oMathPara>
                </a14:m>
                <a:endParaRPr lang="en-GB" dirty="0">
                  <a:solidFill>
                    <a:schemeClr val="tx2"/>
                  </a:solidFill>
                </a:endParaRPr>
              </a:p>
            </p:txBody>
          </p:sp>
        </mc:Choice>
        <mc:Fallback xmlns="">
          <p:sp>
            <p:nvSpPr>
              <p:cNvPr id="45" name="TextBox 44">
                <a:extLst>
                  <a:ext uri="{FF2B5EF4-FFF2-40B4-BE49-F238E27FC236}">
                    <a16:creationId xmlns:a16="http://schemas.microsoft.com/office/drawing/2014/main" id="{DB5228D7-4DA2-61DB-46C4-3CC8CC2D7CE4}"/>
                  </a:ext>
                </a:extLst>
              </p:cNvPr>
              <p:cNvSpPr txBox="1">
                <a:spLocks noRot="1" noChangeAspect="1" noMove="1" noResize="1" noEditPoints="1" noAdjustHandles="1" noChangeArrowheads="1" noChangeShapeType="1" noTextEdit="1"/>
              </p:cNvSpPr>
              <p:nvPr/>
            </p:nvSpPr>
            <p:spPr>
              <a:xfrm>
                <a:off x="3963254" y="2676973"/>
                <a:ext cx="542760" cy="276999"/>
              </a:xfrm>
              <a:prstGeom prst="rect">
                <a:avLst/>
              </a:prstGeom>
              <a:blipFill>
                <a:blip r:embed="rId11"/>
                <a:stretch>
                  <a:fillRect l="-4494" r="-8989" b="-34783"/>
                </a:stretch>
              </a:blipFill>
            </p:spPr>
            <p:txBody>
              <a:bodyPr/>
              <a:lstStyle/>
              <a:p>
                <a:r>
                  <a:rPr lang="en-GB">
                    <a:noFill/>
                  </a:rPr>
                  <a:t> </a:t>
                </a:r>
              </a:p>
            </p:txBody>
          </p:sp>
        </mc:Fallback>
      </mc:AlternateContent>
      <p:grpSp>
        <p:nvGrpSpPr>
          <p:cNvPr id="46" name="Group 45">
            <a:extLst>
              <a:ext uri="{FF2B5EF4-FFF2-40B4-BE49-F238E27FC236}">
                <a16:creationId xmlns:a16="http://schemas.microsoft.com/office/drawing/2014/main" id="{A1558A82-1569-4936-36ED-C0E86C65234F}"/>
              </a:ext>
            </a:extLst>
          </p:cNvPr>
          <p:cNvGrpSpPr/>
          <p:nvPr/>
        </p:nvGrpSpPr>
        <p:grpSpPr>
          <a:xfrm>
            <a:off x="3509556" y="3766599"/>
            <a:ext cx="725078" cy="1013921"/>
            <a:chOff x="7567275" y="4676008"/>
            <a:chExt cx="725078" cy="1013921"/>
          </a:xfrm>
        </p:grpSpPr>
        <p:grpSp>
          <p:nvGrpSpPr>
            <p:cNvPr id="47" name="Group 46">
              <a:extLst>
                <a:ext uri="{FF2B5EF4-FFF2-40B4-BE49-F238E27FC236}">
                  <a16:creationId xmlns:a16="http://schemas.microsoft.com/office/drawing/2014/main" id="{4EB8CAA1-5CC7-5B63-2602-CDDF149E71A0}"/>
                </a:ext>
              </a:extLst>
            </p:cNvPr>
            <p:cNvGrpSpPr/>
            <p:nvPr/>
          </p:nvGrpSpPr>
          <p:grpSpPr>
            <a:xfrm>
              <a:off x="7594476" y="4704397"/>
              <a:ext cx="697877" cy="985532"/>
              <a:chOff x="7594476" y="4704397"/>
              <a:chExt cx="697877" cy="985532"/>
            </a:xfrm>
          </p:grpSpPr>
          <p:cxnSp>
            <p:nvCxnSpPr>
              <p:cNvPr id="52" name="Straight Arrow Connector 51">
                <a:extLst>
                  <a:ext uri="{FF2B5EF4-FFF2-40B4-BE49-F238E27FC236}">
                    <a16:creationId xmlns:a16="http://schemas.microsoft.com/office/drawing/2014/main" id="{B032719D-67D3-AE35-638D-748FBAEFB977}"/>
                  </a:ext>
                </a:extLst>
              </p:cNvPr>
              <p:cNvCxnSpPr>
                <a:cxnSpLocks/>
              </p:cNvCxnSpPr>
              <p:nvPr/>
            </p:nvCxnSpPr>
            <p:spPr>
              <a:xfrm flipH="1">
                <a:off x="7974559" y="5354244"/>
                <a:ext cx="314787" cy="33568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C9EE803C-0574-0495-0CB5-433D7FC8A75D}"/>
                  </a:ext>
                </a:extLst>
              </p:cNvPr>
              <p:cNvCxnSpPr/>
              <p:nvPr/>
            </p:nvCxnSpPr>
            <p:spPr>
              <a:xfrm flipV="1">
                <a:off x="8289346" y="4704397"/>
                <a:ext cx="0" cy="656641"/>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C2D3758C-B154-A6A8-2AC8-BE01F0363DD0}"/>
                  </a:ext>
                </a:extLst>
              </p:cNvPr>
              <p:cNvCxnSpPr>
                <a:cxnSpLocks/>
              </p:cNvCxnSpPr>
              <p:nvPr/>
            </p:nvCxnSpPr>
            <p:spPr>
              <a:xfrm flipH="1">
                <a:off x="7594476" y="5354244"/>
                <a:ext cx="697877"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8" name="Straight Arrow Connector 47">
              <a:extLst>
                <a:ext uri="{FF2B5EF4-FFF2-40B4-BE49-F238E27FC236}">
                  <a16:creationId xmlns:a16="http://schemas.microsoft.com/office/drawing/2014/main" id="{A6147BEE-A324-7FF7-ACA9-15D16B2ABA17}"/>
                </a:ext>
              </a:extLst>
            </p:cNvPr>
            <p:cNvCxnSpPr>
              <a:cxnSpLocks/>
            </p:cNvCxnSpPr>
            <p:nvPr/>
          </p:nvCxnSpPr>
          <p:spPr>
            <a:xfrm flipH="1" flipV="1">
              <a:off x="7812264" y="4878732"/>
              <a:ext cx="480089" cy="475512"/>
            </a:xfrm>
            <a:prstGeom prst="straightConnector1">
              <a:avLst/>
            </a:prstGeom>
            <a:ln w="38100">
              <a:solidFill>
                <a:srgbClr val="2F2F2F"/>
              </a:solidFill>
              <a:tailEnd type="triangle"/>
            </a:ln>
          </p:spPr>
          <p:style>
            <a:lnRef idx="1">
              <a:schemeClr val="accent1"/>
            </a:lnRef>
            <a:fillRef idx="0">
              <a:schemeClr val="accent1"/>
            </a:fillRef>
            <a:effectRef idx="0">
              <a:schemeClr val="accent1"/>
            </a:effectRef>
            <a:fontRef idx="minor">
              <a:schemeClr val="tx1"/>
            </a:fontRef>
          </p:style>
        </p:cxnSp>
        <p:sp>
          <p:nvSpPr>
            <p:cNvPr id="49" name="Arrow: Curved Down 48">
              <a:extLst>
                <a:ext uri="{FF2B5EF4-FFF2-40B4-BE49-F238E27FC236}">
                  <a16:creationId xmlns:a16="http://schemas.microsoft.com/office/drawing/2014/main" id="{A0B827BF-E87B-F2CB-2CD7-0D6894D9288A}"/>
                </a:ext>
              </a:extLst>
            </p:cNvPr>
            <p:cNvSpPr/>
            <p:nvPr/>
          </p:nvSpPr>
          <p:spPr>
            <a:xfrm rot="18656914" flipV="1">
              <a:off x="7917884" y="5067192"/>
              <a:ext cx="265843" cy="98593"/>
            </a:xfrm>
            <a:prstGeom prst="curvedDown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7A5E3F46-F8CF-3258-B857-453F6A76117F}"/>
                    </a:ext>
                  </a:extLst>
                </p:cNvPr>
                <p:cNvSpPr txBox="1"/>
                <p:nvPr/>
              </p:nvSpPr>
              <p:spPr>
                <a:xfrm>
                  <a:off x="7932435" y="4742574"/>
                  <a:ext cx="269594"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tx2"/>
                            </a:solidFill>
                            <a:latin typeface="Cambria Math" panose="02040503050406030204" pitchFamily="18" charset="0"/>
                          </a:rPr>
                          <m:t>𝜃</m:t>
                        </m:r>
                      </m:oMath>
                    </m:oMathPara>
                  </a14:m>
                  <a:endParaRPr lang="en-GB" sz="1400" dirty="0">
                    <a:solidFill>
                      <a:schemeClr val="tx2"/>
                    </a:solidFill>
                  </a:endParaRPr>
                </a:p>
              </p:txBody>
            </p:sp>
          </mc:Choice>
          <mc:Fallback xmlns="">
            <p:sp>
              <p:nvSpPr>
                <p:cNvPr id="50" name="TextBox 49">
                  <a:extLst>
                    <a:ext uri="{FF2B5EF4-FFF2-40B4-BE49-F238E27FC236}">
                      <a16:creationId xmlns:a16="http://schemas.microsoft.com/office/drawing/2014/main" id="{7A5E3F46-F8CF-3258-B857-453F6A76117F}"/>
                    </a:ext>
                  </a:extLst>
                </p:cNvPr>
                <p:cNvSpPr txBox="1">
                  <a:spLocks noRot="1" noChangeAspect="1" noMove="1" noResize="1" noEditPoints="1" noAdjustHandles="1" noChangeArrowheads="1" noChangeShapeType="1" noTextEdit="1"/>
                </p:cNvSpPr>
                <p:nvPr/>
              </p:nvSpPr>
              <p:spPr>
                <a:xfrm>
                  <a:off x="7932435" y="4742574"/>
                  <a:ext cx="269594" cy="307777"/>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E6FB8CAB-6245-E0BB-64CD-6E56635AFB38}"/>
                    </a:ext>
                  </a:extLst>
                </p:cNvPr>
                <p:cNvSpPr txBox="1"/>
                <p:nvPr/>
              </p:nvSpPr>
              <p:spPr>
                <a:xfrm>
                  <a:off x="7567275" y="4676008"/>
                  <a:ext cx="33397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sz="1400" i="1" smtClean="0">
                                <a:solidFill>
                                  <a:schemeClr val="tx2"/>
                                </a:solidFill>
                                <a:latin typeface="Cambria Math" panose="02040503050406030204" pitchFamily="18" charset="0"/>
                              </a:rPr>
                            </m:ctrlPr>
                          </m:accPr>
                          <m:e>
                            <m:r>
                              <a:rPr lang="en-US" sz="1400" b="0" i="1" smtClean="0">
                                <a:solidFill>
                                  <a:schemeClr val="tx2"/>
                                </a:solidFill>
                                <a:latin typeface="Cambria Math" panose="02040503050406030204" pitchFamily="18" charset="0"/>
                              </a:rPr>
                              <m:t>𝑢</m:t>
                            </m:r>
                          </m:e>
                        </m:acc>
                      </m:oMath>
                    </m:oMathPara>
                  </a14:m>
                  <a:endParaRPr lang="en-GB" sz="1400" dirty="0">
                    <a:solidFill>
                      <a:schemeClr val="tx2"/>
                    </a:solidFill>
                  </a:endParaRPr>
                </a:p>
              </p:txBody>
            </p:sp>
          </mc:Choice>
          <mc:Fallback xmlns="">
            <p:sp>
              <p:nvSpPr>
                <p:cNvPr id="51" name="TextBox 50">
                  <a:extLst>
                    <a:ext uri="{FF2B5EF4-FFF2-40B4-BE49-F238E27FC236}">
                      <a16:creationId xmlns:a16="http://schemas.microsoft.com/office/drawing/2014/main" id="{E6FB8CAB-6245-E0BB-64CD-6E56635AFB38}"/>
                    </a:ext>
                  </a:extLst>
                </p:cNvPr>
                <p:cNvSpPr txBox="1">
                  <a:spLocks noRot="1" noChangeAspect="1" noMove="1" noResize="1" noEditPoints="1" noAdjustHandles="1" noChangeArrowheads="1" noChangeShapeType="1" noTextEdit="1"/>
                </p:cNvSpPr>
                <p:nvPr/>
              </p:nvSpPr>
              <p:spPr>
                <a:xfrm>
                  <a:off x="7567275" y="4676008"/>
                  <a:ext cx="333977" cy="307777"/>
                </a:xfrm>
                <a:prstGeom prst="rect">
                  <a:avLst/>
                </a:prstGeom>
                <a:blipFill>
                  <a:blip r:embed="rId13"/>
                  <a:stretch>
                    <a:fillRect r="-3636"/>
                  </a:stretch>
                </a:blipFill>
              </p:spPr>
              <p:txBody>
                <a:bodyPr/>
                <a:lstStyle/>
                <a:p>
                  <a:r>
                    <a:rPr lang="en-GB">
                      <a:noFill/>
                    </a:rPr>
                    <a:t> </a:t>
                  </a:r>
                </a:p>
              </p:txBody>
            </p:sp>
          </mc:Fallback>
        </mc:AlternateContent>
      </p:grpSp>
    </p:spTree>
    <p:extLst>
      <p:ext uri="{BB962C8B-B14F-4D97-AF65-F5344CB8AC3E}">
        <p14:creationId xmlns:p14="http://schemas.microsoft.com/office/powerpoint/2010/main" val="24441193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126794E7-1176-653A-4413-B17585D501FA}"/>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Effect>
                      <a14:brightnessContrast contrast="53000"/>
                    </a14:imgEffect>
                  </a14:imgLayer>
                </a14:imgProps>
              </a:ext>
            </a:extLst>
          </a:blip>
          <a:stretch>
            <a:fillRect/>
          </a:stretch>
        </p:blipFill>
        <p:spPr>
          <a:xfrm>
            <a:off x="5894605" y="1971093"/>
            <a:ext cx="5459196" cy="294835"/>
          </a:xfrm>
          <a:prstGeom prst="rect">
            <a:avLst/>
          </a:prstGeom>
        </p:spPr>
      </p:pic>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786107"/>
          </a:xfrm>
        </p:spPr>
        <p:txBody>
          <a:bodyPr/>
          <a:lstStyle/>
          <a:p>
            <a:r>
              <a:rPr lang="en-US" dirty="0"/>
              <a:t>Cubic Orientation Spline Algorithm </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47</a:t>
            </a:fld>
            <a:endParaRPr lang="en-US" dirty="0"/>
          </a:p>
        </p:txBody>
      </p:sp>
      <p:sp>
        <p:nvSpPr>
          <p:cNvPr id="9" name="Rectangle: Rounded Corners 8">
            <a:extLst>
              <a:ext uri="{FF2B5EF4-FFF2-40B4-BE49-F238E27FC236}">
                <a16:creationId xmlns:a16="http://schemas.microsoft.com/office/drawing/2014/main" id="{B57F9A30-FFD9-84B0-88A3-7D6F60558107}"/>
              </a:ext>
            </a:extLst>
          </p:cNvPr>
          <p:cNvSpPr/>
          <p:nvPr/>
        </p:nvSpPr>
        <p:spPr>
          <a:xfrm>
            <a:off x="8292353" y="345766"/>
            <a:ext cx="2303929" cy="622422"/>
          </a:xfrm>
          <a:prstGeom prst="roundRect">
            <a:avLst/>
          </a:prstGeom>
          <a:solidFill>
            <a:srgbClr val="CDDCF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CubicOrientationSpline</a:t>
            </a:r>
            <a:endParaRPr lang="en-GB" sz="1200" dirty="0">
              <a:solidFill>
                <a:srgbClr val="003399"/>
              </a:solidFill>
            </a:endParaRPr>
          </a:p>
        </p:txBody>
      </p:sp>
      <mc:AlternateContent xmlns:mc="http://schemas.openxmlformats.org/markup-compatibility/2006" xmlns:a14="http://schemas.microsoft.com/office/drawing/2010/main">
        <mc:Choice Requires="a14">
          <p:sp>
            <p:nvSpPr>
              <p:cNvPr id="151" name="TextBox 150">
                <a:extLst>
                  <a:ext uri="{FF2B5EF4-FFF2-40B4-BE49-F238E27FC236}">
                    <a16:creationId xmlns:a16="http://schemas.microsoft.com/office/drawing/2014/main" id="{EB395618-EE4B-C30E-BB34-BDB47CFE4E3A}"/>
                  </a:ext>
                </a:extLst>
              </p:cNvPr>
              <p:cNvSpPr txBox="1"/>
              <p:nvPr/>
            </p:nvSpPr>
            <p:spPr>
              <a:xfrm>
                <a:off x="4116387" y="4537509"/>
                <a:ext cx="1740743" cy="318998"/>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m:rPr>
                          <m:sty m:val="p"/>
                        </m:rPr>
                        <a:rPr lang="en-US" b="0" i="0" smtClean="0">
                          <a:solidFill>
                            <a:schemeClr val="tx2"/>
                          </a:solidFill>
                          <a:latin typeface="Cambria Math" panose="02040503050406030204" pitchFamily="18" charset="0"/>
                        </a:rPr>
                        <m:t>Δ</m:t>
                      </m:r>
                      <m:r>
                        <a:rPr lang="en-US" b="0" i="1" smtClean="0">
                          <a:solidFill>
                            <a:schemeClr val="tx2"/>
                          </a:solidFill>
                          <a:latin typeface="Cambria Math" panose="02040503050406030204" pitchFamily="18" charset="0"/>
                        </a:rPr>
                        <m:t>𝑞</m:t>
                      </m:r>
                      <m:d>
                        <m:dPr>
                          <m:ctrlPr>
                            <a:rPr lang="en-US" b="0" i="1" smtClean="0">
                              <a:solidFill>
                                <a:schemeClr val="tx2"/>
                              </a:solidFill>
                              <a:latin typeface="Cambria Math" panose="02040503050406030204" pitchFamily="18" charset="0"/>
                            </a:rPr>
                          </m:ctrlPr>
                        </m:dPr>
                        <m:e>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𝑡</m:t>
                              </m:r>
                            </m:e>
                            <m:sub>
                              <m:r>
                                <a:rPr lang="en-US" b="0" i="1" smtClean="0">
                                  <a:solidFill>
                                    <a:schemeClr val="tx2"/>
                                  </a:solidFill>
                                  <a:latin typeface="Cambria Math" panose="02040503050406030204" pitchFamily="18" charset="0"/>
                                </a:rPr>
                                <m:t>𝑓</m:t>
                              </m:r>
                            </m:sub>
                          </m:sSub>
                        </m:e>
                      </m:d>
                      <m:r>
                        <a:rPr lang="en-US" b="0" i="1" smtClean="0">
                          <a:solidFill>
                            <a:schemeClr val="tx2"/>
                          </a:solidFill>
                          <a:latin typeface="Cambria Math" panose="02040503050406030204" pitchFamily="18" charset="0"/>
                        </a:rPr>
                        <m:t>=</m:t>
                      </m:r>
                      <m:sSubSup>
                        <m:sSubSupPr>
                          <m:ctrlPr>
                            <a:rPr lang="en-US" b="0" i="1" smtClean="0">
                              <a:solidFill>
                                <a:schemeClr val="tx2"/>
                              </a:solidFill>
                              <a:latin typeface="Cambria Math" panose="02040503050406030204" pitchFamily="18" charset="0"/>
                            </a:rPr>
                          </m:ctrlPr>
                        </m:sSubSupPr>
                        <m:e>
                          <m:r>
                            <a:rPr lang="en-US" b="0" i="1" smtClean="0">
                              <a:solidFill>
                                <a:schemeClr val="tx2"/>
                              </a:solidFill>
                              <a:latin typeface="Cambria Math" panose="02040503050406030204" pitchFamily="18" charset="0"/>
                            </a:rPr>
                            <m:t>𝑞</m:t>
                          </m:r>
                        </m:e>
                        <m:sub>
                          <m:r>
                            <a:rPr lang="en-US" b="0" i="1" smtClean="0">
                              <a:solidFill>
                                <a:schemeClr val="tx2"/>
                              </a:solidFill>
                              <a:latin typeface="Cambria Math" panose="02040503050406030204" pitchFamily="18" charset="0"/>
                            </a:rPr>
                            <m:t>𝑖</m:t>
                          </m:r>
                        </m:sub>
                        <m:sup>
                          <m:r>
                            <a:rPr lang="en-US" b="0" i="1" smtClean="0">
                              <a:solidFill>
                                <a:schemeClr val="tx2"/>
                              </a:solidFill>
                              <a:latin typeface="Cambria Math" panose="02040503050406030204" pitchFamily="18" charset="0"/>
                            </a:rPr>
                            <m:t>−1</m:t>
                          </m:r>
                        </m:sup>
                      </m:sSubSup>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𝑞</m:t>
                          </m:r>
                        </m:e>
                        <m:sub>
                          <m:r>
                            <a:rPr lang="en-US" b="0" i="1" smtClean="0">
                              <a:solidFill>
                                <a:schemeClr val="tx2"/>
                              </a:solidFill>
                              <a:latin typeface="Cambria Math" panose="02040503050406030204" pitchFamily="18" charset="0"/>
                            </a:rPr>
                            <m:t>𝑓</m:t>
                          </m:r>
                        </m:sub>
                      </m:sSub>
                    </m:oMath>
                  </m:oMathPara>
                </a14:m>
                <a:endParaRPr lang="en-GB" dirty="0">
                  <a:solidFill>
                    <a:schemeClr val="tx2"/>
                  </a:solidFill>
                </a:endParaRPr>
              </a:p>
            </p:txBody>
          </p:sp>
        </mc:Choice>
        <mc:Fallback xmlns="">
          <p:sp>
            <p:nvSpPr>
              <p:cNvPr id="151" name="TextBox 150">
                <a:extLst>
                  <a:ext uri="{FF2B5EF4-FFF2-40B4-BE49-F238E27FC236}">
                    <a16:creationId xmlns:a16="http://schemas.microsoft.com/office/drawing/2014/main" id="{EB395618-EE4B-C30E-BB34-BDB47CFE4E3A}"/>
                  </a:ext>
                </a:extLst>
              </p:cNvPr>
              <p:cNvSpPr txBox="1">
                <a:spLocks noRot="1" noChangeAspect="1" noMove="1" noResize="1" noEditPoints="1" noAdjustHandles="1" noChangeArrowheads="1" noChangeShapeType="1" noTextEdit="1"/>
              </p:cNvSpPr>
              <p:nvPr/>
            </p:nvSpPr>
            <p:spPr>
              <a:xfrm>
                <a:off x="4116387" y="4537509"/>
                <a:ext cx="1740743" cy="318998"/>
              </a:xfrm>
              <a:prstGeom prst="rect">
                <a:avLst/>
              </a:prstGeom>
              <a:blipFill>
                <a:blip r:embed="rId5"/>
                <a:stretch>
                  <a:fillRect b="-2452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9455379-0C65-A4B3-87B4-70588481EEE2}"/>
                  </a:ext>
                </a:extLst>
              </p:cNvPr>
              <p:cNvSpPr txBox="1"/>
              <p:nvPr/>
            </p:nvSpPr>
            <p:spPr>
              <a:xfrm>
                <a:off x="5903311" y="2573306"/>
                <a:ext cx="2797341" cy="1412181"/>
              </a:xfrm>
              <a:prstGeom prst="rect">
                <a:avLst/>
              </a:prstGeom>
              <a:noFill/>
            </p:spPr>
            <p:txBody>
              <a:bodyPr wrap="square" lIns="0" tIns="0" rIns="0" bIns="0" rtlCol="0">
                <a:spAutoFit/>
              </a:bodyPr>
              <a:lstStyle/>
              <a:p>
                <a:r>
                  <a:rPr lang="en-US" b="1" dirty="0">
                    <a:solidFill>
                      <a:srgbClr val="2F2F2F"/>
                    </a:solidFill>
                  </a:rPr>
                  <a:t>Coefficients:</a:t>
                </a:r>
              </a:p>
              <a:p>
                <a14:m>
                  <m:oMath xmlns:m="http://schemas.openxmlformats.org/officeDocument/2006/math">
                    <m:sSub>
                      <m:sSubPr>
                        <m:ctrlPr>
                          <a:rPr lang="en-US" b="0" i="1" smtClean="0">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𝑎</m:t>
                            </m:r>
                          </m:e>
                        </m:acc>
                      </m:e>
                      <m:sub>
                        <m:r>
                          <a:rPr lang="en-US" b="0" i="1" smtClean="0">
                            <a:solidFill>
                              <a:srgbClr val="2F2F2F"/>
                            </a:solidFill>
                            <a:latin typeface="Cambria Math" panose="02040503050406030204" pitchFamily="18" charset="0"/>
                          </a:rPr>
                          <m:t>1</m:t>
                        </m:r>
                      </m:sub>
                    </m:sSub>
                    <m:r>
                      <a:rPr lang="en-US" b="0" i="1" smtClean="0">
                        <a:solidFill>
                          <a:srgbClr val="2F2F2F"/>
                        </a:solidFill>
                        <a:latin typeface="Cambria Math" panose="02040503050406030204" pitchFamily="18" charset="0"/>
                      </a:rPr>
                      <m:t>=0</m:t>
                    </m:r>
                  </m:oMath>
                </a14:m>
                <a:r>
                  <a:rPr lang="en-US" b="0" dirty="0">
                    <a:solidFill>
                      <a:srgbClr val="2F2F2F"/>
                    </a:solidFill>
                  </a:rPr>
                  <a:t> </a:t>
                </a:r>
              </a:p>
              <a:p>
                <a14:m>
                  <m:oMath xmlns:m="http://schemas.openxmlformats.org/officeDocument/2006/math">
                    <m:sSub>
                      <m:sSubPr>
                        <m:ctrlPr>
                          <a:rPr lang="en-US" i="1">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𝑎</m:t>
                            </m:r>
                          </m:e>
                        </m:acc>
                      </m:e>
                      <m:sub>
                        <m:r>
                          <a:rPr lang="en-US" i="1">
                            <a:solidFill>
                              <a:srgbClr val="2F2F2F"/>
                            </a:solidFill>
                            <a:latin typeface="Cambria Math" panose="02040503050406030204" pitchFamily="18" charset="0"/>
                          </a:rPr>
                          <m:t>2</m:t>
                        </m:r>
                      </m:sub>
                    </m:sSub>
                    <m:r>
                      <a:rPr lang="en-US" b="0" i="0" smtClean="0">
                        <a:solidFill>
                          <a:srgbClr val="2F2F2F"/>
                        </a:solidFill>
                        <a:latin typeface="Cambria Math" panose="02040503050406030204" pitchFamily="18" charset="0"/>
                      </a:rPr>
                      <m:t>=</m:t>
                    </m:r>
                    <m:r>
                      <m:rPr>
                        <m:sty m:val="p"/>
                      </m:rPr>
                      <a:rPr lang="en-US" b="0" i="0" smtClean="0">
                        <a:solidFill>
                          <a:srgbClr val="2F2F2F"/>
                        </a:solidFill>
                        <a:latin typeface="Cambria Math" panose="02040503050406030204" pitchFamily="18" charset="0"/>
                      </a:rPr>
                      <m:t>Δ</m:t>
                    </m:r>
                    <m:r>
                      <a:rPr lang="en-US" b="0" i="1" smtClean="0">
                        <a:solidFill>
                          <a:srgbClr val="2F2F2F"/>
                        </a:solidFill>
                        <a:latin typeface="Cambria Math" panose="02040503050406030204" pitchFamily="18" charset="0"/>
                      </a:rPr>
                      <m:t>𝑡</m:t>
                    </m:r>
                    <m:sSub>
                      <m:sSubPr>
                        <m:ctrlPr>
                          <a:rPr lang="en-US" b="0" i="1" smtClean="0">
                            <a:solidFill>
                              <a:srgbClr val="2F2F2F"/>
                            </a:solidFill>
                            <a:latin typeface="Cambria Math" panose="02040503050406030204" pitchFamily="18" charset="0"/>
                          </a:rPr>
                        </m:ctrlPr>
                      </m:sSubPr>
                      <m:e>
                        <m:acc>
                          <m:accPr>
                            <m:chr m:val="⃗"/>
                            <m:ctrlPr>
                              <a:rPr lang="en-US" b="0" i="1" smtClean="0">
                                <a:solidFill>
                                  <a:srgbClr val="2F2F2F"/>
                                </a:solidFill>
                                <a:latin typeface="Cambria Math" panose="02040503050406030204" pitchFamily="18" charset="0"/>
                              </a:rPr>
                            </m:ctrlPr>
                          </m:accPr>
                          <m:e>
                            <m:r>
                              <a:rPr lang="en-US" b="0" i="1" smtClean="0">
                                <a:solidFill>
                                  <a:srgbClr val="2F2F2F"/>
                                </a:solidFill>
                                <a:latin typeface="Cambria Math" panose="02040503050406030204" pitchFamily="18" charset="0"/>
                              </a:rPr>
                              <m:t>𝜔</m:t>
                            </m:r>
                          </m:e>
                        </m:acc>
                      </m:e>
                      <m:sub>
                        <m:r>
                          <a:rPr lang="en-US" b="0" i="1" smtClean="0">
                            <a:solidFill>
                              <a:srgbClr val="2F2F2F"/>
                            </a:solidFill>
                            <a:latin typeface="Cambria Math" panose="02040503050406030204" pitchFamily="18" charset="0"/>
                          </a:rPr>
                          <m:t>𝑖</m:t>
                        </m:r>
                      </m:sub>
                    </m:sSub>
                  </m:oMath>
                </a14:m>
                <a:r>
                  <a:rPr lang="en-US" b="0" dirty="0">
                    <a:solidFill>
                      <a:srgbClr val="2F2F2F"/>
                    </a:solidFill>
                  </a:rPr>
                  <a:t> </a:t>
                </a:r>
              </a:p>
              <a:p>
                <a14:m>
                  <m:oMath xmlns:m="http://schemas.openxmlformats.org/officeDocument/2006/math">
                    <m:sSub>
                      <m:sSubPr>
                        <m:ctrlPr>
                          <a:rPr lang="en-US" i="1" smtClean="0">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𝑎</m:t>
                            </m:r>
                          </m:e>
                        </m:acc>
                      </m:e>
                      <m:sub>
                        <m:r>
                          <a:rPr lang="en-US" b="0" i="1" smtClean="0">
                            <a:solidFill>
                              <a:srgbClr val="2F2F2F"/>
                            </a:solidFill>
                            <a:latin typeface="Cambria Math" panose="02040503050406030204" pitchFamily="18" charset="0"/>
                          </a:rPr>
                          <m:t>3</m:t>
                        </m:r>
                      </m:sub>
                    </m:sSub>
                    <m:r>
                      <a:rPr lang="en-US" b="0" i="1" smtClean="0">
                        <a:solidFill>
                          <a:srgbClr val="2F2F2F"/>
                        </a:solidFill>
                        <a:latin typeface="Cambria Math" panose="02040503050406030204" pitchFamily="18" charset="0"/>
                      </a:rPr>
                      <m:t>=</m:t>
                    </m:r>
                    <m:r>
                      <m:rPr>
                        <m:sty m:val="p"/>
                      </m:rPr>
                      <a:rPr lang="en-US" b="0" i="0" smtClean="0">
                        <a:solidFill>
                          <a:srgbClr val="2F2F2F"/>
                        </a:solidFill>
                        <a:latin typeface="Cambria Math" panose="02040503050406030204" pitchFamily="18" charset="0"/>
                      </a:rPr>
                      <m:t>Δ</m:t>
                    </m:r>
                    <m:r>
                      <a:rPr lang="en-US" b="0" i="1" smtClean="0">
                        <a:solidFill>
                          <a:srgbClr val="2F2F2F"/>
                        </a:solidFill>
                        <a:latin typeface="Cambria Math" panose="02040503050406030204" pitchFamily="18" charset="0"/>
                      </a:rPr>
                      <m:t>𝑡</m:t>
                    </m:r>
                    <m:sSup>
                      <m:sSupPr>
                        <m:ctrlPr>
                          <a:rPr lang="en-US" b="0" i="1" smtClean="0">
                            <a:solidFill>
                              <a:srgbClr val="2F2F2F"/>
                            </a:solidFill>
                            <a:latin typeface="Cambria Math" panose="02040503050406030204" pitchFamily="18" charset="0"/>
                          </a:rPr>
                        </m:ctrlPr>
                      </m:sSupPr>
                      <m:e>
                        <m:r>
                          <a:rPr lang="en-US" b="0" i="1" smtClean="0">
                            <a:solidFill>
                              <a:srgbClr val="2F2F2F"/>
                            </a:solidFill>
                            <a:latin typeface="Cambria Math" panose="02040503050406030204" pitchFamily="18" charset="0"/>
                          </a:rPr>
                          <m:t>𝐵</m:t>
                        </m:r>
                      </m:e>
                      <m:sup>
                        <m:r>
                          <a:rPr lang="en-US" b="0" i="1" smtClean="0">
                            <a:solidFill>
                              <a:srgbClr val="2F2F2F"/>
                            </a:solidFill>
                            <a:latin typeface="Cambria Math" panose="02040503050406030204" pitchFamily="18" charset="0"/>
                          </a:rPr>
                          <m:t>−1</m:t>
                        </m:r>
                      </m:sup>
                    </m:sSup>
                    <m:r>
                      <a:rPr lang="en-US" b="0" i="1" smtClean="0">
                        <a:solidFill>
                          <a:srgbClr val="2F2F2F"/>
                        </a:solidFill>
                        <a:latin typeface="Cambria Math" panose="02040503050406030204" pitchFamily="18" charset="0"/>
                        <a:ea typeface="Cambria Math" panose="02040503050406030204" pitchFamily="18" charset="0"/>
                      </a:rPr>
                      <m:t>∙</m:t>
                    </m:r>
                    <m:sSub>
                      <m:sSubPr>
                        <m:ctrlPr>
                          <a:rPr lang="en-US" i="1">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𝜔</m:t>
                            </m:r>
                          </m:e>
                        </m:acc>
                      </m:e>
                      <m:sub>
                        <m:r>
                          <a:rPr lang="en-US" b="0" i="1" smtClean="0">
                            <a:solidFill>
                              <a:srgbClr val="2F2F2F"/>
                            </a:solidFill>
                            <a:latin typeface="Cambria Math" panose="02040503050406030204" pitchFamily="18" charset="0"/>
                          </a:rPr>
                          <m:t>𝑓</m:t>
                        </m:r>
                      </m:sub>
                    </m:sSub>
                    <m:r>
                      <a:rPr lang="en-US" b="0" i="1" smtClean="0">
                        <a:solidFill>
                          <a:srgbClr val="2F2F2F"/>
                        </a:solidFill>
                        <a:latin typeface="Cambria Math" panose="02040503050406030204" pitchFamily="18" charset="0"/>
                      </a:rPr>
                      <m:t>−3</m:t>
                    </m:r>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𝑒</m:t>
                        </m:r>
                      </m:e>
                    </m:acc>
                    <m:r>
                      <m:rPr>
                        <m:sty m:val="p"/>
                      </m:rPr>
                      <a:rPr lang="en-US">
                        <a:solidFill>
                          <a:srgbClr val="2F2F2F"/>
                        </a:solidFill>
                        <a:latin typeface="Cambria Math" panose="02040503050406030204" pitchFamily="18" charset="0"/>
                      </a:rPr>
                      <m:t>Δ</m:t>
                    </m:r>
                    <m:r>
                      <a:rPr lang="en-US" i="1">
                        <a:solidFill>
                          <a:srgbClr val="2F2F2F"/>
                        </a:solidFill>
                        <a:latin typeface="Cambria Math" panose="02040503050406030204" pitchFamily="18" charset="0"/>
                      </a:rPr>
                      <m:t>𝜃</m:t>
                    </m:r>
                  </m:oMath>
                </a14:m>
                <a:r>
                  <a:rPr lang="en-US" b="0" dirty="0">
                    <a:solidFill>
                      <a:srgbClr val="2F2F2F"/>
                    </a:solidFill>
                  </a:rPr>
                  <a:t> </a:t>
                </a:r>
              </a:p>
              <a:p>
                <a14:m>
                  <m:oMath xmlns:m="http://schemas.openxmlformats.org/officeDocument/2006/math">
                    <m:sSub>
                      <m:sSubPr>
                        <m:ctrlPr>
                          <a:rPr lang="en-US" i="1">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𝑎</m:t>
                            </m:r>
                          </m:e>
                        </m:acc>
                      </m:e>
                      <m:sub>
                        <m:r>
                          <a:rPr lang="en-US" b="0" i="1" smtClean="0">
                            <a:solidFill>
                              <a:srgbClr val="2F2F2F"/>
                            </a:solidFill>
                            <a:latin typeface="Cambria Math" panose="02040503050406030204" pitchFamily="18" charset="0"/>
                          </a:rPr>
                          <m:t>4</m:t>
                        </m:r>
                      </m:sub>
                    </m:sSub>
                    <m:r>
                      <a:rPr lang="en-US" b="0" i="1" smtClean="0">
                        <a:solidFill>
                          <a:srgbClr val="2F2F2F"/>
                        </a:solidFill>
                        <a:latin typeface="Cambria Math" panose="02040503050406030204" pitchFamily="18" charset="0"/>
                      </a:rPr>
                      <m:t>=</m:t>
                    </m:r>
                    <m:acc>
                      <m:accPr>
                        <m:chr m:val="̂"/>
                        <m:ctrlPr>
                          <a:rPr lang="en-US" b="0" i="1" smtClean="0">
                            <a:solidFill>
                              <a:srgbClr val="2F2F2F"/>
                            </a:solidFill>
                            <a:latin typeface="Cambria Math" panose="02040503050406030204" pitchFamily="18" charset="0"/>
                          </a:rPr>
                        </m:ctrlPr>
                      </m:accPr>
                      <m:e>
                        <m:r>
                          <a:rPr lang="en-US" b="0" i="1" smtClean="0">
                            <a:solidFill>
                              <a:srgbClr val="2F2F2F"/>
                            </a:solidFill>
                            <a:latin typeface="Cambria Math" panose="02040503050406030204" pitchFamily="18" charset="0"/>
                          </a:rPr>
                          <m:t>𝑒</m:t>
                        </m:r>
                      </m:e>
                    </m:acc>
                    <m:r>
                      <m:rPr>
                        <m:sty m:val="p"/>
                      </m:rPr>
                      <a:rPr lang="en-US" b="0" i="0" smtClean="0">
                        <a:solidFill>
                          <a:srgbClr val="2F2F2F"/>
                        </a:solidFill>
                        <a:latin typeface="Cambria Math" panose="02040503050406030204" pitchFamily="18" charset="0"/>
                      </a:rPr>
                      <m:t>Δ</m:t>
                    </m:r>
                    <m:r>
                      <a:rPr lang="en-US" b="0" i="1" smtClean="0">
                        <a:solidFill>
                          <a:srgbClr val="2F2F2F"/>
                        </a:solidFill>
                        <a:latin typeface="Cambria Math" panose="02040503050406030204" pitchFamily="18" charset="0"/>
                      </a:rPr>
                      <m:t>𝜃</m:t>
                    </m:r>
                  </m:oMath>
                </a14:m>
                <a:r>
                  <a:rPr lang="en-US" b="0" dirty="0">
                    <a:solidFill>
                      <a:srgbClr val="2F2F2F"/>
                    </a:solidFill>
                  </a:rPr>
                  <a:t> </a:t>
                </a:r>
              </a:p>
            </p:txBody>
          </p:sp>
        </mc:Choice>
        <mc:Fallback xmlns="">
          <p:sp>
            <p:nvSpPr>
              <p:cNvPr id="10" name="TextBox 9">
                <a:extLst>
                  <a:ext uri="{FF2B5EF4-FFF2-40B4-BE49-F238E27FC236}">
                    <a16:creationId xmlns:a16="http://schemas.microsoft.com/office/drawing/2014/main" id="{A9455379-0C65-A4B3-87B4-70588481EEE2}"/>
                  </a:ext>
                </a:extLst>
              </p:cNvPr>
              <p:cNvSpPr txBox="1">
                <a:spLocks noRot="1" noChangeAspect="1" noMove="1" noResize="1" noEditPoints="1" noAdjustHandles="1" noChangeArrowheads="1" noChangeShapeType="1" noTextEdit="1"/>
              </p:cNvSpPr>
              <p:nvPr/>
            </p:nvSpPr>
            <p:spPr>
              <a:xfrm>
                <a:off x="5903311" y="2573306"/>
                <a:ext cx="2797341" cy="1412181"/>
              </a:xfrm>
              <a:prstGeom prst="rect">
                <a:avLst/>
              </a:prstGeom>
              <a:blipFill>
                <a:blip r:embed="rId6"/>
                <a:stretch>
                  <a:fillRect l="-5011" t="-5603" b="-3017"/>
                </a:stretch>
              </a:blipFill>
            </p:spPr>
            <p:txBody>
              <a:bodyPr/>
              <a:lstStyle/>
              <a:p>
                <a:r>
                  <a:rPr lang="en-GB">
                    <a:noFill/>
                  </a:rPr>
                  <a:t> </a:t>
                </a:r>
              </a:p>
            </p:txBody>
          </p:sp>
        </mc:Fallback>
      </mc:AlternateContent>
      <p:grpSp>
        <p:nvGrpSpPr>
          <p:cNvPr id="11" name="Group 10">
            <a:extLst>
              <a:ext uri="{FF2B5EF4-FFF2-40B4-BE49-F238E27FC236}">
                <a16:creationId xmlns:a16="http://schemas.microsoft.com/office/drawing/2014/main" id="{55E7BFA0-EBE5-2AE9-ED46-ABC51DAA2D4F}"/>
              </a:ext>
            </a:extLst>
          </p:cNvPr>
          <p:cNvGrpSpPr/>
          <p:nvPr/>
        </p:nvGrpSpPr>
        <p:grpSpPr>
          <a:xfrm rot="18885688">
            <a:off x="3519256" y="2299452"/>
            <a:ext cx="1021929" cy="1522466"/>
            <a:chOff x="1071439" y="1596445"/>
            <a:chExt cx="1021929" cy="1522466"/>
          </a:xfrm>
        </p:grpSpPr>
        <p:cxnSp>
          <p:nvCxnSpPr>
            <p:cNvPr id="12" name="Straight Arrow Connector 11">
              <a:extLst>
                <a:ext uri="{FF2B5EF4-FFF2-40B4-BE49-F238E27FC236}">
                  <a16:creationId xmlns:a16="http://schemas.microsoft.com/office/drawing/2014/main" id="{FFFBE926-0C88-7D0C-144E-795BBFC8D93E}"/>
                </a:ext>
              </a:extLst>
            </p:cNvPr>
            <p:cNvCxnSpPr>
              <a:cxnSpLocks/>
            </p:cNvCxnSpPr>
            <p:nvPr/>
          </p:nvCxnSpPr>
          <p:spPr>
            <a:xfrm flipH="1">
              <a:off x="1628009" y="2600340"/>
              <a:ext cx="460955" cy="51857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A96FAB1-A66B-46F7-40EE-02215BFD8389}"/>
                </a:ext>
              </a:extLst>
            </p:cNvPr>
            <p:cNvCxnSpPr/>
            <p:nvPr/>
          </p:nvCxnSpPr>
          <p:spPr>
            <a:xfrm flipV="1">
              <a:off x="2088964" y="1596445"/>
              <a:ext cx="0" cy="101438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67E48AA-B9B8-1868-8D37-E4243C4C269F}"/>
                </a:ext>
              </a:extLst>
            </p:cNvPr>
            <p:cNvCxnSpPr>
              <a:cxnSpLocks/>
            </p:cNvCxnSpPr>
            <p:nvPr/>
          </p:nvCxnSpPr>
          <p:spPr>
            <a:xfrm flipH="1">
              <a:off x="1071439" y="2600340"/>
              <a:ext cx="102192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8025A414-3C72-4BE7-82BE-34D8D5403D19}"/>
              </a:ext>
            </a:extLst>
          </p:cNvPr>
          <p:cNvGrpSpPr/>
          <p:nvPr/>
        </p:nvGrpSpPr>
        <p:grpSpPr>
          <a:xfrm>
            <a:off x="1695692" y="2933394"/>
            <a:ext cx="1021929" cy="1522466"/>
            <a:chOff x="1071439" y="1596445"/>
            <a:chExt cx="1021929" cy="1522466"/>
          </a:xfrm>
        </p:grpSpPr>
        <p:cxnSp>
          <p:nvCxnSpPr>
            <p:cNvPr id="16" name="Straight Arrow Connector 15">
              <a:extLst>
                <a:ext uri="{FF2B5EF4-FFF2-40B4-BE49-F238E27FC236}">
                  <a16:creationId xmlns:a16="http://schemas.microsoft.com/office/drawing/2014/main" id="{52222C15-EF7D-36F7-FC18-81F0A107ED18}"/>
                </a:ext>
              </a:extLst>
            </p:cNvPr>
            <p:cNvCxnSpPr>
              <a:cxnSpLocks/>
            </p:cNvCxnSpPr>
            <p:nvPr/>
          </p:nvCxnSpPr>
          <p:spPr>
            <a:xfrm flipH="1">
              <a:off x="1628009" y="2600340"/>
              <a:ext cx="460955" cy="51857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339568D-9FD7-F93A-2E7C-9BC0E91FAA57}"/>
                </a:ext>
              </a:extLst>
            </p:cNvPr>
            <p:cNvCxnSpPr/>
            <p:nvPr/>
          </p:nvCxnSpPr>
          <p:spPr>
            <a:xfrm flipV="1">
              <a:off x="2088964" y="1596445"/>
              <a:ext cx="0" cy="101438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1FE7412-20E0-B4E3-096C-0F54CD6647FA}"/>
                </a:ext>
              </a:extLst>
            </p:cNvPr>
            <p:cNvCxnSpPr>
              <a:cxnSpLocks/>
            </p:cNvCxnSpPr>
            <p:nvPr/>
          </p:nvCxnSpPr>
          <p:spPr>
            <a:xfrm flipH="1">
              <a:off x="1071439" y="2600340"/>
              <a:ext cx="102192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1" name="Arrow: Curved Down 20">
            <a:extLst>
              <a:ext uri="{FF2B5EF4-FFF2-40B4-BE49-F238E27FC236}">
                <a16:creationId xmlns:a16="http://schemas.microsoft.com/office/drawing/2014/main" id="{9CE41B02-3237-1452-8582-E607A26BDD66}"/>
              </a:ext>
            </a:extLst>
          </p:cNvPr>
          <p:cNvSpPr/>
          <p:nvPr/>
        </p:nvSpPr>
        <p:spPr>
          <a:xfrm rot="19977682" flipV="1">
            <a:off x="2878089" y="3405434"/>
            <a:ext cx="2319071" cy="1092550"/>
          </a:xfrm>
          <a:prstGeom prst="curvedDownArrow">
            <a:avLst>
              <a:gd name="adj1" fmla="val 0"/>
              <a:gd name="adj2" fmla="val 21287"/>
              <a:gd name="adj3" fmla="val 11700"/>
            </a:avLst>
          </a:prstGeom>
          <a:solidFill>
            <a:srgbClr val="000000"/>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C8935C0-2B0B-4974-9124-55D0621822EF}"/>
                  </a:ext>
                </a:extLst>
              </p:cNvPr>
              <p:cNvSpPr txBox="1"/>
              <p:nvPr/>
            </p:nvSpPr>
            <p:spPr>
              <a:xfrm>
                <a:off x="2261040" y="3594365"/>
                <a:ext cx="542760"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𝑞</m:t>
                          </m:r>
                        </m:e>
                        <m:sub>
                          <m:r>
                            <a:rPr lang="en-US" b="0" i="1" smtClean="0">
                              <a:solidFill>
                                <a:schemeClr val="tx2"/>
                              </a:solidFill>
                              <a:latin typeface="Cambria Math" panose="02040503050406030204" pitchFamily="18" charset="0"/>
                            </a:rPr>
                            <m:t>𝑖</m:t>
                          </m:r>
                        </m:sub>
                      </m:sSub>
                    </m:oMath>
                  </m:oMathPara>
                </a14:m>
                <a:endParaRPr lang="en-GB" dirty="0">
                  <a:solidFill>
                    <a:schemeClr val="tx2"/>
                  </a:solidFill>
                </a:endParaRPr>
              </a:p>
            </p:txBody>
          </p:sp>
        </mc:Choice>
        <mc:Fallback xmlns="">
          <p:sp>
            <p:nvSpPr>
              <p:cNvPr id="24" name="TextBox 23">
                <a:extLst>
                  <a:ext uri="{FF2B5EF4-FFF2-40B4-BE49-F238E27FC236}">
                    <a16:creationId xmlns:a16="http://schemas.microsoft.com/office/drawing/2014/main" id="{3C8935C0-2B0B-4974-9124-55D0621822EF}"/>
                  </a:ext>
                </a:extLst>
              </p:cNvPr>
              <p:cNvSpPr txBox="1">
                <a:spLocks noRot="1" noChangeAspect="1" noMove="1" noResize="1" noEditPoints="1" noAdjustHandles="1" noChangeArrowheads="1" noChangeShapeType="1" noTextEdit="1"/>
              </p:cNvSpPr>
              <p:nvPr/>
            </p:nvSpPr>
            <p:spPr>
              <a:xfrm>
                <a:off x="2261040" y="3594365"/>
                <a:ext cx="542760" cy="276999"/>
              </a:xfrm>
              <a:prstGeom prst="rect">
                <a:avLst/>
              </a:prstGeom>
              <a:blipFill>
                <a:blip r:embed="rId7"/>
                <a:stretch>
                  <a:fillRect b="-28889"/>
                </a:stretch>
              </a:blipFill>
            </p:spPr>
            <p:txBody>
              <a:bodyPr/>
              <a:lstStyle/>
              <a:p>
                <a:r>
                  <a:rPr lang="en-GB">
                    <a:noFill/>
                  </a:rPr>
                  <a:t> </a:t>
                </a:r>
              </a:p>
            </p:txBody>
          </p:sp>
        </mc:Fallback>
      </mc:AlternateContent>
      <p:grpSp>
        <p:nvGrpSpPr>
          <p:cNvPr id="26" name="Group 25">
            <a:extLst>
              <a:ext uri="{FF2B5EF4-FFF2-40B4-BE49-F238E27FC236}">
                <a16:creationId xmlns:a16="http://schemas.microsoft.com/office/drawing/2014/main" id="{BE052278-1665-5592-6A31-47F0B475F63A}"/>
              </a:ext>
            </a:extLst>
          </p:cNvPr>
          <p:cNvGrpSpPr/>
          <p:nvPr/>
        </p:nvGrpSpPr>
        <p:grpSpPr>
          <a:xfrm>
            <a:off x="3509556" y="3766599"/>
            <a:ext cx="725078" cy="1013921"/>
            <a:chOff x="7567275" y="4676008"/>
            <a:chExt cx="725078" cy="1013921"/>
          </a:xfrm>
        </p:grpSpPr>
        <p:grpSp>
          <p:nvGrpSpPr>
            <p:cNvPr id="27" name="Group 26">
              <a:extLst>
                <a:ext uri="{FF2B5EF4-FFF2-40B4-BE49-F238E27FC236}">
                  <a16:creationId xmlns:a16="http://schemas.microsoft.com/office/drawing/2014/main" id="{2C425858-A629-C056-906C-F22C9ADA6965}"/>
                </a:ext>
              </a:extLst>
            </p:cNvPr>
            <p:cNvGrpSpPr/>
            <p:nvPr/>
          </p:nvGrpSpPr>
          <p:grpSpPr>
            <a:xfrm>
              <a:off x="7594476" y="4704397"/>
              <a:ext cx="697877" cy="985532"/>
              <a:chOff x="7594476" y="4704397"/>
              <a:chExt cx="697877" cy="985532"/>
            </a:xfrm>
          </p:grpSpPr>
          <p:cxnSp>
            <p:nvCxnSpPr>
              <p:cNvPr id="32" name="Straight Arrow Connector 31">
                <a:extLst>
                  <a:ext uri="{FF2B5EF4-FFF2-40B4-BE49-F238E27FC236}">
                    <a16:creationId xmlns:a16="http://schemas.microsoft.com/office/drawing/2014/main" id="{B112AD88-8AE7-0C51-FBCD-10449C449BF5}"/>
                  </a:ext>
                </a:extLst>
              </p:cNvPr>
              <p:cNvCxnSpPr>
                <a:cxnSpLocks/>
              </p:cNvCxnSpPr>
              <p:nvPr/>
            </p:nvCxnSpPr>
            <p:spPr>
              <a:xfrm flipH="1">
                <a:off x="7974559" y="5354244"/>
                <a:ext cx="314787" cy="33568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DAB90136-1710-D28F-7204-772539FA15F1}"/>
                  </a:ext>
                </a:extLst>
              </p:cNvPr>
              <p:cNvCxnSpPr/>
              <p:nvPr/>
            </p:nvCxnSpPr>
            <p:spPr>
              <a:xfrm flipV="1">
                <a:off x="8289346" y="4704397"/>
                <a:ext cx="0" cy="656641"/>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0BD0D02F-A4B6-EB9E-001A-7D0D02DD2D9C}"/>
                  </a:ext>
                </a:extLst>
              </p:cNvPr>
              <p:cNvCxnSpPr>
                <a:cxnSpLocks/>
              </p:cNvCxnSpPr>
              <p:nvPr/>
            </p:nvCxnSpPr>
            <p:spPr>
              <a:xfrm flipH="1">
                <a:off x="7594476" y="5354244"/>
                <a:ext cx="697877"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8" name="Straight Arrow Connector 27">
              <a:extLst>
                <a:ext uri="{FF2B5EF4-FFF2-40B4-BE49-F238E27FC236}">
                  <a16:creationId xmlns:a16="http://schemas.microsoft.com/office/drawing/2014/main" id="{B7DC8AF0-24F1-B4C0-0F16-0B2DBC10B51B}"/>
                </a:ext>
              </a:extLst>
            </p:cNvPr>
            <p:cNvCxnSpPr>
              <a:cxnSpLocks/>
            </p:cNvCxnSpPr>
            <p:nvPr/>
          </p:nvCxnSpPr>
          <p:spPr>
            <a:xfrm flipH="1" flipV="1">
              <a:off x="7812264" y="4878732"/>
              <a:ext cx="480089" cy="475512"/>
            </a:xfrm>
            <a:prstGeom prst="straightConnector1">
              <a:avLst/>
            </a:prstGeom>
            <a:ln w="38100">
              <a:solidFill>
                <a:srgbClr val="2F2F2F"/>
              </a:solidFill>
              <a:tailEnd type="triangle"/>
            </a:ln>
          </p:spPr>
          <p:style>
            <a:lnRef idx="1">
              <a:schemeClr val="accent1"/>
            </a:lnRef>
            <a:fillRef idx="0">
              <a:schemeClr val="accent1"/>
            </a:fillRef>
            <a:effectRef idx="0">
              <a:schemeClr val="accent1"/>
            </a:effectRef>
            <a:fontRef idx="minor">
              <a:schemeClr val="tx1"/>
            </a:fontRef>
          </p:style>
        </p:cxnSp>
        <p:sp>
          <p:nvSpPr>
            <p:cNvPr id="29" name="Arrow: Curved Down 28">
              <a:extLst>
                <a:ext uri="{FF2B5EF4-FFF2-40B4-BE49-F238E27FC236}">
                  <a16:creationId xmlns:a16="http://schemas.microsoft.com/office/drawing/2014/main" id="{F78B5D18-9A8A-F81E-BA8B-8A8359C924AB}"/>
                </a:ext>
              </a:extLst>
            </p:cNvPr>
            <p:cNvSpPr/>
            <p:nvPr/>
          </p:nvSpPr>
          <p:spPr>
            <a:xfrm rot="18656914" flipV="1">
              <a:off x="7917884" y="5067192"/>
              <a:ext cx="265843" cy="98593"/>
            </a:xfrm>
            <a:prstGeom prst="curvedDown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23F765B-421E-AC0B-7F71-63C1C7531CB3}"/>
                    </a:ext>
                  </a:extLst>
                </p:cNvPr>
                <p:cNvSpPr txBox="1"/>
                <p:nvPr/>
              </p:nvSpPr>
              <p:spPr>
                <a:xfrm>
                  <a:off x="7932435" y="4742574"/>
                  <a:ext cx="269594"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1400" b="0" i="0" smtClean="0">
                            <a:solidFill>
                              <a:schemeClr val="tx2"/>
                            </a:solidFill>
                            <a:latin typeface="Cambria Math" panose="02040503050406030204" pitchFamily="18" charset="0"/>
                          </a:rPr>
                          <m:t>Δ</m:t>
                        </m:r>
                        <m:r>
                          <a:rPr lang="en-US" sz="1400" b="0" i="1" smtClean="0">
                            <a:solidFill>
                              <a:schemeClr val="tx2"/>
                            </a:solidFill>
                            <a:latin typeface="Cambria Math" panose="02040503050406030204" pitchFamily="18" charset="0"/>
                          </a:rPr>
                          <m:t>𝜃</m:t>
                        </m:r>
                      </m:oMath>
                    </m:oMathPara>
                  </a14:m>
                  <a:endParaRPr lang="en-GB" sz="1400" dirty="0">
                    <a:solidFill>
                      <a:schemeClr val="tx2"/>
                    </a:solidFill>
                  </a:endParaRPr>
                </a:p>
              </p:txBody>
            </p:sp>
          </mc:Choice>
          <mc:Fallback xmlns="">
            <p:sp>
              <p:nvSpPr>
                <p:cNvPr id="30" name="TextBox 29">
                  <a:extLst>
                    <a:ext uri="{FF2B5EF4-FFF2-40B4-BE49-F238E27FC236}">
                      <a16:creationId xmlns:a16="http://schemas.microsoft.com/office/drawing/2014/main" id="{223F765B-421E-AC0B-7F71-63C1C7531CB3}"/>
                    </a:ext>
                  </a:extLst>
                </p:cNvPr>
                <p:cNvSpPr txBox="1">
                  <a:spLocks noRot="1" noChangeAspect="1" noMove="1" noResize="1" noEditPoints="1" noAdjustHandles="1" noChangeArrowheads="1" noChangeShapeType="1" noTextEdit="1"/>
                </p:cNvSpPr>
                <p:nvPr/>
              </p:nvSpPr>
              <p:spPr>
                <a:xfrm>
                  <a:off x="7932435" y="4742574"/>
                  <a:ext cx="269594" cy="307777"/>
                </a:xfrm>
                <a:prstGeom prst="rect">
                  <a:avLst/>
                </a:prstGeom>
                <a:blipFill>
                  <a:blip r:embed="rId8"/>
                  <a:stretch>
                    <a:fillRect r="-3181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8E126C5-6E18-3038-FF1F-8C188BFB3030}"/>
                    </a:ext>
                  </a:extLst>
                </p:cNvPr>
                <p:cNvSpPr txBox="1"/>
                <p:nvPr/>
              </p:nvSpPr>
              <p:spPr>
                <a:xfrm>
                  <a:off x="7567275" y="4676008"/>
                  <a:ext cx="33397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sz="1400" i="1" smtClean="0">
                                <a:solidFill>
                                  <a:schemeClr val="tx2"/>
                                </a:solidFill>
                                <a:latin typeface="Cambria Math" panose="02040503050406030204" pitchFamily="18" charset="0"/>
                              </a:rPr>
                            </m:ctrlPr>
                          </m:accPr>
                          <m:e>
                            <m:r>
                              <a:rPr lang="en-US" sz="1400" b="0" i="1" smtClean="0">
                                <a:solidFill>
                                  <a:schemeClr val="tx2"/>
                                </a:solidFill>
                                <a:latin typeface="Cambria Math" panose="02040503050406030204" pitchFamily="18" charset="0"/>
                              </a:rPr>
                              <m:t>𝑒</m:t>
                            </m:r>
                          </m:e>
                        </m:acc>
                      </m:oMath>
                    </m:oMathPara>
                  </a14:m>
                  <a:endParaRPr lang="en-GB" sz="1400" dirty="0">
                    <a:solidFill>
                      <a:schemeClr val="tx2"/>
                    </a:solidFill>
                  </a:endParaRPr>
                </a:p>
              </p:txBody>
            </p:sp>
          </mc:Choice>
          <mc:Fallback xmlns="">
            <p:sp>
              <p:nvSpPr>
                <p:cNvPr id="31" name="TextBox 30">
                  <a:extLst>
                    <a:ext uri="{FF2B5EF4-FFF2-40B4-BE49-F238E27FC236}">
                      <a16:creationId xmlns:a16="http://schemas.microsoft.com/office/drawing/2014/main" id="{48E126C5-6E18-3038-FF1F-8C188BFB3030}"/>
                    </a:ext>
                  </a:extLst>
                </p:cNvPr>
                <p:cNvSpPr txBox="1">
                  <a:spLocks noRot="1" noChangeAspect="1" noMove="1" noResize="1" noEditPoints="1" noAdjustHandles="1" noChangeArrowheads="1" noChangeShapeType="1" noTextEdit="1"/>
                </p:cNvSpPr>
                <p:nvPr/>
              </p:nvSpPr>
              <p:spPr>
                <a:xfrm>
                  <a:off x="7567275" y="4676008"/>
                  <a:ext cx="333977" cy="307777"/>
                </a:xfrm>
                <a:prstGeom prst="rect">
                  <a:avLst/>
                </a:prstGeom>
                <a:blipFill>
                  <a:blip r:embed="rId9"/>
                  <a:stretch>
                    <a:fillRect r="-23636"/>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345154E0-01C7-E111-D0F7-991715F99566}"/>
                  </a:ext>
                </a:extLst>
              </p:cNvPr>
              <p:cNvSpPr txBox="1"/>
              <p:nvPr/>
            </p:nvSpPr>
            <p:spPr>
              <a:xfrm>
                <a:off x="3963254" y="2676973"/>
                <a:ext cx="542760" cy="29924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𝑞</m:t>
                          </m:r>
                        </m:e>
                        <m:sub>
                          <m:r>
                            <a:rPr lang="en-US" b="0" i="1" smtClean="0">
                              <a:solidFill>
                                <a:schemeClr val="tx2"/>
                              </a:solidFill>
                              <a:latin typeface="Cambria Math" panose="02040503050406030204" pitchFamily="18" charset="0"/>
                            </a:rPr>
                            <m:t>𝑓</m:t>
                          </m:r>
                        </m:sub>
                      </m:sSub>
                    </m:oMath>
                  </m:oMathPara>
                </a14:m>
                <a:endParaRPr lang="en-GB" dirty="0">
                  <a:solidFill>
                    <a:schemeClr val="tx2"/>
                  </a:solidFill>
                </a:endParaRPr>
              </a:p>
            </p:txBody>
          </p:sp>
        </mc:Choice>
        <mc:Fallback xmlns="">
          <p:sp>
            <p:nvSpPr>
              <p:cNvPr id="35" name="TextBox 34">
                <a:extLst>
                  <a:ext uri="{FF2B5EF4-FFF2-40B4-BE49-F238E27FC236}">
                    <a16:creationId xmlns:a16="http://schemas.microsoft.com/office/drawing/2014/main" id="{345154E0-01C7-E111-D0F7-991715F99566}"/>
                  </a:ext>
                </a:extLst>
              </p:cNvPr>
              <p:cNvSpPr txBox="1">
                <a:spLocks noRot="1" noChangeAspect="1" noMove="1" noResize="1" noEditPoints="1" noAdjustHandles="1" noChangeArrowheads="1" noChangeShapeType="1" noTextEdit="1"/>
              </p:cNvSpPr>
              <p:nvPr/>
            </p:nvSpPr>
            <p:spPr>
              <a:xfrm>
                <a:off x="3963254" y="2676973"/>
                <a:ext cx="542760" cy="299249"/>
              </a:xfrm>
              <a:prstGeom prst="rect">
                <a:avLst/>
              </a:prstGeom>
              <a:blipFill>
                <a:blip r:embed="rId10"/>
                <a:stretch>
                  <a:fillRect b="-28571"/>
                </a:stretch>
              </a:blipFill>
            </p:spPr>
            <p:txBody>
              <a:bodyPr/>
              <a:lstStyle/>
              <a:p>
                <a:r>
                  <a:rPr lang="en-GB">
                    <a:noFill/>
                  </a:rPr>
                  <a:t> </a:t>
                </a:r>
              </a:p>
            </p:txBody>
          </p:sp>
        </mc:Fallback>
      </mc:AlternateContent>
    </p:spTree>
    <p:extLst>
      <p:ext uri="{BB962C8B-B14F-4D97-AF65-F5344CB8AC3E}">
        <p14:creationId xmlns:p14="http://schemas.microsoft.com/office/powerpoint/2010/main" val="84777394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786107"/>
          </a:xfrm>
        </p:spPr>
        <p:txBody>
          <a:bodyPr/>
          <a:lstStyle/>
          <a:p>
            <a:r>
              <a:rPr lang="en-US" dirty="0"/>
              <a:t>Cubic Orientation Spline Algorithm </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48</a:t>
            </a:fld>
            <a:endParaRPr lang="en-US" dirty="0"/>
          </a:p>
        </p:txBody>
      </p:sp>
      <p:sp>
        <p:nvSpPr>
          <p:cNvPr id="9" name="Rectangle: Rounded Corners 8">
            <a:extLst>
              <a:ext uri="{FF2B5EF4-FFF2-40B4-BE49-F238E27FC236}">
                <a16:creationId xmlns:a16="http://schemas.microsoft.com/office/drawing/2014/main" id="{B57F9A30-FFD9-84B0-88A3-7D6F60558107}"/>
              </a:ext>
            </a:extLst>
          </p:cNvPr>
          <p:cNvSpPr/>
          <p:nvPr/>
        </p:nvSpPr>
        <p:spPr>
          <a:xfrm>
            <a:off x="8292353" y="345766"/>
            <a:ext cx="2303929" cy="622422"/>
          </a:xfrm>
          <a:prstGeom prst="roundRect">
            <a:avLst/>
          </a:prstGeom>
          <a:solidFill>
            <a:srgbClr val="CDDCF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CubicOrientationSpline</a:t>
            </a:r>
            <a:endParaRPr lang="en-GB" sz="1200" dirty="0">
              <a:solidFill>
                <a:srgbClr val="003399"/>
              </a:solidFill>
            </a:endParaRPr>
          </a:p>
        </p:txBody>
      </p:sp>
      <mc:AlternateContent xmlns:mc="http://schemas.openxmlformats.org/markup-compatibility/2006" xmlns:a14="http://schemas.microsoft.com/office/drawing/2010/main">
        <mc:Choice Requires="a14">
          <p:sp>
            <p:nvSpPr>
              <p:cNvPr id="151" name="TextBox 150">
                <a:extLst>
                  <a:ext uri="{FF2B5EF4-FFF2-40B4-BE49-F238E27FC236}">
                    <a16:creationId xmlns:a16="http://schemas.microsoft.com/office/drawing/2014/main" id="{EB395618-EE4B-C30E-BB34-BDB47CFE4E3A}"/>
                  </a:ext>
                </a:extLst>
              </p:cNvPr>
              <p:cNvSpPr txBox="1"/>
              <p:nvPr/>
            </p:nvSpPr>
            <p:spPr>
              <a:xfrm>
                <a:off x="4116387" y="4537509"/>
                <a:ext cx="1740743" cy="318998"/>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m:rPr>
                          <m:sty m:val="p"/>
                        </m:rPr>
                        <a:rPr lang="en-US" b="0" i="0" smtClean="0">
                          <a:solidFill>
                            <a:schemeClr val="tx2"/>
                          </a:solidFill>
                          <a:latin typeface="Cambria Math" panose="02040503050406030204" pitchFamily="18" charset="0"/>
                        </a:rPr>
                        <m:t>Δ</m:t>
                      </m:r>
                      <m:r>
                        <a:rPr lang="en-US" b="0" i="1" smtClean="0">
                          <a:solidFill>
                            <a:schemeClr val="tx2"/>
                          </a:solidFill>
                          <a:latin typeface="Cambria Math" panose="02040503050406030204" pitchFamily="18" charset="0"/>
                        </a:rPr>
                        <m:t>𝑞</m:t>
                      </m:r>
                      <m:d>
                        <m:dPr>
                          <m:ctrlPr>
                            <a:rPr lang="en-US" b="0" i="1" smtClean="0">
                              <a:solidFill>
                                <a:schemeClr val="tx2"/>
                              </a:solidFill>
                              <a:latin typeface="Cambria Math" panose="02040503050406030204" pitchFamily="18" charset="0"/>
                            </a:rPr>
                          </m:ctrlPr>
                        </m:dPr>
                        <m:e>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𝑡</m:t>
                              </m:r>
                            </m:e>
                            <m:sub>
                              <m:r>
                                <a:rPr lang="en-US" b="0" i="1" smtClean="0">
                                  <a:solidFill>
                                    <a:schemeClr val="tx2"/>
                                  </a:solidFill>
                                  <a:latin typeface="Cambria Math" panose="02040503050406030204" pitchFamily="18" charset="0"/>
                                </a:rPr>
                                <m:t>𝑓</m:t>
                              </m:r>
                            </m:sub>
                          </m:sSub>
                        </m:e>
                      </m:d>
                      <m:r>
                        <a:rPr lang="en-US" b="0" i="1" smtClean="0">
                          <a:solidFill>
                            <a:schemeClr val="tx2"/>
                          </a:solidFill>
                          <a:latin typeface="Cambria Math" panose="02040503050406030204" pitchFamily="18" charset="0"/>
                        </a:rPr>
                        <m:t>=</m:t>
                      </m:r>
                      <m:sSubSup>
                        <m:sSubSupPr>
                          <m:ctrlPr>
                            <a:rPr lang="en-US" b="0" i="1" smtClean="0">
                              <a:solidFill>
                                <a:schemeClr val="tx2"/>
                              </a:solidFill>
                              <a:latin typeface="Cambria Math" panose="02040503050406030204" pitchFamily="18" charset="0"/>
                            </a:rPr>
                          </m:ctrlPr>
                        </m:sSubSupPr>
                        <m:e>
                          <m:r>
                            <a:rPr lang="en-US" b="0" i="1" smtClean="0">
                              <a:solidFill>
                                <a:schemeClr val="tx2"/>
                              </a:solidFill>
                              <a:latin typeface="Cambria Math" panose="02040503050406030204" pitchFamily="18" charset="0"/>
                            </a:rPr>
                            <m:t>𝑞</m:t>
                          </m:r>
                        </m:e>
                        <m:sub>
                          <m:r>
                            <a:rPr lang="en-US" b="0" i="1" smtClean="0">
                              <a:solidFill>
                                <a:schemeClr val="tx2"/>
                              </a:solidFill>
                              <a:latin typeface="Cambria Math" panose="02040503050406030204" pitchFamily="18" charset="0"/>
                            </a:rPr>
                            <m:t>𝑖</m:t>
                          </m:r>
                        </m:sub>
                        <m:sup>
                          <m:r>
                            <a:rPr lang="en-US" b="0" i="1" smtClean="0">
                              <a:solidFill>
                                <a:schemeClr val="tx2"/>
                              </a:solidFill>
                              <a:latin typeface="Cambria Math" panose="02040503050406030204" pitchFamily="18" charset="0"/>
                            </a:rPr>
                            <m:t>−1</m:t>
                          </m:r>
                        </m:sup>
                      </m:sSubSup>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𝑞</m:t>
                          </m:r>
                        </m:e>
                        <m:sub>
                          <m:r>
                            <a:rPr lang="en-US" b="0" i="1" smtClean="0">
                              <a:solidFill>
                                <a:schemeClr val="tx2"/>
                              </a:solidFill>
                              <a:latin typeface="Cambria Math" panose="02040503050406030204" pitchFamily="18" charset="0"/>
                            </a:rPr>
                            <m:t>𝑓</m:t>
                          </m:r>
                        </m:sub>
                      </m:sSub>
                    </m:oMath>
                  </m:oMathPara>
                </a14:m>
                <a:endParaRPr lang="en-GB" dirty="0">
                  <a:solidFill>
                    <a:schemeClr val="tx2"/>
                  </a:solidFill>
                </a:endParaRPr>
              </a:p>
            </p:txBody>
          </p:sp>
        </mc:Choice>
        <mc:Fallback xmlns="">
          <p:sp>
            <p:nvSpPr>
              <p:cNvPr id="151" name="TextBox 150">
                <a:extLst>
                  <a:ext uri="{FF2B5EF4-FFF2-40B4-BE49-F238E27FC236}">
                    <a16:creationId xmlns:a16="http://schemas.microsoft.com/office/drawing/2014/main" id="{EB395618-EE4B-C30E-BB34-BDB47CFE4E3A}"/>
                  </a:ext>
                </a:extLst>
              </p:cNvPr>
              <p:cNvSpPr txBox="1">
                <a:spLocks noRot="1" noChangeAspect="1" noMove="1" noResize="1" noEditPoints="1" noAdjustHandles="1" noChangeArrowheads="1" noChangeShapeType="1" noTextEdit="1"/>
              </p:cNvSpPr>
              <p:nvPr/>
            </p:nvSpPr>
            <p:spPr>
              <a:xfrm>
                <a:off x="4116387" y="4537509"/>
                <a:ext cx="1740743" cy="318998"/>
              </a:xfrm>
              <a:prstGeom prst="rect">
                <a:avLst/>
              </a:prstGeom>
              <a:blipFill>
                <a:blip r:embed="rId3"/>
                <a:stretch>
                  <a:fillRect b="-2452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9455379-0C65-A4B3-87B4-70588481EEE2}"/>
                  </a:ext>
                </a:extLst>
              </p:cNvPr>
              <p:cNvSpPr txBox="1"/>
              <p:nvPr/>
            </p:nvSpPr>
            <p:spPr>
              <a:xfrm>
                <a:off x="5903311" y="2573306"/>
                <a:ext cx="2797341" cy="1412181"/>
              </a:xfrm>
              <a:prstGeom prst="rect">
                <a:avLst/>
              </a:prstGeom>
              <a:noFill/>
            </p:spPr>
            <p:txBody>
              <a:bodyPr wrap="square" lIns="0" tIns="0" rIns="0" bIns="0" rtlCol="0">
                <a:spAutoFit/>
              </a:bodyPr>
              <a:lstStyle/>
              <a:p>
                <a:r>
                  <a:rPr lang="en-US" b="1" dirty="0">
                    <a:solidFill>
                      <a:srgbClr val="2F2F2F"/>
                    </a:solidFill>
                  </a:rPr>
                  <a:t>Coefficients:</a:t>
                </a:r>
              </a:p>
              <a:p>
                <a14:m>
                  <m:oMath xmlns:m="http://schemas.openxmlformats.org/officeDocument/2006/math">
                    <m:sSub>
                      <m:sSubPr>
                        <m:ctrlPr>
                          <a:rPr lang="en-US" b="0" i="1" smtClean="0">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𝑎</m:t>
                            </m:r>
                          </m:e>
                        </m:acc>
                      </m:e>
                      <m:sub>
                        <m:r>
                          <a:rPr lang="en-US" b="0" i="1" smtClean="0">
                            <a:solidFill>
                              <a:srgbClr val="2F2F2F"/>
                            </a:solidFill>
                            <a:latin typeface="Cambria Math" panose="02040503050406030204" pitchFamily="18" charset="0"/>
                          </a:rPr>
                          <m:t>1</m:t>
                        </m:r>
                      </m:sub>
                    </m:sSub>
                    <m:r>
                      <a:rPr lang="en-US" b="0" i="1" smtClean="0">
                        <a:solidFill>
                          <a:srgbClr val="2F2F2F"/>
                        </a:solidFill>
                        <a:latin typeface="Cambria Math" panose="02040503050406030204" pitchFamily="18" charset="0"/>
                      </a:rPr>
                      <m:t>=0</m:t>
                    </m:r>
                  </m:oMath>
                </a14:m>
                <a:r>
                  <a:rPr lang="en-US" b="0" dirty="0">
                    <a:solidFill>
                      <a:srgbClr val="2F2F2F"/>
                    </a:solidFill>
                  </a:rPr>
                  <a:t> </a:t>
                </a:r>
              </a:p>
              <a:p>
                <a14:m>
                  <m:oMath xmlns:m="http://schemas.openxmlformats.org/officeDocument/2006/math">
                    <m:sSub>
                      <m:sSubPr>
                        <m:ctrlPr>
                          <a:rPr lang="en-US" i="1">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𝑎</m:t>
                            </m:r>
                          </m:e>
                        </m:acc>
                      </m:e>
                      <m:sub>
                        <m:r>
                          <a:rPr lang="en-US" i="1">
                            <a:solidFill>
                              <a:srgbClr val="2F2F2F"/>
                            </a:solidFill>
                            <a:latin typeface="Cambria Math" panose="02040503050406030204" pitchFamily="18" charset="0"/>
                          </a:rPr>
                          <m:t>2</m:t>
                        </m:r>
                      </m:sub>
                    </m:sSub>
                    <m:r>
                      <a:rPr lang="en-US" b="0" i="0" smtClean="0">
                        <a:solidFill>
                          <a:srgbClr val="2F2F2F"/>
                        </a:solidFill>
                        <a:latin typeface="Cambria Math" panose="02040503050406030204" pitchFamily="18" charset="0"/>
                      </a:rPr>
                      <m:t>=</m:t>
                    </m:r>
                    <m:r>
                      <a:rPr lang="en-US" b="1" i="0" smtClean="0">
                        <a:solidFill>
                          <a:schemeClr val="tx1"/>
                        </a:solidFill>
                        <a:latin typeface="Cambria Math" panose="02040503050406030204" pitchFamily="18" charset="0"/>
                      </a:rPr>
                      <m:t>𝚫</m:t>
                    </m:r>
                    <m:r>
                      <a:rPr lang="en-US" b="1" i="1" smtClean="0">
                        <a:solidFill>
                          <a:schemeClr val="tx1"/>
                        </a:solidFill>
                        <a:latin typeface="Cambria Math" panose="02040503050406030204" pitchFamily="18" charset="0"/>
                      </a:rPr>
                      <m:t>𝒕</m:t>
                    </m:r>
                    <m:sSub>
                      <m:sSubPr>
                        <m:ctrlPr>
                          <a:rPr lang="en-US" b="0" i="1" smtClean="0">
                            <a:solidFill>
                              <a:srgbClr val="2F2F2F"/>
                            </a:solidFill>
                            <a:latin typeface="Cambria Math" panose="02040503050406030204" pitchFamily="18" charset="0"/>
                          </a:rPr>
                        </m:ctrlPr>
                      </m:sSubPr>
                      <m:e>
                        <m:acc>
                          <m:accPr>
                            <m:chr m:val="⃗"/>
                            <m:ctrlPr>
                              <a:rPr lang="en-US" b="0" i="1" smtClean="0">
                                <a:solidFill>
                                  <a:srgbClr val="2F2F2F"/>
                                </a:solidFill>
                                <a:latin typeface="Cambria Math" panose="02040503050406030204" pitchFamily="18" charset="0"/>
                              </a:rPr>
                            </m:ctrlPr>
                          </m:accPr>
                          <m:e>
                            <m:r>
                              <a:rPr lang="en-US" b="0" i="1" smtClean="0">
                                <a:solidFill>
                                  <a:srgbClr val="2F2F2F"/>
                                </a:solidFill>
                                <a:latin typeface="Cambria Math" panose="02040503050406030204" pitchFamily="18" charset="0"/>
                              </a:rPr>
                              <m:t>𝜔</m:t>
                            </m:r>
                          </m:e>
                        </m:acc>
                      </m:e>
                      <m:sub>
                        <m:r>
                          <a:rPr lang="en-US" b="0" i="1" smtClean="0">
                            <a:solidFill>
                              <a:srgbClr val="2F2F2F"/>
                            </a:solidFill>
                            <a:latin typeface="Cambria Math" panose="02040503050406030204" pitchFamily="18" charset="0"/>
                          </a:rPr>
                          <m:t>𝑖</m:t>
                        </m:r>
                      </m:sub>
                    </m:sSub>
                  </m:oMath>
                </a14:m>
                <a:r>
                  <a:rPr lang="en-US" b="0" dirty="0">
                    <a:solidFill>
                      <a:srgbClr val="2F2F2F"/>
                    </a:solidFill>
                  </a:rPr>
                  <a:t> </a:t>
                </a:r>
              </a:p>
              <a:p>
                <a14:m>
                  <m:oMath xmlns:m="http://schemas.openxmlformats.org/officeDocument/2006/math">
                    <m:sSub>
                      <m:sSubPr>
                        <m:ctrlPr>
                          <a:rPr lang="en-US" i="1" smtClean="0">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𝑎</m:t>
                            </m:r>
                          </m:e>
                        </m:acc>
                      </m:e>
                      <m:sub>
                        <m:r>
                          <a:rPr lang="en-US" b="0" i="1" smtClean="0">
                            <a:solidFill>
                              <a:srgbClr val="2F2F2F"/>
                            </a:solidFill>
                            <a:latin typeface="Cambria Math" panose="02040503050406030204" pitchFamily="18" charset="0"/>
                          </a:rPr>
                          <m:t>3</m:t>
                        </m:r>
                      </m:sub>
                    </m:sSub>
                    <m:r>
                      <a:rPr lang="en-US" b="0" i="1" smtClean="0">
                        <a:solidFill>
                          <a:srgbClr val="2F2F2F"/>
                        </a:solidFill>
                        <a:latin typeface="Cambria Math" panose="02040503050406030204" pitchFamily="18" charset="0"/>
                      </a:rPr>
                      <m:t>=</m:t>
                    </m:r>
                    <m:r>
                      <a:rPr lang="en-US" b="1" i="0" smtClean="0">
                        <a:solidFill>
                          <a:schemeClr val="tx1"/>
                        </a:solidFill>
                        <a:latin typeface="Cambria Math" panose="02040503050406030204" pitchFamily="18" charset="0"/>
                      </a:rPr>
                      <m:t>𝚫</m:t>
                    </m:r>
                    <m:r>
                      <a:rPr lang="en-US" b="1" i="1" smtClean="0">
                        <a:solidFill>
                          <a:schemeClr val="tx1"/>
                        </a:solidFill>
                        <a:latin typeface="Cambria Math" panose="02040503050406030204" pitchFamily="18" charset="0"/>
                      </a:rPr>
                      <m:t>𝒕</m:t>
                    </m:r>
                    <m:sSup>
                      <m:sSupPr>
                        <m:ctrlPr>
                          <a:rPr lang="en-US" b="0" i="1" smtClean="0">
                            <a:solidFill>
                              <a:srgbClr val="2F2F2F"/>
                            </a:solidFill>
                            <a:latin typeface="Cambria Math" panose="02040503050406030204" pitchFamily="18" charset="0"/>
                          </a:rPr>
                        </m:ctrlPr>
                      </m:sSupPr>
                      <m:e>
                        <m:r>
                          <a:rPr lang="en-US" b="0" i="1" smtClean="0">
                            <a:solidFill>
                              <a:srgbClr val="2F2F2F"/>
                            </a:solidFill>
                            <a:latin typeface="Cambria Math" panose="02040503050406030204" pitchFamily="18" charset="0"/>
                          </a:rPr>
                          <m:t>𝐵</m:t>
                        </m:r>
                      </m:e>
                      <m:sup>
                        <m:r>
                          <a:rPr lang="en-US" b="0" i="1" smtClean="0">
                            <a:solidFill>
                              <a:srgbClr val="2F2F2F"/>
                            </a:solidFill>
                            <a:latin typeface="Cambria Math" panose="02040503050406030204" pitchFamily="18" charset="0"/>
                          </a:rPr>
                          <m:t>−1</m:t>
                        </m:r>
                      </m:sup>
                    </m:sSup>
                    <m:r>
                      <a:rPr lang="en-US" b="0" i="1" smtClean="0">
                        <a:solidFill>
                          <a:srgbClr val="2F2F2F"/>
                        </a:solidFill>
                        <a:latin typeface="Cambria Math" panose="02040503050406030204" pitchFamily="18" charset="0"/>
                        <a:ea typeface="Cambria Math" panose="02040503050406030204" pitchFamily="18" charset="0"/>
                      </a:rPr>
                      <m:t>∙</m:t>
                    </m:r>
                    <m:sSub>
                      <m:sSubPr>
                        <m:ctrlPr>
                          <a:rPr lang="en-US" i="1">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𝜔</m:t>
                            </m:r>
                          </m:e>
                        </m:acc>
                      </m:e>
                      <m:sub>
                        <m:r>
                          <a:rPr lang="en-US" b="0" i="1" smtClean="0">
                            <a:solidFill>
                              <a:srgbClr val="2F2F2F"/>
                            </a:solidFill>
                            <a:latin typeface="Cambria Math" panose="02040503050406030204" pitchFamily="18" charset="0"/>
                          </a:rPr>
                          <m:t>𝑓</m:t>
                        </m:r>
                      </m:sub>
                    </m:sSub>
                    <m:r>
                      <a:rPr lang="en-US" b="0" i="1" smtClean="0">
                        <a:solidFill>
                          <a:srgbClr val="2F2F2F"/>
                        </a:solidFill>
                        <a:latin typeface="Cambria Math" panose="02040503050406030204" pitchFamily="18" charset="0"/>
                      </a:rPr>
                      <m:t>−3</m:t>
                    </m:r>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𝑒</m:t>
                        </m:r>
                      </m:e>
                    </m:acc>
                    <m:r>
                      <m:rPr>
                        <m:sty m:val="p"/>
                      </m:rPr>
                      <a:rPr lang="en-US">
                        <a:solidFill>
                          <a:srgbClr val="2F2F2F"/>
                        </a:solidFill>
                        <a:latin typeface="Cambria Math" panose="02040503050406030204" pitchFamily="18" charset="0"/>
                      </a:rPr>
                      <m:t>Δ</m:t>
                    </m:r>
                    <m:r>
                      <a:rPr lang="en-US" i="1">
                        <a:solidFill>
                          <a:srgbClr val="2F2F2F"/>
                        </a:solidFill>
                        <a:latin typeface="Cambria Math" panose="02040503050406030204" pitchFamily="18" charset="0"/>
                      </a:rPr>
                      <m:t>𝜃</m:t>
                    </m:r>
                  </m:oMath>
                </a14:m>
                <a:r>
                  <a:rPr lang="en-US" b="0" dirty="0">
                    <a:solidFill>
                      <a:srgbClr val="2F2F2F"/>
                    </a:solidFill>
                  </a:rPr>
                  <a:t> </a:t>
                </a:r>
              </a:p>
              <a:p>
                <a14:m>
                  <m:oMath xmlns:m="http://schemas.openxmlformats.org/officeDocument/2006/math">
                    <m:sSub>
                      <m:sSubPr>
                        <m:ctrlPr>
                          <a:rPr lang="en-US" i="1">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𝑎</m:t>
                            </m:r>
                          </m:e>
                        </m:acc>
                      </m:e>
                      <m:sub>
                        <m:r>
                          <a:rPr lang="en-US" b="0" i="1" smtClean="0">
                            <a:solidFill>
                              <a:srgbClr val="2F2F2F"/>
                            </a:solidFill>
                            <a:latin typeface="Cambria Math" panose="02040503050406030204" pitchFamily="18" charset="0"/>
                          </a:rPr>
                          <m:t>4</m:t>
                        </m:r>
                      </m:sub>
                    </m:sSub>
                    <m:r>
                      <a:rPr lang="en-US" b="0" i="1" smtClean="0">
                        <a:solidFill>
                          <a:srgbClr val="2F2F2F"/>
                        </a:solidFill>
                        <a:latin typeface="Cambria Math" panose="02040503050406030204" pitchFamily="18" charset="0"/>
                      </a:rPr>
                      <m:t>=</m:t>
                    </m:r>
                    <m:acc>
                      <m:accPr>
                        <m:chr m:val="̂"/>
                        <m:ctrlPr>
                          <a:rPr lang="en-US" b="0" i="1" smtClean="0">
                            <a:solidFill>
                              <a:srgbClr val="2F2F2F"/>
                            </a:solidFill>
                            <a:latin typeface="Cambria Math" panose="02040503050406030204" pitchFamily="18" charset="0"/>
                          </a:rPr>
                        </m:ctrlPr>
                      </m:accPr>
                      <m:e>
                        <m:r>
                          <a:rPr lang="en-US" b="0" i="1" smtClean="0">
                            <a:solidFill>
                              <a:srgbClr val="2F2F2F"/>
                            </a:solidFill>
                            <a:latin typeface="Cambria Math" panose="02040503050406030204" pitchFamily="18" charset="0"/>
                          </a:rPr>
                          <m:t>𝑒</m:t>
                        </m:r>
                      </m:e>
                    </m:acc>
                    <m:r>
                      <m:rPr>
                        <m:sty m:val="p"/>
                      </m:rPr>
                      <a:rPr lang="en-US" b="0" i="0" smtClean="0">
                        <a:solidFill>
                          <a:srgbClr val="2F2F2F"/>
                        </a:solidFill>
                        <a:latin typeface="Cambria Math" panose="02040503050406030204" pitchFamily="18" charset="0"/>
                      </a:rPr>
                      <m:t>Δ</m:t>
                    </m:r>
                    <m:r>
                      <a:rPr lang="en-US" b="0" i="1" smtClean="0">
                        <a:solidFill>
                          <a:srgbClr val="2F2F2F"/>
                        </a:solidFill>
                        <a:latin typeface="Cambria Math" panose="02040503050406030204" pitchFamily="18" charset="0"/>
                      </a:rPr>
                      <m:t>𝜃</m:t>
                    </m:r>
                  </m:oMath>
                </a14:m>
                <a:r>
                  <a:rPr lang="en-US" b="0" dirty="0">
                    <a:solidFill>
                      <a:srgbClr val="2F2F2F"/>
                    </a:solidFill>
                  </a:rPr>
                  <a:t> </a:t>
                </a:r>
              </a:p>
            </p:txBody>
          </p:sp>
        </mc:Choice>
        <mc:Fallback xmlns="">
          <p:sp>
            <p:nvSpPr>
              <p:cNvPr id="10" name="TextBox 9">
                <a:extLst>
                  <a:ext uri="{FF2B5EF4-FFF2-40B4-BE49-F238E27FC236}">
                    <a16:creationId xmlns:a16="http://schemas.microsoft.com/office/drawing/2014/main" id="{A9455379-0C65-A4B3-87B4-70588481EEE2}"/>
                  </a:ext>
                </a:extLst>
              </p:cNvPr>
              <p:cNvSpPr txBox="1">
                <a:spLocks noRot="1" noChangeAspect="1" noMove="1" noResize="1" noEditPoints="1" noAdjustHandles="1" noChangeArrowheads="1" noChangeShapeType="1" noTextEdit="1"/>
              </p:cNvSpPr>
              <p:nvPr/>
            </p:nvSpPr>
            <p:spPr>
              <a:xfrm>
                <a:off x="5903311" y="2573306"/>
                <a:ext cx="2797341" cy="1412181"/>
              </a:xfrm>
              <a:prstGeom prst="rect">
                <a:avLst/>
              </a:prstGeom>
              <a:blipFill>
                <a:blip r:embed="rId4"/>
                <a:stretch>
                  <a:fillRect l="-5011" t="-5603" b="-3017"/>
                </a:stretch>
              </a:blipFill>
            </p:spPr>
            <p:txBody>
              <a:bodyPr/>
              <a:lstStyle/>
              <a:p>
                <a:r>
                  <a:rPr lang="en-GB">
                    <a:noFill/>
                  </a:rPr>
                  <a:t> </a:t>
                </a:r>
              </a:p>
            </p:txBody>
          </p:sp>
        </mc:Fallback>
      </mc:AlternateContent>
      <p:grpSp>
        <p:nvGrpSpPr>
          <p:cNvPr id="11" name="Group 10">
            <a:extLst>
              <a:ext uri="{FF2B5EF4-FFF2-40B4-BE49-F238E27FC236}">
                <a16:creationId xmlns:a16="http://schemas.microsoft.com/office/drawing/2014/main" id="{55E7BFA0-EBE5-2AE9-ED46-ABC51DAA2D4F}"/>
              </a:ext>
            </a:extLst>
          </p:cNvPr>
          <p:cNvGrpSpPr/>
          <p:nvPr/>
        </p:nvGrpSpPr>
        <p:grpSpPr>
          <a:xfrm rot="18885688">
            <a:off x="3519256" y="2299452"/>
            <a:ext cx="1021929" cy="1522466"/>
            <a:chOff x="1071439" y="1596445"/>
            <a:chExt cx="1021929" cy="1522466"/>
          </a:xfrm>
        </p:grpSpPr>
        <p:cxnSp>
          <p:nvCxnSpPr>
            <p:cNvPr id="12" name="Straight Arrow Connector 11">
              <a:extLst>
                <a:ext uri="{FF2B5EF4-FFF2-40B4-BE49-F238E27FC236}">
                  <a16:creationId xmlns:a16="http://schemas.microsoft.com/office/drawing/2014/main" id="{FFFBE926-0C88-7D0C-144E-795BBFC8D93E}"/>
                </a:ext>
              </a:extLst>
            </p:cNvPr>
            <p:cNvCxnSpPr>
              <a:cxnSpLocks/>
            </p:cNvCxnSpPr>
            <p:nvPr/>
          </p:nvCxnSpPr>
          <p:spPr>
            <a:xfrm flipH="1">
              <a:off x="1628009" y="2600340"/>
              <a:ext cx="460955" cy="51857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A96FAB1-A66B-46F7-40EE-02215BFD8389}"/>
                </a:ext>
              </a:extLst>
            </p:cNvPr>
            <p:cNvCxnSpPr/>
            <p:nvPr/>
          </p:nvCxnSpPr>
          <p:spPr>
            <a:xfrm flipV="1">
              <a:off x="2088964" y="1596445"/>
              <a:ext cx="0" cy="101438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67E48AA-B9B8-1868-8D37-E4243C4C269F}"/>
                </a:ext>
              </a:extLst>
            </p:cNvPr>
            <p:cNvCxnSpPr>
              <a:cxnSpLocks/>
            </p:cNvCxnSpPr>
            <p:nvPr/>
          </p:nvCxnSpPr>
          <p:spPr>
            <a:xfrm flipH="1">
              <a:off x="1071439" y="2600340"/>
              <a:ext cx="102192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8025A414-3C72-4BE7-82BE-34D8D5403D19}"/>
              </a:ext>
            </a:extLst>
          </p:cNvPr>
          <p:cNvGrpSpPr/>
          <p:nvPr/>
        </p:nvGrpSpPr>
        <p:grpSpPr>
          <a:xfrm>
            <a:off x="1695692" y="2933394"/>
            <a:ext cx="1021929" cy="1522466"/>
            <a:chOff x="1071439" y="1596445"/>
            <a:chExt cx="1021929" cy="1522466"/>
          </a:xfrm>
        </p:grpSpPr>
        <p:cxnSp>
          <p:nvCxnSpPr>
            <p:cNvPr id="16" name="Straight Arrow Connector 15">
              <a:extLst>
                <a:ext uri="{FF2B5EF4-FFF2-40B4-BE49-F238E27FC236}">
                  <a16:creationId xmlns:a16="http://schemas.microsoft.com/office/drawing/2014/main" id="{52222C15-EF7D-36F7-FC18-81F0A107ED18}"/>
                </a:ext>
              </a:extLst>
            </p:cNvPr>
            <p:cNvCxnSpPr>
              <a:cxnSpLocks/>
            </p:cNvCxnSpPr>
            <p:nvPr/>
          </p:nvCxnSpPr>
          <p:spPr>
            <a:xfrm flipH="1">
              <a:off x="1628009" y="2600340"/>
              <a:ext cx="460955" cy="51857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339568D-9FD7-F93A-2E7C-9BC0E91FAA57}"/>
                </a:ext>
              </a:extLst>
            </p:cNvPr>
            <p:cNvCxnSpPr/>
            <p:nvPr/>
          </p:nvCxnSpPr>
          <p:spPr>
            <a:xfrm flipV="1">
              <a:off x="2088964" y="1596445"/>
              <a:ext cx="0" cy="101438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1FE7412-20E0-B4E3-096C-0F54CD6647FA}"/>
                </a:ext>
              </a:extLst>
            </p:cNvPr>
            <p:cNvCxnSpPr>
              <a:cxnSpLocks/>
            </p:cNvCxnSpPr>
            <p:nvPr/>
          </p:nvCxnSpPr>
          <p:spPr>
            <a:xfrm flipH="1">
              <a:off x="1071439" y="2600340"/>
              <a:ext cx="102192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1" name="Arrow: Curved Down 20">
            <a:extLst>
              <a:ext uri="{FF2B5EF4-FFF2-40B4-BE49-F238E27FC236}">
                <a16:creationId xmlns:a16="http://schemas.microsoft.com/office/drawing/2014/main" id="{9CE41B02-3237-1452-8582-E607A26BDD66}"/>
              </a:ext>
            </a:extLst>
          </p:cNvPr>
          <p:cNvSpPr/>
          <p:nvPr/>
        </p:nvSpPr>
        <p:spPr>
          <a:xfrm rot="19977682" flipV="1">
            <a:off x="2878089" y="3405434"/>
            <a:ext cx="2319071" cy="1092550"/>
          </a:xfrm>
          <a:prstGeom prst="curvedDownArrow">
            <a:avLst>
              <a:gd name="adj1" fmla="val 0"/>
              <a:gd name="adj2" fmla="val 21287"/>
              <a:gd name="adj3" fmla="val 11700"/>
            </a:avLst>
          </a:prstGeom>
          <a:solidFill>
            <a:srgbClr val="000000"/>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C8935C0-2B0B-4974-9124-55D0621822EF}"/>
                  </a:ext>
                </a:extLst>
              </p:cNvPr>
              <p:cNvSpPr txBox="1"/>
              <p:nvPr/>
            </p:nvSpPr>
            <p:spPr>
              <a:xfrm>
                <a:off x="2261040" y="3594365"/>
                <a:ext cx="542760"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𝑞</m:t>
                          </m:r>
                        </m:e>
                        <m:sub>
                          <m:r>
                            <a:rPr lang="en-US" b="0" i="1" smtClean="0">
                              <a:solidFill>
                                <a:schemeClr val="tx2"/>
                              </a:solidFill>
                              <a:latin typeface="Cambria Math" panose="02040503050406030204" pitchFamily="18" charset="0"/>
                            </a:rPr>
                            <m:t>𝑖</m:t>
                          </m:r>
                        </m:sub>
                      </m:sSub>
                    </m:oMath>
                  </m:oMathPara>
                </a14:m>
                <a:endParaRPr lang="en-GB" dirty="0">
                  <a:solidFill>
                    <a:schemeClr val="tx2"/>
                  </a:solidFill>
                </a:endParaRPr>
              </a:p>
            </p:txBody>
          </p:sp>
        </mc:Choice>
        <mc:Fallback xmlns="">
          <p:sp>
            <p:nvSpPr>
              <p:cNvPr id="24" name="TextBox 23">
                <a:extLst>
                  <a:ext uri="{FF2B5EF4-FFF2-40B4-BE49-F238E27FC236}">
                    <a16:creationId xmlns:a16="http://schemas.microsoft.com/office/drawing/2014/main" id="{3C8935C0-2B0B-4974-9124-55D0621822EF}"/>
                  </a:ext>
                </a:extLst>
              </p:cNvPr>
              <p:cNvSpPr txBox="1">
                <a:spLocks noRot="1" noChangeAspect="1" noMove="1" noResize="1" noEditPoints="1" noAdjustHandles="1" noChangeArrowheads="1" noChangeShapeType="1" noTextEdit="1"/>
              </p:cNvSpPr>
              <p:nvPr/>
            </p:nvSpPr>
            <p:spPr>
              <a:xfrm>
                <a:off x="2261040" y="3594365"/>
                <a:ext cx="542760" cy="276999"/>
              </a:xfrm>
              <a:prstGeom prst="rect">
                <a:avLst/>
              </a:prstGeom>
              <a:blipFill>
                <a:blip r:embed="rId6"/>
                <a:stretch>
                  <a:fillRect b="-28889"/>
                </a:stretch>
              </a:blipFill>
            </p:spPr>
            <p:txBody>
              <a:bodyPr/>
              <a:lstStyle/>
              <a:p>
                <a:r>
                  <a:rPr lang="en-GB">
                    <a:noFill/>
                  </a:rPr>
                  <a:t> </a:t>
                </a:r>
              </a:p>
            </p:txBody>
          </p:sp>
        </mc:Fallback>
      </mc:AlternateContent>
      <p:grpSp>
        <p:nvGrpSpPr>
          <p:cNvPr id="26" name="Group 25">
            <a:extLst>
              <a:ext uri="{FF2B5EF4-FFF2-40B4-BE49-F238E27FC236}">
                <a16:creationId xmlns:a16="http://schemas.microsoft.com/office/drawing/2014/main" id="{BE052278-1665-5592-6A31-47F0B475F63A}"/>
              </a:ext>
            </a:extLst>
          </p:cNvPr>
          <p:cNvGrpSpPr/>
          <p:nvPr/>
        </p:nvGrpSpPr>
        <p:grpSpPr>
          <a:xfrm>
            <a:off x="3509556" y="3766599"/>
            <a:ext cx="725078" cy="1013921"/>
            <a:chOff x="7567275" y="4676008"/>
            <a:chExt cx="725078" cy="1013921"/>
          </a:xfrm>
        </p:grpSpPr>
        <p:grpSp>
          <p:nvGrpSpPr>
            <p:cNvPr id="27" name="Group 26">
              <a:extLst>
                <a:ext uri="{FF2B5EF4-FFF2-40B4-BE49-F238E27FC236}">
                  <a16:creationId xmlns:a16="http://schemas.microsoft.com/office/drawing/2014/main" id="{2C425858-A629-C056-906C-F22C9ADA6965}"/>
                </a:ext>
              </a:extLst>
            </p:cNvPr>
            <p:cNvGrpSpPr/>
            <p:nvPr/>
          </p:nvGrpSpPr>
          <p:grpSpPr>
            <a:xfrm>
              <a:off x="7594476" y="4704397"/>
              <a:ext cx="697877" cy="985532"/>
              <a:chOff x="7594476" y="4704397"/>
              <a:chExt cx="697877" cy="985532"/>
            </a:xfrm>
          </p:grpSpPr>
          <p:cxnSp>
            <p:nvCxnSpPr>
              <p:cNvPr id="32" name="Straight Arrow Connector 31">
                <a:extLst>
                  <a:ext uri="{FF2B5EF4-FFF2-40B4-BE49-F238E27FC236}">
                    <a16:creationId xmlns:a16="http://schemas.microsoft.com/office/drawing/2014/main" id="{B112AD88-8AE7-0C51-FBCD-10449C449BF5}"/>
                  </a:ext>
                </a:extLst>
              </p:cNvPr>
              <p:cNvCxnSpPr>
                <a:cxnSpLocks/>
              </p:cNvCxnSpPr>
              <p:nvPr/>
            </p:nvCxnSpPr>
            <p:spPr>
              <a:xfrm flipH="1">
                <a:off x="7974559" y="5354244"/>
                <a:ext cx="314787" cy="33568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DAB90136-1710-D28F-7204-772539FA15F1}"/>
                  </a:ext>
                </a:extLst>
              </p:cNvPr>
              <p:cNvCxnSpPr/>
              <p:nvPr/>
            </p:nvCxnSpPr>
            <p:spPr>
              <a:xfrm flipV="1">
                <a:off x="8289346" y="4704397"/>
                <a:ext cx="0" cy="656641"/>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0BD0D02F-A4B6-EB9E-001A-7D0D02DD2D9C}"/>
                  </a:ext>
                </a:extLst>
              </p:cNvPr>
              <p:cNvCxnSpPr>
                <a:cxnSpLocks/>
              </p:cNvCxnSpPr>
              <p:nvPr/>
            </p:nvCxnSpPr>
            <p:spPr>
              <a:xfrm flipH="1">
                <a:off x="7594476" y="5354244"/>
                <a:ext cx="697877"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8" name="Straight Arrow Connector 27">
              <a:extLst>
                <a:ext uri="{FF2B5EF4-FFF2-40B4-BE49-F238E27FC236}">
                  <a16:creationId xmlns:a16="http://schemas.microsoft.com/office/drawing/2014/main" id="{B7DC8AF0-24F1-B4C0-0F16-0B2DBC10B51B}"/>
                </a:ext>
              </a:extLst>
            </p:cNvPr>
            <p:cNvCxnSpPr>
              <a:cxnSpLocks/>
            </p:cNvCxnSpPr>
            <p:nvPr/>
          </p:nvCxnSpPr>
          <p:spPr>
            <a:xfrm flipH="1" flipV="1">
              <a:off x="7812264" y="4878732"/>
              <a:ext cx="480089" cy="475512"/>
            </a:xfrm>
            <a:prstGeom prst="straightConnector1">
              <a:avLst/>
            </a:prstGeom>
            <a:ln w="38100">
              <a:solidFill>
                <a:srgbClr val="2F2F2F"/>
              </a:solidFill>
              <a:tailEnd type="triangle"/>
            </a:ln>
          </p:spPr>
          <p:style>
            <a:lnRef idx="1">
              <a:schemeClr val="accent1"/>
            </a:lnRef>
            <a:fillRef idx="0">
              <a:schemeClr val="accent1"/>
            </a:fillRef>
            <a:effectRef idx="0">
              <a:schemeClr val="accent1"/>
            </a:effectRef>
            <a:fontRef idx="minor">
              <a:schemeClr val="tx1"/>
            </a:fontRef>
          </p:style>
        </p:cxnSp>
        <p:sp>
          <p:nvSpPr>
            <p:cNvPr id="29" name="Arrow: Curved Down 28">
              <a:extLst>
                <a:ext uri="{FF2B5EF4-FFF2-40B4-BE49-F238E27FC236}">
                  <a16:creationId xmlns:a16="http://schemas.microsoft.com/office/drawing/2014/main" id="{F78B5D18-9A8A-F81E-BA8B-8A8359C924AB}"/>
                </a:ext>
              </a:extLst>
            </p:cNvPr>
            <p:cNvSpPr/>
            <p:nvPr/>
          </p:nvSpPr>
          <p:spPr>
            <a:xfrm rot="18656914" flipV="1">
              <a:off x="7917884" y="5067192"/>
              <a:ext cx="265843" cy="98593"/>
            </a:xfrm>
            <a:prstGeom prst="curvedDown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23F765B-421E-AC0B-7F71-63C1C7531CB3}"/>
                    </a:ext>
                  </a:extLst>
                </p:cNvPr>
                <p:cNvSpPr txBox="1"/>
                <p:nvPr/>
              </p:nvSpPr>
              <p:spPr>
                <a:xfrm>
                  <a:off x="7932435" y="4742574"/>
                  <a:ext cx="269594"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1400" b="0" i="0" smtClean="0">
                            <a:solidFill>
                              <a:schemeClr val="tx2"/>
                            </a:solidFill>
                            <a:latin typeface="Cambria Math" panose="02040503050406030204" pitchFamily="18" charset="0"/>
                          </a:rPr>
                          <m:t>Δ</m:t>
                        </m:r>
                        <m:r>
                          <a:rPr lang="en-US" sz="1400" b="0" i="1" smtClean="0">
                            <a:solidFill>
                              <a:schemeClr val="tx2"/>
                            </a:solidFill>
                            <a:latin typeface="Cambria Math" panose="02040503050406030204" pitchFamily="18" charset="0"/>
                          </a:rPr>
                          <m:t>𝜃</m:t>
                        </m:r>
                      </m:oMath>
                    </m:oMathPara>
                  </a14:m>
                  <a:endParaRPr lang="en-GB" sz="1400" dirty="0">
                    <a:solidFill>
                      <a:schemeClr val="tx2"/>
                    </a:solidFill>
                  </a:endParaRPr>
                </a:p>
              </p:txBody>
            </p:sp>
          </mc:Choice>
          <mc:Fallback xmlns="">
            <p:sp>
              <p:nvSpPr>
                <p:cNvPr id="30" name="TextBox 29">
                  <a:extLst>
                    <a:ext uri="{FF2B5EF4-FFF2-40B4-BE49-F238E27FC236}">
                      <a16:creationId xmlns:a16="http://schemas.microsoft.com/office/drawing/2014/main" id="{223F765B-421E-AC0B-7F71-63C1C7531CB3}"/>
                    </a:ext>
                  </a:extLst>
                </p:cNvPr>
                <p:cNvSpPr txBox="1">
                  <a:spLocks noRot="1" noChangeAspect="1" noMove="1" noResize="1" noEditPoints="1" noAdjustHandles="1" noChangeArrowheads="1" noChangeShapeType="1" noTextEdit="1"/>
                </p:cNvSpPr>
                <p:nvPr/>
              </p:nvSpPr>
              <p:spPr>
                <a:xfrm>
                  <a:off x="7932435" y="4742574"/>
                  <a:ext cx="269594" cy="307777"/>
                </a:xfrm>
                <a:prstGeom prst="rect">
                  <a:avLst/>
                </a:prstGeom>
                <a:blipFill>
                  <a:blip r:embed="rId7"/>
                  <a:stretch>
                    <a:fillRect r="-3181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8E126C5-6E18-3038-FF1F-8C188BFB3030}"/>
                    </a:ext>
                  </a:extLst>
                </p:cNvPr>
                <p:cNvSpPr txBox="1"/>
                <p:nvPr/>
              </p:nvSpPr>
              <p:spPr>
                <a:xfrm>
                  <a:off x="7567275" y="4676008"/>
                  <a:ext cx="33397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sz="1400" i="1" smtClean="0">
                                <a:solidFill>
                                  <a:schemeClr val="tx2"/>
                                </a:solidFill>
                                <a:latin typeface="Cambria Math" panose="02040503050406030204" pitchFamily="18" charset="0"/>
                              </a:rPr>
                            </m:ctrlPr>
                          </m:accPr>
                          <m:e>
                            <m:r>
                              <a:rPr lang="en-US" sz="1400" b="0" i="1" smtClean="0">
                                <a:solidFill>
                                  <a:schemeClr val="tx2"/>
                                </a:solidFill>
                                <a:latin typeface="Cambria Math" panose="02040503050406030204" pitchFamily="18" charset="0"/>
                              </a:rPr>
                              <m:t>𝑒</m:t>
                            </m:r>
                          </m:e>
                        </m:acc>
                      </m:oMath>
                    </m:oMathPara>
                  </a14:m>
                  <a:endParaRPr lang="en-GB" sz="1400" dirty="0">
                    <a:solidFill>
                      <a:schemeClr val="tx2"/>
                    </a:solidFill>
                  </a:endParaRPr>
                </a:p>
              </p:txBody>
            </p:sp>
          </mc:Choice>
          <mc:Fallback xmlns="">
            <p:sp>
              <p:nvSpPr>
                <p:cNvPr id="31" name="TextBox 30">
                  <a:extLst>
                    <a:ext uri="{FF2B5EF4-FFF2-40B4-BE49-F238E27FC236}">
                      <a16:creationId xmlns:a16="http://schemas.microsoft.com/office/drawing/2014/main" id="{48E126C5-6E18-3038-FF1F-8C188BFB3030}"/>
                    </a:ext>
                  </a:extLst>
                </p:cNvPr>
                <p:cNvSpPr txBox="1">
                  <a:spLocks noRot="1" noChangeAspect="1" noMove="1" noResize="1" noEditPoints="1" noAdjustHandles="1" noChangeArrowheads="1" noChangeShapeType="1" noTextEdit="1"/>
                </p:cNvSpPr>
                <p:nvPr/>
              </p:nvSpPr>
              <p:spPr>
                <a:xfrm>
                  <a:off x="7567275" y="4676008"/>
                  <a:ext cx="333977" cy="307777"/>
                </a:xfrm>
                <a:prstGeom prst="rect">
                  <a:avLst/>
                </a:prstGeom>
                <a:blipFill>
                  <a:blip r:embed="rId8"/>
                  <a:stretch>
                    <a:fillRect r="-23636"/>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345154E0-01C7-E111-D0F7-991715F99566}"/>
                  </a:ext>
                </a:extLst>
              </p:cNvPr>
              <p:cNvSpPr txBox="1"/>
              <p:nvPr/>
            </p:nvSpPr>
            <p:spPr>
              <a:xfrm>
                <a:off x="3963254" y="2676973"/>
                <a:ext cx="542760" cy="29924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𝑞</m:t>
                          </m:r>
                        </m:e>
                        <m:sub>
                          <m:r>
                            <a:rPr lang="en-US" b="0" i="1" smtClean="0">
                              <a:solidFill>
                                <a:schemeClr val="tx2"/>
                              </a:solidFill>
                              <a:latin typeface="Cambria Math" panose="02040503050406030204" pitchFamily="18" charset="0"/>
                            </a:rPr>
                            <m:t>𝑓</m:t>
                          </m:r>
                        </m:sub>
                      </m:sSub>
                    </m:oMath>
                  </m:oMathPara>
                </a14:m>
                <a:endParaRPr lang="en-GB" dirty="0">
                  <a:solidFill>
                    <a:schemeClr val="tx2"/>
                  </a:solidFill>
                </a:endParaRPr>
              </a:p>
            </p:txBody>
          </p:sp>
        </mc:Choice>
        <mc:Fallback xmlns="">
          <p:sp>
            <p:nvSpPr>
              <p:cNvPr id="35" name="TextBox 34">
                <a:extLst>
                  <a:ext uri="{FF2B5EF4-FFF2-40B4-BE49-F238E27FC236}">
                    <a16:creationId xmlns:a16="http://schemas.microsoft.com/office/drawing/2014/main" id="{345154E0-01C7-E111-D0F7-991715F99566}"/>
                  </a:ext>
                </a:extLst>
              </p:cNvPr>
              <p:cNvSpPr txBox="1">
                <a:spLocks noRot="1" noChangeAspect="1" noMove="1" noResize="1" noEditPoints="1" noAdjustHandles="1" noChangeArrowheads="1" noChangeShapeType="1" noTextEdit="1"/>
              </p:cNvSpPr>
              <p:nvPr/>
            </p:nvSpPr>
            <p:spPr>
              <a:xfrm>
                <a:off x="3963254" y="2676973"/>
                <a:ext cx="542760" cy="299249"/>
              </a:xfrm>
              <a:prstGeom prst="rect">
                <a:avLst/>
              </a:prstGeom>
              <a:blipFill>
                <a:blip r:embed="rId9"/>
                <a:stretch>
                  <a:fillRect b="-28571"/>
                </a:stretch>
              </a:blipFill>
            </p:spPr>
            <p:txBody>
              <a:bodyPr/>
              <a:lstStyle/>
              <a:p>
                <a:r>
                  <a:rPr lang="en-GB">
                    <a:noFill/>
                  </a:rPr>
                  <a:t> </a:t>
                </a:r>
              </a:p>
            </p:txBody>
          </p:sp>
        </mc:Fallback>
      </mc:AlternateContent>
      <p:pic>
        <p:nvPicPr>
          <p:cNvPr id="7" name="Picture 6">
            <a:extLst>
              <a:ext uri="{FF2B5EF4-FFF2-40B4-BE49-F238E27FC236}">
                <a16:creationId xmlns:a16="http://schemas.microsoft.com/office/drawing/2014/main" id="{BE509EB6-1E4E-ABEF-9577-A2B4AFF23CC6}"/>
              </a:ext>
            </a:extLst>
          </p:cNvPr>
          <p:cNvPicPr>
            <a:picLocks noChangeAspect="1"/>
          </p:cNvPicPr>
          <p:nvPr/>
        </p:nvPicPr>
        <p:blipFill>
          <a:blip r:embed="rId10">
            <a:extLst>
              <a:ext uri="{BEBA8EAE-BF5A-486C-A8C5-ECC9F3942E4B}">
                <a14:imgProps xmlns:a14="http://schemas.microsoft.com/office/drawing/2010/main">
                  <a14:imgLayer r:embed="rId11">
                    <a14:imgEffect>
                      <a14:saturation sat="0"/>
                    </a14:imgEffect>
                    <a14:imgEffect>
                      <a14:brightnessContrast contrast="53000"/>
                    </a14:imgEffect>
                  </a14:imgLayer>
                </a14:imgProps>
              </a:ext>
            </a:extLst>
          </a:blip>
          <a:stretch>
            <a:fillRect/>
          </a:stretch>
        </p:blipFill>
        <p:spPr>
          <a:xfrm>
            <a:off x="5894605" y="1971093"/>
            <a:ext cx="5459196" cy="294835"/>
          </a:xfrm>
          <a:prstGeom prst="rect">
            <a:avLst/>
          </a:prstGeom>
        </p:spPr>
      </p:pic>
    </p:spTree>
    <p:extLst>
      <p:ext uri="{BB962C8B-B14F-4D97-AF65-F5344CB8AC3E}">
        <p14:creationId xmlns:p14="http://schemas.microsoft.com/office/powerpoint/2010/main" val="4450605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786107"/>
          </a:xfrm>
        </p:spPr>
        <p:txBody>
          <a:bodyPr/>
          <a:lstStyle/>
          <a:p>
            <a:r>
              <a:rPr lang="en-US" dirty="0"/>
              <a:t>Cubic Orientation Spline Algorithm </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49</a:t>
            </a:fld>
            <a:endParaRPr lang="en-US" dirty="0"/>
          </a:p>
        </p:txBody>
      </p:sp>
      <p:sp>
        <p:nvSpPr>
          <p:cNvPr id="9" name="Rectangle: Rounded Corners 8">
            <a:extLst>
              <a:ext uri="{FF2B5EF4-FFF2-40B4-BE49-F238E27FC236}">
                <a16:creationId xmlns:a16="http://schemas.microsoft.com/office/drawing/2014/main" id="{B57F9A30-FFD9-84B0-88A3-7D6F60558107}"/>
              </a:ext>
            </a:extLst>
          </p:cNvPr>
          <p:cNvSpPr/>
          <p:nvPr/>
        </p:nvSpPr>
        <p:spPr>
          <a:xfrm>
            <a:off x="8292353" y="345766"/>
            <a:ext cx="2303929" cy="622422"/>
          </a:xfrm>
          <a:prstGeom prst="roundRect">
            <a:avLst/>
          </a:prstGeom>
          <a:solidFill>
            <a:srgbClr val="CDDCF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CubicOrientationSpline</a:t>
            </a:r>
            <a:endParaRPr lang="en-GB" sz="1200" dirty="0">
              <a:solidFill>
                <a:srgbClr val="003399"/>
              </a:solidFill>
            </a:endParaRPr>
          </a:p>
        </p:txBody>
      </p:sp>
      <mc:AlternateContent xmlns:mc="http://schemas.openxmlformats.org/markup-compatibility/2006" xmlns:a14="http://schemas.microsoft.com/office/drawing/2010/main">
        <mc:Choice Requires="a14">
          <p:sp>
            <p:nvSpPr>
              <p:cNvPr id="151" name="TextBox 150">
                <a:extLst>
                  <a:ext uri="{FF2B5EF4-FFF2-40B4-BE49-F238E27FC236}">
                    <a16:creationId xmlns:a16="http://schemas.microsoft.com/office/drawing/2014/main" id="{EB395618-EE4B-C30E-BB34-BDB47CFE4E3A}"/>
                  </a:ext>
                </a:extLst>
              </p:cNvPr>
              <p:cNvSpPr txBox="1"/>
              <p:nvPr/>
            </p:nvSpPr>
            <p:spPr>
              <a:xfrm>
                <a:off x="4116387" y="4537509"/>
                <a:ext cx="1740743" cy="318998"/>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m:rPr>
                          <m:sty m:val="p"/>
                        </m:rPr>
                        <a:rPr lang="en-US" b="0" i="0" smtClean="0">
                          <a:solidFill>
                            <a:schemeClr val="tx2"/>
                          </a:solidFill>
                          <a:latin typeface="Cambria Math" panose="02040503050406030204" pitchFamily="18" charset="0"/>
                        </a:rPr>
                        <m:t>Δ</m:t>
                      </m:r>
                      <m:r>
                        <a:rPr lang="en-US" b="0" i="1" smtClean="0">
                          <a:solidFill>
                            <a:schemeClr val="tx2"/>
                          </a:solidFill>
                          <a:latin typeface="Cambria Math" panose="02040503050406030204" pitchFamily="18" charset="0"/>
                        </a:rPr>
                        <m:t>𝑞</m:t>
                      </m:r>
                      <m:d>
                        <m:dPr>
                          <m:ctrlPr>
                            <a:rPr lang="en-US" b="0" i="1" smtClean="0">
                              <a:solidFill>
                                <a:schemeClr val="tx2"/>
                              </a:solidFill>
                              <a:latin typeface="Cambria Math" panose="02040503050406030204" pitchFamily="18" charset="0"/>
                            </a:rPr>
                          </m:ctrlPr>
                        </m:dPr>
                        <m:e>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𝑡</m:t>
                              </m:r>
                            </m:e>
                            <m:sub>
                              <m:r>
                                <a:rPr lang="en-US" b="0" i="1" smtClean="0">
                                  <a:solidFill>
                                    <a:schemeClr val="tx2"/>
                                  </a:solidFill>
                                  <a:latin typeface="Cambria Math" panose="02040503050406030204" pitchFamily="18" charset="0"/>
                                </a:rPr>
                                <m:t>𝑓</m:t>
                              </m:r>
                            </m:sub>
                          </m:sSub>
                        </m:e>
                      </m:d>
                      <m:r>
                        <a:rPr lang="en-US" b="0" i="1" smtClean="0">
                          <a:solidFill>
                            <a:schemeClr val="tx2"/>
                          </a:solidFill>
                          <a:latin typeface="Cambria Math" panose="02040503050406030204" pitchFamily="18" charset="0"/>
                        </a:rPr>
                        <m:t>=</m:t>
                      </m:r>
                      <m:sSubSup>
                        <m:sSubSupPr>
                          <m:ctrlPr>
                            <a:rPr lang="en-US" b="0" i="1" smtClean="0">
                              <a:solidFill>
                                <a:schemeClr val="tx2"/>
                              </a:solidFill>
                              <a:latin typeface="Cambria Math" panose="02040503050406030204" pitchFamily="18" charset="0"/>
                            </a:rPr>
                          </m:ctrlPr>
                        </m:sSubSupPr>
                        <m:e>
                          <m:r>
                            <a:rPr lang="en-US" b="0" i="1" smtClean="0">
                              <a:solidFill>
                                <a:schemeClr val="tx2"/>
                              </a:solidFill>
                              <a:latin typeface="Cambria Math" panose="02040503050406030204" pitchFamily="18" charset="0"/>
                            </a:rPr>
                            <m:t>𝑞</m:t>
                          </m:r>
                        </m:e>
                        <m:sub>
                          <m:r>
                            <a:rPr lang="en-US" b="0" i="1" smtClean="0">
                              <a:solidFill>
                                <a:schemeClr val="tx2"/>
                              </a:solidFill>
                              <a:latin typeface="Cambria Math" panose="02040503050406030204" pitchFamily="18" charset="0"/>
                            </a:rPr>
                            <m:t>𝑖</m:t>
                          </m:r>
                        </m:sub>
                        <m:sup>
                          <m:r>
                            <a:rPr lang="en-US" b="0" i="1" smtClean="0">
                              <a:solidFill>
                                <a:schemeClr val="tx2"/>
                              </a:solidFill>
                              <a:latin typeface="Cambria Math" panose="02040503050406030204" pitchFamily="18" charset="0"/>
                            </a:rPr>
                            <m:t>−1</m:t>
                          </m:r>
                        </m:sup>
                      </m:sSubSup>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𝑞</m:t>
                          </m:r>
                        </m:e>
                        <m:sub>
                          <m:r>
                            <a:rPr lang="en-US" b="0" i="1" smtClean="0">
                              <a:solidFill>
                                <a:schemeClr val="tx2"/>
                              </a:solidFill>
                              <a:latin typeface="Cambria Math" panose="02040503050406030204" pitchFamily="18" charset="0"/>
                            </a:rPr>
                            <m:t>𝑓</m:t>
                          </m:r>
                        </m:sub>
                      </m:sSub>
                    </m:oMath>
                  </m:oMathPara>
                </a14:m>
                <a:endParaRPr lang="en-GB" dirty="0">
                  <a:solidFill>
                    <a:schemeClr val="tx2"/>
                  </a:solidFill>
                </a:endParaRPr>
              </a:p>
            </p:txBody>
          </p:sp>
        </mc:Choice>
        <mc:Fallback xmlns="">
          <p:sp>
            <p:nvSpPr>
              <p:cNvPr id="151" name="TextBox 150">
                <a:extLst>
                  <a:ext uri="{FF2B5EF4-FFF2-40B4-BE49-F238E27FC236}">
                    <a16:creationId xmlns:a16="http://schemas.microsoft.com/office/drawing/2014/main" id="{EB395618-EE4B-C30E-BB34-BDB47CFE4E3A}"/>
                  </a:ext>
                </a:extLst>
              </p:cNvPr>
              <p:cNvSpPr txBox="1">
                <a:spLocks noRot="1" noChangeAspect="1" noMove="1" noResize="1" noEditPoints="1" noAdjustHandles="1" noChangeArrowheads="1" noChangeShapeType="1" noTextEdit="1"/>
              </p:cNvSpPr>
              <p:nvPr/>
            </p:nvSpPr>
            <p:spPr>
              <a:xfrm>
                <a:off x="4116387" y="4537509"/>
                <a:ext cx="1740743" cy="318998"/>
              </a:xfrm>
              <a:prstGeom prst="rect">
                <a:avLst/>
              </a:prstGeom>
              <a:blipFill>
                <a:blip r:embed="rId3"/>
                <a:stretch>
                  <a:fillRect b="-2452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9455379-0C65-A4B3-87B4-70588481EEE2}"/>
                  </a:ext>
                </a:extLst>
              </p:cNvPr>
              <p:cNvSpPr txBox="1"/>
              <p:nvPr/>
            </p:nvSpPr>
            <p:spPr>
              <a:xfrm>
                <a:off x="5903311" y="2573306"/>
                <a:ext cx="2797341" cy="1412181"/>
              </a:xfrm>
              <a:prstGeom prst="rect">
                <a:avLst/>
              </a:prstGeom>
              <a:noFill/>
            </p:spPr>
            <p:txBody>
              <a:bodyPr wrap="square" lIns="0" tIns="0" rIns="0" bIns="0" rtlCol="0">
                <a:spAutoFit/>
              </a:bodyPr>
              <a:lstStyle/>
              <a:p>
                <a:r>
                  <a:rPr lang="en-US" b="1" dirty="0">
                    <a:solidFill>
                      <a:srgbClr val="2F2F2F"/>
                    </a:solidFill>
                  </a:rPr>
                  <a:t>Coefficients:</a:t>
                </a:r>
              </a:p>
              <a:p>
                <a14:m>
                  <m:oMath xmlns:m="http://schemas.openxmlformats.org/officeDocument/2006/math">
                    <m:sSub>
                      <m:sSubPr>
                        <m:ctrlPr>
                          <a:rPr lang="en-US" b="0" i="1" smtClean="0">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𝑎</m:t>
                            </m:r>
                          </m:e>
                        </m:acc>
                      </m:e>
                      <m:sub>
                        <m:r>
                          <a:rPr lang="en-US" b="0" i="1" smtClean="0">
                            <a:solidFill>
                              <a:srgbClr val="2F2F2F"/>
                            </a:solidFill>
                            <a:latin typeface="Cambria Math" panose="02040503050406030204" pitchFamily="18" charset="0"/>
                          </a:rPr>
                          <m:t>1</m:t>
                        </m:r>
                      </m:sub>
                    </m:sSub>
                    <m:r>
                      <a:rPr lang="en-US" b="0" i="1" smtClean="0">
                        <a:solidFill>
                          <a:srgbClr val="2F2F2F"/>
                        </a:solidFill>
                        <a:latin typeface="Cambria Math" panose="02040503050406030204" pitchFamily="18" charset="0"/>
                      </a:rPr>
                      <m:t>=0</m:t>
                    </m:r>
                  </m:oMath>
                </a14:m>
                <a:r>
                  <a:rPr lang="en-US" b="0" dirty="0">
                    <a:solidFill>
                      <a:srgbClr val="2F2F2F"/>
                    </a:solidFill>
                  </a:rPr>
                  <a:t> </a:t>
                </a:r>
              </a:p>
              <a:p>
                <a14:m>
                  <m:oMath xmlns:m="http://schemas.openxmlformats.org/officeDocument/2006/math">
                    <m:sSub>
                      <m:sSubPr>
                        <m:ctrlPr>
                          <a:rPr lang="en-US" i="1">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𝑎</m:t>
                            </m:r>
                          </m:e>
                        </m:acc>
                      </m:e>
                      <m:sub>
                        <m:r>
                          <a:rPr lang="en-US" i="1">
                            <a:solidFill>
                              <a:srgbClr val="2F2F2F"/>
                            </a:solidFill>
                            <a:latin typeface="Cambria Math" panose="02040503050406030204" pitchFamily="18" charset="0"/>
                          </a:rPr>
                          <m:t>2</m:t>
                        </m:r>
                      </m:sub>
                    </m:sSub>
                    <m:r>
                      <a:rPr lang="en-US" b="0" i="0" smtClean="0">
                        <a:solidFill>
                          <a:srgbClr val="2F2F2F"/>
                        </a:solidFill>
                        <a:latin typeface="Cambria Math" panose="02040503050406030204" pitchFamily="18" charset="0"/>
                      </a:rPr>
                      <m:t>=</m:t>
                    </m:r>
                    <m:r>
                      <m:rPr>
                        <m:sty m:val="p"/>
                      </m:rPr>
                      <a:rPr lang="en-US" b="0" i="0" smtClean="0">
                        <a:solidFill>
                          <a:srgbClr val="2F2F2F"/>
                        </a:solidFill>
                        <a:latin typeface="Cambria Math" panose="02040503050406030204" pitchFamily="18" charset="0"/>
                      </a:rPr>
                      <m:t>Δ</m:t>
                    </m:r>
                    <m:r>
                      <a:rPr lang="en-US" b="0" i="1" smtClean="0">
                        <a:solidFill>
                          <a:srgbClr val="2F2F2F"/>
                        </a:solidFill>
                        <a:latin typeface="Cambria Math" panose="02040503050406030204" pitchFamily="18" charset="0"/>
                      </a:rPr>
                      <m:t>𝑡</m:t>
                    </m:r>
                    <m:sSub>
                      <m:sSubPr>
                        <m:ctrlPr>
                          <a:rPr lang="en-US" b="0" i="1" smtClean="0">
                            <a:solidFill>
                              <a:srgbClr val="2F2F2F"/>
                            </a:solidFill>
                            <a:latin typeface="Cambria Math" panose="02040503050406030204" pitchFamily="18" charset="0"/>
                          </a:rPr>
                        </m:ctrlPr>
                      </m:sSubPr>
                      <m:e>
                        <m:acc>
                          <m:accPr>
                            <m:chr m:val="⃗"/>
                            <m:ctrlPr>
                              <a:rPr lang="en-US" b="0" i="1" smtClean="0">
                                <a:solidFill>
                                  <a:srgbClr val="2F2F2F"/>
                                </a:solidFill>
                                <a:latin typeface="Cambria Math" panose="02040503050406030204" pitchFamily="18" charset="0"/>
                              </a:rPr>
                            </m:ctrlPr>
                          </m:accPr>
                          <m:e>
                            <m:r>
                              <a:rPr lang="en-US" b="0" i="1" smtClean="0">
                                <a:solidFill>
                                  <a:srgbClr val="2F2F2F"/>
                                </a:solidFill>
                                <a:latin typeface="Cambria Math" panose="02040503050406030204" pitchFamily="18" charset="0"/>
                              </a:rPr>
                              <m:t>𝜔</m:t>
                            </m:r>
                          </m:e>
                        </m:acc>
                      </m:e>
                      <m:sub>
                        <m:r>
                          <a:rPr lang="en-US" b="0" i="1" smtClean="0">
                            <a:solidFill>
                              <a:srgbClr val="2F2F2F"/>
                            </a:solidFill>
                            <a:latin typeface="Cambria Math" panose="02040503050406030204" pitchFamily="18" charset="0"/>
                          </a:rPr>
                          <m:t>𝑖</m:t>
                        </m:r>
                      </m:sub>
                    </m:sSub>
                  </m:oMath>
                </a14:m>
                <a:r>
                  <a:rPr lang="en-US" b="0" dirty="0">
                    <a:solidFill>
                      <a:srgbClr val="2F2F2F"/>
                    </a:solidFill>
                  </a:rPr>
                  <a:t> </a:t>
                </a:r>
              </a:p>
              <a:p>
                <a14:m>
                  <m:oMath xmlns:m="http://schemas.openxmlformats.org/officeDocument/2006/math">
                    <m:sSub>
                      <m:sSubPr>
                        <m:ctrlPr>
                          <a:rPr lang="en-US" i="1" smtClean="0">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𝑎</m:t>
                            </m:r>
                          </m:e>
                        </m:acc>
                      </m:e>
                      <m:sub>
                        <m:r>
                          <a:rPr lang="en-US" b="0" i="1" smtClean="0">
                            <a:solidFill>
                              <a:srgbClr val="2F2F2F"/>
                            </a:solidFill>
                            <a:latin typeface="Cambria Math" panose="02040503050406030204" pitchFamily="18" charset="0"/>
                          </a:rPr>
                          <m:t>3</m:t>
                        </m:r>
                      </m:sub>
                    </m:sSub>
                    <m:r>
                      <a:rPr lang="en-US" b="0" i="1" smtClean="0">
                        <a:solidFill>
                          <a:srgbClr val="2F2F2F"/>
                        </a:solidFill>
                        <a:latin typeface="Cambria Math" panose="02040503050406030204" pitchFamily="18" charset="0"/>
                      </a:rPr>
                      <m:t>=</m:t>
                    </m:r>
                    <m:r>
                      <m:rPr>
                        <m:sty m:val="p"/>
                      </m:rPr>
                      <a:rPr lang="en-US" b="0" i="0" smtClean="0">
                        <a:solidFill>
                          <a:srgbClr val="2F2F2F"/>
                        </a:solidFill>
                        <a:latin typeface="Cambria Math" panose="02040503050406030204" pitchFamily="18" charset="0"/>
                      </a:rPr>
                      <m:t>Δ</m:t>
                    </m:r>
                    <m:r>
                      <a:rPr lang="en-US" b="0" i="1" smtClean="0">
                        <a:solidFill>
                          <a:srgbClr val="2F2F2F"/>
                        </a:solidFill>
                        <a:latin typeface="Cambria Math" panose="02040503050406030204" pitchFamily="18" charset="0"/>
                      </a:rPr>
                      <m:t>𝑡</m:t>
                    </m:r>
                    <m:sSup>
                      <m:sSupPr>
                        <m:ctrlPr>
                          <a:rPr lang="en-US" b="0" i="1" smtClean="0">
                            <a:solidFill>
                              <a:srgbClr val="2F2F2F"/>
                            </a:solidFill>
                            <a:latin typeface="Cambria Math" panose="02040503050406030204" pitchFamily="18" charset="0"/>
                          </a:rPr>
                        </m:ctrlPr>
                      </m:sSupPr>
                      <m:e>
                        <m:r>
                          <a:rPr lang="en-US" b="0" i="1" smtClean="0">
                            <a:solidFill>
                              <a:srgbClr val="2F2F2F"/>
                            </a:solidFill>
                            <a:latin typeface="Cambria Math" panose="02040503050406030204" pitchFamily="18" charset="0"/>
                          </a:rPr>
                          <m:t>𝐵</m:t>
                        </m:r>
                      </m:e>
                      <m:sup>
                        <m:r>
                          <a:rPr lang="en-US" b="0" i="1" smtClean="0">
                            <a:solidFill>
                              <a:srgbClr val="2F2F2F"/>
                            </a:solidFill>
                            <a:latin typeface="Cambria Math" panose="02040503050406030204" pitchFamily="18" charset="0"/>
                          </a:rPr>
                          <m:t>−1</m:t>
                        </m:r>
                      </m:sup>
                    </m:sSup>
                    <m:r>
                      <a:rPr lang="en-US" b="0" i="1" smtClean="0">
                        <a:solidFill>
                          <a:srgbClr val="2F2F2F"/>
                        </a:solidFill>
                        <a:latin typeface="Cambria Math" panose="02040503050406030204" pitchFamily="18" charset="0"/>
                        <a:ea typeface="Cambria Math" panose="02040503050406030204" pitchFamily="18" charset="0"/>
                      </a:rPr>
                      <m:t>∙</m:t>
                    </m:r>
                    <m:sSub>
                      <m:sSubPr>
                        <m:ctrlPr>
                          <a:rPr lang="en-US" i="1">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𝜔</m:t>
                            </m:r>
                          </m:e>
                        </m:acc>
                      </m:e>
                      <m:sub>
                        <m:r>
                          <a:rPr lang="en-US" b="0" i="1" smtClean="0">
                            <a:solidFill>
                              <a:srgbClr val="2F2F2F"/>
                            </a:solidFill>
                            <a:latin typeface="Cambria Math" panose="02040503050406030204" pitchFamily="18" charset="0"/>
                          </a:rPr>
                          <m:t>𝑓</m:t>
                        </m:r>
                      </m:sub>
                    </m:sSub>
                    <m:r>
                      <a:rPr lang="en-US" b="0" i="1" smtClean="0">
                        <a:solidFill>
                          <a:srgbClr val="2F2F2F"/>
                        </a:solidFill>
                        <a:latin typeface="Cambria Math" panose="02040503050406030204" pitchFamily="18" charset="0"/>
                      </a:rPr>
                      <m:t>−3</m:t>
                    </m:r>
                    <m:acc>
                      <m:accPr>
                        <m:chr m:val="̂"/>
                        <m:ctrlPr>
                          <a:rPr lang="en-US" b="1" i="1" smtClean="0">
                            <a:solidFill>
                              <a:schemeClr val="tx1"/>
                            </a:solidFill>
                            <a:latin typeface="Cambria Math" panose="02040503050406030204" pitchFamily="18" charset="0"/>
                          </a:rPr>
                        </m:ctrlPr>
                      </m:accPr>
                      <m:e>
                        <m:r>
                          <a:rPr lang="en-US" b="1" i="1">
                            <a:solidFill>
                              <a:schemeClr val="tx1"/>
                            </a:solidFill>
                            <a:latin typeface="Cambria Math" panose="02040503050406030204" pitchFamily="18" charset="0"/>
                          </a:rPr>
                          <m:t>𝒆</m:t>
                        </m:r>
                      </m:e>
                    </m:acc>
                    <m:r>
                      <m:rPr>
                        <m:sty m:val="p"/>
                      </m:rPr>
                      <a:rPr lang="en-US">
                        <a:solidFill>
                          <a:srgbClr val="2F2F2F"/>
                        </a:solidFill>
                        <a:latin typeface="Cambria Math" panose="02040503050406030204" pitchFamily="18" charset="0"/>
                      </a:rPr>
                      <m:t>Δ</m:t>
                    </m:r>
                    <m:r>
                      <a:rPr lang="en-US" i="1">
                        <a:solidFill>
                          <a:srgbClr val="2F2F2F"/>
                        </a:solidFill>
                        <a:latin typeface="Cambria Math" panose="02040503050406030204" pitchFamily="18" charset="0"/>
                      </a:rPr>
                      <m:t>𝜃</m:t>
                    </m:r>
                  </m:oMath>
                </a14:m>
                <a:r>
                  <a:rPr lang="en-US" b="0" dirty="0">
                    <a:solidFill>
                      <a:srgbClr val="2F2F2F"/>
                    </a:solidFill>
                  </a:rPr>
                  <a:t> </a:t>
                </a:r>
              </a:p>
              <a:p>
                <a14:m>
                  <m:oMath xmlns:m="http://schemas.openxmlformats.org/officeDocument/2006/math">
                    <m:sSub>
                      <m:sSubPr>
                        <m:ctrlPr>
                          <a:rPr lang="en-US" i="1">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𝑎</m:t>
                            </m:r>
                          </m:e>
                        </m:acc>
                      </m:e>
                      <m:sub>
                        <m:r>
                          <a:rPr lang="en-US" b="0" i="1" smtClean="0">
                            <a:solidFill>
                              <a:srgbClr val="2F2F2F"/>
                            </a:solidFill>
                            <a:latin typeface="Cambria Math" panose="02040503050406030204" pitchFamily="18" charset="0"/>
                          </a:rPr>
                          <m:t>4</m:t>
                        </m:r>
                      </m:sub>
                    </m:sSub>
                    <m:r>
                      <a:rPr lang="en-US" b="0" i="1" smtClean="0">
                        <a:solidFill>
                          <a:srgbClr val="2F2F2F"/>
                        </a:solidFill>
                        <a:latin typeface="Cambria Math" panose="02040503050406030204" pitchFamily="18" charset="0"/>
                      </a:rPr>
                      <m:t>=</m:t>
                    </m:r>
                    <m:acc>
                      <m:accPr>
                        <m:chr m:val="̂"/>
                        <m:ctrlPr>
                          <a:rPr lang="en-US" b="1" i="1" smtClean="0">
                            <a:solidFill>
                              <a:schemeClr val="tx1"/>
                            </a:solidFill>
                            <a:latin typeface="Cambria Math" panose="02040503050406030204" pitchFamily="18" charset="0"/>
                          </a:rPr>
                        </m:ctrlPr>
                      </m:accPr>
                      <m:e>
                        <m:r>
                          <a:rPr lang="en-US" b="1" i="1" smtClean="0">
                            <a:solidFill>
                              <a:schemeClr val="tx1"/>
                            </a:solidFill>
                            <a:latin typeface="Cambria Math" panose="02040503050406030204" pitchFamily="18" charset="0"/>
                          </a:rPr>
                          <m:t>𝒆</m:t>
                        </m:r>
                      </m:e>
                    </m:acc>
                    <m:r>
                      <m:rPr>
                        <m:sty m:val="p"/>
                      </m:rPr>
                      <a:rPr lang="en-US" b="0" i="0" smtClean="0">
                        <a:solidFill>
                          <a:srgbClr val="2F2F2F"/>
                        </a:solidFill>
                        <a:latin typeface="Cambria Math" panose="02040503050406030204" pitchFamily="18" charset="0"/>
                      </a:rPr>
                      <m:t>Δ</m:t>
                    </m:r>
                    <m:r>
                      <a:rPr lang="en-US" b="0" i="1" smtClean="0">
                        <a:solidFill>
                          <a:srgbClr val="2F2F2F"/>
                        </a:solidFill>
                        <a:latin typeface="Cambria Math" panose="02040503050406030204" pitchFamily="18" charset="0"/>
                      </a:rPr>
                      <m:t>𝜃</m:t>
                    </m:r>
                  </m:oMath>
                </a14:m>
                <a:r>
                  <a:rPr lang="en-US" b="0" dirty="0">
                    <a:solidFill>
                      <a:srgbClr val="2F2F2F"/>
                    </a:solidFill>
                  </a:rPr>
                  <a:t> </a:t>
                </a:r>
              </a:p>
            </p:txBody>
          </p:sp>
        </mc:Choice>
        <mc:Fallback xmlns="">
          <p:sp>
            <p:nvSpPr>
              <p:cNvPr id="10" name="TextBox 9">
                <a:extLst>
                  <a:ext uri="{FF2B5EF4-FFF2-40B4-BE49-F238E27FC236}">
                    <a16:creationId xmlns:a16="http://schemas.microsoft.com/office/drawing/2014/main" id="{A9455379-0C65-A4B3-87B4-70588481EEE2}"/>
                  </a:ext>
                </a:extLst>
              </p:cNvPr>
              <p:cNvSpPr txBox="1">
                <a:spLocks noRot="1" noChangeAspect="1" noMove="1" noResize="1" noEditPoints="1" noAdjustHandles="1" noChangeArrowheads="1" noChangeShapeType="1" noTextEdit="1"/>
              </p:cNvSpPr>
              <p:nvPr/>
            </p:nvSpPr>
            <p:spPr>
              <a:xfrm>
                <a:off x="5903311" y="2573306"/>
                <a:ext cx="2797341" cy="1412181"/>
              </a:xfrm>
              <a:prstGeom prst="rect">
                <a:avLst/>
              </a:prstGeom>
              <a:blipFill>
                <a:blip r:embed="rId4"/>
                <a:stretch>
                  <a:fillRect l="-5011" t="-5603" b="-3017"/>
                </a:stretch>
              </a:blipFill>
            </p:spPr>
            <p:txBody>
              <a:bodyPr/>
              <a:lstStyle/>
              <a:p>
                <a:r>
                  <a:rPr lang="en-GB">
                    <a:noFill/>
                  </a:rPr>
                  <a:t> </a:t>
                </a:r>
              </a:p>
            </p:txBody>
          </p:sp>
        </mc:Fallback>
      </mc:AlternateContent>
      <p:grpSp>
        <p:nvGrpSpPr>
          <p:cNvPr id="11" name="Group 10">
            <a:extLst>
              <a:ext uri="{FF2B5EF4-FFF2-40B4-BE49-F238E27FC236}">
                <a16:creationId xmlns:a16="http://schemas.microsoft.com/office/drawing/2014/main" id="{55E7BFA0-EBE5-2AE9-ED46-ABC51DAA2D4F}"/>
              </a:ext>
            </a:extLst>
          </p:cNvPr>
          <p:cNvGrpSpPr/>
          <p:nvPr/>
        </p:nvGrpSpPr>
        <p:grpSpPr>
          <a:xfrm rot="18885688">
            <a:off x="3519256" y="2299452"/>
            <a:ext cx="1021929" cy="1522466"/>
            <a:chOff x="1071439" y="1596445"/>
            <a:chExt cx="1021929" cy="1522466"/>
          </a:xfrm>
        </p:grpSpPr>
        <p:cxnSp>
          <p:nvCxnSpPr>
            <p:cNvPr id="12" name="Straight Arrow Connector 11">
              <a:extLst>
                <a:ext uri="{FF2B5EF4-FFF2-40B4-BE49-F238E27FC236}">
                  <a16:creationId xmlns:a16="http://schemas.microsoft.com/office/drawing/2014/main" id="{FFFBE926-0C88-7D0C-144E-795BBFC8D93E}"/>
                </a:ext>
              </a:extLst>
            </p:cNvPr>
            <p:cNvCxnSpPr>
              <a:cxnSpLocks/>
            </p:cNvCxnSpPr>
            <p:nvPr/>
          </p:nvCxnSpPr>
          <p:spPr>
            <a:xfrm flipH="1">
              <a:off x="1628009" y="2600340"/>
              <a:ext cx="460955" cy="51857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A96FAB1-A66B-46F7-40EE-02215BFD8389}"/>
                </a:ext>
              </a:extLst>
            </p:cNvPr>
            <p:cNvCxnSpPr/>
            <p:nvPr/>
          </p:nvCxnSpPr>
          <p:spPr>
            <a:xfrm flipV="1">
              <a:off x="2088964" y="1596445"/>
              <a:ext cx="0" cy="101438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67E48AA-B9B8-1868-8D37-E4243C4C269F}"/>
                </a:ext>
              </a:extLst>
            </p:cNvPr>
            <p:cNvCxnSpPr>
              <a:cxnSpLocks/>
            </p:cNvCxnSpPr>
            <p:nvPr/>
          </p:nvCxnSpPr>
          <p:spPr>
            <a:xfrm flipH="1">
              <a:off x="1071439" y="2600340"/>
              <a:ext cx="102192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8025A414-3C72-4BE7-82BE-34D8D5403D19}"/>
              </a:ext>
            </a:extLst>
          </p:cNvPr>
          <p:cNvGrpSpPr/>
          <p:nvPr/>
        </p:nvGrpSpPr>
        <p:grpSpPr>
          <a:xfrm>
            <a:off x="1695692" y="2933394"/>
            <a:ext cx="1021929" cy="1522466"/>
            <a:chOff x="1071439" y="1596445"/>
            <a:chExt cx="1021929" cy="1522466"/>
          </a:xfrm>
        </p:grpSpPr>
        <p:cxnSp>
          <p:nvCxnSpPr>
            <p:cNvPr id="16" name="Straight Arrow Connector 15">
              <a:extLst>
                <a:ext uri="{FF2B5EF4-FFF2-40B4-BE49-F238E27FC236}">
                  <a16:creationId xmlns:a16="http://schemas.microsoft.com/office/drawing/2014/main" id="{52222C15-EF7D-36F7-FC18-81F0A107ED18}"/>
                </a:ext>
              </a:extLst>
            </p:cNvPr>
            <p:cNvCxnSpPr>
              <a:cxnSpLocks/>
            </p:cNvCxnSpPr>
            <p:nvPr/>
          </p:nvCxnSpPr>
          <p:spPr>
            <a:xfrm flipH="1">
              <a:off x="1628009" y="2600340"/>
              <a:ext cx="460955" cy="51857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339568D-9FD7-F93A-2E7C-9BC0E91FAA57}"/>
                </a:ext>
              </a:extLst>
            </p:cNvPr>
            <p:cNvCxnSpPr/>
            <p:nvPr/>
          </p:nvCxnSpPr>
          <p:spPr>
            <a:xfrm flipV="1">
              <a:off x="2088964" y="1596445"/>
              <a:ext cx="0" cy="101438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1FE7412-20E0-B4E3-096C-0F54CD6647FA}"/>
                </a:ext>
              </a:extLst>
            </p:cNvPr>
            <p:cNvCxnSpPr>
              <a:cxnSpLocks/>
            </p:cNvCxnSpPr>
            <p:nvPr/>
          </p:nvCxnSpPr>
          <p:spPr>
            <a:xfrm flipH="1">
              <a:off x="1071439" y="2600340"/>
              <a:ext cx="102192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1" name="Arrow: Curved Down 20">
            <a:extLst>
              <a:ext uri="{FF2B5EF4-FFF2-40B4-BE49-F238E27FC236}">
                <a16:creationId xmlns:a16="http://schemas.microsoft.com/office/drawing/2014/main" id="{9CE41B02-3237-1452-8582-E607A26BDD66}"/>
              </a:ext>
            </a:extLst>
          </p:cNvPr>
          <p:cNvSpPr/>
          <p:nvPr/>
        </p:nvSpPr>
        <p:spPr>
          <a:xfrm rot="19977682" flipV="1">
            <a:off x="2878089" y="3405434"/>
            <a:ext cx="2319071" cy="1092550"/>
          </a:xfrm>
          <a:prstGeom prst="curvedDownArrow">
            <a:avLst>
              <a:gd name="adj1" fmla="val 0"/>
              <a:gd name="adj2" fmla="val 21287"/>
              <a:gd name="adj3" fmla="val 11700"/>
            </a:avLst>
          </a:prstGeom>
          <a:solidFill>
            <a:srgbClr val="000000"/>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C8935C0-2B0B-4974-9124-55D0621822EF}"/>
                  </a:ext>
                </a:extLst>
              </p:cNvPr>
              <p:cNvSpPr txBox="1"/>
              <p:nvPr/>
            </p:nvSpPr>
            <p:spPr>
              <a:xfrm>
                <a:off x="2261040" y="3594365"/>
                <a:ext cx="542760"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𝑞</m:t>
                          </m:r>
                        </m:e>
                        <m:sub>
                          <m:r>
                            <a:rPr lang="en-US" b="0" i="1" smtClean="0">
                              <a:solidFill>
                                <a:schemeClr val="tx2"/>
                              </a:solidFill>
                              <a:latin typeface="Cambria Math" panose="02040503050406030204" pitchFamily="18" charset="0"/>
                            </a:rPr>
                            <m:t>𝑖</m:t>
                          </m:r>
                        </m:sub>
                      </m:sSub>
                    </m:oMath>
                  </m:oMathPara>
                </a14:m>
                <a:endParaRPr lang="en-GB" dirty="0">
                  <a:solidFill>
                    <a:schemeClr val="tx2"/>
                  </a:solidFill>
                </a:endParaRPr>
              </a:p>
            </p:txBody>
          </p:sp>
        </mc:Choice>
        <mc:Fallback xmlns="">
          <p:sp>
            <p:nvSpPr>
              <p:cNvPr id="24" name="TextBox 23">
                <a:extLst>
                  <a:ext uri="{FF2B5EF4-FFF2-40B4-BE49-F238E27FC236}">
                    <a16:creationId xmlns:a16="http://schemas.microsoft.com/office/drawing/2014/main" id="{3C8935C0-2B0B-4974-9124-55D0621822EF}"/>
                  </a:ext>
                </a:extLst>
              </p:cNvPr>
              <p:cNvSpPr txBox="1">
                <a:spLocks noRot="1" noChangeAspect="1" noMove="1" noResize="1" noEditPoints="1" noAdjustHandles="1" noChangeArrowheads="1" noChangeShapeType="1" noTextEdit="1"/>
              </p:cNvSpPr>
              <p:nvPr/>
            </p:nvSpPr>
            <p:spPr>
              <a:xfrm>
                <a:off x="2261040" y="3594365"/>
                <a:ext cx="542760" cy="276999"/>
              </a:xfrm>
              <a:prstGeom prst="rect">
                <a:avLst/>
              </a:prstGeom>
              <a:blipFill>
                <a:blip r:embed="rId6"/>
                <a:stretch>
                  <a:fillRect b="-28889"/>
                </a:stretch>
              </a:blipFill>
            </p:spPr>
            <p:txBody>
              <a:bodyPr/>
              <a:lstStyle/>
              <a:p>
                <a:r>
                  <a:rPr lang="en-GB">
                    <a:noFill/>
                  </a:rPr>
                  <a:t> </a:t>
                </a:r>
              </a:p>
            </p:txBody>
          </p:sp>
        </mc:Fallback>
      </mc:AlternateContent>
      <p:grpSp>
        <p:nvGrpSpPr>
          <p:cNvPr id="26" name="Group 25">
            <a:extLst>
              <a:ext uri="{FF2B5EF4-FFF2-40B4-BE49-F238E27FC236}">
                <a16:creationId xmlns:a16="http://schemas.microsoft.com/office/drawing/2014/main" id="{BE052278-1665-5592-6A31-47F0B475F63A}"/>
              </a:ext>
            </a:extLst>
          </p:cNvPr>
          <p:cNvGrpSpPr/>
          <p:nvPr/>
        </p:nvGrpSpPr>
        <p:grpSpPr>
          <a:xfrm>
            <a:off x="3509556" y="3766599"/>
            <a:ext cx="725078" cy="1013921"/>
            <a:chOff x="7567275" y="4676008"/>
            <a:chExt cx="725078" cy="1013921"/>
          </a:xfrm>
        </p:grpSpPr>
        <p:grpSp>
          <p:nvGrpSpPr>
            <p:cNvPr id="27" name="Group 26">
              <a:extLst>
                <a:ext uri="{FF2B5EF4-FFF2-40B4-BE49-F238E27FC236}">
                  <a16:creationId xmlns:a16="http://schemas.microsoft.com/office/drawing/2014/main" id="{2C425858-A629-C056-906C-F22C9ADA6965}"/>
                </a:ext>
              </a:extLst>
            </p:cNvPr>
            <p:cNvGrpSpPr/>
            <p:nvPr/>
          </p:nvGrpSpPr>
          <p:grpSpPr>
            <a:xfrm>
              <a:off x="7594476" y="4704397"/>
              <a:ext cx="697877" cy="985532"/>
              <a:chOff x="7594476" y="4704397"/>
              <a:chExt cx="697877" cy="985532"/>
            </a:xfrm>
          </p:grpSpPr>
          <p:cxnSp>
            <p:nvCxnSpPr>
              <p:cNvPr id="32" name="Straight Arrow Connector 31">
                <a:extLst>
                  <a:ext uri="{FF2B5EF4-FFF2-40B4-BE49-F238E27FC236}">
                    <a16:creationId xmlns:a16="http://schemas.microsoft.com/office/drawing/2014/main" id="{B112AD88-8AE7-0C51-FBCD-10449C449BF5}"/>
                  </a:ext>
                </a:extLst>
              </p:cNvPr>
              <p:cNvCxnSpPr>
                <a:cxnSpLocks/>
              </p:cNvCxnSpPr>
              <p:nvPr/>
            </p:nvCxnSpPr>
            <p:spPr>
              <a:xfrm flipH="1">
                <a:off x="7974559" y="5354244"/>
                <a:ext cx="314787" cy="33568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DAB90136-1710-D28F-7204-772539FA15F1}"/>
                  </a:ext>
                </a:extLst>
              </p:cNvPr>
              <p:cNvCxnSpPr/>
              <p:nvPr/>
            </p:nvCxnSpPr>
            <p:spPr>
              <a:xfrm flipV="1">
                <a:off x="8289346" y="4704397"/>
                <a:ext cx="0" cy="656641"/>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0BD0D02F-A4B6-EB9E-001A-7D0D02DD2D9C}"/>
                  </a:ext>
                </a:extLst>
              </p:cNvPr>
              <p:cNvCxnSpPr>
                <a:cxnSpLocks/>
              </p:cNvCxnSpPr>
              <p:nvPr/>
            </p:nvCxnSpPr>
            <p:spPr>
              <a:xfrm flipH="1">
                <a:off x="7594476" y="5354244"/>
                <a:ext cx="697877"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8" name="Straight Arrow Connector 27">
              <a:extLst>
                <a:ext uri="{FF2B5EF4-FFF2-40B4-BE49-F238E27FC236}">
                  <a16:creationId xmlns:a16="http://schemas.microsoft.com/office/drawing/2014/main" id="{B7DC8AF0-24F1-B4C0-0F16-0B2DBC10B51B}"/>
                </a:ext>
              </a:extLst>
            </p:cNvPr>
            <p:cNvCxnSpPr>
              <a:cxnSpLocks/>
            </p:cNvCxnSpPr>
            <p:nvPr/>
          </p:nvCxnSpPr>
          <p:spPr>
            <a:xfrm flipH="1" flipV="1">
              <a:off x="7812264" y="4878732"/>
              <a:ext cx="480089" cy="475512"/>
            </a:xfrm>
            <a:prstGeom prst="straightConnector1">
              <a:avLst/>
            </a:prstGeom>
            <a:ln w="38100">
              <a:solidFill>
                <a:srgbClr val="2F2F2F"/>
              </a:solidFill>
              <a:tailEnd type="triangle"/>
            </a:ln>
          </p:spPr>
          <p:style>
            <a:lnRef idx="1">
              <a:schemeClr val="accent1"/>
            </a:lnRef>
            <a:fillRef idx="0">
              <a:schemeClr val="accent1"/>
            </a:fillRef>
            <a:effectRef idx="0">
              <a:schemeClr val="accent1"/>
            </a:effectRef>
            <a:fontRef idx="minor">
              <a:schemeClr val="tx1"/>
            </a:fontRef>
          </p:style>
        </p:cxnSp>
        <p:sp>
          <p:nvSpPr>
            <p:cNvPr id="29" name="Arrow: Curved Down 28">
              <a:extLst>
                <a:ext uri="{FF2B5EF4-FFF2-40B4-BE49-F238E27FC236}">
                  <a16:creationId xmlns:a16="http://schemas.microsoft.com/office/drawing/2014/main" id="{F78B5D18-9A8A-F81E-BA8B-8A8359C924AB}"/>
                </a:ext>
              </a:extLst>
            </p:cNvPr>
            <p:cNvSpPr/>
            <p:nvPr/>
          </p:nvSpPr>
          <p:spPr>
            <a:xfrm rot="18656914" flipV="1">
              <a:off x="7917884" y="5067192"/>
              <a:ext cx="265843" cy="98593"/>
            </a:xfrm>
            <a:prstGeom prst="curvedDown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23F765B-421E-AC0B-7F71-63C1C7531CB3}"/>
                    </a:ext>
                  </a:extLst>
                </p:cNvPr>
                <p:cNvSpPr txBox="1"/>
                <p:nvPr/>
              </p:nvSpPr>
              <p:spPr>
                <a:xfrm>
                  <a:off x="7932435" y="4742574"/>
                  <a:ext cx="269594"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1400" b="0" i="0" smtClean="0">
                            <a:solidFill>
                              <a:schemeClr val="tx2"/>
                            </a:solidFill>
                            <a:latin typeface="Cambria Math" panose="02040503050406030204" pitchFamily="18" charset="0"/>
                          </a:rPr>
                          <m:t>Δ</m:t>
                        </m:r>
                        <m:r>
                          <a:rPr lang="en-US" sz="1400" b="0" i="1" smtClean="0">
                            <a:solidFill>
                              <a:schemeClr val="tx2"/>
                            </a:solidFill>
                            <a:latin typeface="Cambria Math" panose="02040503050406030204" pitchFamily="18" charset="0"/>
                          </a:rPr>
                          <m:t>𝜃</m:t>
                        </m:r>
                      </m:oMath>
                    </m:oMathPara>
                  </a14:m>
                  <a:endParaRPr lang="en-GB" sz="1400" dirty="0">
                    <a:solidFill>
                      <a:schemeClr val="tx2"/>
                    </a:solidFill>
                  </a:endParaRPr>
                </a:p>
              </p:txBody>
            </p:sp>
          </mc:Choice>
          <mc:Fallback xmlns="">
            <p:sp>
              <p:nvSpPr>
                <p:cNvPr id="30" name="TextBox 29">
                  <a:extLst>
                    <a:ext uri="{FF2B5EF4-FFF2-40B4-BE49-F238E27FC236}">
                      <a16:creationId xmlns:a16="http://schemas.microsoft.com/office/drawing/2014/main" id="{223F765B-421E-AC0B-7F71-63C1C7531CB3}"/>
                    </a:ext>
                  </a:extLst>
                </p:cNvPr>
                <p:cNvSpPr txBox="1">
                  <a:spLocks noRot="1" noChangeAspect="1" noMove="1" noResize="1" noEditPoints="1" noAdjustHandles="1" noChangeArrowheads="1" noChangeShapeType="1" noTextEdit="1"/>
                </p:cNvSpPr>
                <p:nvPr/>
              </p:nvSpPr>
              <p:spPr>
                <a:xfrm>
                  <a:off x="7932435" y="4742574"/>
                  <a:ext cx="269594" cy="307777"/>
                </a:xfrm>
                <a:prstGeom prst="rect">
                  <a:avLst/>
                </a:prstGeom>
                <a:blipFill>
                  <a:blip r:embed="rId7"/>
                  <a:stretch>
                    <a:fillRect r="-3181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8E126C5-6E18-3038-FF1F-8C188BFB3030}"/>
                    </a:ext>
                  </a:extLst>
                </p:cNvPr>
                <p:cNvSpPr txBox="1"/>
                <p:nvPr/>
              </p:nvSpPr>
              <p:spPr>
                <a:xfrm>
                  <a:off x="7567275" y="4676008"/>
                  <a:ext cx="33397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sz="1400" b="1" i="1" smtClean="0">
                                <a:solidFill>
                                  <a:schemeClr val="tx1"/>
                                </a:solidFill>
                                <a:latin typeface="Cambria Math" panose="02040503050406030204" pitchFamily="18" charset="0"/>
                              </a:rPr>
                            </m:ctrlPr>
                          </m:accPr>
                          <m:e>
                            <m:r>
                              <a:rPr lang="en-US" sz="1400" b="1" i="1" smtClean="0">
                                <a:solidFill>
                                  <a:schemeClr val="tx1"/>
                                </a:solidFill>
                                <a:latin typeface="Cambria Math" panose="02040503050406030204" pitchFamily="18" charset="0"/>
                              </a:rPr>
                              <m:t>𝒆</m:t>
                            </m:r>
                          </m:e>
                        </m:acc>
                      </m:oMath>
                    </m:oMathPara>
                  </a14:m>
                  <a:endParaRPr lang="en-GB" sz="1400" b="1" dirty="0">
                    <a:solidFill>
                      <a:schemeClr val="tx1"/>
                    </a:solidFill>
                  </a:endParaRPr>
                </a:p>
              </p:txBody>
            </p:sp>
          </mc:Choice>
          <mc:Fallback xmlns="">
            <p:sp>
              <p:nvSpPr>
                <p:cNvPr id="31" name="TextBox 30">
                  <a:extLst>
                    <a:ext uri="{FF2B5EF4-FFF2-40B4-BE49-F238E27FC236}">
                      <a16:creationId xmlns:a16="http://schemas.microsoft.com/office/drawing/2014/main" id="{48E126C5-6E18-3038-FF1F-8C188BFB3030}"/>
                    </a:ext>
                  </a:extLst>
                </p:cNvPr>
                <p:cNvSpPr txBox="1">
                  <a:spLocks noRot="1" noChangeAspect="1" noMove="1" noResize="1" noEditPoints="1" noAdjustHandles="1" noChangeArrowheads="1" noChangeShapeType="1" noTextEdit="1"/>
                </p:cNvSpPr>
                <p:nvPr/>
              </p:nvSpPr>
              <p:spPr>
                <a:xfrm>
                  <a:off x="7567275" y="4676008"/>
                  <a:ext cx="333977" cy="307777"/>
                </a:xfrm>
                <a:prstGeom prst="rect">
                  <a:avLst/>
                </a:prstGeom>
                <a:blipFill>
                  <a:blip r:embed="rId8"/>
                  <a:stretch>
                    <a:fillRect r="-1818"/>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345154E0-01C7-E111-D0F7-991715F99566}"/>
                  </a:ext>
                </a:extLst>
              </p:cNvPr>
              <p:cNvSpPr txBox="1"/>
              <p:nvPr/>
            </p:nvSpPr>
            <p:spPr>
              <a:xfrm>
                <a:off x="3963254" y="2676973"/>
                <a:ext cx="542760" cy="29924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𝑞</m:t>
                          </m:r>
                        </m:e>
                        <m:sub>
                          <m:r>
                            <a:rPr lang="en-US" b="0" i="1" smtClean="0">
                              <a:solidFill>
                                <a:schemeClr val="tx2"/>
                              </a:solidFill>
                              <a:latin typeface="Cambria Math" panose="02040503050406030204" pitchFamily="18" charset="0"/>
                            </a:rPr>
                            <m:t>𝑓</m:t>
                          </m:r>
                        </m:sub>
                      </m:sSub>
                    </m:oMath>
                  </m:oMathPara>
                </a14:m>
                <a:endParaRPr lang="en-GB" dirty="0">
                  <a:solidFill>
                    <a:schemeClr val="tx2"/>
                  </a:solidFill>
                </a:endParaRPr>
              </a:p>
            </p:txBody>
          </p:sp>
        </mc:Choice>
        <mc:Fallback xmlns="">
          <p:sp>
            <p:nvSpPr>
              <p:cNvPr id="35" name="TextBox 34">
                <a:extLst>
                  <a:ext uri="{FF2B5EF4-FFF2-40B4-BE49-F238E27FC236}">
                    <a16:creationId xmlns:a16="http://schemas.microsoft.com/office/drawing/2014/main" id="{345154E0-01C7-E111-D0F7-991715F99566}"/>
                  </a:ext>
                </a:extLst>
              </p:cNvPr>
              <p:cNvSpPr txBox="1">
                <a:spLocks noRot="1" noChangeAspect="1" noMove="1" noResize="1" noEditPoints="1" noAdjustHandles="1" noChangeArrowheads="1" noChangeShapeType="1" noTextEdit="1"/>
              </p:cNvSpPr>
              <p:nvPr/>
            </p:nvSpPr>
            <p:spPr>
              <a:xfrm>
                <a:off x="3963254" y="2676973"/>
                <a:ext cx="542760" cy="299249"/>
              </a:xfrm>
              <a:prstGeom prst="rect">
                <a:avLst/>
              </a:prstGeom>
              <a:blipFill>
                <a:blip r:embed="rId9"/>
                <a:stretch>
                  <a:fillRect b="-28571"/>
                </a:stretch>
              </a:blipFill>
            </p:spPr>
            <p:txBody>
              <a:bodyPr/>
              <a:lstStyle/>
              <a:p>
                <a:r>
                  <a:rPr lang="en-GB">
                    <a:noFill/>
                  </a:rPr>
                  <a:t> </a:t>
                </a:r>
              </a:p>
            </p:txBody>
          </p:sp>
        </mc:Fallback>
      </mc:AlternateContent>
      <p:pic>
        <p:nvPicPr>
          <p:cNvPr id="7" name="Picture 6">
            <a:extLst>
              <a:ext uri="{FF2B5EF4-FFF2-40B4-BE49-F238E27FC236}">
                <a16:creationId xmlns:a16="http://schemas.microsoft.com/office/drawing/2014/main" id="{B84C1CCB-80A4-A027-1A73-2B6628C182F7}"/>
              </a:ext>
            </a:extLst>
          </p:cNvPr>
          <p:cNvPicPr>
            <a:picLocks noChangeAspect="1"/>
          </p:cNvPicPr>
          <p:nvPr/>
        </p:nvPicPr>
        <p:blipFill>
          <a:blip r:embed="rId10">
            <a:extLst>
              <a:ext uri="{BEBA8EAE-BF5A-486C-A8C5-ECC9F3942E4B}">
                <a14:imgProps xmlns:a14="http://schemas.microsoft.com/office/drawing/2010/main">
                  <a14:imgLayer r:embed="rId11">
                    <a14:imgEffect>
                      <a14:saturation sat="0"/>
                    </a14:imgEffect>
                    <a14:imgEffect>
                      <a14:brightnessContrast contrast="53000"/>
                    </a14:imgEffect>
                  </a14:imgLayer>
                </a14:imgProps>
              </a:ext>
            </a:extLst>
          </a:blip>
          <a:stretch>
            <a:fillRect/>
          </a:stretch>
        </p:blipFill>
        <p:spPr>
          <a:xfrm>
            <a:off x="5894605" y="1971093"/>
            <a:ext cx="5459196" cy="294835"/>
          </a:xfrm>
          <a:prstGeom prst="rect">
            <a:avLst/>
          </a:prstGeom>
        </p:spPr>
      </p:pic>
    </p:spTree>
    <p:extLst>
      <p:ext uri="{BB962C8B-B14F-4D97-AF65-F5344CB8AC3E}">
        <p14:creationId xmlns:p14="http://schemas.microsoft.com/office/powerpoint/2010/main" val="24374760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786107"/>
          </a:xfrm>
        </p:spPr>
        <p:txBody>
          <a:bodyPr/>
          <a:lstStyle/>
          <a:p>
            <a:r>
              <a:rPr lang="en-US" dirty="0"/>
              <a:t>Cubic Orientation Spline Algorithm </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50</a:t>
            </a:fld>
            <a:endParaRPr lang="en-US" dirty="0"/>
          </a:p>
        </p:txBody>
      </p:sp>
      <p:sp>
        <p:nvSpPr>
          <p:cNvPr id="9" name="Rectangle: Rounded Corners 8">
            <a:extLst>
              <a:ext uri="{FF2B5EF4-FFF2-40B4-BE49-F238E27FC236}">
                <a16:creationId xmlns:a16="http://schemas.microsoft.com/office/drawing/2014/main" id="{B57F9A30-FFD9-84B0-88A3-7D6F60558107}"/>
              </a:ext>
            </a:extLst>
          </p:cNvPr>
          <p:cNvSpPr/>
          <p:nvPr/>
        </p:nvSpPr>
        <p:spPr>
          <a:xfrm>
            <a:off x="8292353" y="345766"/>
            <a:ext cx="2303929" cy="622422"/>
          </a:xfrm>
          <a:prstGeom prst="roundRect">
            <a:avLst/>
          </a:prstGeom>
          <a:solidFill>
            <a:srgbClr val="CDDCF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CubicOrientationSpline</a:t>
            </a:r>
            <a:endParaRPr lang="en-GB" sz="1200" dirty="0">
              <a:solidFill>
                <a:srgbClr val="003399"/>
              </a:solidFill>
            </a:endParaRPr>
          </a:p>
        </p:txBody>
      </p:sp>
      <mc:AlternateContent xmlns:mc="http://schemas.openxmlformats.org/markup-compatibility/2006" xmlns:a14="http://schemas.microsoft.com/office/drawing/2010/main">
        <mc:Choice Requires="a14">
          <p:sp>
            <p:nvSpPr>
              <p:cNvPr id="151" name="TextBox 150">
                <a:extLst>
                  <a:ext uri="{FF2B5EF4-FFF2-40B4-BE49-F238E27FC236}">
                    <a16:creationId xmlns:a16="http://schemas.microsoft.com/office/drawing/2014/main" id="{EB395618-EE4B-C30E-BB34-BDB47CFE4E3A}"/>
                  </a:ext>
                </a:extLst>
              </p:cNvPr>
              <p:cNvSpPr txBox="1"/>
              <p:nvPr/>
            </p:nvSpPr>
            <p:spPr>
              <a:xfrm>
                <a:off x="4116387" y="4537509"/>
                <a:ext cx="1740743" cy="318998"/>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m:rPr>
                          <m:sty m:val="p"/>
                        </m:rPr>
                        <a:rPr lang="en-US" b="0" i="0" smtClean="0">
                          <a:solidFill>
                            <a:schemeClr val="tx2"/>
                          </a:solidFill>
                          <a:latin typeface="Cambria Math" panose="02040503050406030204" pitchFamily="18" charset="0"/>
                        </a:rPr>
                        <m:t>Δ</m:t>
                      </m:r>
                      <m:r>
                        <a:rPr lang="en-US" b="0" i="1" smtClean="0">
                          <a:solidFill>
                            <a:schemeClr val="tx2"/>
                          </a:solidFill>
                          <a:latin typeface="Cambria Math" panose="02040503050406030204" pitchFamily="18" charset="0"/>
                        </a:rPr>
                        <m:t>𝑞</m:t>
                      </m:r>
                      <m:d>
                        <m:dPr>
                          <m:ctrlPr>
                            <a:rPr lang="en-US" b="0" i="1" smtClean="0">
                              <a:solidFill>
                                <a:schemeClr val="tx2"/>
                              </a:solidFill>
                              <a:latin typeface="Cambria Math" panose="02040503050406030204" pitchFamily="18" charset="0"/>
                            </a:rPr>
                          </m:ctrlPr>
                        </m:dPr>
                        <m:e>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𝑡</m:t>
                              </m:r>
                            </m:e>
                            <m:sub>
                              <m:r>
                                <a:rPr lang="en-US" b="0" i="1" smtClean="0">
                                  <a:solidFill>
                                    <a:schemeClr val="tx2"/>
                                  </a:solidFill>
                                  <a:latin typeface="Cambria Math" panose="02040503050406030204" pitchFamily="18" charset="0"/>
                                </a:rPr>
                                <m:t>𝑓</m:t>
                              </m:r>
                            </m:sub>
                          </m:sSub>
                        </m:e>
                      </m:d>
                      <m:r>
                        <a:rPr lang="en-US" b="0" i="1" smtClean="0">
                          <a:solidFill>
                            <a:schemeClr val="tx2"/>
                          </a:solidFill>
                          <a:latin typeface="Cambria Math" panose="02040503050406030204" pitchFamily="18" charset="0"/>
                        </a:rPr>
                        <m:t>=</m:t>
                      </m:r>
                      <m:sSubSup>
                        <m:sSubSupPr>
                          <m:ctrlPr>
                            <a:rPr lang="en-US" b="0" i="1" smtClean="0">
                              <a:solidFill>
                                <a:schemeClr val="tx2"/>
                              </a:solidFill>
                              <a:latin typeface="Cambria Math" panose="02040503050406030204" pitchFamily="18" charset="0"/>
                            </a:rPr>
                          </m:ctrlPr>
                        </m:sSubSupPr>
                        <m:e>
                          <m:r>
                            <a:rPr lang="en-US" b="0" i="1" smtClean="0">
                              <a:solidFill>
                                <a:schemeClr val="tx2"/>
                              </a:solidFill>
                              <a:latin typeface="Cambria Math" panose="02040503050406030204" pitchFamily="18" charset="0"/>
                            </a:rPr>
                            <m:t>𝑞</m:t>
                          </m:r>
                        </m:e>
                        <m:sub>
                          <m:r>
                            <a:rPr lang="en-US" b="0" i="1" smtClean="0">
                              <a:solidFill>
                                <a:schemeClr val="tx2"/>
                              </a:solidFill>
                              <a:latin typeface="Cambria Math" panose="02040503050406030204" pitchFamily="18" charset="0"/>
                            </a:rPr>
                            <m:t>𝑖</m:t>
                          </m:r>
                        </m:sub>
                        <m:sup>
                          <m:r>
                            <a:rPr lang="en-US" b="0" i="1" smtClean="0">
                              <a:solidFill>
                                <a:schemeClr val="tx2"/>
                              </a:solidFill>
                              <a:latin typeface="Cambria Math" panose="02040503050406030204" pitchFamily="18" charset="0"/>
                            </a:rPr>
                            <m:t>−1</m:t>
                          </m:r>
                        </m:sup>
                      </m:sSubSup>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𝑞</m:t>
                          </m:r>
                        </m:e>
                        <m:sub>
                          <m:r>
                            <a:rPr lang="en-US" b="0" i="1" smtClean="0">
                              <a:solidFill>
                                <a:schemeClr val="tx2"/>
                              </a:solidFill>
                              <a:latin typeface="Cambria Math" panose="02040503050406030204" pitchFamily="18" charset="0"/>
                            </a:rPr>
                            <m:t>𝑓</m:t>
                          </m:r>
                        </m:sub>
                      </m:sSub>
                    </m:oMath>
                  </m:oMathPara>
                </a14:m>
                <a:endParaRPr lang="en-GB" dirty="0">
                  <a:solidFill>
                    <a:schemeClr val="tx2"/>
                  </a:solidFill>
                </a:endParaRPr>
              </a:p>
            </p:txBody>
          </p:sp>
        </mc:Choice>
        <mc:Fallback xmlns="">
          <p:sp>
            <p:nvSpPr>
              <p:cNvPr id="151" name="TextBox 150">
                <a:extLst>
                  <a:ext uri="{FF2B5EF4-FFF2-40B4-BE49-F238E27FC236}">
                    <a16:creationId xmlns:a16="http://schemas.microsoft.com/office/drawing/2014/main" id="{EB395618-EE4B-C30E-BB34-BDB47CFE4E3A}"/>
                  </a:ext>
                </a:extLst>
              </p:cNvPr>
              <p:cNvSpPr txBox="1">
                <a:spLocks noRot="1" noChangeAspect="1" noMove="1" noResize="1" noEditPoints="1" noAdjustHandles="1" noChangeArrowheads="1" noChangeShapeType="1" noTextEdit="1"/>
              </p:cNvSpPr>
              <p:nvPr/>
            </p:nvSpPr>
            <p:spPr>
              <a:xfrm>
                <a:off x="4116387" y="4537509"/>
                <a:ext cx="1740743" cy="318998"/>
              </a:xfrm>
              <a:prstGeom prst="rect">
                <a:avLst/>
              </a:prstGeom>
              <a:blipFill>
                <a:blip r:embed="rId3"/>
                <a:stretch>
                  <a:fillRect b="-2452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9455379-0C65-A4B3-87B4-70588481EEE2}"/>
                  </a:ext>
                </a:extLst>
              </p:cNvPr>
              <p:cNvSpPr txBox="1"/>
              <p:nvPr/>
            </p:nvSpPr>
            <p:spPr>
              <a:xfrm>
                <a:off x="5903311" y="2573306"/>
                <a:ext cx="2797341" cy="1412181"/>
              </a:xfrm>
              <a:prstGeom prst="rect">
                <a:avLst/>
              </a:prstGeom>
              <a:noFill/>
            </p:spPr>
            <p:txBody>
              <a:bodyPr wrap="square" lIns="0" tIns="0" rIns="0" bIns="0" rtlCol="0">
                <a:spAutoFit/>
              </a:bodyPr>
              <a:lstStyle/>
              <a:p>
                <a:r>
                  <a:rPr lang="en-US" b="1" dirty="0">
                    <a:solidFill>
                      <a:srgbClr val="2F2F2F"/>
                    </a:solidFill>
                  </a:rPr>
                  <a:t>Coefficients:</a:t>
                </a:r>
              </a:p>
              <a:p>
                <a14:m>
                  <m:oMath xmlns:m="http://schemas.openxmlformats.org/officeDocument/2006/math">
                    <m:sSub>
                      <m:sSubPr>
                        <m:ctrlPr>
                          <a:rPr lang="en-US" b="0" i="1" smtClean="0">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𝑎</m:t>
                            </m:r>
                          </m:e>
                        </m:acc>
                      </m:e>
                      <m:sub>
                        <m:r>
                          <a:rPr lang="en-US" b="0" i="1" smtClean="0">
                            <a:solidFill>
                              <a:srgbClr val="2F2F2F"/>
                            </a:solidFill>
                            <a:latin typeface="Cambria Math" panose="02040503050406030204" pitchFamily="18" charset="0"/>
                          </a:rPr>
                          <m:t>1</m:t>
                        </m:r>
                      </m:sub>
                    </m:sSub>
                    <m:r>
                      <a:rPr lang="en-US" b="0" i="1" smtClean="0">
                        <a:solidFill>
                          <a:srgbClr val="2F2F2F"/>
                        </a:solidFill>
                        <a:latin typeface="Cambria Math" panose="02040503050406030204" pitchFamily="18" charset="0"/>
                      </a:rPr>
                      <m:t>=0</m:t>
                    </m:r>
                  </m:oMath>
                </a14:m>
                <a:r>
                  <a:rPr lang="en-US" b="0" dirty="0">
                    <a:solidFill>
                      <a:srgbClr val="2F2F2F"/>
                    </a:solidFill>
                  </a:rPr>
                  <a:t> </a:t>
                </a:r>
              </a:p>
              <a:p>
                <a14:m>
                  <m:oMath xmlns:m="http://schemas.openxmlformats.org/officeDocument/2006/math">
                    <m:sSub>
                      <m:sSubPr>
                        <m:ctrlPr>
                          <a:rPr lang="en-US" i="1">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𝑎</m:t>
                            </m:r>
                          </m:e>
                        </m:acc>
                      </m:e>
                      <m:sub>
                        <m:r>
                          <a:rPr lang="en-US" i="1">
                            <a:solidFill>
                              <a:srgbClr val="2F2F2F"/>
                            </a:solidFill>
                            <a:latin typeface="Cambria Math" panose="02040503050406030204" pitchFamily="18" charset="0"/>
                          </a:rPr>
                          <m:t>2</m:t>
                        </m:r>
                      </m:sub>
                    </m:sSub>
                    <m:r>
                      <a:rPr lang="en-US" b="0" i="0" smtClean="0">
                        <a:solidFill>
                          <a:srgbClr val="2F2F2F"/>
                        </a:solidFill>
                        <a:latin typeface="Cambria Math" panose="02040503050406030204" pitchFamily="18" charset="0"/>
                      </a:rPr>
                      <m:t>=</m:t>
                    </m:r>
                    <m:r>
                      <m:rPr>
                        <m:sty m:val="p"/>
                      </m:rPr>
                      <a:rPr lang="en-US" b="0" i="0" smtClean="0">
                        <a:solidFill>
                          <a:srgbClr val="2F2F2F"/>
                        </a:solidFill>
                        <a:latin typeface="Cambria Math" panose="02040503050406030204" pitchFamily="18" charset="0"/>
                      </a:rPr>
                      <m:t>Δ</m:t>
                    </m:r>
                    <m:r>
                      <a:rPr lang="en-US" b="0" i="1" smtClean="0">
                        <a:solidFill>
                          <a:srgbClr val="2F2F2F"/>
                        </a:solidFill>
                        <a:latin typeface="Cambria Math" panose="02040503050406030204" pitchFamily="18" charset="0"/>
                      </a:rPr>
                      <m:t>𝑡</m:t>
                    </m:r>
                    <m:sSub>
                      <m:sSubPr>
                        <m:ctrlPr>
                          <a:rPr lang="en-US" b="0" i="1" smtClean="0">
                            <a:solidFill>
                              <a:srgbClr val="2F2F2F"/>
                            </a:solidFill>
                            <a:latin typeface="Cambria Math" panose="02040503050406030204" pitchFamily="18" charset="0"/>
                          </a:rPr>
                        </m:ctrlPr>
                      </m:sSubPr>
                      <m:e>
                        <m:acc>
                          <m:accPr>
                            <m:chr m:val="⃗"/>
                            <m:ctrlPr>
                              <a:rPr lang="en-US" b="0" i="1" smtClean="0">
                                <a:solidFill>
                                  <a:srgbClr val="2F2F2F"/>
                                </a:solidFill>
                                <a:latin typeface="Cambria Math" panose="02040503050406030204" pitchFamily="18" charset="0"/>
                              </a:rPr>
                            </m:ctrlPr>
                          </m:accPr>
                          <m:e>
                            <m:r>
                              <a:rPr lang="en-US" b="0" i="1" smtClean="0">
                                <a:solidFill>
                                  <a:srgbClr val="2F2F2F"/>
                                </a:solidFill>
                                <a:latin typeface="Cambria Math" panose="02040503050406030204" pitchFamily="18" charset="0"/>
                              </a:rPr>
                              <m:t>𝜔</m:t>
                            </m:r>
                          </m:e>
                        </m:acc>
                      </m:e>
                      <m:sub>
                        <m:r>
                          <a:rPr lang="en-US" b="0" i="1" smtClean="0">
                            <a:solidFill>
                              <a:srgbClr val="2F2F2F"/>
                            </a:solidFill>
                            <a:latin typeface="Cambria Math" panose="02040503050406030204" pitchFamily="18" charset="0"/>
                          </a:rPr>
                          <m:t>𝑖</m:t>
                        </m:r>
                      </m:sub>
                    </m:sSub>
                  </m:oMath>
                </a14:m>
                <a:r>
                  <a:rPr lang="en-US" b="0" dirty="0">
                    <a:solidFill>
                      <a:srgbClr val="2F2F2F"/>
                    </a:solidFill>
                  </a:rPr>
                  <a:t> </a:t>
                </a:r>
              </a:p>
              <a:p>
                <a14:m>
                  <m:oMath xmlns:m="http://schemas.openxmlformats.org/officeDocument/2006/math">
                    <m:sSub>
                      <m:sSubPr>
                        <m:ctrlPr>
                          <a:rPr lang="en-US" i="1" smtClean="0">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𝑎</m:t>
                            </m:r>
                          </m:e>
                        </m:acc>
                      </m:e>
                      <m:sub>
                        <m:r>
                          <a:rPr lang="en-US" b="0" i="1" smtClean="0">
                            <a:solidFill>
                              <a:srgbClr val="2F2F2F"/>
                            </a:solidFill>
                            <a:latin typeface="Cambria Math" panose="02040503050406030204" pitchFamily="18" charset="0"/>
                          </a:rPr>
                          <m:t>3</m:t>
                        </m:r>
                      </m:sub>
                    </m:sSub>
                    <m:r>
                      <a:rPr lang="en-US" b="0" i="1" smtClean="0">
                        <a:solidFill>
                          <a:srgbClr val="2F2F2F"/>
                        </a:solidFill>
                        <a:latin typeface="Cambria Math" panose="02040503050406030204" pitchFamily="18" charset="0"/>
                      </a:rPr>
                      <m:t>=</m:t>
                    </m:r>
                    <m:r>
                      <m:rPr>
                        <m:sty m:val="p"/>
                      </m:rPr>
                      <a:rPr lang="en-US" b="0" i="0" smtClean="0">
                        <a:solidFill>
                          <a:srgbClr val="2F2F2F"/>
                        </a:solidFill>
                        <a:latin typeface="Cambria Math" panose="02040503050406030204" pitchFamily="18" charset="0"/>
                      </a:rPr>
                      <m:t>Δ</m:t>
                    </m:r>
                    <m:r>
                      <a:rPr lang="en-US" b="0" i="1" smtClean="0">
                        <a:solidFill>
                          <a:srgbClr val="2F2F2F"/>
                        </a:solidFill>
                        <a:latin typeface="Cambria Math" panose="02040503050406030204" pitchFamily="18" charset="0"/>
                      </a:rPr>
                      <m:t>𝑡</m:t>
                    </m:r>
                    <m:sSup>
                      <m:sSupPr>
                        <m:ctrlPr>
                          <a:rPr lang="en-US" b="0" i="1" smtClean="0">
                            <a:solidFill>
                              <a:srgbClr val="2F2F2F"/>
                            </a:solidFill>
                            <a:latin typeface="Cambria Math" panose="02040503050406030204" pitchFamily="18" charset="0"/>
                          </a:rPr>
                        </m:ctrlPr>
                      </m:sSupPr>
                      <m:e>
                        <m:r>
                          <a:rPr lang="en-US" b="0" i="1" smtClean="0">
                            <a:solidFill>
                              <a:srgbClr val="2F2F2F"/>
                            </a:solidFill>
                            <a:latin typeface="Cambria Math" panose="02040503050406030204" pitchFamily="18" charset="0"/>
                          </a:rPr>
                          <m:t>𝐵</m:t>
                        </m:r>
                      </m:e>
                      <m:sup>
                        <m:r>
                          <a:rPr lang="en-US" b="0" i="1" smtClean="0">
                            <a:solidFill>
                              <a:srgbClr val="2F2F2F"/>
                            </a:solidFill>
                            <a:latin typeface="Cambria Math" panose="02040503050406030204" pitchFamily="18" charset="0"/>
                          </a:rPr>
                          <m:t>−1</m:t>
                        </m:r>
                      </m:sup>
                    </m:sSup>
                    <m:r>
                      <a:rPr lang="en-US" b="0" i="1" smtClean="0">
                        <a:solidFill>
                          <a:srgbClr val="2F2F2F"/>
                        </a:solidFill>
                        <a:latin typeface="Cambria Math" panose="02040503050406030204" pitchFamily="18" charset="0"/>
                        <a:ea typeface="Cambria Math" panose="02040503050406030204" pitchFamily="18" charset="0"/>
                      </a:rPr>
                      <m:t>∙</m:t>
                    </m:r>
                    <m:sSub>
                      <m:sSubPr>
                        <m:ctrlPr>
                          <a:rPr lang="en-US" i="1">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𝜔</m:t>
                            </m:r>
                          </m:e>
                        </m:acc>
                      </m:e>
                      <m:sub>
                        <m:r>
                          <a:rPr lang="en-US" b="0" i="1" smtClean="0">
                            <a:solidFill>
                              <a:srgbClr val="2F2F2F"/>
                            </a:solidFill>
                            <a:latin typeface="Cambria Math" panose="02040503050406030204" pitchFamily="18" charset="0"/>
                          </a:rPr>
                          <m:t>𝑓</m:t>
                        </m:r>
                      </m:sub>
                    </m:sSub>
                    <m:r>
                      <a:rPr lang="en-US" b="0" i="1" smtClean="0">
                        <a:solidFill>
                          <a:srgbClr val="2F2F2F"/>
                        </a:solidFill>
                        <a:latin typeface="Cambria Math" panose="02040503050406030204" pitchFamily="18" charset="0"/>
                      </a:rPr>
                      <m:t>−3</m:t>
                    </m:r>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𝑒</m:t>
                        </m:r>
                      </m:e>
                    </m:acc>
                    <m:r>
                      <a:rPr lang="en-US" b="1" i="1" smtClean="0">
                        <a:solidFill>
                          <a:schemeClr val="tx1"/>
                        </a:solidFill>
                        <a:latin typeface="Cambria Math" panose="02040503050406030204" pitchFamily="18" charset="0"/>
                      </a:rPr>
                      <m:t>𝜟𝜽</m:t>
                    </m:r>
                  </m:oMath>
                </a14:m>
                <a:r>
                  <a:rPr lang="en-US" b="0" dirty="0">
                    <a:solidFill>
                      <a:srgbClr val="2F2F2F"/>
                    </a:solidFill>
                  </a:rPr>
                  <a:t> </a:t>
                </a:r>
              </a:p>
              <a:p>
                <a14:m>
                  <m:oMath xmlns:m="http://schemas.openxmlformats.org/officeDocument/2006/math">
                    <m:sSub>
                      <m:sSubPr>
                        <m:ctrlPr>
                          <a:rPr lang="en-US" i="1">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𝑎</m:t>
                            </m:r>
                          </m:e>
                        </m:acc>
                      </m:e>
                      <m:sub>
                        <m:r>
                          <a:rPr lang="en-US" b="0" i="1" smtClean="0">
                            <a:solidFill>
                              <a:srgbClr val="2F2F2F"/>
                            </a:solidFill>
                            <a:latin typeface="Cambria Math" panose="02040503050406030204" pitchFamily="18" charset="0"/>
                          </a:rPr>
                          <m:t>4</m:t>
                        </m:r>
                      </m:sub>
                    </m:sSub>
                    <m:r>
                      <a:rPr lang="en-US" b="0" i="1" smtClean="0">
                        <a:solidFill>
                          <a:srgbClr val="2F2F2F"/>
                        </a:solidFill>
                        <a:latin typeface="Cambria Math" panose="02040503050406030204" pitchFamily="18" charset="0"/>
                      </a:rPr>
                      <m:t>=</m:t>
                    </m:r>
                    <m:acc>
                      <m:accPr>
                        <m:chr m:val="̂"/>
                        <m:ctrlPr>
                          <a:rPr lang="en-US" b="0" i="1" smtClean="0">
                            <a:solidFill>
                              <a:srgbClr val="2F2F2F"/>
                            </a:solidFill>
                            <a:latin typeface="Cambria Math" panose="02040503050406030204" pitchFamily="18" charset="0"/>
                          </a:rPr>
                        </m:ctrlPr>
                      </m:accPr>
                      <m:e>
                        <m:r>
                          <a:rPr lang="en-US" b="0" i="1" smtClean="0">
                            <a:solidFill>
                              <a:srgbClr val="2F2F2F"/>
                            </a:solidFill>
                            <a:latin typeface="Cambria Math" panose="02040503050406030204" pitchFamily="18" charset="0"/>
                          </a:rPr>
                          <m:t>𝑒</m:t>
                        </m:r>
                      </m:e>
                    </m:acc>
                    <m:r>
                      <a:rPr lang="en-US" b="1" i="0" smtClean="0">
                        <a:solidFill>
                          <a:schemeClr val="tx1"/>
                        </a:solidFill>
                        <a:latin typeface="Cambria Math" panose="02040503050406030204" pitchFamily="18" charset="0"/>
                      </a:rPr>
                      <m:t>𝚫</m:t>
                    </m:r>
                    <m:r>
                      <a:rPr lang="en-US" b="1" i="1" smtClean="0">
                        <a:solidFill>
                          <a:schemeClr val="tx1"/>
                        </a:solidFill>
                        <a:latin typeface="Cambria Math" panose="02040503050406030204" pitchFamily="18" charset="0"/>
                      </a:rPr>
                      <m:t>𝜽</m:t>
                    </m:r>
                  </m:oMath>
                </a14:m>
                <a:r>
                  <a:rPr lang="en-US" b="0" dirty="0">
                    <a:solidFill>
                      <a:srgbClr val="2F2F2F"/>
                    </a:solidFill>
                  </a:rPr>
                  <a:t> </a:t>
                </a:r>
              </a:p>
            </p:txBody>
          </p:sp>
        </mc:Choice>
        <mc:Fallback xmlns="">
          <p:sp>
            <p:nvSpPr>
              <p:cNvPr id="10" name="TextBox 9">
                <a:extLst>
                  <a:ext uri="{FF2B5EF4-FFF2-40B4-BE49-F238E27FC236}">
                    <a16:creationId xmlns:a16="http://schemas.microsoft.com/office/drawing/2014/main" id="{A9455379-0C65-A4B3-87B4-70588481EEE2}"/>
                  </a:ext>
                </a:extLst>
              </p:cNvPr>
              <p:cNvSpPr txBox="1">
                <a:spLocks noRot="1" noChangeAspect="1" noMove="1" noResize="1" noEditPoints="1" noAdjustHandles="1" noChangeArrowheads="1" noChangeShapeType="1" noTextEdit="1"/>
              </p:cNvSpPr>
              <p:nvPr/>
            </p:nvSpPr>
            <p:spPr>
              <a:xfrm>
                <a:off x="5903311" y="2573306"/>
                <a:ext cx="2797341" cy="1412181"/>
              </a:xfrm>
              <a:prstGeom prst="rect">
                <a:avLst/>
              </a:prstGeom>
              <a:blipFill>
                <a:blip r:embed="rId4"/>
                <a:stretch>
                  <a:fillRect l="-5011" t="-5603" b="-3017"/>
                </a:stretch>
              </a:blipFill>
            </p:spPr>
            <p:txBody>
              <a:bodyPr/>
              <a:lstStyle/>
              <a:p>
                <a:r>
                  <a:rPr lang="en-GB">
                    <a:noFill/>
                  </a:rPr>
                  <a:t> </a:t>
                </a:r>
              </a:p>
            </p:txBody>
          </p:sp>
        </mc:Fallback>
      </mc:AlternateContent>
      <p:grpSp>
        <p:nvGrpSpPr>
          <p:cNvPr id="11" name="Group 10">
            <a:extLst>
              <a:ext uri="{FF2B5EF4-FFF2-40B4-BE49-F238E27FC236}">
                <a16:creationId xmlns:a16="http://schemas.microsoft.com/office/drawing/2014/main" id="{55E7BFA0-EBE5-2AE9-ED46-ABC51DAA2D4F}"/>
              </a:ext>
            </a:extLst>
          </p:cNvPr>
          <p:cNvGrpSpPr/>
          <p:nvPr/>
        </p:nvGrpSpPr>
        <p:grpSpPr>
          <a:xfrm rot="18885688">
            <a:off x="3519256" y="2299452"/>
            <a:ext cx="1021929" cy="1522466"/>
            <a:chOff x="1071439" y="1596445"/>
            <a:chExt cx="1021929" cy="1522466"/>
          </a:xfrm>
        </p:grpSpPr>
        <p:cxnSp>
          <p:nvCxnSpPr>
            <p:cNvPr id="12" name="Straight Arrow Connector 11">
              <a:extLst>
                <a:ext uri="{FF2B5EF4-FFF2-40B4-BE49-F238E27FC236}">
                  <a16:creationId xmlns:a16="http://schemas.microsoft.com/office/drawing/2014/main" id="{FFFBE926-0C88-7D0C-144E-795BBFC8D93E}"/>
                </a:ext>
              </a:extLst>
            </p:cNvPr>
            <p:cNvCxnSpPr>
              <a:cxnSpLocks/>
            </p:cNvCxnSpPr>
            <p:nvPr/>
          </p:nvCxnSpPr>
          <p:spPr>
            <a:xfrm flipH="1">
              <a:off x="1628009" y="2600340"/>
              <a:ext cx="460955" cy="51857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A96FAB1-A66B-46F7-40EE-02215BFD8389}"/>
                </a:ext>
              </a:extLst>
            </p:cNvPr>
            <p:cNvCxnSpPr/>
            <p:nvPr/>
          </p:nvCxnSpPr>
          <p:spPr>
            <a:xfrm flipV="1">
              <a:off x="2088964" y="1596445"/>
              <a:ext cx="0" cy="101438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67E48AA-B9B8-1868-8D37-E4243C4C269F}"/>
                </a:ext>
              </a:extLst>
            </p:cNvPr>
            <p:cNvCxnSpPr>
              <a:cxnSpLocks/>
            </p:cNvCxnSpPr>
            <p:nvPr/>
          </p:nvCxnSpPr>
          <p:spPr>
            <a:xfrm flipH="1">
              <a:off x="1071439" y="2600340"/>
              <a:ext cx="102192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8025A414-3C72-4BE7-82BE-34D8D5403D19}"/>
              </a:ext>
            </a:extLst>
          </p:cNvPr>
          <p:cNvGrpSpPr/>
          <p:nvPr/>
        </p:nvGrpSpPr>
        <p:grpSpPr>
          <a:xfrm>
            <a:off x="1695692" y="2933394"/>
            <a:ext cx="1021929" cy="1522466"/>
            <a:chOff x="1071439" y="1596445"/>
            <a:chExt cx="1021929" cy="1522466"/>
          </a:xfrm>
        </p:grpSpPr>
        <p:cxnSp>
          <p:nvCxnSpPr>
            <p:cNvPr id="16" name="Straight Arrow Connector 15">
              <a:extLst>
                <a:ext uri="{FF2B5EF4-FFF2-40B4-BE49-F238E27FC236}">
                  <a16:creationId xmlns:a16="http://schemas.microsoft.com/office/drawing/2014/main" id="{52222C15-EF7D-36F7-FC18-81F0A107ED18}"/>
                </a:ext>
              </a:extLst>
            </p:cNvPr>
            <p:cNvCxnSpPr>
              <a:cxnSpLocks/>
            </p:cNvCxnSpPr>
            <p:nvPr/>
          </p:nvCxnSpPr>
          <p:spPr>
            <a:xfrm flipH="1">
              <a:off x="1628009" y="2600340"/>
              <a:ext cx="460955" cy="51857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339568D-9FD7-F93A-2E7C-9BC0E91FAA57}"/>
                </a:ext>
              </a:extLst>
            </p:cNvPr>
            <p:cNvCxnSpPr/>
            <p:nvPr/>
          </p:nvCxnSpPr>
          <p:spPr>
            <a:xfrm flipV="1">
              <a:off x="2088964" y="1596445"/>
              <a:ext cx="0" cy="101438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1FE7412-20E0-B4E3-096C-0F54CD6647FA}"/>
                </a:ext>
              </a:extLst>
            </p:cNvPr>
            <p:cNvCxnSpPr>
              <a:cxnSpLocks/>
            </p:cNvCxnSpPr>
            <p:nvPr/>
          </p:nvCxnSpPr>
          <p:spPr>
            <a:xfrm flipH="1">
              <a:off x="1071439" y="2600340"/>
              <a:ext cx="102192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1" name="Arrow: Curved Down 20">
            <a:extLst>
              <a:ext uri="{FF2B5EF4-FFF2-40B4-BE49-F238E27FC236}">
                <a16:creationId xmlns:a16="http://schemas.microsoft.com/office/drawing/2014/main" id="{9CE41B02-3237-1452-8582-E607A26BDD66}"/>
              </a:ext>
            </a:extLst>
          </p:cNvPr>
          <p:cNvSpPr/>
          <p:nvPr/>
        </p:nvSpPr>
        <p:spPr>
          <a:xfrm rot="19977682" flipV="1">
            <a:off x="2878089" y="3405434"/>
            <a:ext cx="2319071" cy="1092550"/>
          </a:xfrm>
          <a:prstGeom prst="curvedDownArrow">
            <a:avLst>
              <a:gd name="adj1" fmla="val 0"/>
              <a:gd name="adj2" fmla="val 21287"/>
              <a:gd name="adj3" fmla="val 11700"/>
            </a:avLst>
          </a:prstGeom>
          <a:solidFill>
            <a:srgbClr val="000000"/>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C8935C0-2B0B-4974-9124-55D0621822EF}"/>
                  </a:ext>
                </a:extLst>
              </p:cNvPr>
              <p:cNvSpPr txBox="1"/>
              <p:nvPr/>
            </p:nvSpPr>
            <p:spPr>
              <a:xfrm>
                <a:off x="2261040" y="3594365"/>
                <a:ext cx="542760"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𝑞</m:t>
                          </m:r>
                        </m:e>
                        <m:sub>
                          <m:r>
                            <a:rPr lang="en-US" b="0" i="1" smtClean="0">
                              <a:solidFill>
                                <a:schemeClr val="tx2"/>
                              </a:solidFill>
                              <a:latin typeface="Cambria Math" panose="02040503050406030204" pitchFamily="18" charset="0"/>
                            </a:rPr>
                            <m:t>𝑖</m:t>
                          </m:r>
                        </m:sub>
                      </m:sSub>
                    </m:oMath>
                  </m:oMathPara>
                </a14:m>
                <a:endParaRPr lang="en-GB" dirty="0">
                  <a:solidFill>
                    <a:schemeClr val="tx2"/>
                  </a:solidFill>
                </a:endParaRPr>
              </a:p>
            </p:txBody>
          </p:sp>
        </mc:Choice>
        <mc:Fallback xmlns="">
          <p:sp>
            <p:nvSpPr>
              <p:cNvPr id="24" name="TextBox 23">
                <a:extLst>
                  <a:ext uri="{FF2B5EF4-FFF2-40B4-BE49-F238E27FC236}">
                    <a16:creationId xmlns:a16="http://schemas.microsoft.com/office/drawing/2014/main" id="{3C8935C0-2B0B-4974-9124-55D0621822EF}"/>
                  </a:ext>
                </a:extLst>
              </p:cNvPr>
              <p:cNvSpPr txBox="1">
                <a:spLocks noRot="1" noChangeAspect="1" noMove="1" noResize="1" noEditPoints="1" noAdjustHandles="1" noChangeArrowheads="1" noChangeShapeType="1" noTextEdit="1"/>
              </p:cNvSpPr>
              <p:nvPr/>
            </p:nvSpPr>
            <p:spPr>
              <a:xfrm>
                <a:off x="2261040" y="3594365"/>
                <a:ext cx="542760" cy="276999"/>
              </a:xfrm>
              <a:prstGeom prst="rect">
                <a:avLst/>
              </a:prstGeom>
              <a:blipFill>
                <a:blip r:embed="rId6"/>
                <a:stretch>
                  <a:fillRect b="-28889"/>
                </a:stretch>
              </a:blipFill>
            </p:spPr>
            <p:txBody>
              <a:bodyPr/>
              <a:lstStyle/>
              <a:p>
                <a:r>
                  <a:rPr lang="en-GB">
                    <a:noFill/>
                  </a:rPr>
                  <a:t> </a:t>
                </a:r>
              </a:p>
            </p:txBody>
          </p:sp>
        </mc:Fallback>
      </mc:AlternateContent>
      <p:grpSp>
        <p:nvGrpSpPr>
          <p:cNvPr id="26" name="Group 25">
            <a:extLst>
              <a:ext uri="{FF2B5EF4-FFF2-40B4-BE49-F238E27FC236}">
                <a16:creationId xmlns:a16="http://schemas.microsoft.com/office/drawing/2014/main" id="{BE052278-1665-5592-6A31-47F0B475F63A}"/>
              </a:ext>
            </a:extLst>
          </p:cNvPr>
          <p:cNvGrpSpPr/>
          <p:nvPr/>
        </p:nvGrpSpPr>
        <p:grpSpPr>
          <a:xfrm>
            <a:off x="3509556" y="3766599"/>
            <a:ext cx="725078" cy="1013921"/>
            <a:chOff x="7567275" y="4676008"/>
            <a:chExt cx="725078" cy="1013921"/>
          </a:xfrm>
        </p:grpSpPr>
        <p:grpSp>
          <p:nvGrpSpPr>
            <p:cNvPr id="27" name="Group 26">
              <a:extLst>
                <a:ext uri="{FF2B5EF4-FFF2-40B4-BE49-F238E27FC236}">
                  <a16:creationId xmlns:a16="http://schemas.microsoft.com/office/drawing/2014/main" id="{2C425858-A629-C056-906C-F22C9ADA6965}"/>
                </a:ext>
              </a:extLst>
            </p:cNvPr>
            <p:cNvGrpSpPr/>
            <p:nvPr/>
          </p:nvGrpSpPr>
          <p:grpSpPr>
            <a:xfrm>
              <a:off x="7594476" y="4704397"/>
              <a:ext cx="697877" cy="985532"/>
              <a:chOff x="7594476" y="4704397"/>
              <a:chExt cx="697877" cy="985532"/>
            </a:xfrm>
          </p:grpSpPr>
          <p:cxnSp>
            <p:nvCxnSpPr>
              <p:cNvPr id="32" name="Straight Arrow Connector 31">
                <a:extLst>
                  <a:ext uri="{FF2B5EF4-FFF2-40B4-BE49-F238E27FC236}">
                    <a16:creationId xmlns:a16="http://schemas.microsoft.com/office/drawing/2014/main" id="{B112AD88-8AE7-0C51-FBCD-10449C449BF5}"/>
                  </a:ext>
                </a:extLst>
              </p:cNvPr>
              <p:cNvCxnSpPr>
                <a:cxnSpLocks/>
              </p:cNvCxnSpPr>
              <p:nvPr/>
            </p:nvCxnSpPr>
            <p:spPr>
              <a:xfrm flipH="1">
                <a:off x="7974559" y="5354244"/>
                <a:ext cx="314787" cy="33568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DAB90136-1710-D28F-7204-772539FA15F1}"/>
                  </a:ext>
                </a:extLst>
              </p:cNvPr>
              <p:cNvCxnSpPr/>
              <p:nvPr/>
            </p:nvCxnSpPr>
            <p:spPr>
              <a:xfrm flipV="1">
                <a:off x="8289346" y="4704397"/>
                <a:ext cx="0" cy="656641"/>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0BD0D02F-A4B6-EB9E-001A-7D0D02DD2D9C}"/>
                  </a:ext>
                </a:extLst>
              </p:cNvPr>
              <p:cNvCxnSpPr>
                <a:cxnSpLocks/>
              </p:cNvCxnSpPr>
              <p:nvPr/>
            </p:nvCxnSpPr>
            <p:spPr>
              <a:xfrm flipH="1">
                <a:off x="7594476" y="5354244"/>
                <a:ext cx="697877"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8" name="Straight Arrow Connector 27">
              <a:extLst>
                <a:ext uri="{FF2B5EF4-FFF2-40B4-BE49-F238E27FC236}">
                  <a16:creationId xmlns:a16="http://schemas.microsoft.com/office/drawing/2014/main" id="{B7DC8AF0-24F1-B4C0-0F16-0B2DBC10B51B}"/>
                </a:ext>
              </a:extLst>
            </p:cNvPr>
            <p:cNvCxnSpPr>
              <a:cxnSpLocks/>
            </p:cNvCxnSpPr>
            <p:nvPr/>
          </p:nvCxnSpPr>
          <p:spPr>
            <a:xfrm flipH="1" flipV="1">
              <a:off x="7812264" y="4878732"/>
              <a:ext cx="480089" cy="475512"/>
            </a:xfrm>
            <a:prstGeom prst="straightConnector1">
              <a:avLst/>
            </a:prstGeom>
            <a:ln w="38100">
              <a:solidFill>
                <a:srgbClr val="2F2F2F"/>
              </a:solidFill>
              <a:tailEnd type="triangle"/>
            </a:ln>
          </p:spPr>
          <p:style>
            <a:lnRef idx="1">
              <a:schemeClr val="accent1"/>
            </a:lnRef>
            <a:fillRef idx="0">
              <a:schemeClr val="accent1"/>
            </a:fillRef>
            <a:effectRef idx="0">
              <a:schemeClr val="accent1"/>
            </a:effectRef>
            <a:fontRef idx="minor">
              <a:schemeClr val="tx1"/>
            </a:fontRef>
          </p:style>
        </p:cxnSp>
        <p:sp>
          <p:nvSpPr>
            <p:cNvPr id="29" name="Arrow: Curved Down 28">
              <a:extLst>
                <a:ext uri="{FF2B5EF4-FFF2-40B4-BE49-F238E27FC236}">
                  <a16:creationId xmlns:a16="http://schemas.microsoft.com/office/drawing/2014/main" id="{F78B5D18-9A8A-F81E-BA8B-8A8359C924AB}"/>
                </a:ext>
              </a:extLst>
            </p:cNvPr>
            <p:cNvSpPr/>
            <p:nvPr/>
          </p:nvSpPr>
          <p:spPr>
            <a:xfrm rot="18656914" flipV="1">
              <a:off x="7917884" y="5067192"/>
              <a:ext cx="265843" cy="98593"/>
            </a:xfrm>
            <a:prstGeom prst="curvedDown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23F765B-421E-AC0B-7F71-63C1C7531CB3}"/>
                    </a:ext>
                  </a:extLst>
                </p:cNvPr>
                <p:cNvSpPr txBox="1"/>
                <p:nvPr/>
              </p:nvSpPr>
              <p:spPr>
                <a:xfrm>
                  <a:off x="7932435" y="4742574"/>
                  <a:ext cx="269594"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400" b="1" i="0" smtClean="0">
                            <a:solidFill>
                              <a:schemeClr val="tx1"/>
                            </a:solidFill>
                            <a:latin typeface="Cambria Math" panose="02040503050406030204" pitchFamily="18" charset="0"/>
                          </a:rPr>
                          <m:t>𝚫</m:t>
                        </m:r>
                        <m:r>
                          <a:rPr lang="en-US" sz="1400" b="1" i="1" smtClean="0">
                            <a:solidFill>
                              <a:schemeClr val="tx1"/>
                            </a:solidFill>
                            <a:latin typeface="Cambria Math" panose="02040503050406030204" pitchFamily="18" charset="0"/>
                          </a:rPr>
                          <m:t>𝜽</m:t>
                        </m:r>
                      </m:oMath>
                    </m:oMathPara>
                  </a14:m>
                  <a:endParaRPr lang="en-GB" sz="1400" b="1" dirty="0">
                    <a:solidFill>
                      <a:schemeClr val="tx1"/>
                    </a:solidFill>
                  </a:endParaRPr>
                </a:p>
              </p:txBody>
            </p:sp>
          </mc:Choice>
          <mc:Fallback xmlns="">
            <p:sp>
              <p:nvSpPr>
                <p:cNvPr id="30" name="TextBox 29">
                  <a:extLst>
                    <a:ext uri="{FF2B5EF4-FFF2-40B4-BE49-F238E27FC236}">
                      <a16:creationId xmlns:a16="http://schemas.microsoft.com/office/drawing/2014/main" id="{223F765B-421E-AC0B-7F71-63C1C7531CB3}"/>
                    </a:ext>
                  </a:extLst>
                </p:cNvPr>
                <p:cNvSpPr txBox="1">
                  <a:spLocks noRot="1" noChangeAspect="1" noMove="1" noResize="1" noEditPoints="1" noAdjustHandles="1" noChangeArrowheads="1" noChangeShapeType="1" noTextEdit="1"/>
                </p:cNvSpPr>
                <p:nvPr/>
              </p:nvSpPr>
              <p:spPr>
                <a:xfrm>
                  <a:off x="7932435" y="4742574"/>
                  <a:ext cx="269594" cy="307777"/>
                </a:xfrm>
                <a:prstGeom prst="rect">
                  <a:avLst/>
                </a:prstGeom>
                <a:blipFill>
                  <a:blip r:embed="rId7"/>
                  <a:stretch>
                    <a:fillRect r="-4090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8E126C5-6E18-3038-FF1F-8C188BFB3030}"/>
                    </a:ext>
                  </a:extLst>
                </p:cNvPr>
                <p:cNvSpPr txBox="1"/>
                <p:nvPr/>
              </p:nvSpPr>
              <p:spPr>
                <a:xfrm>
                  <a:off x="7567275" y="4676008"/>
                  <a:ext cx="33397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sz="1400" i="1" smtClean="0">
                                <a:solidFill>
                                  <a:schemeClr val="tx2"/>
                                </a:solidFill>
                                <a:latin typeface="Cambria Math" panose="02040503050406030204" pitchFamily="18" charset="0"/>
                              </a:rPr>
                            </m:ctrlPr>
                          </m:accPr>
                          <m:e>
                            <m:r>
                              <a:rPr lang="en-US" sz="1400" b="0" i="1" smtClean="0">
                                <a:solidFill>
                                  <a:schemeClr val="tx2"/>
                                </a:solidFill>
                                <a:latin typeface="Cambria Math" panose="02040503050406030204" pitchFamily="18" charset="0"/>
                              </a:rPr>
                              <m:t>𝑒</m:t>
                            </m:r>
                          </m:e>
                        </m:acc>
                      </m:oMath>
                    </m:oMathPara>
                  </a14:m>
                  <a:endParaRPr lang="en-GB" sz="1400" dirty="0">
                    <a:solidFill>
                      <a:schemeClr val="tx2"/>
                    </a:solidFill>
                  </a:endParaRPr>
                </a:p>
              </p:txBody>
            </p:sp>
          </mc:Choice>
          <mc:Fallback xmlns="">
            <p:sp>
              <p:nvSpPr>
                <p:cNvPr id="31" name="TextBox 30">
                  <a:extLst>
                    <a:ext uri="{FF2B5EF4-FFF2-40B4-BE49-F238E27FC236}">
                      <a16:creationId xmlns:a16="http://schemas.microsoft.com/office/drawing/2014/main" id="{48E126C5-6E18-3038-FF1F-8C188BFB3030}"/>
                    </a:ext>
                  </a:extLst>
                </p:cNvPr>
                <p:cNvSpPr txBox="1">
                  <a:spLocks noRot="1" noChangeAspect="1" noMove="1" noResize="1" noEditPoints="1" noAdjustHandles="1" noChangeArrowheads="1" noChangeShapeType="1" noTextEdit="1"/>
                </p:cNvSpPr>
                <p:nvPr/>
              </p:nvSpPr>
              <p:spPr>
                <a:xfrm>
                  <a:off x="7567275" y="4676008"/>
                  <a:ext cx="333977" cy="307777"/>
                </a:xfrm>
                <a:prstGeom prst="rect">
                  <a:avLst/>
                </a:prstGeom>
                <a:blipFill>
                  <a:blip r:embed="rId8"/>
                  <a:stretch>
                    <a:fillRect r="-23636"/>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345154E0-01C7-E111-D0F7-991715F99566}"/>
                  </a:ext>
                </a:extLst>
              </p:cNvPr>
              <p:cNvSpPr txBox="1"/>
              <p:nvPr/>
            </p:nvSpPr>
            <p:spPr>
              <a:xfrm>
                <a:off x="3963254" y="2676973"/>
                <a:ext cx="542760" cy="29924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𝑞</m:t>
                          </m:r>
                        </m:e>
                        <m:sub>
                          <m:r>
                            <a:rPr lang="en-US" b="0" i="1" smtClean="0">
                              <a:solidFill>
                                <a:schemeClr val="tx2"/>
                              </a:solidFill>
                              <a:latin typeface="Cambria Math" panose="02040503050406030204" pitchFamily="18" charset="0"/>
                            </a:rPr>
                            <m:t>𝑓</m:t>
                          </m:r>
                        </m:sub>
                      </m:sSub>
                    </m:oMath>
                  </m:oMathPara>
                </a14:m>
                <a:endParaRPr lang="en-GB" dirty="0">
                  <a:solidFill>
                    <a:schemeClr val="tx2"/>
                  </a:solidFill>
                </a:endParaRPr>
              </a:p>
            </p:txBody>
          </p:sp>
        </mc:Choice>
        <mc:Fallback xmlns="">
          <p:sp>
            <p:nvSpPr>
              <p:cNvPr id="35" name="TextBox 34">
                <a:extLst>
                  <a:ext uri="{FF2B5EF4-FFF2-40B4-BE49-F238E27FC236}">
                    <a16:creationId xmlns:a16="http://schemas.microsoft.com/office/drawing/2014/main" id="{345154E0-01C7-E111-D0F7-991715F99566}"/>
                  </a:ext>
                </a:extLst>
              </p:cNvPr>
              <p:cNvSpPr txBox="1">
                <a:spLocks noRot="1" noChangeAspect="1" noMove="1" noResize="1" noEditPoints="1" noAdjustHandles="1" noChangeArrowheads="1" noChangeShapeType="1" noTextEdit="1"/>
              </p:cNvSpPr>
              <p:nvPr/>
            </p:nvSpPr>
            <p:spPr>
              <a:xfrm>
                <a:off x="3963254" y="2676973"/>
                <a:ext cx="542760" cy="299249"/>
              </a:xfrm>
              <a:prstGeom prst="rect">
                <a:avLst/>
              </a:prstGeom>
              <a:blipFill>
                <a:blip r:embed="rId9"/>
                <a:stretch>
                  <a:fillRect b="-28571"/>
                </a:stretch>
              </a:blipFill>
            </p:spPr>
            <p:txBody>
              <a:bodyPr/>
              <a:lstStyle/>
              <a:p>
                <a:r>
                  <a:rPr lang="en-GB">
                    <a:noFill/>
                  </a:rPr>
                  <a:t> </a:t>
                </a:r>
              </a:p>
            </p:txBody>
          </p:sp>
        </mc:Fallback>
      </mc:AlternateContent>
      <p:pic>
        <p:nvPicPr>
          <p:cNvPr id="7" name="Picture 6">
            <a:extLst>
              <a:ext uri="{FF2B5EF4-FFF2-40B4-BE49-F238E27FC236}">
                <a16:creationId xmlns:a16="http://schemas.microsoft.com/office/drawing/2014/main" id="{63BC4D8B-DBDC-9DB4-A7A9-5193410DF1BA}"/>
              </a:ext>
            </a:extLst>
          </p:cNvPr>
          <p:cNvPicPr>
            <a:picLocks noChangeAspect="1"/>
          </p:cNvPicPr>
          <p:nvPr/>
        </p:nvPicPr>
        <p:blipFill>
          <a:blip r:embed="rId10">
            <a:extLst>
              <a:ext uri="{BEBA8EAE-BF5A-486C-A8C5-ECC9F3942E4B}">
                <a14:imgProps xmlns:a14="http://schemas.microsoft.com/office/drawing/2010/main">
                  <a14:imgLayer r:embed="rId11">
                    <a14:imgEffect>
                      <a14:saturation sat="0"/>
                    </a14:imgEffect>
                    <a14:imgEffect>
                      <a14:brightnessContrast contrast="53000"/>
                    </a14:imgEffect>
                  </a14:imgLayer>
                </a14:imgProps>
              </a:ext>
            </a:extLst>
          </a:blip>
          <a:stretch>
            <a:fillRect/>
          </a:stretch>
        </p:blipFill>
        <p:spPr>
          <a:xfrm>
            <a:off x="5894605" y="1971093"/>
            <a:ext cx="5459196" cy="294835"/>
          </a:xfrm>
          <a:prstGeom prst="rect">
            <a:avLst/>
          </a:prstGeom>
        </p:spPr>
      </p:pic>
    </p:spTree>
    <p:extLst>
      <p:ext uri="{BB962C8B-B14F-4D97-AF65-F5344CB8AC3E}">
        <p14:creationId xmlns:p14="http://schemas.microsoft.com/office/powerpoint/2010/main" val="17696848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786107"/>
          </a:xfrm>
        </p:spPr>
        <p:txBody>
          <a:bodyPr/>
          <a:lstStyle/>
          <a:p>
            <a:r>
              <a:rPr lang="en-US" dirty="0"/>
              <a:t>Cubic Orientation Spline Algorithm </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51</a:t>
            </a:fld>
            <a:endParaRPr lang="en-US" dirty="0"/>
          </a:p>
        </p:txBody>
      </p:sp>
      <p:sp>
        <p:nvSpPr>
          <p:cNvPr id="9" name="Rectangle: Rounded Corners 8">
            <a:extLst>
              <a:ext uri="{FF2B5EF4-FFF2-40B4-BE49-F238E27FC236}">
                <a16:creationId xmlns:a16="http://schemas.microsoft.com/office/drawing/2014/main" id="{B57F9A30-FFD9-84B0-88A3-7D6F60558107}"/>
              </a:ext>
            </a:extLst>
          </p:cNvPr>
          <p:cNvSpPr/>
          <p:nvPr/>
        </p:nvSpPr>
        <p:spPr>
          <a:xfrm>
            <a:off x="8292353" y="345766"/>
            <a:ext cx="2303929" cy="622422"/>
          </a:xfrm>
          <a:prstGeom prst="roundRect">
            <a:avLst/>
          </a:prstGeom>
          <a:solidFill>
            <a:srgbClr val="CDDCF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CubicOrientationSpline</a:t>
            </a:r>
            <a:endParaRPr lang="en-GB" sz="1200" dirty="0">
              <a:solidFill>
                <a:srgbClr val="003399"/>
              </a:solidFill>
            </a:endParaRPr>
          </a:p>
        </p:txBody>
      </p:sp>
      <mc:AlternateContent xmlns:mc="http://schemas.openxmlformats.org/markup-compatibility/2006" xmlns:a14="http://schemas.microsoft.com/office/drawing/2010/main">
        <mc:Choice Requires="a14">
          <p:sp>
            <p:nvSpPr>
              <p:cNvPr id="151" name="TextBox 150">
                <a:extLst>
                  <a:ext uri="{FF2B5EF4-FFF2-40B4-BE49-F238E27FC236}">
                    <a16:creationId xmlns:a16="http://schemas.microsoft.com/office/drawing/2014/main" id="{EB395618-EE4B-C30E-BB34-BDB47CFE4E3A}"/>
                  </a:ext>
                </a:extLst>
              </p:cNvPr>
              <p:cNvSpPr txBox="1"/>
              <p:nvPr/>
            </p:nvSpPr>
            <p:spPr>
              <a:xfrm>
                <a:off x="4116387" y="4537509"/>
                <a:ext cx="1740743" cy="318998"/>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m:rPr>
                          <m:sty m:val="p"/>
                        </m:rPr>
                        <a:rPr lang="en-US" b="0" i="0" smtClean="0">
                          <a:solidFill>
                            <a:schemeClr val="tx2"/>
                          </a:solidFill>
                          <a:latin typeface="Cambria Math" panose="02040503050406030204" pitchFamily="18" charset="0"/>
                        </a:rPr>
                        <m:t>Δ</m:t>
                      </m:r>
                      <m:r>
                        <a:rPr lang="en-US" b="0" i="1" smtClean="0">
                          <a:solidFill>
                            <a:schemeClr val="tx2"/>
                          </a:solidFill>
                          <a:latin typeface="Cambria Math" panose="02040503050406030204" pitchFamily="18" charset="0"/>
                        </a:rPr>
                        <m:t>𝑞</m:t>
                      </m:r>
                      <m:d>
                        <m:dPr>
                          <m:ctrlPr>
                            <a:rPr lang="en-US" b="0" i="1" smtClean="0">
                              <a:solidFill>
                                <a:schemeClr val="tx2"/>
                              </a:solidFill>
                              <a:latin typeface="Cambria Math" panose="02040503050406030204" pitchFamily="18" charset="0"/>
                            </a:rPr>
                          </m:ctrlPr>
                        </m:dPr>
                        <m:e>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𝑡</m:t>
                              </m:r>
                            </m:e>
                            <m:sub>
                              <m:r>
                                <a:rPr lang="en-US" b="0" i="1" smtClean="0">
                                  <a:solidFill>
                                    <a:schemeClr val="tx2"/>
                                  </a:solidFill>
                                  <a:latin typeface="Cambria Math" panose="02040503050406030204" pitchFamily="18" charset="0"/>
                                </a:rPr>
                                <m:t>𝑓</m:t>
                              </m:r>
                            </m:sub>
                          </m:sSub>
                        </m:e>
                      </m:d>
                      <m:r>
                        <a:rPr lang="en-US" b="0" i="1" smtClean="0">
                          <a:solidFill>
                            <a:schemeClr val="tx2"/>
                          </a:solidFill>
                          <a:latin typeface="Cambria Math" panose="02040503050406030204" pitchFamily="18" charset="0"/>
                        </a:rPr>
                        <m:t>=</m:t>
                      </m:r>
                      <m:sSubSup>
                        <m:sSubSupPr>
                          <m:ctrlPr>
                            <a:rPr lang="en-US" b="0" i="1" smtClean="0">
                              <a:solidFill>
                                <a:schemeClr val="tx2"/>
                              </a:solidFill>
                              <a:latin typeface="Cambria Math" panose="02040503050406030204" pitchFamily="18" charset="0"/>
                            </a:rPr>
                          </m:ctrlPr>
                        </m:sSubSupPr>
                        <m:e>
                          <m:r>
                            <a:rPr lang="en-US" b="0" i="1" smtClean="0">
                              <a:solidFill>
                                <a:schemeClr val="tx2"/>
                              </a:solidFill>
                              <a:latin typeface="Cambria Math" panose="02040503050406030204" pitchFamily="18" charset="0"/>
                            </a:rPr>
                            <m:t>𝑞</m:t>
                          </m:r>
                        </m:e>
                        <m:sub>
                          <m:r>
                            <a:rPr lang="en-US" b="0" i="1" smtClean="0">
                              <a:solidFill>
                                <a:schemeClr val="tx2"/>
                              </a:solidFill>
                              <a:latin typeface="Cambria Math" panose="02040503050406030204" pitchFamily="18" charset="0"/>
                            </a:rPr>
                            <m:t>𝑖</m:t>
                          </m:r>
                        </m:sub>
                        <m:sup>
                          <m:r>
                            <a:rPr lang="en-US" b="0" i="1" smtClean="0">
                              <a:solidFill>
                                <a:schemeClr val="tx2"/>
                              </a:solidFill>
                              <a:latin typeface="Cambria Math" panose="02040503050406030204" pitchFamily="18" charset="0"/>
                            </a:rPr>
                            <m:t>−1</m:t>
                          </m:r>
                        </m:sup>
                      </m:sSubSup>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𝑞</m:t>
                          </m:r>
                        </m:e>
                        <m:sub>
                          <m:r>
                            <a:rPr lang="en-US" b="0" i="1" smtClean="0">
                              <a:solidFill>
                                <a:schemeClr val="tx2"/>
                              </a:solidFill>
                              <a:latin typeface="Cambria Math" panose="02040503050406030204" pitchFamily="18" charset="0"/>
                            </a:rPr>
                            <m:t>𝑓</m:t>
                          </m:r>
                        </m:sub>
                      </m:sSub>
                    </m:oMath>
                  </m:oMathPara>
                </a14:m>
                <a:endParaRPr lang="en-GB" dirty="0">
                  <a:solidFill>
                    <a:schemeClr val="tx2"/>
                  </a:solidFill>
                </a:endParaRPr>
              </a:p>
            </p:txBody>
          </p:sp>
        </mc:Choice>
        <mc:Fallback xmlns="">
          <p:sp>
            <p:nvSpPr>
              <p:cNvPr id="151" name="TextBox 150">
                <a:extLst>
                  <a:ext uri="{FF2B5EF4-FFF2-40B4-BE49-F238E27FC236}">
                    <a16:creationId xmlns:a16="http://schemas.microsoft.com/office/drawing/2014/main" id="{EB395618-EE4B-C30E-BB34-BDB47CFE4E3A}"/>
                  </a:ext>
                </a:extLst>
              </p:cNvPr>
              <p:cNvSpPr txBox="1">
                <a:spLocks noRot="1" noChangeAspect="1" noMove="1" noResize="1" noEditPoints="1" noAdjustHandles="1" noChangeArrowheads="1" noChangeShapeType="1" noTextEdit="1"/>
              </p:cNvSpPr>
              <p:nvPr/>
            </p:nvSpPr>
            <p:spPr>
              <a:xfrm>
                <a:off x="4116387" y="4537509"/>
                <a:ext cx="1740743" cy="318998"/>
              </a:xfrm>
              <a:prstGeom prst="rect">
                <a:avLst/>
              </a:prstGeom>
              <a:blipFill>
                <a:blip r:embed="rId3"/>
                <a:stretch>
                  <a:fillRect b="-2452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9455379-0C65-A4B3-87B4-70588481EEE2}"/>
                  </a:ext>
                </a:extLst>
              </p:cNvPr>
              <p:cNvSpPr txBox="1"/>
              <p:nvPr/>
            </p:nvSpPr>
            <p:spPr>
              <a:xfrm>
                <a:off x="5903311" y="2573306"/>
                <a:ext cx="2797341" cy="1412181"/>
              </a:xfrm>
              <a:prstGeom prst="rect">
                <a:avLst/>
              </a:prstGeom>
              <a:noFill/>
            </p:spPr>
            <p:txBody>
              <a:bodyPr wrap="square" lIns="0" tIns="0" rIns="0" bIns="0" rtlCol="0">
                <a:spAutoFit/>
              </a:bodyPr>
              <a:lstStyle/>
              <a:p>
                <a:r>
                  <a:rPr lang="en-US" b="1" dirty="0">
                    <a:solidFill>
                      <a:srgbClr val="2F2F2F"/>
                    </a:solidFill>
                  </a:rPr>
                  <a:t>Coefficients:</a:t>
                </a:r>
              </a:p>
              <a:p>
                <a14:m>
                  <m:oMath xmlns:m="http://schemas.openxmlformats.org/officeDocument/2006/math">
                    <m:sSub>
                      <m:sSubPr>
                        <m:ctrlPr>
                          <a:rPr lang="en-US" b="0" i="1" smtClean="0">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𝑎</m:t>
                            </m:r>
                          </m:e>
                        </m:acc>
                      </m:e>
                      <m:sub>
                        <m:r>
                          <a:rPr lang="en-US" b="0" i="1" smtClean="0">
                            <a:solidFill>
                              <a:srgbClr val="2F2F2F"/>
                            </a:solidFill>
                            <a:latin typeface="Cambria Math" panose="02040503050406030204" pitchFamily="18" charset="0"/>
                          </a:rPr>
                          <m:t>1</m:t>
                        </m:r>
                      </m:sub>
                    </m:sSub>
                    <m:r>
                      <a:rPr lang="en-US" b="0" i="1" smtClean="0">
                        <a:solidFill>
                          <a:srgbClr val="2F2F2F"/>
                        </a:solidFill>
                        <a:latin typeface="Cambria Math" panose="02040503050406030204" pitchFamily="18" charset="0"/>
                      </a:rPr>
                      <m:t>=0</m:t>
                    </m:r>
                  </m:oMath>
                </a14:m>
                <a:r>
                  <a:rPr lang="en-US" b="0" dirty="0">
                    <a:solidFill>
                      <a:srgbClr val="2F2F2F"/>
                    </a:solidFill>
                  </a:rPr>
                  <a:t> </a:t>
                </a:r>
              </a:p>
              <a:p>
                <a14:m>
                  <m:oMath xmlns:m="http://schemas.openxmlformats.org/officeDocument/2006/math">
                    <m:sSub>
                      <m:sSubPr>
                        <m:ctrlPr>
                          <a:rPr lang="en-US" i="1">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𝑎</m:t>
                            </m:r>
                          </m:e>
                        </m:acc>
                      </m:e>
                      <m:sub>
                        <m:r>
                          <a:rPr lang="en-US" i="1">
                            <a:solidFill>
                              <a:srgbClr val="2F2F2F"/>
                            </a:solidFill>
                            <a:latin typeface="Cambria Math" panose="02040503050406030204" pitchFamily="18" charset="0"/>
                          </a:rPr>
                          <m:t>2</m:t>
                        </m:r>
                      </m:sub>
                    </m:sSub>
                    <m:r>
                      <a:rPr lang="en-US" b="0" i="0" smtClean="0">
                        <a:solidFill>
                          <a:srgbClr val="2F2F2F"/>
                        </a:solidFill>
                        <a:latin typeface="Cambria Math" panose="02040503050406030204" pitchFamily="18" charset="0"/>
                      </a:rPr>
                      <m:t>=</m:t>
                    </m:r>
                    <m:r>
                      <m:rPr>
                        <m:sty m:val="p"/>
                      </m:rPr>
                      <a:rPr lang="en-US" b="0" i="0" smtClean="0">
                        <a:solidFill>
                          <a:srgbClr val="2F2F2F"/>
                        </a:solidFill>
                        <a:latin typeface="Cambria Math" panose="02040503050406030204" pitchFamily="18" charset="0"/>
                      </a:rPr>
                      <m:t>Δ</m:t>
                    </m:r>
                    <m:r>
                      <a:rPr lang="en-US" b="0" i="1" smtClean="0">
                        <a:solidFill>
                          <a:srgbClr val="2F2F2F"/>
                        </a:solidFill>
                        <a:latin typeface="Cambria Math" panose="02040503050406030204" pitchFamily="18" charset="0"/>
                      </a:rPr>
                      <m:t>𝑡</m:t>
                    </m:r>
                    <m:sSub>
                      <m:sSubPr>
                        <m:ctrlPr>
                          <a:rPr lang="en-US" b="1" i="1" smtClean="0">
                            <a:solidFill>
                              <a:schemeClr val="tx1"/>
                            </a:solidFill>
                            <a:latin typeface="Cambria Math" panose="02040503050406030204" pitchFamily="18" charset="0"/>
                          </a:rPr>
                        </m:ctrlPr>
                      </m:sSubPr>
                      <m:e>
                        <m:acc>
                          <m:accPr>
                            <m:chr m:val="⃗"/>
                            <m:ctrlPr>
                              <a:rPr lang="en-US" b="1" i="1" smtClean="0">
                                <a:solidFill>
                                  <a:schemeClr val="tx1"/>
                                </a:solidFill>
                                <a:latin typeface="Cambria Math" panose="02040503050406030204" pitchFamily="18" charset="0"/>
                              </a:rPr>
                            </m:ctrlPr>
                          </m:accPr>
                          <m:e>
                            <m:r>
                              <a:rPr lang="en-US" b="1" i="1" smtClean="0">
                                <a:solidFill>
                                  <a:schemeClr val="tx1"/>
                                </a:solidFill>
                                <a:latin typeface="Cambria Math" panose="02040503050406030204" pitchFamily="18" charset="0"/>
                              </a:rPr>
                              <m:t>𝝎</m:t>
                            </m:r>
                          </m:e>
                        </m:acc>
                      </m:e>
                      <m:sub>
                        <m:r>
                          <a:rPr lang="en-US" b="1" i="1" smtClean="0">
                            <a:solidFill>
                              <a:schemeClr val="tx1"/>
                            </a:solidFill>
                            <a:latin typeface="Cambria Math" panose="02040503050406030204" pitchFamily="18" charset="0"/>
                          </a:rPr>
                          <m:t>𝒊</m:t>
                        </m:r>
                      </m:sub>
                    </m:sSub>
                  </m:oMath>
                </a14:m>
                <a:r>
                  <a:rPr lang="en-US" b="0" dirty="0">
                    <a:solidFill>
                      <a:srgbClr val="2F2F2F"/>
                    </a:solidFill>
                  </a:rPr>
                  <a:t> </a:t>
                </a:r>
              </a:p>
              <a:p>
                <a14:m>
                  <m:oMath xmlns:m="http://schemas.openxmlformats.org/officeDocument/2006/math">
                    <m:sSub>
                      <m:sSubPr>
                        <m:ctrlPr>
                          <a:rPr lang="en-US" i="1" smtClean="0">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𝑎</m:t>
                            </m:r>
                          </m:e>
                        </m:acc>
                      </m:e>
                      <m:sub>
                        <m:r>
                          <a:rPr lang="en-US" b="0" i="1" smtClean="0">
                            <a:solidFill>
                              <a:srgbClr val="2F2F2F"/>
                            </a:solidFill>
                            <a:latin typeface="Cambria Math" panose="02040503050406030204" pitchFamily="18" charset="0"/>
                          </a:rPr>
                          <m:t>3</m:t>
                        </m:r>
                      </m:sub>
                    </m:sSub>
                    <m:r>
                      <a:rPr lang="en-US" b="0" i="1" smtClean="0">
                        <a:solidFill>
                          <a:srgbClr val="2F2F2F"/>
                        </a:solidFill>
                        <a:latin typeface="Cambria Math" panose="02040503050406030204" pitchFamily="18" charset="0"/>
                      </a:rPr>
                      <m:t>=</m:t>
                    </m:r>
                    <m:r>
                      <m:rPr>
                        <m:sty m:val="p"/>
                      </m:rPr>
                      <a:rPr lang="en-US" b="0" i="0" smtClean="0">
                        <a:solidFill>
                          <a:srgbClr val="2F2F2F"/>
                        </a:solidFill>
                        <a:latin typeface="Cambria Math" panose="02040503050406030204" pitchFamily="18" charset="0"/>
                      </a:rPr>
                      <m:t>Δ</m:t>
                    </m:r>
                    <m:r>
                      <a:rPr lang="en-US" b="0" i="1" smtClean="0">
                        <a:solidFill>
                          <a:srgbClr val="2F2F2F"/>
                        </a:solidFill>
                        <a:latin typeface="Cambria Math" panose="02040503050406030204" pitchFamily="18" charset="0"/>
                      </a:rPr>
                      <m:t>𝑡</m:t>
                    </m:r>
                    <m:sSup>
                      <m:sSupPr>
                        <m:ctrlPr>
                          <a:rPr lang="en-US" b="0" i="1" smtClean="0">
                            <a:solidFill>
                              <a:srgbClr val="2F2F2F"/>
                            </a:solidFill>
                            <a:latin typeface="Cambria Math" panose="02040503050406030204" pitchFamily="18" charset="0"/>
                          </a:rPr>
                        </m:ctrlPr>
                      </m:sSupPr>
                      <m:e>
                        <m:r>
                          <a:rPr lang="en-US" b="0" i="1" smtClean="0">
                            <a:solidFill>
                              <a:srgbClr val="2F2F2F"/>
                            </a:solidFill>
                            <a:latin typeface="Cambria Math" panose="02040503050406030204" pitchFamily="18" charset="0"/>
                          </a:rPr>
                          <m:t>𝐵</m:t>
                        </m:r>
                      </m:e>
                      <m:sup>
                        <m:r>
                          <a:rPr lang="en-US" b="0" i="1" smtClean="0">
                            <a:solidFill>
                              <a:srgbClr val="2F2F2F"/>
                            </a:solidFill>
                            <a:latin typeface="Cambria Math" panose="02040503050406030204" pitchFamily="18" charset="0"/>
                          </a:rPr>
                          <m:t>−1</m:t>
                        </m:r>
                      </m:sup>
                    </m:sSup>
                    <m:r>
                      <a:rPr lang="en-US" b="0" i="1" smtClean="0">
                        <a:solidFill>
                          <a:srgbClr val="2F2F2F"/>
                        </a:solidFill>
                        <a:latin typeface="Cambria Math" panose="02040503050406030204" pitchFamily="18" charset="0"/>
                        <a:ea typeface="Cambria Math" panose="02040503050406030204" pitchFamily="18" charset="0"/>
                      </a:rPr>
                      <m:t>∙</m:t>
                    </m:r>
                    <m:sSub>
                      <m:sSubPr>
                        <m:ctrlPr>
                          <a:rPr lang="en-US" i="1">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𝜔</m:t>
                            </m:r>
                          </m:e>
                        </m:acc>
                      </m:e>
                      <m:sub>
                        <m:r>
                          <a:rPr lang="en-US" b="0" i="1" smtClean="0">
                            <a:solidFill>
                              <a:srgbClr val="2F2F2F"/>
                            </a:solidFill>
                            <a:latin typeface="Cambria Math" panose="02040503050406030204" pitchFamily="18" charset="0"/>
                          </a:rPr>
                          <m:t>𝑓</m:t>
                        </m:r>
                      </m:sub>
                    </m:sSub>
                    <m:r>
                      <a:rPr lang="en-US" b="0" i="1" smtClean="0">
                        <a:solidFill>
                          <a:srgbClr val="2F2F2F"/>
                        </a:solidFill>
                        <a:latin typeface="Cambria Math" panose="02040503050406030204" pitchFamily="18" charset="0"/>
                      </a:rPr>
                      <m:t>−3</m:t>
                    </m:r>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𝑒</m:t>
                        </m:r>
                      </m:e>
                    </m:acc>
                    <m:r>
                      <m:rPr>
                        <m:sty m:val="p"/>
                      </m:rPr>
                      <a:rPr lang="en-US">
                        <a:solidFill>
                          <a:srgbClr val="2F2F2F"/>
                        </a:solidFill>
                        <a:latin typeface="Cambria Math" panose="02040503050406030204" pitchFamily="18" charset="0"/>
                      </a:rPr>
                      <m:t>Δ</m:t>
                    </m:r>
                    <m:r>
                      <a:rPr lang="en-US" i="1">
                        <a:solidFill>
                          <a:srgbClr val="2F2F2F"/>
                        </a:solidFill>
                        <a:latin typeface="Cambria Math" panose="02040503050406030204" pitchFamily="18" charset="0"/>
                      </a:rPr>
                      <m:t>𝜃</m:t>
                    </m:r>
                  </m:oMath>
                </a14:m>
                <a:r>
                  <a:rPr lang="en-US" b="0" dirty="0">
                    <a:solidFill>
                      <a:srgbClr val="2F2F2F"/>
                    </a:solidFill>
                  </a:rPr>
                  <a:t> </a:t>
                </a:r>
              </a:p>
              <a:p>
                <a14:m>
                  <m:oMath xmlns:m="http://schemas.openxmlformats.org/officeDocument/2006/math">
                    <m:sSub>
                      <m:sSubPr>
                        <m:ctrlPr>
                          <a:rPr lang="en-US" i="1">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𝑎</m:t>
                            </m:r>
                          </m:e>
                        </m:acc>
                      </m:e>
                      <m:sub>
                        <m:r>
                          <a:rPr lang="en-US" b="0" i="1" smtClean="0">
                            <a:solidFill>
                              <a:srgbClr val="2F2F2F"/>
                            </a:solidFill>
                            <a:latin typeface="Cambria Math" panose="02040503050406030204" pitchFamily="18" charset="0"/>
                          </a:rPr>
                          <m:t>4</m:t>
                        </m:r>
                      </m:sub>
                    </m:sSub>
                    <m:r>
                      <a:rPr lang="en-US" b="0" i="1" smtClean="0">
                        <a:solidFill>
                          <a:srgbClr val="2F2F2F"/>
                        </a:solidFill>
                        <a:latin typeface="Cambria Math" panose="02040503050406030204" pitchFamily="18" charset="0"/>
                      </a:rPr>
                      <m:t>=</m:t>
                    </m:r>
                    <m:acc>
                      <m:accPr>
                        <m:chr m:val="̂"/>
                        <m:ctrlPr>
                          <a:rPr lang="en-US" b="0" i="1" smtClean="0">
                            <a:solidFill>
                              <a:srgbClr val="2F2F2F"/>
                            </a:solidFill>
                            <a:latin typeface="Cambria Math" panose="02040503050406030204" pitchFamily="18" charset="0"/>
                          </a:rPr>
                        </m:ctrlPr>
                      </m:accPr>
                      <m:e>
                        <m:r>
                          <a:rPr lang="en-US" b="0" i="1" smtClean="0">
                            <a:solidFill>
                              <a:srgbClr val="2F2F2F"/>
                            </a:solidFill>
                            <a:latin typeface="Cambria Math" panose="02040503050406030204" pitchFamily="18" charset="0"/>
                          </a:rPr>
                          <m:t>𝑒</m:t>
                        </m:r>
                      </m:e>
                    </m:acc>
                    <m:r>
                      <m:rPr>
                        <m:sty m:val="p"/>
                      </m:rPr>
                      <a:rPr lang="en-US" b="0" i="0" smtClean="0">
                        <a:solidFill>
                          <a:srgbClr val="2F2F2F"/>
                        </a:solidFill>
                        <a:latin typeface="Cambria Math" panose="02040503050406030204" pitchFamily="18" charset="0"/>
                      </a:rPr>
                      <m:t>Δ</m:t>
                    </m:r>
                    <m:r>
                      <a:rPr lang="en-US" b="0" i="1" smtClean="0">
                        <a:solidFill>
                          <a:srgbClr val="2F2F2F"/>
                        </a:solidFill>
                        <a:latin typeface="Cambria Math" panose="02040503050406030204" pitchFamily="18" charset="0"/>
                      </a:rPr>
                      <m:t>𝜃</m:t>
                    </m:r>
                  </m:oMath>
                </a14:m>
                <a:r>
                  <a:rPr lang="en-US" b="0" dirty="0">
                    <a:solidFill>
                      <a:srgbClr val="2F2F2F"/>
                    </a:solidFill>
                  </a:rPr>
                  <a:t> </a:t>
                </a:r>
              </a:p>
            </p:txBody>
          </p:sp>
        </mc:Choice>
        <mc:Fallback xmlns="">
          <p:sp>
            <p:nvSpPr>
              <p:cNvPr id="10" name="TextBox 9">
                <a:extLst>
                  <a:ext uri="{FF2B5EF4-FFF2-40B4-BE49-F238E27FC236}">
                    <a16:creationId xmlns:a16="http://schemas.microsoft.com/office/drawing/2014/main" id="{A9455379-0C65-A4B3-87B4-70588481EEE2}"/>
                  </a:ext>
                </a:extLst>
              </p:cNvPr>
              <p:cNvSpPr txBox="1">
                <a:spLocks noRot="1" noChangeAspect="1" noMove="1" noResize="1" noEditPoints="1" noAdjustHandles="1" noChangeArrowheads="1" noChangeShapeType="1" noTextEdit="1"/>
              </p:cNvSpPr>
              <p:nvPr/>
            </p:nvSpPr>
            <p:spPr>
              <a:xfrm>
                <a:off x="5903311" y="2573306"/>
                <a:ext cx="2797341" cy="1412181"/>
              </a:xfrm>
              <a:prstGeom prst="rect">
                <a:avLst/>
              </a:prstGeom>
              <a:blipFill>
                <a:blip r:embed="rId4"/>
                <a:stretch>
                  <a:fillRect l="-5011" t="-5603" b="-3017"/>
                </a:stretch>
              </a:blipFill>
            </p:spPr>
            <p:txBody>
              <a:bodyPr/>
              <a:lstStyle/>
              <a:p>
                <a:r>
                  <a:rPr lang="en-GB">
                    <a:noFill/>
                  </a:rPr>
                  <a:t> </a:t>
                </a:r>
              </a:p>
            </p:txBody>
          </p:sp>
        </mc:Fallback>
      </mc:AlternateContent>
      <p:grpSp>
        <p:nvGrpSpPr>
          <p:cNvPr id="11" name="Group 10">
            <a:extLst>
              <a:ext uri="{FF2B5EF4-FFF2-40B4-BE49-F238E27FC236}">
                <a16:creationId xmlns:a16="http://schemas.microsoft.com/office/drawing/2014/main" id="{55E7BFA0-EBE5-2AE9-ED46-ABC51DAA2D4F}"/>
              </a:ext>
            </a:extLst>
          </p:cNvPr>
          <p:cNvGrpSpPr/>
          <p:nvPr/>
        </p:nvGrpSpPr>
        <p:grpSpPr>
          <a:xfrm rot="18885688">
            <a:off x="3519256" y="2299452"/>
            <a:ext cx="1021929" cy="1522466"/>
            <a:chOff x="1071439" y="1596445"/>
            <a:chExt cx="1021929" cy="1522466"/>
          </a:xfrm>
        </p:grpSpPr>
        <p:cxnSp>
          <p:nvCxnSpPr>
            <p:cNvPr id="12" name="Straight Arrow Connector 11">
              <a:extLst>
                <a:ext uri="{FF2B5EF4-FFF2-40B4-BE49-F238E27FC236}">
                  <a16:creationId xmlns:a16="http://schemas.microsoft.com/office/drawing/2014/main" id="{FFFBE926-0C88-7D0C-144E-795BBFC8D93E}"/>
                </a:ext>
              </a:extLst>
            </p:cNvPr>
            <p:cNvCxnSpPr>
              <a:cxnSpLocks/>
            </p:cNvCxnSpPr>
            <p:nvPr/>
          </p:nvCxnSpPr>
          <p:spPr>
            <a:xfrm flipH="1">
              <a:off x="1628009" y="2600340"/>
              <a:ext cx="460955" cy="51857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A96FAB1-A66B-46F7-40EE-02215BFD8389}"/>
                </a:ext>
              </a:extLst>
            </p:cNvPr>
            <p:cNvCxnSpPr/>
            <p:nvPr/>
          </p:nvCxnSpPr>
          <p:spPr>
            <a:xfrm flipV="1">
              <a:off x="2088964" y="1596445"/>
              <a:ext cx="0" cy="101438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67E48AA-B9B8-1868-8D37-E4243C4C269F}"/>
                </a:ext>
              </a:extLst>
            </p:cNvPr>
            <p:cNvCxnSpPr>
              <a:cxnSpLocks/>
            </p:cNvCxnSpPr>
            <p:nvPr/>
          </p:nvCxnSpPr>
          <p:spPr>
            <a:xfrm flipH="1">
              <a:off x="1071439" y="2600340"/>
              <a:ext cx="102192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8025A414-3C72-4BE7-82BE-34D8D5403D19}"/>
              </a:ext>
            </a:extLst>
          </p:cNvPr>
          <p:cNvGrpSpPr/>
          <p:nvPr/>
        </p:nvGrpSpPr>
        <p:grpSpPr>
          <a:xfrm>
            <a:off x="1695692" y="2933394"/>
            <a:ext cx="1021929" cy="1522466"/>
            <a:chOff x="1071439" y="1596445"/>
            <a:chExt cx="1021929" cy="1522466"/>
          </a:xfrm>
        </p:grpSpPr>
        <p:cxnSp>
          <p:nvCxnSpPr>
            <p:cNvPr id="16" name="Straight Arrow Connector 15">
              <a:extLst>
                <a:ext uri="{FF2B5EF4-FFF2-40B4-BE49-F238E27FC236}">
                  <a16:creationId xmlns:a16="http://schemas.microsoft.com/office/drawing/2014/main" id="{52222C15-EF7D-36F7-FC18-81F0A107ED18}"/>
                </a:ext>
              </a:extLst>
            </p:cNvPr>
            <p:cNvCxnSpPr>
              <a:cxnSpLocks/>
            </p:cNvCxnSpPr>
            <p:nvPr/>
          </p:nvCxnSpPr>
          <p:spPr>
            <a:xfrm flipH="1">
              <a:off x="1628009" y="2600340"/>
              <a:ext cx="460955" cy="51857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339568D-9FD7-F93A-2E7C-9BC0E91FAA57}"/>
                </a:ext>
              </a:extLst>
            </p:cNvPr>
            <p:cNvCxnSpPr/>
            <p:nvPr/>
          </p:nvCxnSpPr>
          <p:spPr>
            <a:xfrm flipV="1">
              <a:off x="2088964" y="1596445"/>
              <a:ext cx="0" cy="101438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1FE7412-20E0-B4E3-096C-0F54CD6647FA}"/>
                </a:ext>
              </a:extLst>
            </p:cNvPr>
            <p:cNvCxnSpPr>
              <a:cxnSpLocks/>
            </p:cNvCxnSpPr>
            <p:nvPr/>
          </p:nvCxnSpPr>
          <p:spPr>
            <a:xfrm flipH="1">
              <a:off x="1071439" y="2600340"/>
              <a:ext cx="102192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1" name="Arrow: Curved Down 20">
            <a:extLst>
              <a:ext uri="{FF2B5EF4-FFF2-40B4-BE49-F238E27FC236}">
                <a16:creationId xmlns:a16="http://schemas.microsoft.com/office/drawing/2014/main" id="{9CE41B02-3237-1452-8582-E607A26BDD66}"/>
              </a:ext>
            </a:extLst>
          </p:cNvPr>
          <p:cNvSpPr/>
          <p:nvPr/>
        </p:nvSpPr>
        <p:spPr>
          <a:xfrm rot="19977682" flipV="1">
            <a:off x="2878089" y="3405434"/>
            <a:ext cx="2319071" cy="1092550"/>
          </a:xfrm>
          <a:prstGeom prst="curvedDownArrow">
            <a:avLst>
              <a:gd name="adj1" fmla="val 0"/>
              <a:gd name="adj2" fmla="val 21287"/>
              <a:gd name="adj3" fmla="val 11700"/>
            </a:avLst>
          </a:prstGeom>
          <a:solidFill>
            <a:srgbClr val="000000"/>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C8935C0-2B0B-4974-9124-55D0621822EF}"/>
                  </a:ext>
                </a:extLst>
              </p:cNvPr>
              <p:cNvSpPr txBox="1"/>
              <p:nvPr/>
            </p:nvSpPr>
            <p:spPr>
              <a:xfrm>
                <a:off x="2261040" y="3594365"/>
                <a:ext cx="542760"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𝑞</m:t>
                          </m:r>
                        </m:e>
                        <m:sub>
                          <m:r>
                            <a:rPr lang="en-US" b="0" i="1" smtClean="0">
                              <a:solidFill>
                                <a:schemeClr val="tx2"/>
                              </a:solidFill>
                              <a:latin typeface="Cambria Math" panose="02040503050406030204" pitchFamily="18" charset="0"/>
                            </a:rPr>
                            <m:t>𝑖</m:t>
                          </m:r>
                        </m:sub>
                      </m:sSub>
                    </m:oMath>
                  </m:oMathPara>
                </a14:m>
                <a:endParaRPr lang="en-GB" dirty="0">
                  <a:solidFill>
                    <a:schemeClr val="tx2"/>
                  </a:solidFill>
                </a:endParaRPr>
              </a:p>
            </p:txBody>
          </p:sp>
        </mc:Choice>
        <mc:Fallback xmlns="">
          <p:sp>
            <p:nvSpPr>
              <p:cNvPr id="24" name="TextBox 23">
                <a:extLst>
                  <a:ext uri="{FF2B5EF4-FFF2-40B4-BE49-F238E27FC236}">
                    <a16:creationId xmlns:a16="http://schemas.microsoft.com/office/drawing/2014/main" id="{3C8935C0-2B0B-4974-9124-55D0621822EF}"/>
                  </a:ext>
                </a:extLst>
              </p:cNvPr>
              <p:cNvSpPr txBox="1">
                <a:spLocks noRot="1" noChangeAspect="1" noMove="1" noResize="1" noEditPoints="1" noAdjustHandles="1" noChangeArrowheads="1" noChangeShapeType="1" noTextEdit="1"/>
              </p:cNvSpPr>
              <p:nvPr/>
            </p:nvSpPr>
            <p:spPr>
              <a:xfrm>
                <a:off x="2261040" y="3594365"/>
                <a:ext cx="542760" cy="276999"/>
              </a:xfrm>
              <a:prstGeom prst="rect">
                <a:avLst/>
              </a:prstGeom>
              <a:blipFill>
                <a:blip r:embed="rId6"/>
                <a:stretch>
                  <a:fillRect b="-28889"/>
                </a:stretch>
              </a:blipFill>
            </p:spPr>
            <p:txBody>
              <a:bodyPr/>
              <a:lstStyle/>
              <a:p>
                <a:r>
                  <a:rPr lang="en-GB">
                    <a:noFill/>
                  </a:rPr>
                  <a:t> </a:t>
                </a:r>
              </a:p>
            </p:txBody>
          </p:sp>
        </mc:Fallback>
      </mc:AlternateContent>
      <p:grpSp>
        <p:nvGrpSpPr>
          <p:cNvPr id="26" name="Group 25">
            <a:extLst>
              <a:ext uri="{FF2B5EF4-FFF2-40B4-BE49-F238E27FC236}">
                <a16:creationId xmlns:a16="http://schemas.microsoft.com/office/drawing/2014/main" id="{BE052278-1665-5592-6A31-47F0B475F63A}"/>
              </a:ext>
            </a:extLst>
          </p:cNvPr>
          <p:cNvGrpSpPr/>
          <p:nvPr/>
        </p:nvGrpSpPr>
        <p:grpSpPr>
          <a:xfrm>
            <a:off x="3509556" y="3766599"/>
            <a:ext cx="725078" cy="1013921"/>
            <a:chOff x="7567275" y="4676008"/>
            <a:chExt cx="725078" cy="1013921"/>
          </a:xfrm>
        </p:grpSpPr>
        <p:grpSp>
          <p:nvGrpSpPr>
            <p:cNvPr id="27" name="Group 26">
              <a:extLst>
                <a:ext uri="{FF2B5EF4-FFF2-40B4-BE49-F238E27FC236}">
                  <a16:creationId xmlns:a16="http://schemas.microsoft.com/office/drawing/2014/main" id="{2C425858-A629-C056-906C-F22C9ADA6965}"/>
                </a:ext>
              </a:extLst>
            </p:cNvPr>
            <p:cNvGrpSpPr/>
            <p:nvPr/>
          </p:nvGrpSpPr>
          <p:grpSpPr>
            <a:xfrm>
              <a:off x="7594476" y="4704397"/>
              <a:ext cx="697877" cy="985532"/>
              <a:chOff x="7594476" y="4704397"/>
              <a:chExt cx="697877" cy="985532"/>
            </a:xfrm>
          </p:grpSpPr>
          <p:cxnSp>
            <p:nvCxnSpPr>
              <p:cNvPr id="32" name="Straight Arrow Connector 31">
                <a:extLst>
                  <a:ext uri="{FF2B5EF4-FFF2-40B4-BE49-F238E27FC236}">
                    <a16:creationId xmlns:a16="http://schemas.microsoft.com/office/drawing/2014/main" id="{B112AD88-8AE7-0C51-FBCD-10449C449BF5}"/>
                  </a:ext>
                </a:extLst>
              </p:cNvPr>
              <p:cNvCxnSpPr>
                <a:cxnSpLocks/>
              </p:cNvCxnSpPr>
              <p:nvPr/>
            </p:nvCxnSpPr>
            <p:spPr>
              <a:xfrm flipH="1">
                <a:off x="7974559" y="5354244"/>
                <a:ext cx="314787" cy="33568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DAB90136-1710-D28F-7204-772539FA15F1}"/>
                  </a:ext>
                </a:extLst>
              </p:cNvPr>
              <p:cNvCxnSpPr/>
              <p:nvPr/>
            </p:nvCxnSpPr>
            <p:spPr>
              <a:xfrm flipV="1">
                <a:off x="8289346" y="4704397"/>
                <a:ext cx="0" cy="656641"/>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0BD0D02F-A4B6-EB9E-001A-7D0D02DD2D9C}"/>
                  </a:ext>
                </a:extLst>
              </p:cNvPr>
              <p:cNvCxnSpPr>
                <a:cxnSpLocks/>
              </p:cNvCxnSpPr>
              <p:nvPr/>
            </p:nvCxnSpPr>
            <p:spPr>
              <a:xfrm flipH="1">
                <a:off x="7594476" y="5354244"/>
                <a:ext cx="697877"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8" name="Straight Arrow Connector 27">
              <a:extLst>
                <a:ext uri="{FF2B5EF4-FFF2-40B4-BE49-F238E27FC236}">
                  <a16:creationId xmlns:a16="http://schemas.microsoft.com/office/drawing/2014/main" id="{B7DC8AF0-24F1-B4C0-0F16-0B2DBC10B51B}"/>
                </a:ext>
              </a:extLst>
            </p:cNvPr>
            <p:cNvCxnSpPr>
              <a:cxnSpLocks/>
            </p:cNvCxnSpPr>
            <p:nvPr/>
          </p:nvCxnSpPr>
          <p:spPr>
            <a:xfrm flipH="1" flipV="1">
              <a:off x="7812264" y="4878732"/>
              <a:ext cx="480089" cy="475512"/>
            </a:xfrm>
            <a:prstGeom prst="straightConnector1">
              <a:avLst/>
            </a:prstGeom>
            <a:ln w="38100">
              <a:solidFill>
                <a:srgbClr val="2F2F2F"/>
              </a:solidFill>
              <a:tailEnd type="triangle"/>
            </a:ln>
          </p:spPr>
          <p:style>
            <a:lnRef idx="1">
              <a:schemeClr val="accent1"/>
            </a:lnRef>
            <a:fillRef idx="0">
              <a:schemeClr val="accent1"/>
            </a:fillRef>
            <a:effectRef idx="0">
              <a:schemeClr val="accent1"/>
            </a:effectRef>
            <a:fontRef idx="minor">
              <a:schemeClr val="tx1"/>
            </a:fontRef>
          </p:style>
        </p:cxnSp>
        <p:sp>
          <p:nvSpPr>
            <p:cNvPr id="29" name="Arrow: Curved Down 28">
              <a:extLst>
                <a:ext uri="{FF2B5EF4-FFF2-40B4-BE49-F238E27FC236}">
                  <a16:creationId xmlns:a16="http://schemas.microsoft.com/office/drawing/2014/main" id="{F78B5D18-9A8A-F81E-BA8B-8A8359C924AB}"/>
                </a:ext>
              </a:extLst>
            </p:cNvPr>
            <p:cNvSpPr/>
            <p:nvPr/>
          </p:nvSpPr>
          <p:spPr>
            <a:xfrm rot="18656914" flipV="1">
              <a:off x="7917884" y="5067192"/>
              <a:ext cx="265843" cy="98593"/>
            </a:xfrm>
            <a:prstGeom prst="curvedDown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23F765B-421E-AC0B-7F71-63C1C7531CB3}"/>
                    </a:ext>
                  </a:extLst>
                </p:cNvPr>
                <p:cNvSpPr txBox="1"/>
                <p:nvPr/>
              </p:nvSpPr>
              <p:spPr>
                <a:xfrm>
                  <a:off x="7932435" y="4742574"/>
                  <a:ext cx="269594"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1400" b="0" i="0" smtClean="0">
                            <a:solidFill>
                              <a:schemeClr val="tx2"/>
                            </a:solidFill>
                            <a:latin typeface="Cambria Math" panose="02040503050406030204" pitchFamily="18" charset="0"/>
                          </a:rPr>
                          <m:t>Δ</m:t>
                        </m:r>
                        <m:r>
                          <a:rPr lang="en-US" sz="1400" b="0" i="1" smtClean="0">
                            <a:solidFill>
                              <a:schemeClr val="tx2"/>
                            </a:solidFill>
                            <a:latin typeface="Cambria Math" panose="02040503050406030204" pitchFamily="18" charset="0"/>
                          </a:rPr>
                          <m:t>𝜃</m:t>
                        </m:r>
                      </m:oMath>
                    </m:oMathPara>
                  </a14:m>
                  <a:endParaRPr lang="en-GB" sz="1400" dirty="0">
                    <a:solidFill>
                      <a:schemeClr val="tx2"/>
                    </a:solidFill>
                  </a:endParaRPr>
                </a:p>
              </p:txBody>
            </p:sp>
          </mc:Choice>
          <mc:Fallback xmlns="">
            <p:sp>
              <p:nvSpPr>
                <p:cNvPr id="30" name="TextBox 29">
                  <a:extLst>
                    <a:ext uri="{FF2B5EF4-FFF2-40B4-BE49-F238E27FC236}">
                      <a16:creationId xmlns:a16="http://schemas.microsoft.com/office/drawing/2014/main" id="{223F765B-421E-AC0B-7F71-63C1C7531CB3}"/>
                    </a:ext>
                  </a:extLst>
                </p:cNvPr>
                <p:cNvSpPr txBox="1">
                  <a:spLocks noRot="1" noChangeAspect="1" noMove="1" noResize="1" noEditPoints="1" noAdjustHandles="1" noChangeArrowheads="1" noChangeShapeType="1" noTextEdit="1"/>
                </p:cNvSpPr>
                <p:nvPr/>
              </p:nvSpPr>
              <p:spPr>
                <a:xfrm>
                  <a:off x="7932435" y="4742574"/>
                  <a:ext cx="269594" cy="307777"/>
                </a:xfrm>
                <a:prstGeom prst="rect">
                  <a:avLst/>
                </a:prstGeom>
                <a:blipFill>
                  <a:blip r:embed="rId7"/>
                  <a:stretch>
                    <a:fillRect r="-3181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8E126C5-6E18-3038-FF1F-8C188BFB3030}"/>
                    </a:ext>
                  </a:extLst>
                </p:cNvPr>
                <p:cNvSpPr txBox="1"/>
                <p:nvPr/>
              </p:nvSpPr>
              <p:spPr>
                <a:xfrm>
                  <a:off x="7567275" y="4676008"/>
                  <a:ext cx="33397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sz="1400" i="1" smtClean="0">
                                <a:solidFill>
                                  <a:schemeClr val="tx2"/>
                                </a:solidFill>
                                <a:latin typeface="Cambria Math" panose="02040503050406030204" pitchFamily="18" charset="0"/>
                              </a:rPr>
                            </m:ctrlPr>
                          </m:accPr>
                          <m:e>
                            <m:r>
                              <a:rPr lang="en-US" sz="1400" b="0" i="1" smtClean="0">
                                <a:solidFill>
                                  <a:schemeClr val="tx2"/>
                                </a:solidFill>
                                <a:latin typeface="Cambria Math" panose="02040503050406030204" pitchFamily="18" charset="0"/>
                              </a:rPr>
                              <m:t>𝑒</m:t>
                            </m:r>
                          </m:e>
                        </m:acc>
                      </m:oMath>
                    </m:oMathPara>
                  </a14:m>
                  <a:endParaRPr lang="en-GB" sz="1400" dirty="0">
                    <a:solidFill>
                      <a:schemeClr val="tx2"/>
                    </a:solidFill>
                  </a:endParaRPr>
                </a:p>
              </p:txBody>
            </p:sp>
          </mc:Choice>
          <mc:Fallback xmlns="">
            <p:sp>
              <p:nvSpPr>
                <p:cNvPr id="31" name="TextBox 30">
                  <a:extLst>
                    <a:ext uri="{FF2B5EF4-FFF2-40B4-BE49-F238E27FC236}">
                      <a16:creationId xmlns:a16="http://schemas.microsoft.com/office/drawing/2014/main" id="{48E126C5-6E18-3038-FF1F-8C188BFB3030}"/>
                    </a:ext>
                  </a:extLst>
                </p:cNvPr>
                <p:cNvSpPr txBox="1">
                  <a:spLocks noRot="1" noChangeAspect="1" noMove="1" noResize="1" noEditPoints="1" noAdjustHandles="1" noChangeArrowheads="1" noChangeShapeType="1" noTextEdit="1"/>
                </p:cNvSpPr>
                <p:nvPr/>
              </p:nvSpPr>
              <p:spPr>
                <a:xfrm>
                  <a:off x="7567275" y="4676008"/>
                  <a:ext cx="333977" cy="307777"/>
                </a:xfrm>
                <a:prstGeom prst="rect">
                  <a:avLst/>
                </a:prstGeom>
                <a:blipFill>
                  <a:blip r:embed="rId8"/>
                  <a:stretch>
                    <a:fillRect r="-23636"/>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345154E0-01C7-E111-D0F7-991715F99566}"/>
                  </a:ext>
                </a:extLst>
              </p:cNvPr>
              <p:cNvSpPr txBox="1"/>
              <p:nvPr/>
            </p:nvSpPr>
            <p:spPr>
              <a:xfrm>
                <a:off x="3963254" y="2676973"/>
                <a:ext cx="542760" cy="29924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𝑞</m:t>
                          </m:r>
                        </m:e>
                        <m:sub>
                          <m:r>
                            <a:rPr lang="en-US" b="0" i="1" smtClean="0">
                              <a:solidFill>
                                <a:schemeClr val="tx2"/>
                              </a:solidFill>
                              <a:latin typeface="Cambria Math" panose="02040503050406030204" pitchFamily="18" charset="0"/>
                            </a:rPr>
                            <m:t>𝑓</m:t>
                          </m:r>
                        </m:sub>
                      </m:sSub>
                    </m:oMath>
                  </m:oMathPara>
                </a14:m>
                <a:endParaRPr lang="en-GB" dirty="0">
                  <a:solidFill>
                    <a:schemeClr val="tx2"/>
                  </a:solidFill>
                </a:endParaRPr>
              </a:p>
            </p:txBody>
          </p:sp>
        </mc:Choice>
        <mc:Fallback xmlns="">
          <p:sp>
            <p:nvSpPr>
              <p:cNvPr id="35" name="TextBox 34">
                <a:extLst>
                  <a:ext uri="{FF2B5EF4-FFF2-40B4-BE49-F238E27FC236}">
                    <a16:creationId xmlns:a16="http://schemas.microsoft.com/office/drawing/2014/main" id="{345154E0-01C7-E111-D0F7-991715F99566}"/>
                  </a:ext>
                </a:extLst>
              </p:cNvPr>
              <p:cNvSpPr txBox="1">
                <a:spLocks noRot="1" noChangeAspect="1" noMove="1" noResize="1" noEditPoints="1" noAdjustHandles="1" noChangeArrowheads="1" noChangeShapeType="1" noTextEdit="1"/>
              </p:cNvSpPr>
              <p:nvPr/>
            </p:nvSpPr>
            <p:spPr>
              <a:xfrm>
                <a:off x="3963254" y="2676973"/>
                <a:ext cx="542760" cy="299249"/>
              </a:xfrm>
              <a:prstGeom prst="rect">
                <a:avLst/>
              </a:prstGeom>
              <a:blipFill>
                <a:blip r:embed="rId9"/>
                <a:stretch>
                  <a:fillRect b="-28571"/>
                </a:stretch>
              </a:blipFill>
            </p:spPr>
            <p:txBody>
              <a:bodyPr/>
              <a:lstStyle/>
              <a:p>
                <a:r>
                  <a:rPr lang="en-GB">
                    <a:noFill/>
                  </a:rPr>
                  <a:t> </a:t>
                </a:r>
              </a:p>
            </p:txBody>
          </p:sp>
        </mc:Fallback>
      </mc:AlternateContent>
      <p:pic>
        <p:nvPicPr>
          <p:cNvPr id="7" name="Picture 6">
            <a:extLst>
              <a:ext uri="{FF2B5EF4-FFF2-40B4-BE49-F238E27FC236}">
                <a16:creationId xmlns:a16="http://schemas.microsoft.com/office/drawing/2014/main" id="{1AD2DE9F-E574-D49D-A257-296F2423574E}"/>
              </a:ext>
            </a:extLst>
          </p:cNvPr>
          <p:cNvPicPr>
            <a:picLocks noChangeAspect="1"/>
          </p:cNvPicPr>
          <p:nvPr/>
        </p:nvPicPr>
        <p:blipFill>
          <a:blip r:embed="rId10">
            <a:extLst>
              <a:ext uri="{BEBA8EAE-BF5A-486C-A8C5-ECC9F3942E4B}">
                <a14:imgProps xmlns:a14="http://schemas.microsoft.com/office/drawing/2010/main">
                  <a14:imgLayer r:embed="rId11">
                    <a14:imgEffect>
                      <a14:saturation sat="0"/>
                    </a14:imgEffect>
                    <a14:imgEffect>
                      <a14:brightnessContrast contrast="53000"/>
                    </a14:imgEffect>
                  </a14:imgLayer>
                </a14:imgProps>
              </a:ext>
            </a:extLst>
          </a:blip>
          <a:stretch>
            <a:fillRect/>
          </a:stretch>
        </p:blipFill>
        <p:spPr>
          <a:xfrm>
            <a:off x="5894605" y="1971093"/>
            <a:ext cx="5459196" cy="294835"/>
          </a:xfrm>
          <a:prstGeom prst="rect">
            <a:avLst/>
          </a:prstGeom>
        </p:spPr>
      </p:pic>
    </p:spTree>
    <p:extLst>
      <p:ext uri="{BB962C8B-B14F-4D97-AF65-F5344CB8AC3E}">
        <p14:creationId xmlns:p14="http://schemas.microsoft.com/office/powerpoint/2010/main" val="20394140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786107"/>
          </a:xfrm>
        </p:spPr>
        <p:txBody>
          <a:bodyPr/>
          <a:lstStyle/>
          <a:p>
            <a:r>
              <a:rPr lang="en-US" dirty="0"/>
              <a:t>Cubic Orientation Spline Algorithm </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52</a:t>
            </a:fld>
            <a:endParaRPr lang="en-US" dirty="0"/>
          </a:p>
        </p:txBody>
      </p:sp>
      <p:sp>
        <p:nvSpPr>
          <p:cNvPr id="9" name="Rectangle: Rounded Corners 8">
            <a:extLst>
              <a:ext uri="{FF2B5EF4-FFF2-40B4-BE49-F238E27FC236}">
                <a16:creationId xmlns:a16="http://schemas.microsoft.com/office/drawing/2014/main" id="{B57F9A30-FFD9-84B0-88A3-7D6F60558107}"/>
              </a:ext>
            </a:extLst>
          </p:cNvPr>
          <p:cNvSpPr/>
          <p:nvPr/>
        </p:nvSpPr>
        <p:spPr>
          <a:xfrm>
            <a:off x="8292353" y="345766"/>
            <a:ext cx="2303929" cy="622422"/>
          </a:xfrm>
          <a:prstGeom prst="roundRect">
            <a:avLst/>
          </a:prstGeom>
          <a:solidFill>
            <a:srgbClr val="CDDCF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CubicOrientationSpline</a:t>
            </a:r>
            <a:endParaRPr lang="en-GB" sz="1200" dirty="0">
              <a:solidFill>
                <a:srgbClr val="003399"/>
              </a:solidFill>
            </a:endParaRPr>
          </a:p>
        </p:txBody>
      </p:sp>
      <mc:AlternateContent xmlns:mc="http://schemas.openxmlformats.org/markup-compatibility/2006" xmlns:a14="http://schemas.microsoft.com/office/drawing/2010/main">
        <mc:Choice Requires="a14">
          <p:sp>
            <p:nvSpPr>
              <p:cNvPr id="151" name="TextBox 150">
                <a:extLst>
                  <a:ext uri="{FF2B5EF4-FFF2-40B4-BE49-F238E27FC236}">
                    <a16:creationId xmlns:a16="http://schemas.microsoft.com/office/drawing/2014/main" id="{EB395618-EE4B-C30E-BB34-BDB47CFE4E3A}"/>
                  </a:ext>
                </a:extLst>
              </p:cNvPr>
              <p:cNvSpPr txBox="1"/>
              <p:nvPr/>
            </p:nvSpPr>
            <p:spPr>
              <a:xfrm>
                <a:off x="4116387" y="4537509"/>
                <a:ext cx="1740743" cy="318998"/>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m:rPr>
                          <m:sty m:val="p"/>
                        </m:rPr>
                        <a:rPr lang="en-US" b="0" i="0" smtClean="0">
                          <a:solidFill>
                            <a:schemeClr val="tx2"/>
                          </a:solidFill>
                          <a:latin typeface="Cambria Math" panose="02040503050406030204" pitchFamily="18" charset="0"/>
                        </a:rPr>
                        <m:t>Δ</m:t>
                      </m:r>
                      <m:r>
                        <a:rPr lang="en-US" b="0" i="1" smtClean="0">
                          <a:solidFill>
                            <a:schemeClr val="tx2"/>
                          </a:solidFill>
                          <a:latin typeface="Cambria Math" panose="02040503050406030204" pitchFamily="18" charset="0"/>
                        </a:rPr>
                        <m:t>𝑞</m:t>
                      </m:r>
                      <m:d>
                        <m:dPr>
                          <m:ctrlPr>
                            <a:rPr lang="en-US" b="0" i="1" smtClean="0">
                              <a:solidFill>
                                <a:schemeClr val="tx2"/>
                              </a:solidFill>
                              <a:latin typeface="Cambria Math" panose="02040503050406030204" pitchFamily="18" charset="0"/>
                            </a:rPr>
                          </m:ctrlPr>
                        </m:dPr>
                        <m:e>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𝑡</m:t>
                              </m:r>
                            </m:e>
                            <m:sub>
                              <m:r>
                                <a:rPr lang="en-US" b="0" i="1" smtClean="0">
                                  <a:solidFill>
                                    <a:schemeClr val="tx2"/>
                                  </a:solidFill>
                                  <a:latin typeface="Cambria Math" panose="02040503050406030204" pitchFamily="18" charset="0"/>
                                </a:rPr>
                                <m:t>𝑓</m:t>
                              </m:r>
                            </m:sub>
                          </m:sSub>
                        </m:e>
                      </m:d>
                      <m:r>
                        <a:rPr lang="en-US" b="0" i="1" smtClean="0">
                          <a:solidFill>
                            <a:schemeClr val="tx2"/>
                          </a:solidFill>
                          <a:latin typeface="Cambria Math" panose="02040503050406030204" pitchFamily="18" charset="0"/>
                        </a:rPr>
                        <m:t>=</m:t>
                      </m:r>
                      <m:sSubSup>
                        <m:sSubSupPr>
                          <m:ctrlPr>
                            <a:rPr lang="en-US" b="0" i="1" smtClean="0">
                              <a:solidFill>
                                <a:schemeClr val="tx2"/>
                              </a:solidFill>
                              <a:latin typeface="Cambria Math" panose="02040503050406030204" pitchFamily="18" charset="0"/>
                            </a:rPr>
                          </m:ctrlPr>
                        </m:sSubSupPr>
                        <m:e>
                          <m:r>
                            <a:rPr lang="en-US" b="0" i="1" smtClean="0">
                              <a:solidFill>
                                <a:schemeClr val="tx2"/>
                              </a:solidFill>
                              <a:latin typeface="Cambria Math" panose="02040503050406030204" pitchFamily="18" charset="0"/>
                            </a:rPr>
                            <m:t>𝑞</m:t>
                          </m:r>
                        </m:e>
                        <m:sub>
                          <m:r>
                            <a:rPr lang="en-US" b="0" i="1" smtClean="0">
                              <a:solidFill>
                                <a:schemeClr val="tx2"/>
                              </a:solidFill>
                              <a:latin typeface="Cambria Math" panose="02040503050406030204" pitchFamily="18" charset="0"/>
                            </a:rPr>
                            <m:t>𝑖</m:t>
                          </m:r>
                        </m:sub>
                        <m:sup>
                          <m:r>
                            <a:rPr lang="en-US" b="0" i="1" smtClean="0">
                              <a:solidFill>
                                <a:schemeClr val="tx2"/>
                              </a:solidFill>
                              <a:latin typeface="Cambria Math" panose="02040503050406030204" pitchFamily="18" charset="0"/>
                            </a:rPr>
                            <m:t>−1</m:t>
                          </m:r>
                        </m:sup>
                      </m:sSubSup>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𝑞</m:t>
                          </m:r>
                        </m:e>
                        <m:sub>
                          <m:r>
                            <a:rPr lang="en-US" b="0" i="1" smtClean="0">
                              <a:solidFill>
                                <a:schemeClr val="tx2"/>
                              </a:solidFill>
                              <a:latin typeface="Cambria Math" panose="02040503050406030204" pitchFamily="18" charset="0"/>
                            </a:rPr>
                            <m:t>𝑓</m:t>
                          </m:r>
                        </m:sub>
                      </m:sSub>
                    </m:oMath>
                  </m:oMathPara>
                </a14:m>
                <a:endParaRPr lang="en-GB" dirty="0">
                  <a:solidFill>
                    <a:schemeClr val="tx2"/>
                  </a:solidFill>
                </a:endParaRPr>
              </a:p>
            </p:txBody>
          </p:sp>
        </mc:Choice>
        <mc:Fallback xmlns="">
          <p:sp>
            <p:nvSpPr>
              <p:cNvPr id="151" name="TextBox 150">
                <a:extLst>
                  <a:ext uri="{FF2B5EF4-FFF2-40B4-BE49-F238E27FC236}">
                    <a16:creationId xmlns:a16="http://schemas.microsoft.com/office/drawing/2014/main" id="{EB395618-EE4B-C30E-BB34-BDB47CFE4E3A}"/>
                  </a:ext>
                </a:extLst>
              </p:cNvPr>
              <p:cNvSpPr txBox="1">
                <a:spLocks noRot="1" noChangeAspect="1" noMove="1" noResize="1" noEditPoints="1" noAdjustHandles="1" noChangeArrowheads="1" noChangeShapeType="1" noTextEdit="1"/>
              </p:cNvSpPr>
              <p:nvPr/>
            </p:nvSpPr>
            <p:spPr>
              <a:xfrm>
                <a:off x="4116387" y="4537509"/>
                <a:ext cx="1740743" cy="318998"/>
              </a:xfrm>
              <a:prstGeom prst="rect">
                <a:avLst/>
              </a:prstGeom>
              <a:blipFill>
                <a:blip r:embed="rId3"/>
                <a:stretch>
                  <a:fillRect b="-2452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9455379-0C65-A4B3-87B4-70588481EEE2}"/>
                  </a:ext>
                </a:extLst>
              </p:cNvPr>
              <p:cNvSpPr txBox="1"/>
              <p:nvPr/>
            </p:nvSpPr>
            <p:spPr>
              <a:xfrm>
                <a:off x="5903311" y="2573306"/>
                <a:ext cx="2797341" cy="1412181"/>
              </a:xfrm>
              <a:prstGeom prst="rect">
                <a:avLst/>
              </a:prstGeom>
              <a:noFill/>
            </p:spPr>
            <p:txBody>
              <a:bodyPr wrap="square" lIns="0" tIns="0" rIns="0" bIns="0" rtlCol="0">
                <a:spAutoFit/>
              </a:bodyPr>
              <a:lstStyle/>
              <a:p>
                <a:r>
                  <a:rPr lang="en-US" b="1" dirty="0">
                    <a:solidFill>
                      <a:srgbClr val="2F2F2F"/>
                    </a:solidFill>
                  </a:rPr>
                  <a:t>Coefficients:</a:t>
                </a:r>
              </a:p>
              <a:p>
                <a14:m>
                  <m:oMath xmlns:m="http://schemas.openxmlformats.org/officeDocument/2006/math">
                    <m:sSub>
                      <m:sSubPr>
                        <m:ctrlPr>
                          <a:rPr lang="en-US" b="0" i="1" smtClean="0">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𝑎</m:t>
                            </m:r>
                          </m:e>
                        </m:acc>
                      </m:e>
                      <m:sub>
                        <m:r>
                          <a:rPr lang="en-US" b="0" i="1" smtClean="0">
                            <a:solidFill>
                              <a:srgbClr val="2F2F2F"/>
                            </a:solidFill>
                            <a:latin typeface="Cambria Math" panose="02040503050406030204" pitchFamily="18" charset="0"/>
                          </a:rPr>
                          <m:t>1</m:t>
                        </m:r>
                      </m:sub>
                    </m:sSub>
                    <m:r>
                      <a:rPr lang="en-US" b="0" i="1" smtClean="0">
                        <a:solidFill>
                          <a:srgbClr val="2F2F2F"/>
                        </a:solidFill>
                        <a:latin typeface="Cambria Math" panose="02040503050406030204" pitchFamily="18" charset="0"/>
                      </a:rPr>
                      <m:t>=0</m:t>
                    </m:r>
                  </m:oMath>
                </a14:m>
                <a:r>
                  <a:rPr lang="en-US" b="0" dirty="0">
                    <a:solidFill>
                      <a:srgbClr val="2F2F2F"/>
                    </a:solidFill>
                  </a:rPr>
                  <a:t> </a:t>
                </a:r>
              </a:p>
              <a:p>
                <a14:m>
                  <m:oMath xmlns:m="http://schemas.openxmlformats.org/officeDocument/2006/math">
                    <m:sSub>
                      <m:sSubPr>
                        <m:ctrlPr>
                          <a:rPr lang="en-US" i="1">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𝑎</m:t>
                            </m:r>
                          </m:e>
                        </m:acc>
                      </m:e>
                      <m:sub>
                        <m:r>
                          <a:rPr lang="en-US" i="1">
                            <a:solidFill>
                              <a:srgbClr val="2F2F2F"/>
                            </a:solidFill>
                            <a:latin typeface="Cambria Math" panose="02040503050406030204" pitchFamily="18" charset="0"/>
                          </a:rPr>
                          <m:t>2</m:t>
                        </m:r>
                      </m:sub>
                    </m:sSub>
                    <m:r>
                      <a:rPr lang="en-US" b="0" i="0" smtClean="0">
                        <a:solidFill>
                          <a:srgbClr val="2F2F2F"/>
                        </a:solidFill>
                        <a:latin typeface="Cambria Math" panose="02040503050406030204" pitchFamily="18" charset="0"/>
                      </a:rPr>
                      <m:t>=</m:t>
                    </m:r>
                    <m:r>
                      <m:rPr>
                        <m:sty m:val="p"/>
                      </m:rPr>
                      <a:rPr lang="en-US" b="0" i="0" smtClean="0">
                        <a:solidFill>
                          <a:srgbClr val="2F2F2F"/>
                        </a:solidFill>
                        <a:latin typeface="Cambria Math" panose="02040503050406030204" pitchFamily="18" charset="0"/>
                      </a:rPr>
                      <m:t>Δ</m:t>
                    </m:r>
                    <m:r>
                      <a:rPr lang="en-US" b="0" i="1" smtClean="0">
                        <a:solidFill>
                          <a:srgbClr val="2F2F2F"/>
                        </a:solidFill>
                        <a:latin typeface="Cambria Math" panose="02040503050406030204" pitchFamily="18" charset="0"/>
                      </a:rPr>
                      <m:t>𝑡</m:t>
                    </m:r>
                    <m:sSub>
                      <m:sSubPr>
                        <m:ctrlPr>
                          <a:rPr lang="en-US" b="0" i="1" smtClean="0">
                            <a:solidFill>
                              <a:srgbClr val="2F2F2F"/>
                            </a:solidFill>
                            <a:latin typeface="Cambria Math" panose="02040503050406030204" pitchFamily="18" charset="0"/>
                          </a:rPr>
                        </m:ctrlPr>
                      </m:sSubPr>
                      <m:e>
                        <m:acc>
                          <m:accPr>
                            <m:chr m:val="⃗"/>
                            <m:ctrlPr>
                              <a:rPr lang="en-US" b="0" i="1" smtClean="0">
                                <a:solidFill>
                                  <a:srgbClr val="2F2F2F"/>
                                </a:solidFill>
                                <a:latin typeface="Cambria Math" panose="02040503050406030204" pitchFamily="18" charset="0"/>
                              </a:rPr>
                            </m:ctrlPr>
                          </m:accPr>
                          <m:e>
                            <m:r>
                              <a:rPr lang="en-US" b="0" i="1" smtClean="0">
                                <a:solidFill>
                                  <a:srgbClr val="2F2F2F"/>
                                </a:solidFill>
                                <a:latin typeface="Cambria Math" panose="02040503050406030204" pitchFamily="18" charset="0"/>
                              </a:rPr>
                              <m:t>𝜔</m:t>
                            </m:r>
                          </m:e>
                        </m:acc>
                      </m:e>
                      <m:sub>
                        <m:r>
                          <a:rPr lang="en-US" b="0" i="1" smtClean="0">
                            <a:solidFill>
                              <a:srgbClr val="2F2F2F"/>
                            </a:solidFill>
                            <a:latin typeface="Cambria Math" panose="02040503050406030204" pitchFamily="18" charset="0"/>
                          </a:rPr>
                          <m:t>𝑖</m:t>
                        </m:r>
                      </m:sub>
                    </m:sSub>
                  </m:oMath>
                </a14:m>
                <a:r>
                  <a:rPr lang="en-US" b="0" dirty="0">
                    <a:solidFill>
                      <a:srgbClr val="2F2F2F"/>
                    </a:solidFill>
                  </a:rPr>
                  <a:t> </a:t>
                </a:r>
              </a:p>
              <a:p>
                <a14:m>
                  <m:oMath xmlns:m="http://schemas.openxmlformats.org/officeDocument/2006/math">
                    <m:sSub>
                      <m:sSubPr>
                        <m:ctrlPr>
                          <a:rPr lang="en-US" i="1" smtClean="0">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𝑎</m:t>
                            </m:r>
                          </m:e>
                        </m:acc>
                      </m:e>
                      <m:sub>
                        <m:r>
                          <a:rPr lang="en-US" b="0" i="1" smtClean="0">
                            <a:solidFill>
                              <a:srgbClr val="2F2F2F"/>
                            </a:solidFill>
                            <a:latin typeface="Cambria Math" panose="02040503050406030204" pitchFamily="18" charset="0"/>
                          </a:rPr>
                          <m:t>3</m:t>
                        </m:r>
                      </m:sub>
                    </m:sSub>
                    <m:r>
                      <a:rPr lang="en-US" b="0" i="1" smtClean="0">
                        <a:solidFill>
                          <a:srgbClr val="2F2F2F"/>
                        </a:solidFill>
                        <a:latin typeface="Cambria Math" panose="02040503050406030204" pitchFamily="18" charset="0"/>
                      </a:rPr>
                      <m:t>=</m:t>
                    </m:r>
                    <m:r>
                      <m:rPr>
                        <m:sty m:val="p"/>
                      </m:rPr>
                      <a:rPr lang="en-US" b="0" i="0" smtClean="0">
                        <a:solidFill>
                          <a:srgbClr val="2F2F2F"/>
                        </a:solidFill>
                        <a:latin typeface="Cambria Math" panose="02040503050406030204" pitchFamily="18" charset="0"/>
                      </a:rPr>
                      <m:t>Δ</m:t>
                    </m:r>
                    <m:r>
                      <a:rPr lang="en-US" b="0" i="1" smtClean="0">
                        <a:solidFill>
                          <a:srgbClr val="2F2F2F"/>
                        </a:solidFill>
                        <a:latin typeface="Cambria Math" panose="02040503050406030204" pitchFamily="18" charset="0"/>
                      </a:rPr>
                      <m:t>𝑡</m:t>
                    </m:r>
                    <m:sSup>
                      <m:sSupPr>
                        <m:ctrlPr>
                          <a:rPr lang="en-US" b="0" i="1" smtClean="0">
                            <a:solidFill>
                              <a:srgbClr val="2F2F2F"/>
                            </a:solidFill>
                            <a:latin typeface="Cambria Math" panose="02040503050406030204" pitchFamily="18" charset="0"/>
                          </a:rPr>
                        </m:ctrlPr>
                      </m:sSupPr>
                      <m:e>
                        <m:r>
                          <a:rPr lang="en-US" b="0" i="1" smtClean="0">
                            <a:solidFill>
                              <a:srgbClr val="2F2F2F"/>
                            </a:solidFill>
                            <a:latin typeface="Cambria Math" panose="02040503050406030204" pitchFamily="18" charset="0"/>
                          </a:rPr>
                          <m:t>𝐵</m:t>
                        </m:r>
                      </m:e>
                      <m:sup>
                        <m:r>
                          <a:rPr lang="en-US" b="0" i="1" smtClean="0">
                            <a:solidFill>
                              <a:srgbClr val="2F2F2F"/>
                            </a:solidFill>
                            <a:latin typeface="Cambria Math" panose="02040503050406030204" pitchFamily="18" charset="0"/>
                          </a:rPr>
                          <m:t>−1</m:t>
                        </m:r>
                      </m:sup>
                    </m:sSup>
                    <m:r>
                      <a:rPr lang="en-US" b="0" i="1" smtClean="0">
                        <a:solidFill>
                          <a:srgbClr val="2F2F2F"/>
                        </a:solidFill>
                        <a:latin typeface="Cambria Math" panose="02040503050406030204" pitchFamily="18" charset="0"/>
                        <a:ea typeface="Cambria Math" panose="02040503050406030204" pitchFamily="18" charset="0"/>
                      </a:rPr>
                      <m:t>∙</m:t>
                    </m:r>
                    <m:sSub>
                      <m:sSubPr>
                        <m:ctrlPr>
                          <a:rPr lang="en-US" b="1" i="1" smtClean="0">
                            <a:solidFill>
                              <a:schemeClr val="tx1"/>
                            </a:solidFill>
                            <a:latin typeface="Cambria Math" panose="02040503050406030204" pitchFamily="18" charset="0"/>
                          </a:rPr>
                        </m:ctrlPr>
                      </m:sSubPr>
                      <m:e>
                        <m:acc>
                          <m:accPr>
                            <m:chr m:val="⃗"/>
                            <m:ctrlPr>
                              <a:rPr lang="en-US" b="1" i="1">
                                <a:solidFill>
                                  <a:schemeClr val="tx1"/>
                                </a:solidFill>
                                <a:latin typeface="Cambria Math" panose="02040503050406030204" pitchFamily="18" charset="0"/>
                              </a:rPr>
                            </m:ctrlPr>
                          </m:accPr>
                          <m:e>
                            <m:r>
                              <a:rPr lang="en-US" b="1" i="1">
                                <a:solidFill>
                                  <a:schemeClr val="tx1"/>
                                </a:solidFill>
                                <a:latin typeface="Cambria Math" panose="02040503050406030204" pitchFamily="18" charset="0"/>
                              </a:rPr>
                              <m:t>𝝎</m:t>
                            </m:r>
                          </m:e>
                        </m:acc>
                      </m:e>
                      <m:sub>
                        <m:r>
                          <a:rPr lang="en-US" b="1" i="1" smtClean="0">
                            <a:solidFill>
                              <a:schemeClr val="tx1"/>
                            </a:solidFill>
                            <a:latin typeface="Cambria Math" panose="02040503050406030204" pitchFamily="18" charset="0"/>
                          </a:rPr>
                          <m:t>𝒇</m:t>
                        </m:r>
                      </m:sub>
                    </m:sSub>
                    <m:r>
                      <a:rPr lang="en-US" b="0" i="1" smtClean="0">
                        <a:solidFill>
                          <a:srgbClr val="2F2F2F"/>
                        </a:solidFill>
                        <a:latin typeface="Cambria Math" panose="02040503050406030204" pitchFamily="18" charset="0"/>
                      </a:rPr>
                      <m:t>−3</m:t>
                    </m:r>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𝑒</m:t>
                        </m:r>
                      </m:e>
                    </m:acc>
                    <m:r>
                      <m:rPr>
                        <m:sty m:val="p"/>
                      </m:rPr>
                      <a:rPr lang="en-US">
                        <a:solidFill>
                          <a:srgbClr val="2F2F2F"/>
                        </a:solidFill>
                        <a:latin typeface="Cambria Math" panose="02040503050406030204" pitchFamily="18" charset="0"/>
                      </a:rPr>
                      <m:t>Δ</m:t>
                    </m:r>
                    <m:r>
                      <a:rPr lang="en-US" i="1">
                        <a:solidFill>
                          <a:srgbClr val="2F2F2F"/>
                        </a:solidFill>
                        <a:latin typeface="Cambria Math" panose="02040503050406030204" pitchFamily="18" charset="0"/>
                      </a:rPr>
                      <m:t>𝜃</m:t>
                    </m:r>
                  </m:oMath>
                </a14:m>
                <a:r>
                  <a:rPr lang="en-US" b="0" dirty="0">
                    <a:solidFill>
                      <a:srgbClr val="2F2F2F"/>
                    </a:solidFill>
                  </a:rPr>
                  <a:t> </a:t>
                </a:r>
              </a:p>
              <a:p>
                <a14:m>
                  <m:oMath xmlns:m="http://schemas.openxmlformats.org/officeDocument/2006/math">
                    <m:sSub>
                      <m:sSubPr>
                        <m:ctrlPr>
                          <a:rPr lang="en-US" i="1">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𝑎</m:t>
                            </m:r>
                          </m:e>
                        </m:acc>
                      </m:e>
                      <m:sub>
                        <m:r>
                          <a:rPr lang="en-US" b="0" i="1" smtClean="0">
                            <a:solidFill>
                              <a:srgbClr val="2F2F2F"/>
                            </a:solidFill>
                            <a:latin typeface="Cambria Math" panose="02040503050406030204" pitchFamily="18" charset="0"/>
                          </a:rPr>
                          <m:t>4</m:t>
                        </m:r>
                      </m:sub>
                    </m:sSub>
                    <m:r>
                      <a:rPr lang="en-US" b="0" i="1" smtClean="0">
                        <a:solidFill>
                          <a:srgbClr val="2F2F2F"/>
                        </a:solidFill>
                        <a:latin typeface="Cambria Math" panose="02040503050406030204" pitchFamily="18" charset="0"/>
                      </a:rPr>
                      <m:t>=</m:t>
                    </m:r>
                    <m:acc>
                      <m:accPr>
                        <m:chr m:val="̂"/>
                        <m:ctrlPr>
                          <a:rPr lang="en-US" b="0" i="1" smtClean="0">
                            <a:solidFill>
                              <a:srgbClr val="2F2F2F"/>
                            </a:solidFill>
                            <a:latin typeface="Cambria Math" panose="02040503050406030204" pitchFamily="18" charset="0"/>
                          </a:rPr>
                        </m:ctrlPr>
                      </m:accPr>
                      <m:e>
                        <m:r>
                          <a:rPr lang="en-US" b="0" i="1" smtClean="0">
                            <a:solidFill>
                              <a:srgbClr val="2F2F2F"/>
                            </a:solidFill>
                            <a:latin typeface="Cambria Math" panose="02040503050406030204" pitchFamily="18" charset="0"/>
                          </a:rPr>
                          <m:t>𝑒</m:t>
                        </m:r>
                      </m:e>
                    </m:acc>
                    <m:r>
                      <m:rPr>
                        <m:sty m:val="p"/>
                      </m:rPr>
                      <a:rPr lang="en-US" b="0" i="0" smtClean="0">
                        <a:solidFill>
                          <a:srgbClr val="2F2F2F"/>
                        </a:solidFill>
                        <a:latin typeface="Cambria Math" panose="02040503050406030204" pitchFamily="18" charset="0"/>
                      </a:rPr>
                      <m:t>Δ</m:t>
                    </m:r>
                    <m:r>
                      <a:rPr lang="en-US" b="0" i="1" smtClean="0">
                        <a:solidFill>
                          <a:srgbClr val="2F2F2F"/>
                        </a:solidFill>
                        <a:latin typeface="Cambria Math" panose="02040503050406030204" pitchFamily="18" charset="0"/>
                      </a:rPr>
                      <m:t>𝜃</m:t>
                    </m:r>
                  </m:oMath>
                </a14:m>
                <a:r>
                  <a:rPr lang="en-US" b="0" dirty="0">
                    <a:solidFill>
                      <a:srgbClr val="2F2F2F"/>
                    </a:solidFill>
                  </a:rPr>
                  <a:t> </a:t>
                </a:r>
              </a:p>
            </p:txBody>
          </p:sp>
        </mc:Choice>
        <mc:Fallback xmlns="">
          <p:sp>
            <p:nvSpPr>
              <p:cNvPr id="10" name="TextBox 9">
                <a:extLst>
                  <a:ext uri="{FF2B5EF4-FFF2-40B4-BE49-F238E27FC236}">
                    <a16:creationId xmlns:a16="http://schemas.microsoft.com/office/drawing/2014/main" id="{A9455379-0C65-A4B3-87B4-70588481EEE2}"/>
                  </a:ext>
                </a:extLst>
              </p:cNvPr>
              <p:cNvSpPr txBox="1">
                <a:spLocks noRot="1" noChangeAspect="1" noMove="1" noResize="1" noEditPoints="1" noAdjustHandles="1" noChangeArrowheads="1" noChangeShapeType="1" noTextEdit="1"/>
              </p:cNvSpPr>
              <p:nvPr/>
            </p:nvSpPr>
            <p:spPr>
              <a:xfrm>
                <a:off x="5903311" y="2573306"/>
                <a:ext cx="2797341" cy="1412181"/>
              </a:xfrm>
              <a:prstGeom prst="rect">
                <a:avLst/>
              </a:prstGeom>
              <a:blipFill>
                <a:blip r:embed="rId4"/>
                <a:stretch>
                  <a:fillRect l="-5011" t="-5603" b="-3448"/>
                </a:stretch>
              </a:blipFill>
            </p:spPr>
            <p:txBody>
              <a:bodyPr/>
              <a:lstStyle/>
              <a:p>
                <a:r>
                  <a:rPr lang="en-GB">
                    <a:noFill/>
                  </a:rPr>
                  <a:t> </a:t>
                </a:r>
              </a:p>
            </p:txBody>
          </p:sp>
        </mc:Fallback>
      </mc:AlternateContent>
      <p:grpSp>
        <p:nvGrpSpPr>
          <p:cNvPr id="11" name="Group 10">
            <a:extLst>
              <a:ext uri="{FF2B5EF4-FFF2-40B4-BE49-F238E27FC236}">
                <a16:creationId xmlns:a16="http://schemas.microsoft.com/office/drawing/2014/main" id="{55E7BFA0-EBE5-2AE9-ED46-ABC51DAA2D4F}"/>
              </a:ext>
            </a:extLst>
          </p:cNvPr>
          <p:cNvGrpSpPr/>
          <p:nvPr/>
        </p:nvGrpSpPr>
        <p:grpSpPr>
          <a:xfrm rot="18885688">
            <a:off x="3519256" y="2299452"/>
            <a:ext cx="1021929" cy="1522466"/>
            <a:chOff x="1071439" y="1596445"/>
            <a:chExt cx="1021929" cy="1522466"/>
          </a:xfrm>
        </p:grpSpPr>
        <p:cxnSp>
          <p:nvCxnSpPr>
            <p:cNvPr id="12" name="Straight Arrow Connector 11">
              <a:extLst>
                <a:ext uri="{FF2B5EF4-FFF2-40B4-BE49-F238E27FC236}">
                  <a16:creationId xmlns:a16="http://schemas.microsoft.com/office/drawing/2014/main" id="{FFFBE926-0C88-7D0C-144E-795BBFC8D93E}"/>
                </a:ext>
              </a:extLst>
            </p:cNvPr>
            <p:cNvCxnSpPr>
              <a:cxnSpLocks/>
            </p:cNvCxnSpPr>
            <p:nvPr/>
          </p:nvCxnSpPr>
          <p:spPr>
            <a:xfrm flipH="1">
              <a:off x="1628009" y="2600340"/>
              <a:ext cx="460955" cy="51857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A96FAB1-A66B-46F7-40EE-02215BFD8389}"/>
                </a:ext>
              </a:extLst>
            </p:cNvPr>
            <p:cNvCxnSpPr/>
            <p:nvPr/>
          </p:nvCxnSpPr>
          <p:spPr>
            <a:xfrm flipV="1">
              <a:off x="2088964" y="1596445"/>
              <a:ext cx="0" cy="101438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67E48AA-B9B8-1868-8D37-E4243C4C269F}"/>
                </a:ext>
              </a:extLst>
            </p:cNvPr>
            <p:cNvCxnSpPr>
              <a:cxnSpLocks/>
            </p:cNvCxnSpPr>
            <p:nvPr/>
          </p:nvCxnSpPr>
          <p:spPr>
            <a:xfrm flipH="1">
              <a:off x="1071439" y="2600340"/>
              <a:ext cx="102192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8025A414-3C72-4BE7-82BE-34D8D5403D19}"/>
              </a:ext>
            </a:extLst>
          </p:cNvPr>
          <p:cNvGrpSpPr/>
          <p:nvPr/>
        </p:nvGrpSpPr>
        <p:grpSpPr>
          <a:xfrm>
            <a:off x="1695692" y="2933394"/>
            <a:ext cx="1021929" cy="1522466"/>
            <a:chOff x="1071439" y="1596445"/>
            <a:chExt cx="1021929" cy="1522466"/>
          </a:xfrm>
        </p:grpSpPr>
        <p:cxnSp>
          <p:nvCxnSpPr>
            <p:cNvPr id="16" name="Straight Arrow Connector 15">
              <a:extLst>
                <a:ext uri="{FF2B5EF4-FFF2-40B4-BE49-F238E27FC236}">
                  <a16:creationId xmlns:a16="http://schemas.microsoft.com/office/drawing/2014/main" id="{52222C15-EF7D-36F7-FC18-81F0A107ED18}"/>
                </a:ext>
              </a:extLst>
            </p:cNvPr>
            <p:cNvCxnSpPr>
              <a:cxnSpLocks/>
            </p:cNvCxnSpPr>
            <p:nvPr/>
          </p:nvCxnSpPr>
          <p:spPr>
            <a:xfrm flipH="1">
              <a:off x="1628009" y="2600340"/>
              <a:ext cx="460955" cy="51857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339568D-9FD7-F93A-2E7C-9BC0E91FAA57}"/>
                </a:ext>
              </a:extLst>
            </p:cNvPr>
            <p:cNvCxnSpPr/>
            <p:nvPr/>
          </p:nvCxnSpPr>
          <p:spPr>
            <a:xfrm flipV="1">
              <a:off x="2088964" y="1596445"/>
              <a:ext cx="0" cy="101438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1FE7412-20E0-B4E3-096C-0F54CD6647FA}"/>
                </a:ext>
              </a:extLst>
            </p:cNvPr>
            <p:cNvCxnSpPr>
              <a:cxnSpLocks/>
            </p:cNvCxnSpPr>
            <p:nvPr/>
          </p:nvCxnSpPr>
          <p:spPr>
            <a:xfrm flipH="1">
              <a:off x="1071439" y="2600340"/>
              <a:ext cx="102192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1" name="Arrow: Curved Down 20">
            <a:extLst>
              <a:ext uri="{FF2B5EF4-FFF2-40B4-BE49-F238E27FC236}">
                <a16:creationId xmlns:a16="http://schemas.microsoft.com/office/drawing/2014/main" id="{9CE41B02-3237-1452-8582-E607A26BDD66}"/>
              </a:ext>
            </a:extLst>
          </p:cNvPr>
          <p:cNvSpPr/>
          <p:nvPr/>
        </p:nvSpPr>
        <p:spPr>
          <a:xfrm rot="19977682" flipV="1">
            <a:off x="2878089" y="3405434"/>
            <a:ext cx="2319071" cy="1092550"/>
          </a:xfrm>
          <a:prstGeom prst="curvedDownArrow">
            <a:avLst>
              <a:gd name="adj1" fmla="val 0"/>
              <a:gd name="adj2" fmla="val 21287"/>
              <a:gd name="adj3" fmla="val 11700"/>
            </a:avLst>
          </a:prstGeom>
          <a:solidFill>
            <a:srgbClr val="000000"/>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C8935C0-2B0B-4974-9124-55D0621822EF}"/>
                  </a:ext>
                </a:extLst>
              </p:cNvPr>
              <p:cNvSpPr txBox="1"/>
              <p:nvPr/>
            </p:nvSpPr>
            <p:spPr>
              <a:xfrm>
                <a:off x="2261040" y="3594365"/>
                <a:ext cx="542760"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𝑞</m:t>
                          </m:r>
                        </m:e>
                        <m:sub>
                          <m:r>
                            <a:rPr lang="en-US" b="0" i="1" smtClean="0">
                              <a:solidFill>
                                <a:schemeClr val="tx2"/>
                              </a:solidFill>
                              <a:latin typeface="Cambria Math" panose="02040503050406030204" pitchFamily="18" charset="0"/>
                            </a:rPr>
                            <m:t>𝑖</m:t>
                          </m:r>
                        </m:sub>
                      </m:sSub>
                    </m:oMath>
                  </m:oMathPara>
                </a14:m>
                <a:endParaRPr lang="en-GB" dirty="0">
                  <a:solidFill>
                    <a:schemeClr val="tx2"/>
                  </a:solidFill>
                </a:endParaRPr>
              </a:p>
            </p:txBody>
          </p:sp>
        </mc:Choice>
        <mc:Fallback xmlns="">
          <p:sp>
            <p:nvSpPr>
              <p:cNvPr id="24" name="TextBox 23">
                <a:extLst>
                  <a:ext uri="{FF2B5EF4-FFF2-40B4-BE49-F238E27FC236}">
                    <a16:creationId xmlns:a16="http://schemas.microsoft.com/office/drawing/2014/main" id="{3C8935C0-2B0B-4974-9124-55D0621822EF}"/>
                  </a:ext>
                </a:extLst>
              </p:cNvPr>
              <p:cNvSpPr txBox="1">
                <a:spLocks noRot="1" noChangeAspect="1" noMove="1" noResize="1" noEditPoints="1" noAdjustHandles="1" noChangeArrowheads="1" noChangeShapeType="1" noTextEdit="1"/>
              </p:cNvSpPr>
              <p:nvPr/>
            </p:nvSpPr>
            <p:spPr>
              <a:xfrm>
                <a:off x="2261040" y="3594365"/>
                <a:ext cx="542760" cy="276999"/>
              </a:xfrm>
              <a:prstGeom prst="rect">
                <a:avLst/>
              </a:prstGeom>
              <a:blipFill>
                <a:blip r:embed="rId6"/>
                <a:stretch>
                  <a:fillRect b="-28889"/>
                </a:stretch>
              </a:blipFill>
            </p:spPr>
            <p:txBody>
              <a:bodyPr/>
              <a:lstStyle/>
              <a:p>
                <a:r>
                  <a:rPr lang="en-GB">
                    <a:noFill/>
                  </a:rPr>
                  <a:t> </a:t>
                </a:r>
              </a:p>
            </p:txBody>
          </p:sp>
        </mc:Fallback>
      </mc:AlternateContent>
      <p:grpSp>
        <p:nvGrpSpPr>
          <p:cNvPr id="26" name="Group 25">
            <a:extLst>
              <a:ext uri="{FF2B5EF4-FFF2-40B4-BE49-F238E27FC236}">
                <a16:creationId xmlns:a16="http://schemas.microsoft.com/office/drawing/2014/main" id="{BE052278-1665-5592-6A31-47F0B475F63A}"/>
              </a:ext>
            </a:extLst>
          </p:cNvPr>
          <p:cNvGrpSpPr/>
          <p:nvPr/>
        </p:nvGrpSpPr>
        <p:grpSpPr>
          <a:xfrm>
            <a:off x="3509556" y="3766599"/>
            <a:ext cx="725078" cy="1013921"/>
            <a:chOff x="7567275" y="4676008"/>
            <a:chExt cx="725078" cy="1013921"/>
          </a:xfrm>
        </p:grpSpPr>
        <p:grpSp>
          <p:nvGrpSpPr>
            <p:cNvPr id="27" name="Group 26">
              <a:extLst>
                <a:ext uri="{FF2B5EF4-FFF2-40B4-BE49-F238E27FC236}">
                  <a16:creationId xmlns:a16="http://schemas.microsoft.com/office/drawing/2014/main" id="{2C425858-A629-C056-906C-F22C9ADA6965}"/>
                </a:ext>
              </a:extLst>
            </p:cNvPr>
            <p:cNvGrpSpPr/>
            <p:nvPr/>
          </p:nvGrpSpPr>
          <p:grpSpPr>
            <a:xfrm>
              <a:off x="7594476" y="4704397"/>
              <a:ext cx="697877" cy="985532"/>
              <a:chOff x="7594476" y="4704397"/>
              <a:chExt cx="697877" cy="985532"/>
            </a:xfrm>
          </p:grpSpPr>
          <p:cxnSp>
            <p:nvCxnSpPr>
              <p:cNvPr id="32" name="Straight Arrow Connector 31">
                <a:extLst>
                  <a:ext uri="{FF2B5EF4-FFF2-40B4-BE49-F238E27FC236}">
                    <a16:creationId xmlns:a16="http://schemas.microsoft.com/office/drawing/2014/main" id="{B112AD88-8AE7-0C51-FBCD-10449C449BF5}"/>
                  </a:ext>
                </a:extLst>
              </p:cNvPr>
              <p:cNvCxnSpPr>
                <a:cxnSpLocks/>
              </p:cNvCxnSpPr>
              <p:nvPr/>
            </p:nvCxnSpPr>
            <p:spPr>
              <a:xfrm flipH="1">
                <a:off x="7974559" y="5354244"/>
                <a:ext cx="314787" cy="33568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DAB90136-1710-D28F-7204-772539FA15F1}"/>
                  </a:ext>
                </a:extLst>
              </p:cNvPr>
              <p:cNvCxnSpPr/>
              <p:nvPr/>
            </p:nvCxnSpPr>
            <p:spPr>
              <a:xfrm flipV="1">
                <a:off x="8289346" y="4704397"/>
                <a:ext cx="0" cy="656641"/>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0BD0D02F-A4B6-EB9E-001A-7D0D02DD2D9C}"/>
                  </a:ext>
                </a:extLst>
              </p:cNvPr>
              <p:cNvCxnSpPr>
                <a:cxnSpLocks/>
              </p:cNvCxnSpPr>
              <p:nvPr/>
            </p:nvCxnSpPr>
            <p:spPr>
              <a:xfrm flipH="1">
                <a:off x="7594476" y="5354244"/>
                <a:ext cx="697877"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8" name="Straight Arrow Connector 27">
              <a:extLst>
                <a:ext uri="{FF2B5EF4-FFF2-40B4-BE49-F238E27FC236}">
                  <a16:creationId xmlns:a16="http://schemas.microsoft.com/office/drawing/2014/main" id="{B7DC8AF0-24F1-B4C0-0F16-0B2DBC10B51B}"/>
                </a:ext>
              </a:extLst>
            </p:cNvPr>
            <p:cNvCxnSpPr>
              <a:cxnSpLocks/>
            </p:cNvCxnSpPr>
            <p:nvPr/>
          </p:nvCxnSpPr>
          <p:spPr>
            <a:xfrm flipH="1" flipV="1">
              <a:off x="7812264" y="4878732"/>
              <a:ext cx="480089" cy="475512"/>
            </a:xfrm>
            <a:prstGeom prst="straightConnector1">
              <a:avLst/>
            </a:prstGeom>
            <a:ln w="38100">
              <a:solidFill>
                <a:srgbClr val="2F2F2F"/>
              </a:solidFill>
              <a:tailEnd type="triangle"/>
            </a:ln>
          </p:spPr>
          <p:style>
            <a:lnRef idx="1">
              <a:schemeClr val="accent1"/>
            </a:lnRef>
            <a:fillRef idx="0">
              <a:schemeClr val="accent1"/>
            </a:fillRef>
            <a:effectRef idx="0">
              <a:schemeClr val="accent1"/>
            </a:effectRef>
            <a:fontRef idx="minor">
              <a:schemeClr val="tx1"/>
            </a:fontRef>
          </p:style>
        </p:cxnSp>
        <p:sp>
          <p:nvSpPr>
            <p:cNvPr id="29" name="Arrow: Curved Down 28">
              <a:extLst>
                <a:ext uri="{FF2B5EF4-FFF2-40B4-BE49-F238E27FC236}">
                  <a16:creationId xmlns:a16="http://schemas.microsoft.com/office/drawing/2014/main" id="{F78B5D18-9A8A-F81E-BA8B-8A8359C924AB}"/>
                </a:ext>
              </a:extLst>
            </p:cNvPr>
            <p:cNvSpPr/>
            <p:nvPr/>
          </p:nvSpPr>
          <p:spPr>
            <a:xfrm rot="18656914" flipV="1">
              <a:off x="7917884" y="5067192"/>
              <a:ext cx="265843" cy="98593"/>
            </a:xfrm>
            <a:prstGeom prst="curvedDown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23F765B-421E-AC0B-7F71-63C1C7531CB3}"/>
                    </a:ext>
                  </a:extLst>
                </p:cNvPr>
                <p:cNvSpPr txBox="1"/>
                <p:nvPr/>
              </p:nvSpPr>
              <p:spPr>
                <a:xfrm>
                  <a:off x="7932435" y="4742574"/>
                  <a:ext cx="269594"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1400" b="0" i="0" smtClean="0">
                            <a:solidFill>
                              <a:schemeClr val="tx2"/>
                            </a:solidFill>
                            <a:latin typeface="Cambria Math" panose="02040503050406030204" pitchFamily="18" charset="0"/>
                          </a:rPr>
                          <m:t>Δ</m:t>
                        </m:r>
                        <m:r>
                          <a:rPr lang="en-US" sz="1400" b="0" i="1" smtClean="0">
                            <a:solidFill>
                              <a:schemeClr val="tx2"/>
                            </a:solidFill>
                            <a:latin typeface="Cambria Math" panose="02040503050406030204" pitchFamily="18" charset="0"/>
                          </a:rPr>
                          <m:t>𝜃</m:t>
                        </m:r>
                      </m:oMath>
                    </m:oMathPara>
                  </a14:m>
                  <a:endParaRPr lang="en-GB" sz="1400" dirty="0">
                    <a:solidFill>
                      <a:schemeClr val="tx2"/>
                    </a:solidFill>
                  </a:endParaRPr>
                </a:p>
              </p:txBody>
            </p:sp>
          </mc:Choice>
          <mc:Fallback xmlns="">
            <p:sp>
              <p:nvSpPr>
                <p:cNvPr id="30" name="TextBox 29">
                  <a:extLst>
                    <a:ext uri="{FF2B5EF4-FFF2-40B4-BE49-F238E27FC236}">
                      <a16:creationId xmlns:a16="http://schemas.microsoft.com/office/drawing/2014/main" id="{223F765B-421E-AC0B-7F71-63C1C7531CB3}"/>
                    </a:ext>
                  </a:extLst>
                </p:cNvPr>
                <p:cNvSpPr txBox="1">
                  <a:spLocks noRot="1" noChangeAspect="1" noMove="1" noResize="1" noEditPoints="1" noAdjustHandles="1" noChangeArrowheads="1" noChangeShapeType="1" noTextEdit="1"/>
                </p:cNvSpPr>
                <p:nvPr/>
              </p:nvSpPr>
              <p:spPr>
                <a:xfrm>
                  <a:off x="7932435" y="4742574"/>
                  <a:ext cx="269594" cy="307777"/>
                </a:xfrm>
                <a:prstGeom prst="rect">
                  <a:avLst/>
                </a:prstGeom>
                <a:blipFill>
                  <a:blip r:embed="rId7"/>
                  <a:stretch>
                    <a:fillRect r="-3181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8E126C5-6E18-3038-FF1F-8C188BFB3030}"/>
                    </a:ext>
                  </a:extLst>
                </p:cNvPr>
                <p:cNvSpPr txBox="1"/>
                <p:nvPr/>
              </p:nvSpPr>
              <p:spPr>
                <a:xfrm>
                  <a:off x="7567275" y="4676008"/>
                  <a:ext cx="33397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sz="1400" i="1" smtClean="0">
                                <a:solidFill>
                                  <a:schemeClr val="tx2"/>
                                </a:solidFill>
                                <a:latin typeface="Cambria Math" panose="02040503050406030204" pitchFamily="18" charset="0"/>
                              </a:rPr>
                            </m:ctrlPr>
                          </m:accPr>
                          <m:e>
                            <m:r>
                              <a:rPr lang="en-US" sz="1400" b="0" i="1" smtClean="0">
                                <a:solidFill>
                                  <a:schemeClr val="tx2"/>
                                </a:solidFill>
                                <a:latin typeface="Cambria Math" panose="02040503050406030204" pitchFamily="18" charset="0"/>
                              </a:rPr>
                              <m:t>𝑒</m:t>
                            </m:r>
                          </m:e>
                        </m:acc>
                      </m:oMath>
                    </m:oMathPara>
                  </a14:m>
                  <a:endParaRPr lang="en-GB" sz="1400" dirty="0">
                    <a:solidFill>
                      <a:schemeClr val="tx2"/>
                    </a:solidFill>
                  </a:endParaRPr>
                </a:p>
              </p:txBody>
            </p:sp>
          </mc:Choice>
          <mc:Fallback xmlns="">
            <p:sp>
              <p:nvSpPr>
                <p:cNvPr id="31" name="TextBox 30">
                  <a:extLst>
                    <a:ext uri="{FF2B5EF4-FFF2-40B4-BE49-F238E27FC236}">
                      <a16:creationId xmlns:a16="http://schemas.microsoft.com/office/drawing/2014/main" id="{48E126C5-6E18-3038-FF1F-8C188BFB3030}"/>
                    </a:ext>
                  </a:extLst>
                </p:cNvPr>
                <p:cNvSpPr txBox="1">
                  <a:spLocks noRot="1" noChangeAspect="1" noMove="1" noResize="1" noEditPoints="1" noAdjustHandles="1" noChangeArrowheads="1" noChangeShapeType="1" noTextEdit="1"/>
                </p:cNvSpPr>
                <p:nvPr/>
              </p:nvSpPr>
              <p:spPr>
                <a:xfrm>
                  <a:off x="7567275" y="4676008"/>
                  <a:ext cx="333977" cy="307777"/>
                </a:xfrm>
                <a:prstGeom prst="rect">
                  <a:avLst/>
                </a:prstGeom>
                <a:blipFill>
                  <a:blip r:embed="rId8"/>
                  <a:stretch>
                    <a:fillRect r="-23636"/>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345154E0-01C7-E111-D0F7-991715F99566}"/>
                  </a:ext>
                </a:extLst>
              </p:cNvPr>
              <p:cNvSpPr txBox="1"/>
              <p:nvPr/>
            </p:nvSpPr>
            <p:spPr>
              <a:xfrm>
                <a:off x="3963254" y="2676973"/>
                <a:ext cx="542760" cy="29924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𝑞</m:t>
                          </m:r>
                        </m:e>
                        <m:sub>
                          <m:r>
                            <a:rPr lang="en-US" b="0" i="1" smtClean="0">
                              <a:solidFill>
                                <a:schemeClr val="tx2"/>
                              </a:solidFill>
                              <a:latin typeface="Cambria Math" panose="02040503050406030204" pitchFamily="18" charset="0"/>
                            </a:rPr>
                            <m:t>𝑓</m:t>
                          </m:r>
                        </m:sub>
                      </m:sSub>
                    </m:oMath>
                  </m:oMathPara>
                </a14:m>
                <a:endParaRPr lang="en-GB" dirty="0">
                  <a:solidFill>
                    <a:schemeClr val="tx2"/>
                  </a:solidFill>
                </a:endParaRPr>
              </a:p>
            </p:txBody>
          </p:sp>
        </mc:Choice>
        <mc:Fallback xmlns="">
          <p:sp>
            <p:nvSpPr>
              <p:cNvPr id="35" name="TextBox 34">
                <a:extLst>
                  <a:ext uri="{FF2B5EF4-FFF2-40B4-BE49-F238E27FC236}">
                    <a16:creationId xmlns:a16="http://schemas.microsoft.com/office/drawing/2014/main" id="{345154E0-01C7-E111-D0F7-991715F99566}"/>
                  </a:ext>
                </a:extLst>
              </p:cNvPr>
              <p:cNvSpPr txBox="1">
                <a:spLocks noRot="1" noChangeAspect="1" noMove="1" noResize="1" noEditPoints="1" noAdjustHandles="1" noChangeArrowheads="1" noChangeShapeType="1" noTextEdit="1"/>
              </p:cNvSpPr>
              <p:nvPr/>
            </p:nvSpPr>
            <p:spPr>
              <a:xfrm>
                <a:off x="3963254" y="2676973"/>
                <a:ext cx="542760" cy="299249"/>
              </a:xfrm>
              <a:prstGeom prst="rect">
                <a:avLst/>
              </a:prstGeom>
              <a:blipFill>
                <a:blip r:embed="rId9"/>
                <a:stretch>
                  <a:fillRect b="-28571"/>
                </a:stretch>
              </a:blipFill>
            </p:spPr>
            <p:txBody>
              <a:bodyPr/>
              <a:lstStyle/>
              <a:p>
                <a:r>
                  <a:rPr lang="en-GB">
                    <a:noFill/>
                  </a:rPr>
                  <a:t> </a:t>
                </a:r>
              </a:p>
            </p:txBody>
          </p:sp>
        </mc:Fallback>
      </mc:AlternateContent>
      <p:pic>
        <p:nvPicPr>
          <p:cNvPr id="7" name="Picture 6">
            <a:extLst>
              <a:ext uri="{FF2B5EF4-FFF2-40B4-BE49-F238E27FC236}">
                <a16:creationId xmlns:a16="http://schemas.microsoft.com/office/drawing/2014/main" id="{B74B3AD3-3635-E40A-4C6E-F1048862A307}"/>
              </a:ext>
            </a:extLst>
          </p:cNvPr>
          <p:cNvPicPr>
            <a:picLocks noChangeAspect="1"/>
          </p:cNvPicPr>
          <p:nvPr/>
        </p:nvPicPr>
        <p:blipFill>
          <a:blip r:embed="rId10">
            <a:extLst>
              <a:ext uri="{BEBA8EAE-BF5A-486C-A8C5-ECC9F3942E4B}">
                <a14:imgProps xmlns:a14="http://schemas.microsoft.com/office/drawing/2010/main">
                  <a14:imgLayer r:embed="rId11">
                    <a14:imgEffect>
                      <a14:saturation sat="0"/>
                    </a14:imgEffect>
                    <a14:imgEffect>
                      <a14:brightnessContrast contrast="53000"/>
                    </a14:imgEffect>
                  </a14:imgLayer>
                </a14:imgProps>
              </a:ext>
            </a:extLst>
          </a:blip>
          <a:stretch>
            <a:fillRect/>
          </a:stretch>
        </p:blipFill>
        <p:spPr>
          <a:xfrm>
            <a:off x="5894605" y="1971093"/>
            <a:ext cx="5459196" cy="294835"/>
          </a:xfrm>
          <a:prstGeom prst="rect">
            <a:avLst/>
          </a:prstGeom>
        </p:spPr>
      </p:pic>
    </p:spTree>
    <p:extLst>
      <p:ext uri="{BB962C8B-B14F-4D97-AF65-F5344CB8AC3E}">
        <p14:creationId xmlns:p14="http://schemas.microsoft.com/office/powerpoint/2010/main" val="38960116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786107"/>
          </a:xfrm>
        </p:spPr>
        <p:txBody>
          <a:bodyPr/>
          <a:lstStyle/>
          <a:p>
            <a:r>
              <a:rPr lang="en-US" dirty="0"/>
              <a:t>Cubic Orientation Spline Algorithm </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53</a:t>
            </a:fld>
            <a:endParaRPr lang="en-US" dirty="0"/>
          </a:p>
        </p:txBody>
      </p:sp>
      <p:sp>
        <p:nvSpPr>
          <p:cNvPr id="9" name="Rectangle: Rounded Corners 8">
            <a:extLst>
              <a:ext uri="{FF2B5EF4-FFF2-40B4-BE49-F238E27FC236}">
                <a16:creationId xmlns:a16="http://schemas.microsoft.com/office/drawing/2014/main" id="{B57F9A30-FFD9-84B0-88A3-7D6F60558107}"/>
              </a:ext>
            </a:extLst>
          </p:cNvPr>
          <p:cNvSpPr/>
          <p:nvPr/>
        </p:nvSpPr>
        <p:spPr>
          <a:xfrm>
            <a:off x="8292353" y="345766"/>
            <a:ext cx="2303929" cy="622422"/>
          </a:xfrm>
          <a:prstGeom prst="roundRect">
            <a:avLst/>
          </a:prstGeom>
          <a:solidFill>
            <a:srgbClr val="CDDCF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CubicOrientationSpline</a:t>
            </a:r>
            <a:endParaRPr lang="en-GB" sz="1200" dirty="0">
              <a:solidFill>
                <a:srgbClr val="003399"/>
              </a:solidFill>
            </a:endParaRPr>
          </a:p>
        </p:txBody>
      </p:sp>
      <p:pic>
        <p:nvPicPr>
          <p:cNvPr id="7" name="Picture 6">
            <a:extLst>
              <a:ext uri="{FF2B5EF4-FFF2-40B4-BE49-F238E27FC236}">
                <a16:creationId xmlns:a16="http://schemas.microsoft.com/office/drawing/2014/main" id="{39FE4E55-D860-4684-0372-6882FD54ED01}"/>
              </a:ext>
            </a:extLst>
          </p:cNvPr>
          <p:cNvPicPr>
            <a:picLocks noChangeAspect="1"/>
          </p:cNvPicPr>
          <p:nvPr/>
        </p:nvPicPr>
        <p:blipFill rotWithShape="1">
          <a:blip r:embed="rId3"/>
          <a:srcRect l="3689" r="1384" b="2673"/>
          <a:stretch/>
        </p:blipFill>
        <p:spPr>
          <a:xfrm>
            <a:off x="285335" y="1639137"/>
            <a:ext cx="5532582" cy="3907700"/>
          </a:xfrm>
          <a:prstGeom prst="rect">
            <a:avLst/>
          </a:prstGeom>
        </p:spPr>
      </p:pic>
      <p:cxnSp>
        <p:nvCxnSpPr>
          <p:cNvPr id="21" name="Straight Connector 20">
            <a:extLst>
              <a:ext uri="{FF2B5EF4-FFF2-40B4-BE49-F238E27FC236}">
                <a16:creationId xmlns:a16="http://schemas.microsoft.com/office/drawing/2014/main" id="{A6C2224C-2BEF-EEAE-6464-B3E2F86E2839}"/>
              </a:ext>
            </a:extLst>
          </p:cNvPr>
          <p:cNvCxnSpPr>
            <a:cxnSpLocks/>
          </p:cNvCxnSpPr>
          <p:nvPr/>
        </p:nvCxnSpPr>
        <p:spPr>
          <a:xfrm>
            <a:off x="2006607" y="1666875"/>
            <a:ext cx="0" cy="2775195"/>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397BB853-69E9-DF12-C5E5-B5BC0D92BCBB}"/>
              </a:ext>
            </a:extLst>
          </p:cNvPr>
          <p:cNvGrpSpPr/>
          <p:nvPr/>
        </p:nvGrpSpPr>
        <p:grpSpPr>
          <a:xfrm>
            <a:off x="958091" y="1748044"/>
            <a:ext cx="2131168" cy="312420"/>
            <a:chOff x="412776" y="2636520"/>
            <a:chExt cx="1621517" cy="312420"/>
          </a:xfrm>
          <a:effectLst>
            <a:outerShdw blurRad="50800" dist="38100" dir="2700000" algn="tl" rotWithShape="0">
              <a:prstClr val="black">
                <a:alpha val="40000"/>
              </a:prstClr>
            </a:outerShdw>
          </a:effectLst>
        </p:grpSpPr>
        <p:sp>
          <p:nvSpPr>
            <p:cNvPr id="23" name="Rectangle: Rounded Corners 22">
              <a:extLst>
                <a:ext uri="{FF2B5EF4-FFF2-40B4-BE49-F238E27FC236}">
                  <a16:creationId xmlns:a16="http://schemas.microsoft.com/office/drawing/2014/main" id="{A4FA6F8E-B2D1-E7B6-CA29-E1EDD30177A5}"/>
                </a:ext>
              </a:extLst>
            </p:cNvPr>
            <p:cNvSpPr/>
            <p:nvPr/>
          </p:nvSpPr>
          <p:spPr>
            <a:xfrm>
              <a:off x="412776" y="2636520"/>
              <a:ext cx="1621517" cy="312420"/>
            </a:xfrm>
            <a:prstGeom prst="round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7C69E49-9C7D-7A76-F55C-D313AC572579}"/>
                    </a:ext>
                  </a:extLst>
                </p:cNvPr>
                <p:cNvSpPr txBox="1"/>
                <p:nvPr/>
              </p:nvSpPr>
              <p:spPr>
                <a:xfrm>
                  <a:off x="431348" y="2661999"/>
                  <a:ext cx="1584372" cy="246221"/>
                </a:xfrm>
                <a:prstGeom prst="rect">
                  <a:avLst/>
                </a:prstGeom>
                <a:noFill/>
                <a:ln w="12700">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rgbClr val="FF0000"/>
                                </a:solidFill>
                                <a:latin typeface="Cambria Math" panose="02040503050406030204" pitchFamily="18" charset="0"/>
                              </a:rPr>
                            </m:ctrlPr>
                          </m:sSubPr>
                          <m:e>
                            <m:acc>
                              <m:accPr>
                                <m:chr m:val="̇"/>
                                <m:ctrlPr>
                                  <a:rPr lang="en-US" sz="1600" b="0" i="1" smtClean="0">
                                    <a:solidFill>
                                      <a:srgbClr val="FF0000"/>
                                    </a:solidFill>
                                    <a:latin typeface="Cambria Math" panose="02040503050406030204" pitchFamily="18" charset="0"/>
                                  </a:rPr>
                                </m:ctrlPr>
                              </m:accPr>
                              <m:e>
                                <m:r>
                                  <a:rPr lang="en-US" sz="1600" b="0" i="1" smtClean="0">
                                    <a:solidFill>
                                      <a:srgbClr val="FF0000"/>
                                    </a:solidFill>
                                    <a:latin typeface="Cambria Math" panose="02040503050406030204" pitchFamily="18" charset="0"/>
                                  </a:rPr>
                                  <m:t>𝑞</m:t>
                                </m:r>
                              </m:e>
                            </m:acc>
                          </m:e>
                          <m:sub>
                            <m:r>
                              <a:rPr lang="en-US" sz="1600" b="0" i="1" smtClean="0">
                                <a:solidFill>
                                  <a:srgbClr val="FF0000"/>
                                </a:solidFill>
                                <a:latin typeface="Cambria Math" panose="02040503050406030204" pitchFamily="18" charset="0"/>
                              </a:rPr>
                              <m:t>𝑖</m:t>
                            </m:r>
                          </m:sub>
                        </m:sSub>
                        <m:d>
                          <m:dPr>
                            <m:ctrlPr>
                              <a:rPr lang="en-US" sz="1600" b="0" i="1" smtClean="0">
                                <a:solidFill>
                                  <a:srgbClr val="FF0000"/>
                                </a:solidFill>
                                <a:latin typeface="Cambria Math" panose="02040503050406030204" pitchFamily="18" charset="0"/>
                              </a:rPr>
                            </m:ctrlPr>
                          </m:dPr>
                          <m:e>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𝑇</m:t>
                                </m:r>
                              </m:e>
                              <m:sub>
                                <m:r>
                                  <a:rPr lang="en-US" sz="1600" b="0" i="1" smtClean="0">
                                    <a:solidFill>
                                      <a:srgbClr val="FF0000"/>
                                    </a:solidFill>
                                    <a:latin typeface="Cambria Math" panose="02040503050406030204" pitchFamily="18" charset="0"/>
                                  </a:rPr>
                                  <m:t>𝑖</m:t>
                                </m:r>
                                <m:r>
                                  <a:rPr lang="en-US" sz="1600" b="0" i="1" smtClean="0">
                                    <a:solidFill>
                                      <a:srgbClr val="FF0000"/>
                                    </a:solidFill>
                                    <a:latin typeface="Cambria Math" panose="02040503050406030204" pitchFamily="18" charset="0"/>
                                  </a:rPr>
                                  <m:t>+1</m:t>
                                </m:r>
                              </m:sub>
                            </m:sSub>
                          </m:e>
                        </m:d>
                        <m:r>
                          <a:rPr lang="en-US" sz="1600" b="0" i="1" smtClean="0">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acc>
                              <m:accPr>
                                <m:chr m:val="̇"/>
                                <m:ctrlPr>
                                  <a:rPr lang="en-US" sz="1600" i="1">
                                    <a:solidFill>
                                      <a:srgbClr val="FF0000"/>
                                    </a:solidFill>
                                    <a:latin typeface="Cambria Math" panose="02040503050406030204" pitchFamily="18" charset="0"/>
                                  </a:rPr>
                                </m:ctrlPr>
                              </m:accPr>
                              <m:e>
                                <m:r>
                                  <a:rPr lang="en-US" sz="1600" b="0" i="1" smtClean="0">
                                    <a:solidFill>
                                      <a:srgbClr val="FF0000"/>
                                    </a:solidFill>
                                    <a:latin typeface="Cambria Math" panose="02040503050406030204" pitchFamily="18" charset="0"/>
                                  </a:rPr>
                                  <m:t>𝑞</m:t>
                                </m:r>
                              </m:e>
                            </m:acc>
                          </m:e>
                          <m:sub>
                            <m:r>
                              <a:rPr lang="en-US" sz="1600" b="0" i="1" smtClean="0">
                                <a:solidFill>
                                  <a:srgbClr val="FF0000"/>
                                </a:solidFill>
                                <a:latin typeface="Cambria Math" panose="02040503050406030204" pitchFamily="18" charset="0"/>
                              </a:rPr>
                              <m:t>𝑖</m:t>
                            </m:r>
                            <m:r>
                              <a:rPr lang="en-US" sz="1600" b="0" i="1" smtClean="0">
                                <a:solidFill>
                                  <a:srgbClr val="FF0000"/>
                                </a:solidFill>
                                <a:latin typeface="Cambria Math" panose="02040503050406030204" pitchFamily="18" charset="0"/>
                              </a:rPr>
                              <m:t>+1</m:t>
                            </m:r>
                          </m:sub>
                        </m:sSub>
                        <m:d>
                          <m:dPr>
                            <m:ctrlPr>
                              <a:rPr lang="en-US" sz="1600" b="0" i="1" smtClean="0">
                                <a:solidFill>
                                  <a:srgbClr val="FF0000"/>
                                </a:solidFill>
                                <a:latin typeface="Cambria Math" panose="02040503050406030204" pitchFamily="18" charset="0"/>
                              </a:rPr>
                            </m:ctrlPr>
                          </m:dPr>
                          <m:e>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𝑇</m:t>
                                </m:r>
                              </m:e>
                              <m:sub>
                                <m:r>
                                  <a:rPr lang="en-US" sz="1600" b="0" i="1" smtClean="0">
                                    <a:solidFill>
                                      <a:srgbClr val="FF0000"/>
                                    </a:solidFill>
                                    <a:latin typeface="Cambria Math" panose="02040503050406030204" pitchFamily="18" charset="0"/>
                                  </a:rPr>
                                  <m:t>𝑖</m:t>
                                </m:r>
                                <m:r>
                                  <a:rPr lang="en-US" sz="1600" b="0" i="1" smtClean="0">
                                    <a:solidFill>
                                      <a:srgbClr val="FF0000"/>
                                    </a:solidFill>
                                    <a:latin typeface="Cambria Math" panose="02040503050406030204" pitchFamily="18" charset="0"/>
                                  </a:rPr>
                                  <m:t>+1</m:t>
                                </m:r>
                              </m:sub>
                            </m:sSub>
                          </m:e>
                        </m:d>
                      </m:oMath>
                    </m:oMathPara>
                  </a14:m>
                  <a:endParaRPr lang="en-US" sz="1600" b="0" dirty="0">
                    <a:solidFill>
                      <a:srgbClr val="FF0000"/>
                    </a:solidFill>
                  </a:endParaRPr>
                </a:p>
              </p:txBody>
            </p:sp>
          </mc:Choice>
          <mc:Fallback xmlns="">
            <p:sp>
              <p:nvSpPr>
                <p:cNvPr id="24" name="TextBox 23">
                  <a:extLst>
                    <a:ext uri="{FF2B5EF4-FFF2-40B4-BE49-F238E27FC236}">
                      <a16:creationId xmlns:a16="http://schemas.microsoft.com/office/drawing/2014/main" id="{37C69E49-9C7D-7A76-F55C-D313AC572579}"/>
                    </a:ext>
                  </a:extLst>
                </p:cNvPr>
                <p:cNvSpPr txBox="1">
                  <a:spLocks noRot="1" noChangeAspect="1" noMove="1" noResize="1" noEditPoints="1" noAdjustHandles="1" noChangeArrowheads="1" noChangeShapeType="1" noTextEdit="1"/>
                </p:cNvSpPr>
                <p:nvPr/>
              </p:nvSpPr>
              <p:spPr>
                <a:xfrm>
                  <a:off x="431348" y="2661999"/>
                  <a:ext cx="1584372" cy="246221"/>
                </a:xfrm>
                <a:prstGeom prst="rect">
                  <a:avLst/>
                </a:prstGeom>
                <a:blipFill>
                  <a:blip r:embed="rId4"/>
                  <a:stretch>
                    <a:fillRect t="-2500" b="-27500"/>
                  </a:stretch>
                </a:blipFill>
                <a:ln w="12700">
                  <a:noFill/>
                </a:ln>
              </p:spPr>
              <p:txBody>
                <a:bodyPr/>
                <a:lstStyle/>
                <a:p>
                  <a:r>
                    <a:rPr lang="en-GB">
                      <a:noFill/>
                    </a:rPr>
                    <a:t> </a:t>
                  </a:r>
                </a:p>
              </p:txBody>
            </p:sp>
          </mc:Fallback>
        </mc:AlternateContent>
      </p:grpSp>
      <p:grpSp>
        <p:nvGrpSpPr>
          <p:cNvPr id="33" name="Group 32">
            <a:extLst>
              <a:ext uri="{FF2B5EF4-FFF2-40B4-BE49-F238E27FC236}">
                <a16:creationId xmlns:a16="http://schemas.microsoft.com/office/drawing/2014/main" id="{E37A1748-B9F1-9E3F-6D87-DF91FB6E40CB}"/>
              </a:ext>
            </a:extLst>
          </p:cNvPr>
          <p:cNvGrpSpPr/>
          <p:nvPr/>
        </p:nvGrpSpPr>
        <p:grpSpPr>
          <a:xfrm>
            <a:off x="948166" y="2317166"/>
            <a:ext cx="2131168" cy="312420"/>
            <a:chOff x="412776" y="2636520"/>
            <a:chExt cx="1621517" cy="312420"/>
          </a:xfrm>
          <a:effectLst>
            <a:outerShdw blurRad="50800" dist="38100" dir="2700000" algn="tl" rotWithShape="0">
              <a:prstClr val="black">
                <a:alpha val="40000"/>
              </a:prstClr>
            </a:outerShdw>
          </a:effectLst>
        </p:grpSpPr>
        <p:sp>
          <p:nvSpPr>
            <p:cNvPr id="34" name="Rectangle: Rounded Corners 33">
              <a:extLst>
                <a:ext uri="{FF2B5EF4-FFF2-40B4-BE49-F238E27FC236}">
                  <a16:creationId xmlns:a16="http://schemas.microsoft.com/office/drawing/2014/main" id="{6F39DEA1-D863-08CF-AF38-CFB25BA9B09C}"/>
                </a:ext>
              </a:extLst>
            </p:cNvPr>
            <p:cNvSpPr/>
            <p:nvPr/>
          </p:nvSpPr>
          <p:spPr>
            <a:xfrm>
              <a:off x="412776" y="2636520"/>
              <a:ext cx="1621517" cy="312420"/>
            </a:xfrm>
            <a:prstGeom prst="round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2C6F565-F12D-9161-2E9B-13957647CCCA}"/>
                    </a:ext>
                  </a:extLst>
                </p:cNvPr>
                <p:cNvSpPr txBox="1"/>
                <p:nvPr/>
              </p:nvSpPr>
              <p:spPr>
                <a:xfrm>
                  <a:off x="431348" y="2661999"/>
                  <a:ext cx="1584372" cy="246221"/>
                </a:xfrm>
                <a:prstGeom prst="rect">
                  <a:avLst/>
                </a:prstGeom>
                <a:noFill/>
                <a:ln w="12700">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rgbClr val="FF0000"/>
                                </a:solidFill>
                                <a:latin typeface="Cambria Math" panose="02040503050406030204" pitchFamily="18" charset="0"/>
                              </a:rPr>
                            </m:ctrlPr>
                          </m:sSubPr>
                          <m:e>
                            <m:acc>
                              <m:accPr>
                                <m:chr m:val="̈"/>
                                <m:ctrlPr>
                                  <a:rPr lang="en-US" sz="1600" b="0" i="1" smtClean="0">
                                    <a:solidFill>
                                      <a:srgbClr val="FF0000"/>
                                    </a:solidFill>
                                    <a:latin typeface="Cambria Math" panose="02040503050406030204" pitchFamily="18" charset="0"/>
                                  </a:rPr>
                                </m:ctrlPr>
                              </m:accPr>
                              <m:e>
                                <m:r>
                                  <a:rPr lang="en-US" sz="1600" b="0" i="1" smtClean="0">
                                    <a:solidFill>
                                      <a:srgbClr val="FF0000"/>
                                    </a:solidFill>
                                    <a:latin typeface="Cambria Math" panose="02040503050406030204" pitchFamily="18" charset="0"/>
                                  </a:rPr>
                                  <m:t>𝑞</m:t>
                                </m:r>
                              </m:e>
                            </m:acc>
                          </m:e>
                          <m:sub>
                            <m:r>
                              <a:rPr lang="en-US" sz="1600" b="0" i="1" smtClean="0">
                                <a:solidFill>
                                  <a:srgbClr val="FF0000"/>
                                </a:solidFill>
                                <a:latin typeface="Cambria Math" panose="02040503050406030204" pitchFamily="18" charset="0"/>
                              </a:rPr>
                              <m:t>𝑖</m:t>
                            </m:r>
                          </m:sub>
                        </m:sSub>
                        <m:d>
                          <m:dPr>
                            <m:ctrlPr>
                              <a:rPr lang="en-US" sz="1600" b="0" i="1" smtClean="0">
                                <a:solidFill>
                                  <a:srgbClr val="FF0000"/>
                                </a:solidFill>
                                <a:latin typeface="Cambria Math" panose="02040503050406030204" pitchFamily="18" charset="0"/>
                              </a:rPr>
                            </m:ctrlPr>
                          </m:dPr>
                          <m:e>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𝑇</m:t>
                                </m:r>
                              </m:e>
                              <m:sub>
                                <m:r>
                                  <a:rPr lang="en-US" sz="1600" b="0" i="1" smtClean="0">
                                    <a:solidFill>
                                      <a:srgbClr val="FF0000"/>
                                    </a:solidFill>
                                    <a:latin typeface="Cambria Math" panose="02040503050406030204" pitchFamily="18" charset="0"/>
                                  </a:rPr>
                                  <m:t>𝑖</m:t>
                                </m:r>
                                <m:r>
                                  <a:rPr lang="en-US" sz="1600" b="0" i="1" smtClean="0">
                                    <a:solidFill>
                                      <a:srgbClr val="FF0000"/>
                                    </a:solidFill>
                                    <a:latin typeface="Cambria Math" panose="02040503050406030204" pitchFamily="18" charset="0"/>
                                  </a:rPr>
                                  <m:t>+1</m:t>
                                </m:r>
                              </m:sub>
                            </m:sSub>
                          </m:e>
                        </m:d>
                        <m:r>
                          <a:rPr lang="en-US" sz="1600" b="0" i="1" smtClean="0">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acc>
                              <m:accPr>
                                <m:chr m:val="̈"/>
                                <m:ctrlPr>
                                  <a:rPr lang="en-US" sz="1600" i="1">
                                    <a:solidFill>
                                      <a:srgbClr val="FF0000"/>
                                    </a:solidFill>
                                    <a:latin typeface="Cambria Math" panose="02040503050406030204" pitchFamily="18" charset="0"/>
                                  </a:rPr>
                                </m:ctrlPr>
                              </m:accPr>
                              <m:e>
                                <m:r>
                                  <a:rPr lang="en-US" sz="1600" b="0" i="1" smtClean="0">
                                    <a:solidFill>
                                      <a:srgbClr val="FF0000"/>
                                    </a:solidFill>
                                    <a:latin typeface="Cambria Math" panose="02040503050406030204" pitchFamily="18" charset="0"/>
                                  </a:rPr>
                                  <m:t>𝑞</m:t>
                                </m:r>
                              </m:e>
                            </m:acc>
                          </m:e>
                          <m:sub>
                            <m:r>
                              <a:rPr lang="en-US" sz="1600" b="0" i="1" smtClean="0">
                                <a:solidFill>
                                  <a:srgbClr val="FF0000"/>
                                </a:solidFill>
                                <a:latin typeface="Cambria Math" panose="02040503050406030204" pitchFamily="18" charset="0"/>
                              </a:rPr>
                              <m:t>𝑖</m:t>
                            </m:r>
                            <m:r>
                              <a:rPr lang="en-US" sz="1600" b="0" i="1" smtClean="0">
                                <a:solidFill>
                                  <a:srgbClr val="FF0000"/>
                                </a:solidFill>
                                <a:latin typeface="Cambria Math" panose="02040503050406030204" pitchFamily="18" charset="0"/>
                              </a:rPr>
                              <m:t>+1</m:t>
                            </m:r>
                          </m:sub>
                        </m:sSub>
                        <m:d>
                          <m:dPr>
                            <m:ctrlPr>
                              <a:rPr lang="en-US" sz="1600" b="0" i="1" smtClean="0">
                                <a:solidFill>
                                  <a:srgbClr val="FF0000"/>
                                </a:solidFill>
                                <a:latin typeface="Cambria Math" panose="02040503050406030204" pitchFamily="18" charset="0"/>
                              </a:rPr>
                            </m:ctrlPr>
                          </m:dPr>
                          <m:e>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𝑇</m:t>
                                </m:r>
                              </m:e>
                              <m:sub>
                                <m:r>
                                  <a:rPr lang="en-US" sz="1600" b="0" i="1" smtClean="0">
                                    <a:solidFill>
                                      <a:srgbClr val="FF0000"/>
                                    </a:solidFill>
                                    <a:latin typeface="Cambria Math" panose="02040503050406030204" pitchFamily="18" charset="0"/>
                                  </a:rPr>
                                  <m:t>𝑖</m:t>
                                </m:r>
                                <m:r>
                                  <a:rPr lang="en-US" sz="1600" b="0" i="1" smtClean="0">
                                    <a:solidFill>
                                      <a:srgbClr val="FF0000"/>
                                    </a:solidFill>
                                    <a:latin typeface="Cambria Math" panose="02040503050406030204" pitchFamily="18" charset="0"/>
                                  </a:rPr>
                                  <m:t>+1</m:t>
                                </m:r>
                              </m:sub>
                            </m:sSub>
                          </m:e>
                        </m:d>
                      </m:oMath>
                    </m:oMathPara>
                  </a14:m>
                  <a:endParaRPr lang="en-US" sz="1600" b="0" dirty="0">
                    <a:solidFill>
                      <a:srgbClr val="FF0000"/>
                    </a:solidFill>
                  </a:endParaRPr>
                </a:p>
              </p:txBody>
            </p:sp>
          </mc:Choice>
          <mc:Fallback xmlns="">
            <p:sp>
              <p:nvSpPr>
                <p:cNvPr id="35" name="TextBox 34">
                  <a:extLst>
                    <a:ext uri="{FF2B5EF4-FFF2-40B4-BE49-F238E27FC236}">
                      <a16:creationId xmlns:a16="http://schemas.microsoft.com/office/drawing/2014/main" id="{72C6F565-F12D-9161-2E9B-13957647CCCA}"/>
                    </a:ext>
                  </a:extLst>
                </p:cNvPr>
                <p:cNvSpPr txBox="1">
                  <a:spLocks noRot="1" noChangeAspect="1" noMove="1" noResize="1" noEditPoints="1" noAdjustHandles="1" noChangeArrowheads="1" noChangeShapeType="1" noTextEdit="1"/>
                </p:cNvSpPr>
                <p:nvPr/>
              </p:nvSpPr>
              <p:spPr>
                <a:xfrm>
                  <a:off x="431348" y="2661999"/>
                  <a:ext cx="1584372" cy="246221"/>
                </a:xfrm>
                <a:prstGeom prst="rect">
                  <a:avLst/>
                </a:prstGeom>
                <a:blipFill>
                  <a:blip r:embed="rId5"/>
                  <a:stretch>
                    <a:fillRect b="-24390"/>
                  </a:stretch>
                </a:blipFill>
                <a:ln w="12700">
                  <a:noFill/>
                </a:ln>
              </p:spPr>
              <p:txBody>
                <a:bodyPr/>
                <a:lstStyle/>
                <a:p>
                  <a:r>
                    <a:rPr lang="en-GB">
                      <a:noFill/>
                    </a:rPr>
                    <a:t> </a:t>
                  </a:r>
                </a:p>
              </p:txBody>
            </p:sp>
          </mc:Fallback>
        </mc:AlternateContent>
      </p:grpSp>
      <p:sp>
        <p:nvSpPr>
          <p:cNvPr id="8" name="TextBox 7">
            <a:extLst>
              <a:ext uri="{FF2B5EF4-FFF2-40B4-BE49-F238E27FC236}">
                <a16:creationId xmlns:a16="http://schemas.microsoft.com/office/drawing/2014/main" id="{115F8FF5-7F6E-EF21-4F12-F8ED9D141F4D}"/>
              </a:ext>
            </a:extLst>
          </p:cNvPr>
          <p:cNvSpPr txBox="1"/>
          <p:nvPr/>
        </p:nvSpPr>
        <p:spPr>
          <a:xfrm>
            <a:off x="948166" y="1311163"/>
            <a:ext cx="2082348" cy="246221"/>
          </a:xfrm>
          <a:prstGeom prst="rect">
            <a:avLst/>
          </a:prstGeom>
          <a:noFill/>
          <a:ln w="12700">
            <a:noFill/>
          </a:ln>
        </p:spPr>
        <p:txBody>
          <a:bodyPr wrap="square" lIns="0" tIns="0" rIns="0" bIns="0" rtlCol="0">
            <a:spAutoFit/>
          </a:bodyPr>
          <a:lstStyle/>
          <a:p>
            <a:pPr algn="ctr"/>
            <a:r>
              <a:rPr lang="en-US" sz="1600" b="0" dirty="0">
                <a:solidFill>
                  <a:srgbClr val="FF0000"/>
                </a:solidFill>
              </a:rPr>
              <a:t>Iterative algorithm</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CC4EC9E-07D7-EFD4-F5C3-C3E5AE4E4B4E}"/>
                  </a:ext>
                </a:extLst>
              </p:cNvPr>
              <p:cNvSpPr txBox="1"/>
              <p:nvPr/>
            </p:nvSpPr>
            <p:spPr>
              <a:xfrm>
                <a:off x="5903311" y="2573306"/>
                <a:ext cx="2797341" cy="1412181"/>
              </a:xfrm>
              <a:prstGeom prst="rect">
                <a:avLst/>
              </a:prstGeom>
              <a:noFill/>
            </p:spPr>
            <p:txBody>
              <a:bodyPr wrap="square" lIns="0" tIns="0" rIns="0" bIns="0" rtlCol="0">
                <a:spAutoFit/>
              </a:bodyPr>
              <a:lstStyle/>
              <a:p>
                <a:r>
                  <a:rPr lang="en-US" b="1" dirty="0">
                    <a:solidFill>
                      <a:srgbClr val="2F2F2F"/>
                    </a:solidFill>
                  </a:rPr>
                  <a:t>Coefficients:</a:t>
                </a:r>
              </a:p>
              <a:p>
                <a14:m>
                  <m:oMath xmlns:m="http://schemas.openxmlformats.org/officeDocument/2006/math">
                    <m:sSub>
                      <m:sSubPr>
                        <m:ctrlPr>
                          <a:rPr lang="en-US" b="0" i="1" smtClean="0">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𝑎</m:t>
                            </m:r>
                          </m:e>
                        </m:acc>
                      </m:e>
                      <m:sub>
                        <m:r>
                          <a:rPr lang="en-US" b="0" i="1" smtClean="0">
                            <a:solidFill>
                              <a:srgbClr val="2F2F2F"/>
                            </a:solidFill>
                            <a:latin typeface="Cambria Math" panose="02040503050406030204" pitchFamily="18" charset="0"/>
                          </a:rPr>
                          <m:t>1</m:t>
                        </m:r>
                      </m:sub>
                    </m:sSub>
                    <m:r>
                      <a:rPr lang="en-US" b="0" i="1" smtClean="0">
                        <a:solidFill>
                          <a:srgbClr val="2F2F2F"/>
                        </a:solidFill>
                        <a:latin typeface="Cambria Math" panose="02040503050406030204" pitchFamily="18" charset="0"/>
                      </a:rPr>
                      <m:t>=0</m:t>
                    </m:r>
                  </m:oMath>
                </a14:m>
                <a:r>
                  <a:rPr lang="en-US" b="0" dirty="0">
                    <a:solidFill>
                      <a:srgbClr val="2F2F2F"/>
                    </a:solidFill>
                  </a:rPr>
                  <a:t> </a:t>
                </a:r>
              </a:p>
              <a:p>
                <a14:m>
                  <m:oMath xmlns:m="http://schemas.openxmlformats.org/officeDocument/2006/math">
                    <m:sSub>
                      <m:sSubPr>
                        <m:ctrlPr>
                          <a:rPr lang="en-US" i="1">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𝑎</m:t>
                            </m:r>
                          </m:e>
                        </m:acc>
                      </m:e>
                      <m:sub>
                        <m:r>
                          <a:rPr lang="en-US" i="1">
                            <a:solidFill>
                              <a:srgbClr val="2F2F2F"/>
                            </a:solidFill>
                            <a:latin typeface="Cambria Math" panose="02040503050406030204" pitchFamily="18" charset="0"/>
                          </a:rPr>
                          <m:t>2</m:t>
                        </m:r>
                      </m:sub>
                    </m:sSub>
                    <m:r>
                      <a:rPr lang="en-US" b="0" i="0" smtClean="0">
                        <a:solidFill>
                          <a:srgbClr val="2F2F2F"/>
                        </a:solidFill>
                        <a:latin typeface="Cambria Math" panose="02040503050406030204" pitchFamily="18" charset="0"/>
                      </a:rPr>
                      <m:t>=</m:t>
                    </m:r>
                    <m:r>
                      <m:rPr>
                        <m:sty m:val="p"/>
                      </m:rPr>
                      <a:rPr lang="en-US" b="0" i="0" smtClean="0">
                        <a:solidFill>
                          <a:srgbClr val="2F2F2F"/>
                        </a:solidFill>
                        <a:latin typeface="Cambria Math" panose="02040503050406030204" pitchFamily="18" charset="0"/>
                      </a:rPr>
                      <m:t>Δ</m:t>
                    </m:r>
                    <m:r>
                      <a:rPr lang="en-US" b="0" i="1" smtClean="0">
                        <a:solidFill>
                          <a:srgbClr val="2F2F2F"/>
                        </a:solidFill>
                        <a:latin typeface="Cambria Math" panose="02040503050406030204" pitchFamily="18" charset="0"/>
                      </a:rPr>
                      <m:t>𝑡</m:t>
                    </m:r>
                    <m:sSub>
                      <m:sSubPr>
                        <m:ctrlPr>
                          <a:rPr lang="en-US" b="1" i="1" smtClean="0">
                            <a:solidFill>
                              <a:schemeClr val="tx1"/>
                            </a:solidFill>
                            <a:latin typeface="Cambria Math" panose="02040503050406030204" pitchFamily="18" charset="0"/>
                          </a:rPr>
                        </m:ctrlPr>
                      </m:sSubPr>
                      <m:e>
                        <m:acc>
                          <m:accPr>
                            <m:chr m:val="⃗"/>
                            <m:ctrlPr>
                              <a:rPr lang="en-US" b="1" i="1" smtClean="0">
                                <a:solidFill>
                                  <a:schemeClr val="tx1"/>
                                </a:solidFill>
                                <a:latin typeface="Cambria Math" panose="02040503050406030204" pitchFamily="18" charset="0"/>
                              </a:rPr>
                            </m:ctrlPr>
                          </m:accPr>
                          <m:e>
                            <m:r>
                              <a:rPr lang="en-US" b="1" i="1" smtClean="0">
                                <a:solidFill>
                                  <a:schemeClr val="tx1"/>
                                </a:solidFill>
                                <a:latin typeface="Cambria Math" panose="02040503050406030204" pitchFamily="18" charset="0"/>
                              </a:rPr>
                              <m:t>𝝎</m:t>
                            </m:r>
                          </m:e>
                        </m:acc>
                      </m:e>
                      <m:sub>
                        <m:r>
                          <a:rPr lang="en-US" b="1" i="1" smtClean="0">
                            <a:solidFill>
                              <a:schemeClr val="tx1"/>
                            </a:solidFill>
                            <a:latin typeface="Cambria Math" panose="02040503050406030204" pitchFamily="18" charset="0"/>
                          </a:rPr>
                          <m:t>𝒊</m:t>
                        </m:r>
                      </m:sub>
                    </m:sSub>
                  </m:oMath>
                </a14:m>
                <a:r>
                  <a:rPr lang="en-US" b="0" dirty="0">
                    <a:solidFill>
                      <a:srgbClr val="2F2F2F"/>
                    </a:solidFill>
                  </a:rPr>
                  <a:t> </a:t>
                </a:r>
              </a:p>
              <a:p>
                <a14:m>
                  <m:oMath xmlns:m="http://schemas.openxmlformats.org/officeDocument/2006/math">
                    <m:sSub>
                      <m:sSubPr>
                        <m:ctrlPr>
                          <a:rPr lang="en-US" i="1" smtClean="0">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𝑎</m:t>
                            </m:r>
                          </m:e>
                        </m:acc>
                      </m:e>
                      <m:sub>
                        <m:r>
                          <a:rPr lang="en-US" b="0" i="1" smtClean="0">
                            <a:solidFill>
                              <a:srgbClr val="2F2F2F"/>
                            </a:solidFill>
                            <a:latin typeface="Cambria Math" panose="02040503050406030204" pitchFamily="18" charset="0"/>
                          </a:rPr>
                          <m:t>3</m:t>
                        </m:r>
                      </m:sub>
                    </m:sSub>
                    <m:r>
                      <a:rPr lang="en-US" b="0" i="1" smtClean="0">
                        <a:solidFill>
                          <a:srgbClr val="2F2F2F"/>
                        </a:solidFill>
                        <a:latin typeface="Cambria Math" panose="02040503050406030204" pitchFamily="18" charset="0"/>
                      </a:rPr>
                      <m:t>=</m:t>
                    </m:r>
                    <m:r>
                      <m:rPr>
                        <m:sty m:val="p"/>
                      </m:rPr>
                      <a:rPr lang="en-US" b="0" i="0" smtClean="0">
                        <a:solidFill>
                          <a:srgbClr val="2F2F2F"/>
                        </a:solidFill>
                        <a:latin typeface="Cambria Math" panose="02040503050406030204" pitchFamily="18" charset="0"/>
                      </a:rPr>
                      <m:t>Δ</m:t>
                    </m:r>
                    <m:r>
                      <a:rPr lang="en-US" b="0" i="1" smtClean="0">
                        <a:solidFill>
                          <a:srgbClr val="2F2F2F"/>
                        </a:solidFill>
                        <a:latin typeface="Cambria Math" panose="02040503050406030204" pitchFamily="18" charset="0"/>
                      </a:rPr>
                      <m:t>𝑡</m:t>
                    </m:r>
                    <m:sSup>
                      <m:sSupPr>
                        <m:ctrlPr>
                          <a:rPr lang="en-US" b="0" i="1" smtClean="0">
                            <a:solidFill>
                              <a:srgbClr val="2F2F2F"/>
                            </a:solidFill>
                            <a:latin typeface="Cambria Math" panose="02040503050406030204" pitchFamily="18" charset="0"/>
                          </a:rPr>
                        </m:ctrlPr>
                      </m:sSupPr>
                      <m:e>
                        <m:r>
                          <a:rPr lang="en-US" b="0" i="1" smtClean="0">
                            <a:solidFill>
                              <a:srgbClr val="2F2F2F"/>
                            </a:solidFill>
                            <a:latin typeface="Cambria Math" panose="02040503050406030204" pitchFamily="18" charset="0"/>
                          </a:rPr>
                          <m:t>𝐵</m:t>
                        </m:r>
                      </m:e>
                      <m:sup>
                        <m:r>
                          <a:rPr lang="en-US" b="0" i="1" smtClean="0">
                            <a:solidFill>
                              <a:srgbClr val="2F2F2F"/>
                            </a:solidFill>
                            <a:latin typeface="Cambria Math" panose="02040503050406030204" pitchFamily="18" charset="0"/>
                          </a:rPr>
                          <m:t>−1</m:t>
                        </m:r>
                      </m:sup>
                    </m:sSup>
                    <m:r>
                      <a:rPr lang="en-US" b="0" i="1" smtClean="0">
                        <a:solidFill>
                          <a:srgbClr val="2F2F2F"/>
                        </a:solidFill>
                        <a:latin typeface="Cambria Math" panose="02040503050406030204" pitchFamily="18" charset="0"/>
                        <a:ea typeface="Cambria Math" panose="02040503050406030204" pitchFamily="18" charset="0"/>
                      </a:rPr>
                      <m:t>∙</m:t>
                    </m:r>
                    <m:sSub>
                      <m:sSubPr>
                        <m:ctrlPr>
                          <a:rPr lang="en-US" b="1" i="1" smtClean="0">
                            <a:solidFill>
                              <a:schemeClr val="tx1"/>
                            </a:solidFill>
                            <a:latin typeface="Cambria Math" panose="02040503050406030204" pitchFamily="18" charset="0"/>
                          </a:rPr>
                        </m:ctrlPr>
                      </m:sSubPr>
                      <m:e>
                        <m:acc>
                          <m:accPr>
                            <m:chr m:val="⃗"/>
                            <m:ctrlPr>
                              <a:rPr lang="en-US" b="1" i="1">
                                <a:solidFill>
                                  <a:schemeClr val="tx1"/>
                                </a:solidFill>
                                <a:latin typeface="Cambria Math" panose="02040503050406030204" pitchFamily="18" charset="0"/>
                              </a:rPr>
                            </m:ctrlPr>
                          </m:accPr>
                          <m:e>
                            <m:r>
                              <a:rPr lang="en-US" b="1" i="1">
                                <a:solidFill>
                                  <a:schemeClr val="tx1"/>
                                </a:solidFill>
                                <a:latin typeface="Cambria Math" panose="02040503050406030204" pitchFamily="18" charset="0"/>
                              </a:rPr>
                              <m:t>𝝎</m:t>
                            </m:r>
                          </m:e>
                        </m:acc>
                      </m:e>
                      <m:sub>
                        <m:r>
                          <a:rPr lang="en-US" b="1" i="1" smtClean="0">
                            <a:solidFill>
                              <a:schemeClr val="tx1"/>
                            </a:solidFill>
                            <a:latin typeface="Cambria Math" panose="02040503050406030204" pitchFamily="18" charset="0"/>
                          </a:rPr>
                          <m:t>𝒇</m:t>
                        </m:r>
                      </m:sub>
                    </m:sSub>
                    <m:r>
                      <a:rPr lang="en-US" b="0" i="1" smtClean="0">
                        <a:solidFill>
                          <a:srgbClr val="2F2F2F"/>
                        </a:solidFill>
                        <a:latin typeface="Cambria Math" panose="02040503050406030204" pitchFamily="18" charset="0"/>
                      </a:rPr>
                      <m:t>−3</m:t>
                    </m:r>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𝑒</m:t>
                        </m:r>
                      </m:e>
                    </m:acc>
                    <m:r>
                      <m:rPr>
                        <m:sty m:val="p"/>
                      </m:rPr>
                      <a:rPr lang="en-US">
                        <a:solidFill>
                          <a:srgbClr val="2F2F2F"/>
                        </a:solidFill>
                        <a:latin typeface="Cambria Math" panose="02040503050406030204" pitchFamily="18" charset="0"/>
                      </a:rPr>
                      <m:t>Δ</m:t>
                    </m:r>
                    <m:r>
                      <a:rPr lang="en-US" i="1">
                        <a:solidFill>
                          <a:srgbClr val="2F2F2F"/>
                        </a:solidFill>
                        <a:latin typeface="Cambria Math" panose="02040503050406030204" pitchFamily="18" charset="0"/>
                      </a:rPr>
                      <m:t>𝜃</m:t>
                    </m:r>
                  </m:oMath>
                </a14:m>
                <a:r>
                  <a:rPr lang="en-US" b="0" dirty="0">
                    <a:solidFill>
                      <a:srgbClr val="2F2F2F"/>
                    </a:solidFill>
                  </a:rPr>
                  <a:t> </a:t>
                </a:r>
              </a:p>
              <a:p>
                <a14:m>
                  <m:oMath xmlns:m="http://schemas.openxmlformats.org/officeDocument/2006/math">
                    <m:sSub>
                      <m:sSubPr>
                        <m:ctrlPr>
                          <a:rPr lang="en-US" i="1">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𝑎</m:t>
                            </m:r>
                          </m:e>
                        </m:acc>
                      </m:e>
                      <m:sub>
                        <m:r>
                          <a:rPr lang="en-US" b="0" i="1" smtClean="0">
                            <a:solidFill>
                              <a:srgbClr val="2F2F2F"/>
                            </a:solidFill>
                            <a:latin typeface="Cambria Math" panose="02040503050406030204" pitchFamily="18" charset="0"/>
                          </a:rPr>
                          <m:t>4</m:t>
                        </m:r>
                      </m:sub>
                    </m:sSub>
                    <m:r>
                      <a:rPr lang="en-US" b="0" i="1" smtClean="0">
                        <a:solidFill>
                          <a:srgbClr val="2F2F2F"/>
                        </a:solidFill>
                        <a:latin typeface="Cambria Math" panose="02040503050406030204" pitchFamily="18" charset="0"/>
                      </a:rPr>
                      <m:t>=</m:t>
                    </m:r>
                    <m:acc>
                      <m:accPr>
                        <m:chr m:val="̂"/>
                        <m:ctrlPr>
                          <a:rPr lang="en-US" b="0" i="1" smtClean="0">
                            <a:solidFill>
                              <a:srgbClr val="2F2F2F"/>
                            </a:solidFill>
                            <a:latin typeface="Cambria Math" panose="02040503050406030204" pitchFamily="18" charset="0"/>
                          </a:rPr>
                        </m:ctrlPr>
                      </m:accPr>
                      <m:e>
                        <m:r>
                          <a:rPr lang="en-US" b="0" i="1" smtClean="0">
                            <a:solidFill>
                              <a:srgbClr val="2F2F2F"/>
                            </a:solidFill>
                            <a:latin typeface="Cambria Math" panose="02040503050406030204" pitchFamily="18" charset="0"/>
                          </a:rPr>
                          <m:t>𝑒</m:t>
                        </m:r>
                      </m:e>
                    </m:acc>
                    <m:r>
                      <m:rPr>
                        <m:sty m:val="p"/>
                      </m:rPr>
                      <a:rPr lang="en-US" b="0" i="0" smtClean="0">
                        <a:solidFill>
                          <a:srgbClr val="2F2F2F"/>
                        </a:solidFill>
                        <a:latin typeface="Cambria Math" panose="02040503050406030204" pitchFamily="18" charset="0"/>
                      </a:rPr>
                      <m:t>Δ</m:t>
                    </m:r>
                    <m:r>
                      <a:rPr lang="en-US" b="0" i="1" smtClean="0">
                        <a:solidFill>
                          <a:srgbClr val="2F2F2F"/>
                        </a:solidFill>
                        <a:latin typeface="Cambria Math" panose="02040503050406030204" pitchFamily="18" charset="0"/>
                      </a:rPr>
                      <m:t>𝜃</m:t>
                    </m:r>
                  </m:oMath>
                </a14:m>
                <a:r>
                  <a:rPr lang="en-US" b="0" dirty="0">
                    <a:solidFill>
                      <a:srgbClr val="2F2F2F"/>
                    </a:solidFill>
                  </a:rPr>
                  <a:t> </a:t>
                </a:r>
              </a:p>
            </p:txBody>
          </p:sp>
        </mc:Choice>
        <mc:Fallback xmlns="">
          <p:sp>
            <p:nvSpPr>
              <p:cNvPr id="12" name="TextBox 11">
                <a:extLst>
                  <a:ext uri="{FF2B5EF4-FFF2-40B4-BE49-F238E27FC236}">
                    <a16:creationId xmlns:a16="http://schemas.microsoft.com/office/drawing/2014/main" id="{7CC4EC9E-07D7-EFD4-F5C3-C3E5AE4E4B4E}"/>
                  </a:ext>
                </a:extLst>
              </p:cNvPr>
              <p:cNvSpPr txBox="1">
                <a:spLocks noRot="1" noChangeAspect="1" noMove="1" noResize="1" noEditPoints="1" noAdjustHandles="1" noChangeArrowheads="1" noChangeShapeType="1" noTextEdit="1"/>
              </p:cNvSpPr>
              <p:nvPr/>
            </p:nvSpPr>
            <p:spPr>
              <a:xfrm>
                <a:off x="5903311" y="2573306"/>
                <a:ext cx="2797341" cy="1412181"/>
              </a:xfrm>
              <a:prstGeom prst="rect">
                <a:avLst/>
              </a:prstGeom>
              <a:blipFill>
                <a:blip r:embed="rId6"/>
                <a:stretch>
                  <a:fillRect l="-5011" t="-5603" b="-3448"/>
                </a:stretch>
              </a:blipFill>
            </p:spPr>
            <p:txBody>
              <a:bodyPr/>
              <a:lstStyle/>
              <a:p>
                <a:r>
                  <a:rPr lang="en-GB">
                    <a:noFill/>
                  </a:rPr>
                  <a:t> </a:t>
                </a:r>
              </a:p>
            </p:txBody>
          </p:sp>
        </mc:Fallback>
      </mc:AlternateContent>
      <p:pic>
        <p:nvPicPr>
          <p:cNvPr id="13" name="Picture 12">
            <a:extLst>
              <a:ext uri="{FF2B5EF4-FFF2-40B4-BE49-F238E27FC236}">
                <a16:creationId xmlns:a16="http://schemas.microsoft.com/office/drawing/2014/main" id="{6D79D34D-6889-0437-CA1F-5A1C248B767D}"/>
              </a:ext>
            </a:extLst>
          </p:cNvPr>
          <p:cNvPicPr>
            <a:picLocks noChangeAspect="1"/>
          </p:cNvPicPr>
          <p:nvPr/>
        </p:nvPicPr>
        <p:blipFill>
          <a:blip r:embed="rId7">
            <a:extLst>
              <a:ext uri="{BEBA8EAE-BF5A-486C-A8C5-ECC9F3942E4B}">
                <a14:imgProps xmlns:a14="http://schemas.microsoft.com/office/drawing/2010/main">
                  <a14:imgLayer r:embed="rId8">
                    <a14:imgEffect>
                      <a14:saturation sat="0"/>
                    </a14:imgEffect>
                    <a14:imgEffect>
                      <a14:brightnessContrast contrast="53000"/>
                    </a14:imgEffect>
                  </a14:imgLayer>
                </a14:imgProps>
              </a:ext>
            </a:extLst>
          </a:blip>
          <a:stretch>
            <a:fillRect/>
          </a:stretch>
        </p:blipFill>
        <p:spPr>
          <a:xfrm>
            <a:off x="5894605" y="1971093"/>
            <a:ext cx="5459196" cy="294835"/>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D73B402-D5AA-7AE9-BAC1-EA562FD11ED6}"/>
                  </a:ext>
                </a:extLst>
              </p:cNvPr>
              <p:cNvSpPr txBox="1"/>
              <p:nvPr/>
            </p:nvSpPr>
            <p:spPr>
              <a:xfrm>
                <a:off x="1118601" y="5139236"/>
                <a:ext cx="733647" cy="181268"/>
              </a:xfrm>
              <a:prstGeom prst="rect">
                <a:avLst/>
              </a:prstGeom>
              <a:solidFill>
                <a:schemeClr val="bg1"/>
              </a:solid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AU" sz="1050" b="0" i="1" smtClean="0">
                              <a:solidFill>
                                <a:srgbClr val="2F2F2F"/>
                              </a:solidFill>
                              <a:latin typeface="Cambria Math" panose="02040503050406030204" pitchFamily="18" charset="0"/>
                            </a:rPr>
                          </m:ctrlPr>
                        </m:sSubPr>
                        <m:e>
                          <m:acc>
                            <m:accPr>
                              <m:chr m:val="⃗"/>
                              <m:ctrlPr>
                                <a:rPr lang="en-AU" sz="1050" i="1" smtClean="0">
                                  <a:solidFill>
                                    <a:srgbClr val="2F2F2F"/>
                                  </a:solidFill>
                                  <a:latin typeface="Cambria Math" panose="02040503050406030204" pitchFamily="18" charset="0"/>
                                </a:rPr>
                              </m:ctrlPr>
                            </m:accPr>
                            <m:e>
                              <m:r>
                                <a:rPr lang="en-AU" sz="1050" b="0" i="1" smtClean="0">
                                  <a:solidFill>
                                    <a:srgbClr val="2F2F2F"/>
                                  </a:solidFill>
                                  <a:latin typeface="Cambria Math" panose="02040503050406030204" pitchFamily="18" charset="0"/>
                                </a:rPr>
                                <m:t>𝑅</m:t>
                              </m:r>
                            </m:e>
                          </m:acc>
                        </m:e>
                        <m:sub>
                          <m:r>
                            <a:rPr lang="en-AU" sz="1050" b="0" i="1" smtClean="0">
                              <a:solidFill>
                                <a:srgbClr val="2F2F2F"/>
                              </a:solidFill>
                              <a:latin typeface="Cambria Math" panose="02040503050406030204" pitchFamily="18" charset="0"/>
                            </a:rPr>
                            <m:t>1</m:t>
                          </m:r>
                        </m:sub>
                      </m:sSub>
                      <m:d>
                        <m:dPr>
                          <m:ctrlPr>
                            <a:rPr lang="en-AU" sz="1050" b="0" i="1" smtClean="0">
                              <a:solidFill>
                                <a:srgbClr val="2F2F2F"/>
                              </a:solidFill>
                              <a:latin typeface="Cambria Math" panose="02040503050406030204" pitchFamily="18" charset="0"/>
                            </a:rPr>
                          </m:ctrlPr>
                        </m:dPr>
                        <m:e>
                          <m:r>
                            <a:rPr lang="en-AU" sz="1050" b="0" i="1" smtClean="0">
                              <a:solidFill>
                                <a:srgbClr val="2F2F2F"/>
                              </a:solidFill>
                              <a:latin typeface="Cambria Math" panose="02040503050406030204" pitchFamily="18" charset="0"/>
                            </a:rPr>
                            <m:t>𝑡</m:t>
                          </m:r>
                        </m:e>
                      </m:d>
                    </m:oMath>
                  </m:oMathPara>
                </a14:m>
                <a:endParaRPr lang="en-AU" sz="1050" dirty="0">
                  <a:solidFill>
                    <a:srgbClr val="2F2F2F"/>
                  </a:solidFill>
                </a:endParaRPr>
              </a:p>
            </p:txBody>
          </p:sp>
        </mc:Choice>
        <mc:Fallback xmlns="">
          <p:sp>
            <p:nvSpPr>
              <p:cNvPr id="2" name="TextBox 1">
                <a:extLst>
                  <a:ext uri="{FF2B5EF4-FFF2-40B4-BE49-F238E27FC236}">
                    <a16:creationId xmlns:a16="http://schemas.microsoft.com/office/drawing/2014/main" id="{8D73B402-D5AA-7AE9-BAC1-EA562FD11ED6}"/>
                  </a:ext>
                </a:extLst>
              </p:cNvPr>
              <p:cNvSpPr txBox="1">
                <a:spLocks noRot="1" noChangeAspect="1" noMove="1" noResize="1" noEditPoints="1" noAdjustHandles="1" noChangeArrowheads="1" noChangeShapeType="1" noTextEdit="1"/>
              </p:cNvSpPr>
              <p:nvPr/>
            </p:nvSpPr>
            <p:spPr>
              <a:xfrm>
                <a:off x="1118601" y="5139236"/>
                <a:ext cx="733647" cy="181268"/>
              </a:xfrm>
              <a:prstGeom prst="rect">
                <a:avLst/>
              </a:prstGeom>
              <a:blipFill>
                <a:blip r:embed="rId9"/>
                <a:stretch>
                  <a:fillRect b="-13333"/>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B339E74-FD35-850C-4F44-37D57842EB6C}"/>
                  </a:ext>
                </a:extLst>
              </p:cNvPr>
              <p:cNvSpPr txBox="1"/>
              <p:nvPr/>
            </p:nvSpPr>
            <p:spPr>
              <a:xfrm>
                <a:off x="2188607" y="5143170"/>
                <a:ext cx="733647" cy="181268"/>
              </a:xfrm>
              <a:prstGeom prst="rect">
                <a:avLst/>
              </a:prstGeom>
              <a:solidFill>
                <a:schemeClr val="bg1"/>
              </a:solid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AU" sz="1050" b="0" i="1" smtClean="0">
                              <a:solidFill>
                                <a:srgbClr val="2F2F2F"/>
                              </a:solidFill>
                              <a:latin typeface="Cambria Math" panose="02040503050406030204" pitchFamily="18" charset="0"/>
                            </a:rPr>
                          </m:ctrlPr>
                        </m:sSubPr>
                        <m:e>
                          <m:acc>
                            <m:accPr>
                              <m:chr m:val="⃗"/>
                              <m:ctrlPr>
                                <a:rPr lang="en-AU" sz="1050" i="1" smtClean="0">
                                  <a:solidFill>
                                    <a:srgbClr val="2F2F2F"/>
                                  </a:solidFill>
                                  <a:latin typeface="Cambria Math" panose="02040503050406030204" pitchFamily="18" charset="0"/>
                                </a:rPr>
                              </m:ctrlPr>
                            </m:accPr>
                            <m:e>
                              <m:r>
                                <a:rPr lang="en-AU" sz="1050" b="0" i="1" smtClean="0">
                                  <a:solidFill>
                                    <a:srgbClr val="2F2F2F"/>
                                  </a:solidFill>
                                  <a:latin typeface="Cambria Math" panose="02040503050406030204" pitchFamily="18" charset="0"/>
                                </a:rPr>
                                <m:t>𝑅</m:t>
                              </m:r>
                            </m:e>
                          </m:acc>
                        </m:e>
                        <m:sub>
                          <m:r>
                            <a:rPr lang="en-AU" sz="1050" b="0" i="1" smtClean="0">
                              <a:solidFill>
                                <a:srgbClr val="2F2F2F"/>
                              </a:solidFill>
                              <a:latin typeface="Cambria Math" panose="02040503050406030204" pitchFamily="18" charset="0"/>
                            </a:rPr>
                            <m:t>2</m:t>
                          </m:r>
                        </m:sub>
                      </m:sSub>
                      <m:d>
                        <m:dPr>
                          <m:ctrlPr>
                            <a:rPr lang="en-AU" sz="1050" b="0" i="1" smtClean="0">
                              <a:solidFill>
                                <a:srgbClr val="2F2F2F"/>
                              </a:solidFill>
                              <a:latin typeface="Cambria Math" panose="02040503050406030204" pitchFamily="18" charset="0"/>
                            </a:rPr>
                          </m:ctrlPr>
                        </m:dPr>
                        <m:e>
                          <m:r>
                            <a:rPr lang="en-AU" sz="1050" b="0" i="1" smtClean="0">
                              <a:solidFill>
                                <a:srgbClr val="2F2F2F"/>
                              </a:solidFill>
                              <a:latin typeface="Cambria Math" panose="02040503050406030204" pitchFamily="18" charset="0"/>
                            </a:rPr>
                            <m:t>𝑡</m:t>
                          </m:r>
                        </m:e>
                      </m:d>
                    </m:oMath>
                  </m:oMathPara>
                </a14:m>
                <a:endParaRPr lang="en-AU" sz="1050" dirty="0">
                  <a:solidFill>
                    <a:srgbClr val="2F2F2F"/>
                  </a:solidFill>
                </a:endParaRPr>
              </a:p>
            </p:txBody>
          </p:sp>
        </mc:Choice>
        <mc:Fallback xmlns="">
          <p:sp>
            <p:nvSpPr>
              <p:cNvPr id="10" name="TextBox 9">
                <a:extLst>
                  <a:ext uri="{FF2B5EF4-FFF2-40B4-BE49-F238E27FC236}">
                    <a16:creationId xmlns:a16="http://schemas.microsoft.com/office/drawing/2014/main" id="{CB339E74-FD35-850C-4F44-37D57842EB6C}"/>
                  </a:ext>
                </a:extLst>
              </p:cNvPr>
              <p:cNvSpPr txBox="1">
                <a:spLocks noRot="1" noChangeAspect="1" noMove="1" noResize="1" noEditPoints="1" noAdjustHandles="1" noChangeArrowheads="1" noChangeShapeType="1" noTextEdit="1"/>
              </p:cNvSpPr>
              <p:nvPr/>
            </p:nvSpPr>
            <p:spPr>
              <a:xfrm>
                <a:off x="2188607" y="5143170"/>
                <a:ext cx="733647" cy="181268"/>
              </a:xfrm>
              <a:prstGeom prst="rect">
                <a:avLst/>
              </a:prstGeom>
              <a:blipFill>
                <a:blip r:embed="rId10"/>
                <a:stretch>
                  <a:fillRect b="-13793"/>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EB6345A-5F9D-A322-F79C-D59D0806B62C}"/>
                  </a:ext>
                </a:extLst>
              </p:cNvPr>
              <p:cNvSpPr txBox="1"/>
              <p:nvPr/>
            </p:nvSpPr>
            <p:spPr>
              <a:xfrm>
                <a:off x="3281703" y="5143941"/>
                <a:ext cx="733647" cy="181268"/>
              </a:xfrm>
              <a:prstGeom prst="rect">
                <a:avLst/>
              </a:prstGeom>
              <a:solidFill>
                <a:schemeClr val="bg1"/>
              </a:solid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AU" sz="1050" b="0" i="1" smtClean="0">
                              <a:solidFill>
                                <a:srgbClr val="2F2F2F"/>
                              </a:solidFill>
                              <a:latin typeface="Cambria Math" panose="02040503050406030204" pitchFamily="18" charset="0"/>
                            </a:rPr>
                          </m:ctrlPr>
                        </m:sSubPr>
                        <m:e>
                          <m:acc>
                            <m:accPr>
                              <m:chr m:val="⃗"/>
                              <m:ctrlPr>
                                <a:rPr lang="en-AU" sz="1050" i="1" smtClean="0">
                                  <a:solidFill>
                                    <a:srgbClr val="2F2F2F"/>
                                  </a:solidFill>
                                  <a:latin typeface="Cambria Math" panose="02040503050406030204" pitchFamily="18" charset="0"/>
                                </a:rPr>
                              </m:ctrlPr>
                            </m:accPr>
                            <m:e>
                              <m:r>
                                <a:rPr lang="en-AU" sz="1050" b="0" i="1" smtClean="0">
                                  <a:solidFill>
                                    <a:srgbClr val="2F2F2F"/>
                                  </a:solidFill>
                                  <a:latin typeface="Cambria Math" panose="02040503050406030204" pitchFamily="18" charset="0"/>
                                </a:rPr>
                                <m:t>𝑅</m:t>
                              </m:r>
                            </m:e>
                          </m:acc>
                        </m:e>
                        <m:sub>
                          <m:r>
                            <a:rPr lang="en-AU" sz="1050" b="0" i="1" smtClean="0">
                              <a:solidFill>
                                <a:srgbClr val="2F2F2F"/>
                              </a:solidFill>
                              <a:latin typeface="Cambria Math" panose="02040503050406030204" pitchFamily="18" charset="0"/>
                            </a:rPr>
                            <m:t>3</m:t>
                          </m:r>
                        </m:sub>
                      </m:sSub>
                      <m:d>
                        <m:dPr>
                          <m:ctrlPr>
                            <a:rPr lang="en-AU" sz="1050" b="0" i="1" smtClean="0">
                              <a:solidFill>
                                <a:srgbClr val="2F2F2F"/>
                              </a:solidFill>
                              <a:latin typeface="Cambria Math" panose="02040503050406030204" pitchFamily="18" charset="0"/>
                            </a:rPr>
                          </m:ctrlPr>
                        </m:dPr>
                        <m:e>
                          <m:r>
                            <a:rPr lang="en-AU" sz="1050" b="0" i="1" smtClean="0">
                              <a:solidFill>
                                <a:srgbClr val="2F2F2F"/>
                              </a:solidFill>
                              <a:latin typeface="Cambria Math" panose="02040503050406030204" pitchFamily="18" charset="0"/>
                            </a:rPr>
                            <m:t>𝑡</m:t>
                          </m:r>
                        </m:e>
                      </m:d>
                    </m:oMath>
                  </m:oMathPara>
                </a14:m>
                <a:endParaRPr lang="en-AU" sz="1050" dirty="0">
                  <a:solidFill>
                    <a:srgbClr val="2F2F2F"/>
                  </a:solidFill>
                </a:endParaRPr>
              </a:p>
            </p:txBody>
          </p:sp>
        </mc:Choice>
        <mc:Fallback xmlns="">
          <p:sp>
            <p:nvSpPr>
              <p:cNvPr id="11" name="TextBox 10">
                <a:extLst>
                  <a:ext uri="{FF2B5EF4-FFF2-40B4-BE49-F238E27FC236}">
                    <a16:creationId xmlns:a16="http://schemas.microsoft.com/office/drawing/2014/main" id="{DEB6345A-5F9D-A322-F79C-D59D0806B62C}"/>
                  </a:ext>
                </a:extLst>
              </p:cNvPr>
              <p:cNvSpPr txBox="1">
                <a:spLocks noRot="1" noChangeAspect="1" noMove="1" noResize="1" noEditPoints="1" noAdjustHandles="1" noChangeArrowheads="1" noChangeShapeType="1" noTextEdit="1"/>
              </p:cNvSpPr>
              <p:nvPr/>
            </p:nvSpPr>
            <p:spPr>
              <a:xfrm>
                <a:off x="3281703" y="5143941"/>
                <a:ext cx="733647" cy="181268"/>
              </a:xfrm>
              <a:prstGeom prst="rect">
                <a:avLst/>
              </a:prstGeom>
              <a:blipFill>
                <a:blip r:embed="rId11"/>
                <a:stretch>
                  <a:fillRect b="-10000"/>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AB62EA0-F611-A504-F71C-AEB7211B7D8E}"/>
                  </a:ext>
                </a:extLst>
              </p:cNvPr>
              <p:cNvSpPr txBox="1"/>
              <p:nvPr/>
            </p:nvSpPr>
            <p:spPr>
              <a:xfrm>
                <a:off x="4328254" y="5143170"/>
                <a:ext cx="733647" cy="181268"/>
              </a:xfrm>
              <a:prstGeom prst="rect">
                <a:avLst/>
              </a:prstGeom>
              <a:solidFill>
                <a:schemeClr val="bg1"/>
              </a:solid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AU" sz="1050" b="0" i="1" smtClean="0">
                              <a:solidFill>
                                <a:srgbClr val="2F2F2F"/>
                              </a:solidFill>
                              <a:latin typeface="Cambria Math" panose="02040503050406030204" pitchFamily="18" charset="0"/>
                            </a:rPr>
                          </m:ctrlPr>
                        </m:sSubPr>
                        <m:e>
                          <m:acc>
                            <m:accPr>
                              <m:chr m:val="⃗"/>
                              <m:ctrlPr>
                                <a:rPr lang="en-AU" sz="1050" i="1" smtClean="0">
                                  <a:solidFill>
                                    <a:srgbClr val="2F2F2F"/>
                                  </a:solidFill>
                                  <a:latin typeface="Cambria Math" panose="02040503050406030204" pitchFamily="18" charset="0"/>
                                </a:rPr>
                              </m:ctrlPr>
                            </m:accPr>
                            <m:e>
                              <m:r>
                                <a:rPr lang="en-AU" sz="1050" b="0" i="1" smtClean="0">
                                  <a:solidFill>
                                    <a:srgbClr val="2F2F2F"/>
                                  </a:solidFill>
                                  <a:latin typeface="Cambria Math" panose="02040503050406030204" pitchFamily="18" charset="0"/>
                                </a:rPr>
                                <m:t>𝑅</m:t>
                              </m:r>
                            </m:e>
                          </m:acc>
                        </m:e>
                        <m:sub>
                          <m:r>
                            <a:rPr lang="en-AU" sz="1050" b="0" i="1" smtClean="0">
                              <a:solidFill>
                                <a:srgbClr val="2F2F2F"/>
                              </a:solidFill>
                              <a:latin typeface="Cambria Math" panose="02040503050406030204" pitchFamily="18" charset="0"/>
                            </a:rPr>
                            <m:t>4</m:t>
                          </m:r>
                        </m:sub>
                      </m:sSub>
                      <m:d>
                        <m:dPr>
                          <m:ctrlPr>
                            <a:rPr lang="en-AU" sz="1050" b="0" i="1" smtClean="0">
                              <a:solidFill>
                                <a:srgbClr val="2F2F2F"/>
                              </a:solidFill>
                              <a:latin typeface="Cambria Math" panose="02040503050406030204" pitchFamily="18" charset="0"/>
                            </a:rPr>
                          </m:ctrlPr>
                        </m:dPr>
                        <m:e>
                          <m:r>
                            <a:rPr lang="en-AU" sz="1050" b="0" i="1" smtClean="0">
                              <a:solidFill>
                                <a:srgbClr val="2F2F2F"/>
                              </a:solidFill>
                              <a:latin typeface="Cambria Math" panose="02040503050406030204" pitchFamily="18" charset="0"/>
                            </a:rPr>
                            <m:t>𝑡</m:t>
                          </m:r>
                        </m:e>
                      </m:d>
                    </m:oMath>
                  </m:oMathPara>
                </a14:m>
                <a:endParaRPr lang="en-AU" sz="1050" dirty="0">
                  <a:solidFill>
                    <a:srgbClr val="2F2F2F"/>
                  </a:solidFill>
                </a:endParaRPr>
              </a:p>
            </p:txBody>
          </p:sp>
        </mc:Choice>
        <mc:Fallback xmlns="">
          <p:sp>
            <p:nvSpPr>
              <p:cNvPr id="14" name="TextBox 13">
                <a:extLst>
                  <a:ext uri="{FF2B5EF4-FFF2-40B4-BE49-F238E27FC236}">
                    <a16:creationId xmlns:a16="http://schemas.microsoft.com/office/drawing/2014/main" id="{6AB62EA0-F611-A504-F71C-AEB7211B7D8E}"/>
                  </a:ext>
                </a:extLst>
              </p:cNvPr>
              <p:cNvSpPr txBox="1">
                <a:spLocks noRot="1" noChangeAspect="1" noMove="1" noResize="1" noEditPoints="1" noAdjustHandles="1" noChangeArrowheads="1" noChangeShapeType="1" noTextEdit="1"/>
              </p:cNvSpPr>
              <p:nvPr/>
            </p:nvSpPr>
            <p:spPr>
              <a:xfrm>
                <a:off x="4328254" y="5143170"/>
                <a:ext cx="733647" cy="181268"/>
              </a:xfrm>
              <a:prstGeom prst="rect">
                <a:avLst/>
              </a:prstGeom>
              <a:blipFill>
                <a:blip r:embed="rId12"/>
                <a:stretch>
                  <a:fillRect b="-13793"/>
                </a:stretch>
              </a:blipFill>
            </p:spPr>
            <p:txBody>
              <a:bodyPr/>
              <a:lstStyle/>
              <a:p>
                <a:r>
                  <a:rPr lang="en-AU">
                    <a:noFill/>
                  </a:rPr>
                  <a:t> </a:t>
                </a:r>
              </a:p>
            </p:txBody>
          </p:sp>
        </mc:Fallback>
      </mc:AlternateContent>
    </p:spTree>
    <p:extLst>
      <p:ext uri="{BB962C8B-B14F-4D97-AF65-F5344CB8AC3E}">
        <p14:creationId xmlns:p14="http://schemas.microsoft.com/office/powerpoint/2010/main" val="4270981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786107"/>
          </a:xfrm>
        </p:spPr>
        <p:txBody>
          <a:bodyPr/>
          <a:lstStyle/>
          <a:p>
            <a:r>
              <a:rPr lang="en-US" dirty="0"/>
              <a:t>Cubic Orientation Spline Algorithm </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54</a:t>
            </a:fld>
            <a:endParaRPr lang="en-US" dirty="0"/>
          </a:p>
        </p:txBody>
      </p:sp>
      <p:sp>
        <p:nvSpPr>
          <p:cNvPr id="9" name="Rectangle: Rounded Corners 8">
            <a:extLst>
              <a:ext uri="{FF2B5EF4-FFF2-40B4-BE49-F238E27FC236}">
                <a16:creationId xmlns:a16="http://schemas.microsoft.com/office/drawing/2014/main" id="{B57F9A30-FFD9-84B0-88A3-7D6F60558107}"/>
              </a:ext>
            </a:extLst>
          </p:cNvPr>
          <p:cNvSpPr/>
          <p:nvPr/>
        </p:nvSpPr>
        <p:spPr>
          <a:xfrm>
            <a:off x="8292353" y="345766"/>
            <a:ext cx="2303929" cy="622422"/>
          </a:xfrm>
          <a:prstGeom prst="roundRect">
            <a:avLst/>
          </a:prstGeom>
          <a:solidFill>
            <a:srgbClr val="CDDCF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CubicOrientationSpline</a:t>
            </a:r>
            <a:endParaRPr lang="en-GB" sz="1200" dirty="0">
              <a:solidFill>
                <a:srgbClr val="003399"/>
              </a:solidFil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E2BC2CF-9C08-A96B-C25B-DE6EBE035B48}"/>
                  </a:ext>
                </a:extLst>
              </p:cNvPr>
              <p:cNvSpPr txBox="1"/>
              <p:nvPr/>
            </p:nvSpPr>
            <p:spPr>
              <a:xfrm>
                <a:off x="5847070" y="1955164"/>
                <a:ext cx="5692801" cy="310598"/>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acc>
                        <m:accPr>
                          <m:chr m:val="⃗"/>
                          <m:ctrlPr>
                            <a:rPr lang="en-US" b="1" i="1" smtClean="0">
                              <a:solidFill>
                                <a:schemeClr val="tx1"/>
                              </a:solidFill>
                              <a:latin typeface="Cambria Math" panose="02040503050406030204" pitchFamily="18" charset="0"/>
                            </a:rPr>
                          </m:ctrlPr>
                        </m:accPr>
                        <m:e>
                          <m:r>
                            <a:rPr lang="en-US" b="1" i="1" smtClean="0">
                              <a:solidFill>
                                <a:schemeClr val="tx1"/>
                              </a:solidFill>
                              <a:latin typeface="Cambria Math" panose="02040503050406030204" pitchFamily="18" charset="0"/>
                            </a:rPr>
                            <m:t>𝑹</m:t>
                          </m:r>
                        </m:e>
                      </m:acc>
                      <m:d>
                        <m:dPr>
                          <m:ctrlPr>
                            <a:rPr lang="en-US" b="1" i="1" smtClean="0">
                              <a:solidFill>
                                <a:schemeClr val="tx1"/>
                              </a:solidFill>
                              <a:latin typeface="Cambria Math" panose="02040503050406030204" pitchFamily="18" charset="0"/>
                            </a:rPr>
                          </m:ctrlPr>
                        </m:dPr>
                        <m:e>
                          <m:r>
                            <a:rPr lang="en-US" b="1" i="1" smtClean="0">
                              <a:solidFill>
                                <a:schemeClr val="tx1"/>
                              </a:solidFill>
                              <a:latin typeface="Cambria Math" panose="02040503050406030204" pitchFamily="18" charset="0"/>
                            </a:rPr>
                            <m:t>𝒕</m:t>
                          </m:r>
                        </m:e>
                      </m:d>
                      <m:r>
                        <a:rPr lang="en-US" b="0" i="1" smtClean="0">
                          <a:solidFill>
                            <a:srgbClr val="2F2F2F"/>
                          </a:solidFill>
                          <a:latin typeface="Cambria Math" panose="02040503050406030204" pitchFamily="18" charset="0"/>
                        </a:rPr>
                        <m:t>=</m:t>
                      </m:r>
                      <m:sSub>
                        <m:sSubPr>
                          <m:ctrlPr>
                            <a:rPr lang="en-US" b="1" i="1" smtClean="0">
                              <a:solidFill>
                                <a:schemeClr val="tx1"/>
                              </a:solidFill>
                              <a:latin typeface="Cambria Math" panose="02040503050406030204" pitchFamily="18" charset="0"/>
                            </a:rPr>
                          </m:ctrlPr>
                        </m:sSubPr>
                        <m:e>
                          <m:acc>
                            <m:accPr>
                              <m:chr m:val="⃗"/>
                              <m:ctrlPr>
                                <a:rPr lang="en-US" b="1" i="1">
                                  <a:solidFill>
                                    <a:schemeClr val="tx1"/>
                                  </a:solidFill>
                                  <a:latin typeface="Cambria Math" panose="02040503050406030204" pitchFamily="18" charset="0"/>
                                </a:rPr>
                              </m:ctrlPr>
                            </m:accPr>
                            <m:e>
                              <m:r>
                                <a:rPr lang="en-US" b="1" i="1">
                                  <a:solidFill>
                                    <a:schemeClr val="tx1"/>
                                  </a:solidFill>
                                  <a:latin typeface="Cambria Math" panose="02040503050406030204" pitchFamily="18" charset="0"/>
                                </a:rPr>
                                <m:t>𝒂</m:t>
                              </m:r>
                            </m:e>
                          </m:acc>
                        </m:e>
                        <m:sub>
                          <m:r>
                            <a:rPr lang="en-US" b="1" i="1" smtClean="0">
                              <a:solidFill>
                                <a:schemeClr val="tx1"/>
                              </a:solidFill>
                              <a:latin typeface="Cambria Math" panose="02040503050406030204" pitchFamily="18" charset="0"/>
                            </a:rPr>
                            <m:t>𝟏</m:t>
                          </m:r>
                        </m:sub>
                      </m:sSub>
                      <m:sSup>
                        <m:sSupPr>
                          <m:ctrlPr>
                            <a:rPr lang="en-US" b="0" i="1" smtClean="0">
                              <a:solidFill>
                                <a:srgbClr val="2F2F2F"/>
                              </a:solidFill>
                              <a:latin typeface="Cambria Math" panose="02040503050406030204" pitchFamily="18" charset="0"/>
                            </a:rPr>
                          </m:ctrlPr>
                        </m:sSupPr>
                        <m:e>
                          <m:d>
                            <m:dPr>
                              <m:ctrlPr>
                                <a:rPr lang="en-US" b="0" i="1" smtClean="0">
                                  <a:solidFill>
                                    <a:srgbClr val="2F2F2F"/>
                                  </a:solidFill>
                                  <a:latin typeface="Cambria Math" panose="02040503050406030204" pitchFamily="18" charset="0"/>
                                </a:rPr>
                              </m:ctrlPr>
                            </m:dPr>
                            <m:e>
                              <m:r>
                                <a:rPr lang="en-US" b="0" i="1" smtClean="0">
                                  <a:solidFill>
                                    <a:srgbClr val="2F2F2F"/>
                                  </a:solidFill>
                                  <a:latin typeface="Cambria Math" panose="02040503050406030204" pitchFamily="18" charset="0"/>
                                </a:rPr>
                                <m:t>𝑥</m:t>
                              </m:r>
                              <m:r>
                                <a:rPr lang="en-US" b="0" i="1" smtClean="0">
                                  <a:solidFill>
                                    <a:srgbClr val="2F2F2F"/>
                                  </a:solidFill>
                                  <a:latin typeface="Cambria Math" panose="02040503050406030204" pitchFamily="18" charset="0"/>
                                </a:rPr>
                                <m:t>−1</m:t>
                              </m:r>
                            </m:e>
                          </m:d>
                        </m:e>
                        <m:sup>
                          <m:r>
                            <a:rPr lang="en-US" b="0" i="1" smtClean="0">
                              <a:solidFill>
                                <a:srgbClr val="2F2F2F"/>
                              </a:solidFill>
                              <a:latin typeface="Cambria Math" panose="02040503050406030204" pitchFamily="18" charset="0"/>
                            </a:rPr>
                            <m:t>3</m:t>
                          </m:r>
                        </m:sup>
                      </m:sSup>
                      <m:r>
                        <a:rPr lang="en-US" b="0" i="1" smtClean="0">
                          <a:solidFill>
                            <a:srgbClr val="2F2F2F"/>
                          </a:solidFill>
                          <a:latin typeface="Cambria Math" panose="02040503050406030204" pitchFamily="18" charset="0"/>
                        </a:rPr>
                        <m:t>+</m:t>
                      </m:r>
                      <m:sSub>
                        <m:sSubPr>
                          <m:ctrlPr>
                            <a:rPr lang="en-US" b="1" i="1" smtClean="0">
                              <a:solidFill>
                                <a:schemeClr val="tx1"/>
                              </a:solidFill>
                              <a:latin typeface="Cambria Math" panose="02040503050406030204" pitchFamily="18" charset="0"/>
                            </a:rPr>
                          </m:ctrlPr>
                        </m:sSubPr>
                        <m:e>
                          <m:acc>
                            <m:accPr>
                              <m:chr m:val="⃗"/>
                              <m:ctrlPr>
                                <a:rPr lang="en-US" b="1" i="1">
                                  <a:solidFill>
                                    <a:schemeClr val="tx1"/>
                                  </a:solidFill>
                                  <a:latin typeface="Cambria Math" panose="02040503050406030204" pitchFamily="18" charset="0"/>
                                </a:rPr>
                              </m:ctrlPr>
                            </m:accPr>
                            <m:e>
                              <m:r>
                                <a:rPr lang="en-US" b="1" i="1">
                                  <a:solidFill>
                                    <a:schemeClr val="tx1"/>
                                  </a:solidFill>
                                  <a:latin typeface="Cambria Math" panose="02040503050406030204" pitchFamily="18" charset="0"/>
                                </a:rPr>
                                <m:t>𝒂</m:t>
                              </m:r>
                            </m:e>
                          </m:acc>
                        </m:e>
                        <m:sub>
                          <m:r>
                            <a:rPr lang="en-US" b="1" i="1" smtClean="0">
                              <a:solidFill>
                                <a:schemeClr val="tx1"/>
                              </a:solidFill>
                              <a:latin typeface="Cambria Math" panose="02040503050406030204" pitchFamily="18" charset="0"/>
                            </a:rPr>
                            <m:t>𝟐</m:t>
                          </m:r>
                        </m:sub>
                      </m:sSub>
                      <m:r>
                        <a:rPr lang="en-US" b="0" i="1" smtClean="0">
                          <a:solidFill>
                            <a:srgbClr val="2F2F2F"/>
                          </a:solidFill>
                          <a:latin typeface="Cambria Math" panose="02040503050406030204" pitchFamily="18" charset="0"/>
                        </a:rPr>
                        <m:t>𝑥</m:t>
                      </m:r>
                      <m:sSup>
                        <m:sSupPr>
                          <m:ctrlPr>
                            <a:rPr lang="en-US" b="0" i="1" smtClean="0">
                              <a:solidFill>
                                <a:srgbClr val="2F2F2F"/>
                              </a:solidFill>
                              <a:latin typeface="Cambria Math" panose="02040503050406030204" pitchFamily="18" charset="0"/>
                            </a:rPr>
                          </m:ctrlPr>
                        </m:sSupPr>
                        <m:e>
                          <m:d>
                            <m:dPr>
                              <m:ctrlPr>
                                <a:rPr lang="en-US" b="0" i="1" smtClean="0">
                                  <a:solidFill>
                                    <a:srgbClr val="2F2F2F"/>
                                  </a:solidFill>
                                  <a:latin typeface="Cambria Math" panose="02040503050406030204" pitchFamily="18" charset="0"/>
                                </a:rPr>
                              </m:ctrlPr>
                            </m:dPr>
                            <m:e>
                              <m:r>
                                <a:rPr lang="en-US" b="0" i="1" smtClean="0">
                                  <a:solidFill>
                                    <a:srgbClr val="2F2F2F"/>
                                  </a:solidFill>
                                  <a:latin typeface="Cambria Math" panose="02040503050406030204" pitchFamily="18" charset="0"/>
                                </a:rPr>
                                <m:t>𝑥</m:t>
                              </m:r>
                              <m:r>
                                <a:rPr lang="en-US" b="0" i="1" smtClean="0">
                                  <a:solidFill>
                                    <a:srgbClr val="2F2F2F"/>
                                  </a:solidFill>
                                  <a:latin typeface="Cambria Math" panose="02040503050406030204" pitchFamily="18" charset="0"/>
                                </a:rPr>
                                <m:t>−1</m:t>
                              </m:r>
                            </m:e>
                          </m:d>
                        </m:e>
                        <m:sup>
                          <m:r>
                            <a:rPr lang="en-US" b="0" i="1" smtClean="0">
                              <a:solidFill>
                                <a:srgbClr val="2F2F2F"/>
                              </a:solidFill>
                              <a:latin typeface="Cambria Math" panose="02040503050406030204" pitchFamily="18" charset="0"/>
                            </a:rPr>
                            <m:t>2</m:t>
                          </m:r>
                        </m:sup>
                      </m:sSup>
                      <m:r>
                        <a:rPr lang="en-US" b="0" i="1" smtClean="0">
                          <a:solidFill>
                            <a:srgbClr val="2F2F2F"/>
                          </a:solidFill>
                          <a:latin typeface="Cambria Math" panose="02040503050406030204" pitchFamily="18" charset="0"/>
                        </a:rPr>
                        <m:t>+</m:t>
                      </m:r>
                      <m:sSub>
                        <m:sSubPr>
                          <m:ctrlPr>
                            <a:rPr lang="en-US" b="1" i="1" smtClean="0">
                              <a:solidFill>
                                <a:schemeClr val="tx1"/>
                              </a:solidFill>
                              <a:latin typeface="Cambria Math" panose="02040503050406030204" pitchFamily="18" charset="0"/>
                            </a:rPr>
                          </m:ctrlPr>
                        </m:sSubPr>
                        <m:e>
                          <m:acc>
                            <m:accPr>
                              <m:chr m:val="⃗"/>
                              <m:ctrlPr>
                                <a:rPr lang="en-US" b="1" i="1">
                                  <a:solidFill>
                                    <a:schemeClr val="tx1"/>
                                  </a:solidFill>
                                  <a:latin typeface="Cambria Math" panose="02040503050406030204" pitchFamily="18" charset="0"/>
                                </a:rPr>
                              </m:ctrlPr>
                            </m:accPr>
                            <m:e>
                              <m:r>
                                <a:rPr lang="en-US" b="1" i="1">
                                  <a:solidFill>
                                    <a:schemeClr val="tx1"/>
                                  </a:solidFill>
                                  <a:latin typeface="Cambria Math" panose="02040503050406030204" pitchFamily="18" charset="0"/>
                                </a:rPr>
                                <m:t>𝒂</m:t>
                              </m:r>
                            </m:e>
                          </m:acc>
                        </m:e>
                        <m:sub>
                          <m:r>
                            <a:rPr lang="en-US" b="1" i="1" smtClean="0">
                              <a:solidFill>
                                <a:schemeClr val="tx1"/>
                              </a:solidFill>
                              <a:latin typeface="Cambria Math" panose="02040503050406030204" pitchFamily="18" charset="0"/>
                            </a:rPr>
                            <m:t>𝟑</m:t>
                          </m:r>
                        </m:sub>
                      </m:sSub>
                      <m:sSup>
                        <m:sSupPr>
                          <m:ctrlPr>
                            <a:rPr lang="en-US" b="0" i="1" smtClean="0">
                              <a:solidFill>
                                <a:srgbClr val="2F2F2F"/>
                              </a:solidFill>
                              <a:latin typeface="Cambria Math" panose="02040503050406030204" pitchFamily="18" charset="0"/>
                            </a:rPr>
                          </m:ctrlPr>
                        </m:sSupPr>
                        <m:e>
                          <m:r>
                            <a:rPr lang="en-US" b="0" i="1" smtClean="0">
                              <a:solidFill>
                                <a:srgbClr val="2F2F2F"/>
                              </a:solidFill>
                              <a:latin typeface="Cambria Math" panose="02040503050406030204" pitchFamily="18" charset="0"/>
                            </a:rPr>
                            <m:t>𝑥</m:t>
                          </m:r>
                        </m:e>
                        <m:sup>
                          <m:r>
                            <a:rPr lang="en-US" b="0" i="1" smtClean="0">
                              <a:solidFill>
                                <a:srgbClr val="2F2F2F"/>
                              </a:solidFill>
                              <a:latin typeface="Cambria Math" panose="02040503050406030204" pitchFamily="18" charset="0"/>
                            </a:rPr>
                            <m:t>2</m:t>
                          </m:r>
                        </m:sup>
                      </m:sSup>
                      <m:d>
                        <m:dPr>
                          <m:ctrlPr>
                            <a:rPr lang="en-US" b="0" i="1" smtClean="0">
                              <a:solidFill>
                                <a:srgbClr val="2F2F2F"/>
                              </a:solidFill>
                              <a:latin typeface="Cambria Math" panose="02040503050406030204" pitchFamily="18" charset="0"/>
                            </a:rPr>
                          </m:ctrlPr>
                        </m:dPr>
                        <m:e>
                          <m:r>
                            <a:rPr lang="en-US" b="0" i="1" smtClean="0">
                              <a:solidFill>
                                <a:srgbClr val="2F2F2F"/>
                              </a:solidFill>
                              <a:latin typeface="Cambria Math" panose="02040503050406030204" pitchFamily="18" charset="0"/>
                            </a:rPr>
                            <m:t>𝑥</m:t>
                          </m:r>
                          <m:r>
                            <a:rPr lang="en-US" b="0" i="1" smtClean="0">
                              <a:solidFill>
                                <a:srgbClr val="2F2F2F"/>
                              </a:solidFill>
                              <a:latin typeface="Cambria Math" panose="02040503050406030204" pitchFamily="18" charset="0"/>
                            </a:rPr>
                            <m:t>−1</m:t>
                          </m:r>
                        </m:e>
                      </m:d>
                      <m:r>
                        <a:rPr lang="en-US" b="0" i="1" smtClean="0">
                          <a:solidFill>
                            <a:srgbClr val="2F2F2F"/>
                          </a:solidFill>
                          <a:latin typeface="Cambria Math" panose="02040503050406030204" pitchFamily="18" charset="0"/>
                        </a:rPr>
                        <m:t>+</m:t>
                      </m:r>
                      <m:sSub>
                        <m:sSubPr>
                          <m:ctrlPr>
                            <a:rPr lang="en-US" b="1" i="1" smtClean="0">
                              <a:solidFill>
                                <a:schemeClr val="tx1"/>
                              </a:solidFill>
                              <a:latin typeface="Cambria Math" panose="02040503050406030204" pitchFamily="18" charset="0"/>
                            </a:rPr>
                          </m:ctrlPr>
                        </m:sSubPr>
                        <m:e>
                          <m:acc>
                            <m:accPr>
                              <m:chr m:val="⃗"/>
                              <m:ctrlPr>
                                <a:rPr lang="en-US" b="1" i="1">
                                  <a:solidFill>
                                    <a:schemeClr val="tx1"/>
                                  </a:solidFill>
                                  <a:latin typeface="Cambria Math" panose="02040503050406030204" pitchFamily="18" charset="0"/>
                                </a:rPr>
                              </m:ctrlPr>
                            </m:accPr>
                            <m:e>
                              <m:r>
                                <a:rPr lang="en-US" b="1" i="1">
                                  <a:solidFill>
                                    <a:schemeClr val="tx1"/>
                                  </a:solidFill>
                                  <a:latin typeface="Cambria Math" panose="02040503050406030204" pitchFamily="18" charset="0"/>
                                </a:rPr>
                                <m:t>𝒂</m:t>
                              </m:r>
                            </m:e>
                          </m:acc>
                        </m:e>
                        <m:sub>
                          <m:r>
                            <a:rPr lang="en-US" b="1" i="1" smtClean="0">
                              <a:solidFill>
                                <a:schemeClr val="tx1"/>
                              </a:solidFill>
                              <a:latin typeface="Cambria Math" panose="02040503050406030204" pitchFamily="18" charset="0"/>
                            </a:rPr>
                            <m:t>𝟒</m:t>
                          </m:r>
                        </m:sub>
                      </m:sSub>
                      <m:sSup>
                        <m:sSupPr>
                          <m:ctrlPr>
                            <a:rPr lang="en-US" b="0" i="1" smtClean="0">
                              <a:solidFill>
                                <a:srgbClr val="2F2F2F"/>
                              </a:solidFill>
                              <a:latin typeface="Cambria Math" panose="02040503050406030204" pitchFamily="18" charset="0"/>
                            </a:rPr>
                          </m:ctrlPr>
                        </m:sSupPr>
                        <m:e>
                          <m:r>
                            <a:rPr lang="en-US" b="0" i="1" smtClean="0">
                              <a:solidFill>
                                <a:srgbClr val="2F2F2F"/>
                              </a:solidFill>
                              <a:latin typeface="Cambria Math" panose="02040503050406030204" pitchFamily="18" charset="0"/>
                            </a:rPr>
                            <m:t>𝑥</m:t>
                          </m:r>
                        </m:e>
                        <m:sup>
                          <m:r>
                            <a:rPr lang="en-US" b="0" i="1" smtClean="0">
                              <a:solidFill>
                                <a:srgbClr val="2F2F2F"/>
                              </a:solidFill>
                              <a:latin typeface="Cambria Math" panose="02040503050406030204" pitchFamily="18" charset="0"/>
                            </a:rPr>
                            <m:t>3</m:t>
                          </m:r>
                        </m:sup>
                      </m:sSup>
                    </m:oMath>
                  </m:oMathPara>
                </a14:m>
                <a:endParaRPr lang="en-GB" dirty="0">
                  <a:solidFill>
                    <a:srgbClr val="2F2F2F"/>
                  </a:solidFill>
                </a:endParaRPr>
              </a:p>
            </p:txBody>
          </p:sp>
        </mc:Choice>
        <mc:Fallback xmlns="">
          <p:sp>
            <p:nvSpPr>
              <p:cNvPr id="2" name="TextBox 1">
                <a:extLst>
                  <a:ext uri="{FF2B5EF4-FFF2-40B4-BE49-F238E27FC236}">
                    <a16:creationId xmlns:a16="http://schemas.microsoft.com/office/drawing/2014/main" id="{7E2BC2CF-9C08-A96B-C25B-DE6EBE035B48}"/>
                  </a:ext>
                </a:extLst>
              </p:cNvPr>
              <p:cNvSpPr txBox="1">
                <a:spLocks noRot="1" noChangeAspect="1" noMove="1" noResize="1" noEditPoints="1" noAdjustHandles="1" noChangeArrowheads="1" noChangeShapeType="1" noTextEdit="1"/>
              </p:cNvSpPr>
              <p:nvPr/>
            </p:nvSpPr>
            <p:spPr>
              <a:xfrm>
                <a:off x="5847070" y="1955164"/>
                <a:ext cx="5692801" cy="310598"/>
              </a:xfrm>
              <a:prstGeom prst="rect">
                <a:avLst/>
              </a:prstGeom>
              <a:blipFill>
                <a:blip r:embed="rId3"/>
                <a:stretch>
                  <a:fillRect l="-749" b="-1764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9455379-0C65-A4B3-87B4-70588481EEE2}"/>
                  </a:ext>
                </a:extLst>
              </p:cNvPr>
              <p:cNvSpPr txBox="1"/>
              <p:nvPr/>
            </p:nvSpPr>
            <p:spPr>
              <a:xfrm>
                <a:off x="5906201" y="2573306"/>
                <a:ext cx="2797341" cy="1412181"/>
              </a:xfrm>
              <a:prstGeom prst="rect">
                <a:avLst/>
              </a:prstGeom>
              <a:noFill/>
            </p:spPr>
            <p:txBody>
              <a:bodyPr wrap="square" lIns="0" tIns="0" rIns="0" bIns="0" rtlCol="0">
                <a:spAutoFit/>
              </a:bodyPr>
              <a:lstStyle/>
              <a:p>
                <a:r>
                  <a:rPr lang="en-US" b="1" dirty="0">
                    <a:solidFill>
                      <a:srgbClr val="2F2F2F"/>
                    </a:solidFill>
                  </a:rPr>
                  <a:t>Coefficients:</a:t>
                </a:r>
              </a:p>
              <a:p>
                <a14:m>
                  <m:oMath xmlns:m="http://schemas.openxmlformats.org/officeDocument/2006/math">
                    <m:sSub>
                      <m:sSubPr>
                        <m:ctrlPr>
                          <a:rPr lang="en-US" b="0" i="1" smtClean="0">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𝑎</m:t>
                            </m:r>
                          </m:e>
                        </m:acc>
                      </m:e>
                      <m:sub>
                        <m:r>
                          <a:rPr lang="en-US" b="0" i="1" smtClean="0">
                            <a:solidFill>
                              <a:srgbClr val="2F2F2F"/>
                            </a:solidFill>
                            <a:latin typeface="Cambria Math" panose="02040503050406030204" pitchFamily="18" charset="0"/>
                          </a:rPr>
                          <m:t>1</m:t>
                        </m:r>
                      </m:sub>
                    </m:sSub>
                    <m:r>
                      <a:rPr lang="en-US" b="0" i="1" smtClean="0">
                        <a:solidFill>
                          <a:srgbClr val="2F2F2F"/>
                        </a:solidFill>
                        <a:latin typeface="Cambria Math" panose="02040503050406030204" pitchFamily="18" charset="0"/>
                      </a:rPr>
                      <m:t>=0</m:t>
                    </m:r>
                  </m:oMath>
                </a14:m>
                <a:r>
                  <a:rPr lang="en-US" b="0" dirty="0">
                    <a:solidFill>
                      <a:srgbClr val="2F2F2F"/>
                    </a:solidFill>
                  </a:rPr>
                  <a:t> </a:t>
                </a:r>
              </a:p>
              <a:p>
                <a14:m>
                  <m:oMath xmlns:m="http://schemas.openxmlformats.org/officeDocument/2006/math">
                    <m:sSub>
                      <m:sSubPr>
                        <m:ctrlPr>
                          <a:rPr lang="en-US" i="1">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𝑎</m:t>
                            </m:r>
                          </m:e>
                        </m:acc>
                      </m:e>
                      <m:sub>
                        <m:r>
                          <a:rPr lang="en-US" i="1">
                            <a:solidFill>
                              <a:srgbClr val="2F2F2F"/>
                            </a:solidFill>
                            <a:latin typeface="Cambria Math" panose="02040503050406030204" pitchFamily="18" charset="0"/>
                          </a:rPr>
                          <m:t>2</m:t>
                        </m:r>
                      </m:sub>
                    </m:sSub>
                    <m:r>
                      <a:rPr lang="en-US" b="0" i="0" smtClean="0">
                        <a:solidFill>
                          <a:srgbClr val="2F2F2F"/>
                        </a:solidFill>
                        <a:latin typeface="Cambria Math" panose="02040503050406030204" pitchFamily="18" charset="0"/>
                      </a:rPr>
                      <m:t>=</m:t>
                    </m:r>
                    <m:r>
                      <m:rPr>
                        <m:sty m:val="p"/>
                      </m:rPr>
                      <a:rPr lang="en-US" b="0" i="0" smtClean="0">
                        <a:solidFill>
                          <a:srgbClr val="2F2F2F"/>
                        </a:solidFill>
                        <a:latin typeface="Cambria Math" panose="02040503050406030204" pitchFamily="18" charset="0"/>
                      </a:rPr>
                      <m:t>Δ</m:t>
                    </m:r>
                    <m:r>
                      <a:rPr lang="en-US" b="0" i="1" smtClean="0">
                        <a:solidFill>
                          <a:srgbClr val="2F2F2F"/>
                        </a:solidFill>
                        <a:latin typeface="Cambria Math" panose="02040503050406030204" pitchFamily="18" charset="0"/>
                      </a:rPr>
                      <m:t>𝑡</m:t>
                    </m:r>
                    <m:sSub>
                      <m:sSubPr>
                        <m:ctrlPr>
                          <a:rPr lang="en-US" b="0" i="1" smtClean="0">
                            <a:solidFill>
                              <a:srgbClr val="2F2F2F"/>
                            </a:solidFill>
                            <a:latin typeface="Cambria Math" panose="02040503050406030204" pitchFamily="18" charset="0"/>
                          </a:rPr>
                        </m:ctrlPr>
                      </m:sSubPr>
                      <m:e>
                        <m:acc>
                          <m:accPr>
                            <m:chr m:val="⃗"/>
                            <m:ctrlPr>
                              <a:rPr lang="en-US" b="0" i="1" smtClean="0">
                                <a:solidFill>
                                  <a:srgbClr val="2F2F2F"/>
                                </a:solidFill>
                                <a:latin typeface="Cambria Math" panose="02040503050406030204" pitchFamily="18" charset="0"/>
                              </a:rPr>
                            </m:ctrlPr>
                          </m:accPr>
                          <m:e>
                            <m:r>
                              <a:rPr lang="en-US" b="0" i="1" smtClean="0">
                                <a:solidFill>
                                  <a:srgbClr val="2F2F2F"/>
                                </a:solidFill>
                                <a:latin typeface="Cambria Math" panose="02040503050406030204" pitchFamily="18" charset="0"/>
                              </a:rPr>
                              <m:t>𝜔</m:t>
                            </m:r>
                          </m:e>
                        </m:acc>
                      </m:e>
                      <m:sub>
                        <m:r>
                          <a:rPr lang="en-US" b="0" i="1" smtClean="0">
                            <a:solidFill>
                              <a:srgbClr val="2F2F2F"/>
                            </a:solidFill>
                            <a:latin typeface="Cambria Math" panose="02040503050406030204" pitchFamily="18" charset="0"/>
                          </a:rPr>
                          <m:t>𝑖</m:t>
                        </m:r>
                      </m:sub>
                    </m:sSub>
                  </m:oMath>
                </a14:m>
                <a:r>
                  <a:rPr lang="en-US" b="0" dirty="0">
                    <a:solidFill>
                      <a:srgbClr val="2F2F2F"/>
                    </a:solidFill>
                  </a:rPr>
                  <a:t> </a:t>
                </a:r>
              </a:p>
              <a:p>
                <a14:m>
                  <m:oMath xmlns:m="http://schemas.openxmlformats.org/officeDocument/2006/math">
                    <m:sSub>
                      <m:sSubPr>
                        <m:ctrlPr>
                          <a:rPr lang="en-US" i="1" smtClean="0">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𝑎</m:t>
                            </m:r>
                          </m:e>
                        </m:acc>
                      </m:e>
                      <m:sub>
                        <m:r>
                          <a:rPr lang="en-US" b="0" i="1" smtClean="0">
                            <a:solidFill>
                              <a:srgbClr val="2F2F2F"/>
                            </a:solidFill>
                            <a:latin typeface="Cambria Math" panose="02040503050406030204" pitchFamily="18" charset="0"/>
                          </a:rPr>
                          <m:t>3</m:t>
                        </m:r>
                      </m:sub>
                    </m:sSub>
                    <m:r>
                      <a:rPr lang="en-US" b="0" i="1" smtClean="0">
                        <a:solidFill>
                          <a:srgbClr val="2F2F2F"/>
                        </a:solidFill>
                        <a:latin typeface="Cambria Math" panose="02040503050406030204" pitchFamily="18" charset="0"/>
                      </a:rPr>
                      <m:t>=</m:t>
                    </m:r>
                    <m:r>
                      <m:rPr>
                        <m:sty m:val="p"/>
                      </m:rPr>
                      <a:rPr lang="en-US" b="0" i="0" smtClean="0">
                        <a:solidFill>
                          <a:srgbClr val="2F2F2F"/>
                        </a:solidFill>
                        <a:latin typeface="Cambria Math" panose="02040503050406030204" pitchFamily="18" charset="0"/>
                      </a:rPr>
                      <m:t>Δ</m:t>
                    </m:r>
                    <m:r>
                      <a:rPr lang="en-US" b="0" i="1" smtClean="0">
                        <a:solidFill>
                          <a:srgbClr val="2F2F2F"/>
                        </a:solidFill>
                        <a:latin typeface="Cambria Math" panose="02040503050406030204" pitchFamily="18" charset="0"/>
                      </a:rPr>
                      <m:t>𝑡</m:t>
                    </m:r>
                    <m:sSup>
                      <m:sSupPr>
                        <m:ctrlPr>
                          <a:rPr lang="en-US" b="0" i="1" smtClean="0">
                            <a:solidFill>
                              <a:srgbClr val="2F2F2F"/>
                            </a:solidFill>
                            <a:latin typeface="Cambria Math" panose="02040503050406030204" pitchFamily="18" charset="0"/>
                          </a:rPr>
                        </m:ctrlPr>
                      </m:sSupPr>
                      <m:e>
                        <m:r>
                          <a:rPr lang="en-US" b="0" i="1" smtClean="0">
                            <a:solidFill>
                              <a:srgbClr val="2F2F2F"/>
                            </a:solidFill>
                            <a:latin typeface="Cambria Math" panose="02040503050406030204" pitchFamily="18" charset="0"/>
                          </a:rPr>
                          <m:t>𝐵</m:t>
                        </m:r>
                      </m:e>
                      <m:sup>
                        <m:r>
                          <a:rPr lang="en-US" b="0" i="1" smtClean="0">
                            <a:solidFill>
                              <a:srgbClr val="2F2F2F"/>
                            </a:solidFill>
                            <a:latin typeface="Cambria Math" panose="02040503050406030204" pitchFamily="18" charset="0"/>
                          </a:rPr>
                          <m:t>−1</m:t>
                        </m:r>
                      </m:sup>
                    </m:sSup>
                    <m:r>
                      <a:rPr lang="en-US" b="0" i="1" smtClean="0">
                        <a:solidFill>
                          <a:srgbClr val="2F2F2F"/>
                        </a:solidFill>
                        <a:latin typeface="Cambria Math" panose="02040503050406030204" pitchFamily="18" charset="0"/>
                        <a:ea typeface="Cambria Math" panose="02040503050406030204" pitchFamily="18" charset="0"/>
                      </a:rPr>
                      <m:t>∙</m:t>
                    </m:r>
                    <m:sSub>
                      <m:sSubPr>
                        <m:ctrlPr>
                          <a:rPr lang="en-US" i="1">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𝜔</m:t>
                            </m:r>
                          </m:e>
                        </m:acc>
                      </m:e>
                      <m:sub>
                        <m:r>
                          <a:rPr lang="en-US" b="0" i="1" smtClean="0">
                            <a:solidFill>
                              <a:srgbClr val="2F2F2F"/>
                            </a:solidFill>
                            <a:latin typeface="Cambria Math" panose="02040503050406030204" pitchFamily="18" charset="0"/>
                          </a:rPr>
                          <m:t>𝑓</m:t>
                        </m:r>
                      </m:sub>
                    </m:sSub>
                    <m:r>
                      <a:rPr lang="en-US" b="0" i="1" smtClean="0">
                        <a:solidFill>
                          <a:srgbClr val="2F2F2F"/>
                        </a:solidFill>
                        <a:latin typeface="Cambria Math" panose="02040503050406030204" pitchFamily="18" charset="0"/>
                      </a:rPr>
                      <m:t>−3</m:t>
                    </m:r>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𝑒</m:t>
                        </m:r>
                      </m:e>
                    </m:acc>
                    <m:r>
                      <m:rPr>
                        <m:sty m:val="p"/>
                      </m:rPr>
                      <a:rPr lang="en-US">
                        <a:solidFill>
                          <a:srgbClr val="2F2F2F"/>
                        </a:solidFill>
                        <a:latin typeface="Cambria Math" panose="02040503050406030204" pitchFamily="18" charset="0"/>
                      </a:rPr>
                      <m:t>Δ</m:t>
                    </m:r>
                    <m:r>
                      <a:rPr lang="en-US" i="1">
                        <a:solidFill>
                          <a:srgbClr val="2F2F2F"/>
                        </a:solidFill>
                        <a:latin typeface="Cambria Math" panose="02040503050406030204" pitchFamily="18" charset="0"/>
                      </a:rPr>
                      <m:t>𝜃</m:t>
                    </m:r>
                  </m:oMath>
                </a14:m>
                <a:r>
                  <a:rPr lang="en-US" b="0" dirty="0">
                    <a:solidFill>
                      <a:srgbClr val="2F2F2F"/>
                    </a:solidFill>
                  </a:rPr>
                  <a:t> </a:t>
                </a:r>
              </a:p>
              <a:p>
                <a14:m>
                  <m:oMath xmlns:m="http://schemas.openxmlformats.org/officeDocument/2006/math">
                    <m:sSub>
                      <m:sSubPr>
                        <m:ctrlPr>
                          <a:rPr lang="en-US" i="1">
                            <a:solidFill>
                              <a:srgbClr val="2F2F2F"/>
                            </a:solidFill>
                            <a:latin typeface="Cambria Math" panose="02040503050406030204" pitchFamily="18" charset="0"/>
                          </a:rPr>
                        </m:ctrlPr>
                      </m:sSubPr>
                      <m:e>
                        <m:acc>
                          <m:accPr>
                            <m:chr m:val="⃗"/>
                            <m:ctrlPr>
                              <a:rPr lang="en-US" i="1">
                                <a:solidFill>
                                  <a:srgbClr val="2F2F2F"/>
                                </a:solidFill>
                                <a:latin typeface="Cambria Math" panose="02040503050406030204" pitchFamily="18" charset="0"/>
                              </a:rPr>
                            </m:ctrlPr>
                          </m:accPr>
                          <m:e>
                            <m:r>
                              <a:rPr lang="en-US" i="1">
                                <a:solidFill>
                                  <a:srgbClr val="2F2F2F"/>
                                </a:solidFill>
                                <a:latin typeface="Cambria Math" panose="02040503050406030204" pitchFamily="18" charset="0"/>
                              </a:rPr>
                              <m:t>𝑎</m:t>
                            </m:r>
                          </m:e>
                        </m:acc>
                      </m:e>
                      <m:sub>
                        <m:r>
                          <a:rPr lang="en-US" b="0" i="1" smtClean="0">
                            <a:solidFill>
                              <a:srgbClr val="2F2F2F"/>
                            </a:solidFill>
                            <a:latin typeface="Cambria Math" panose="02040503050406030204" pitchFamily="18" charset="0"/>
                          </a:rPr>
                          <m:t>4</m:t>
                        </m:r>
                      </m:sub>
                    </m:sSub>
                    <m:r>
                      <a:rPr lang="en-US" b="0" i="1" smtClean="0">
                        <a:solidFill>
                          <a:srgbClr val="2F2F2F"/>
                        </a:solidFill>
                        <a:latin typeface="Cambria Math" panose="02040503050406030204" pitchFamily="18" charset="0"/>
                      </a:rPr>
                      <m:t>=</m:t>
                    </m:r>
                    <m:acc>
                      <m:accPr>
                        <m:chr m:val="̂"/>
                        <m:ctrlPr>
                          <a:rPr lang="en-US" b="0" i="1" smtClean="0">
                            <a:solidFill>
                              <a:srgbClr val="2F2F2F"/>
                            </a:solidFill>
                            <a:latin typeface="Cambria Math" panose="02040503050406030204" pitchFamily="18" charset="0"/>
                          </a:rPr>
                        </m:ctrlPr>
                      </m:accPr>
                      <m:e>
                        <m:r>
                          <a:rPr lang="en-US" b="0" i="1" smtClean="0">
                            <a:solidFill>
                              <a:srgbClr val="2F2F2F"/>
                            </a:solidFill>
                            <a:latin typeface="Cambria Math" panose="02040503050406030204" pitchFamily="18" charset="0"/>
                          </a:rPr>
                          <m:t>𝑒</m:t>
                        </m:r>
                      </m:e>
                    </m:acc>
                    <m:r>
                      <m:rPr>
                        <m:sty m:val="p"/>
                      </m:rPr>
                      <a:rPr lang="en-US" b="0" i="0" smtClean="0">
                        <a:solidFill>
                          <a:srgbClr val="2F2F2F"/>
                        </a:solidFill>
                        <a:latin typeface="Cambria Math" panose="02040503050406030204" pitchFamily="18" charset="0"/>
                      </a:rPr>
                      <m:t>Δ</m:t>
                    </m:r>
                    <m:r>
                      <a:rPr lang="en-US" b="0" i="1" smtClean="0">
                        <a:solidFill>
                          <a:srgbClr val="2F2F2F"/>
                        </a:solidFill>
                        <a:latin typeface="Cambria Math" panose="02040503050406030204" pitchFamily="18" charset="0"/>
                      </a:rPr>
                      <m:t>𝜃</m:t>
                    </m:r>
                  </m:oMath>
                </a14:m>
                <a:r>
                  <a:rPr lang="en-US" b="0" dirty="0">
                    <a:solidFill>
                      <a:srgbClr val="2F2F2F"/>
                    </a:solidFill>
                  </a:rPr>
                  <a:t> </a:t>
                </a:r>
              </a:p>
            </p:txBody>
          </p:sp>
        </mc:Choice>
        <mc:Fallback xmlns="">
          <p:sp>
            <p:nvSpPr>
              <p:cNvPr id="10" name="TextBox 9">
                <a:extLst>
                  <a:ext uri="{FF2B5EF4-FFF2-40B4-BE49-F238E27FC236}">
                    <a16:creationId xmlns:a16="http://schemas.microsoft.com/office/drawing/2014/main" id="{A9455379-0C65-A4B3-87B4-70588481EEE2}"/>
                  </a:ext>
                </a:extLst>
              </p:cNvPr>
              <p:cNvSpPr txBox="1">
                <a:spLocks noRot="1" noChangeAspect="1" noMove="1" noResize="1" noEditPoints="1" noAdjustHandles="1" noChangeArrowheads="1" noChangeShapeType="1" noTextEdit="1"/>
              </p:cNvSpPr>
              <p:nvPr/>
            </p:nvSpPr>
            <p:spPr>
              <a:xfrm>
                <a:off x="5906201" y="2573306"/>
                <a:ext cx="2797341" cy="1412181"/>
              </a:xfrm>
              <a:prstGeom prst="rect">
                <a:avLst/>
              </a:prstGeom>
              <a:blipFill>
                <a:blip r:embed="rId4"/>
                <a:stretch>
                  <a:fillRect l="-5229" t="-5603" b="-3017"/>
                </a:stretch>
              </a:blipFill>
            </p:spPr>
            <p:txBody>
              <a:bodyPr/>
              <a:lstStyle/>
              <a:p>
                <a:r>
                  <a:rPr lang="en-GB">
                    <a:noFill/>
                  </a:rPr>
                  <a:t> </a:t>
                </a:r>
              </a:p>
            </p:txBody>
          </p:sp>
        </mc:Fallback>
      </mc:AlternateContent>
      <p:pic>
        <p:nvPicPr>
          <p:cNvPr id="7" name="Picture 6">
            <a:extLst>
              <a:ext uri="{FF2B5EF4-FFF2-40B4-BE49-F238E27FC236}">
                <a16:creationId xmlns:a16="http://schemas.microsoft.com/office/drawing/2014/main" id="{39FE4E55-D860-4684-0372-6882FD54ED01}"/>
              </a:ext>
            </a:extLst>
          </p:cNvPr>
          <p:cNvPicPr>
            <a:picLocks noChangeAspect="1"/>
          </p:cNvPicPr>
          <p:nvPr/>
        </p:nvPicPr>
        <p:blipFill rotWithShape="1">
          <a:blip r:embed="rId5"/>
          <a:srcRect l="3689" r="1384" b="2673"/>
          <a:stretch/>
        </p:blipFill>
        <p:spPr>
          <a:xfrm>
            <a:off x="285335" y="1639137"/>
            <a:ext cx="5532582" cy="3907700"/>
          </a:xfrm>
          <a:prstGeom prst="rect">
            <a:avLst/>
          </a:prstGeom>
        </p:spPr>
      </p:pic>
      <p:cxnSp>
        <p:nvCxnSpPr>
          <p:cNvPr id="21" name="Straight Connector 20">
            <a:extLst>
              <a:ext uri="{FF2B5EF4-FFF2-40B4-BE49-F238E27FC236}">
                <a16:creationId xmlns:a16="http://schemas.microsoft.com/office/drawing/2014/main" id="{A6C2224C-2BEF-EEAE-6464-B3E2F86E2839}"/>
              </a:ext>
            </a:extLst>
          </p:cNvPr>
          <p:cNvCxnSpPr>
            <a:cxnSpLocks/>
          </p:cNvCxnSpPr>
          <p:nvPr/>
        </p:nvCxnSpPr>
        <p:spPr>
          <a:xfrm>
            <a:off x="2006607" y="1666875"/>
            <a:ext cx="0" cy="2775195"/>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397BB853-69E9-DF12-C5E5-B5BC0D92BCBB}"/>
              </a:ext>
            </a:extLst>
          </p:cNvPr>
          <p:cNvGrpSpPr/>
          <p:nvPr/>
        </p:nvGrpSpPr>
        <p:grpSpPr>
          <a:xfrm>
            <a:off x="958091" y="1748044"/>
            <a:ext cx="2131168" cy="312420"/>
            <a:chOff x="412776" y="2636520"/>
            <a:chExt cx="1621517" cy="312420"/>
          </a:xfrm>
          <a:effectLst>
            <a:outerShdw blurRad="50800" dist="38100" dir="2700000" algn="tl" rotWithShape="0">
              <a:prstClr val="black">
                <a:alpha val="40000"/>
              </a:prstClr>
            </a:outerShdw>
          </a:effectLst>
        </p:grpSpPr>
        <p:sp>
          <p:nvSpPr>
            <p:cNvPr id="23" name="Rectangle: Rounded Corners 22">
              <a:extLst>
                <a:ext uri="{FF2B5EF4-FFF2-40B4-BE49-F238E27FC236}">
                  <a16:creationId xmlns:a16="http://schemas.microsoft.com/office/drawing/2014/main" id="{A4FA6F8E-B2D1-E7B6-CA29-E1EDD30177A5}"/>
                </a:ext>
              </a:extLst>
            </p:cNvPr>
            <p:cNvSpPr/>
            <p:nvPr/>
          </p:nvSpPr>
          <p:spPr>
            <a:xfrm>
              <a:off x="412776" y="2636520"/>
              <a:ext cx="1621517" cy="312420"/>
            </a:xfrm>
            <a:prstGeom prst="round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7C69E49-9C7D-7A76-F55C-D313AC572579}"/>
                    </a:ext>
                  </a:extLst>
                </p:cNvPr>
                <p:cNvSpPr txBox="1"/>
                <p:nvPr/>
              </p:nvSpPr>
              <p:spPr>
                <a:xfrm>
                  <a:off x="431348" y="2661999"/>
                  <a:ext cx="1584372" cy="246221"/>
                </a:xfrm>
                <a:prstGeom prst="rect">
                  <a:avLst/>
                </a:prstGeom>
                <a:noFill/>
                <a:ln w="12700">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rgbClr val="FF0000"/>
                                </a:solidFill>
                                <a:latin typeface="Cambria Math" panose="02040503050406030204" pitchFamily="18" charset="0"/>
                              </a:rPr>
                            </m:ctrlPr>
                          </m:sSubPr>
                          <m:e>
                            <m:acc>
                              <m:accPr>
                                <m:chr m:val="̇"/>
                                <m:ctrlPr>
                                  <a:rPr lang="en-US" sz="1600" b="0" i="1" smtClean="0">
                                    <a:solidFill>
                                      <a:srgbClr val="FF0000"/>
                                    </a:solidFill>
                                    <a:latin typeface="Cambria Math" panose="02040503050406030204" pitchFamily="18" charset="0"/>
                                  </a:rPr>
                                </m:ctrlPr>
                              </m:accPr>
                              <m:e>
                                <m:r>
                                  <a:rPr lang="en-US" sz="1600" b="0" i="1" smtClean="0">
                                    <a:solidFill>
                                      <a:srgbClr val="FF0000"/>
                                    </a:solidFill>
                                    <a:latin typeface="Cambria Math" panose="02040503050406030204" pitchFamily="18" charset="0"/>
                                  </a:rPr>
                                  <m:t>𝑞</m:t>
                                </m:r>
                              </m:e>
                            </m:acc>
                          </m:e>
                          <m:sub>
                            <m:r>
                              <a:rPr lang="en-US" sz="1600" b="0" i="1" smtClean="0">
                                <a:solidFill>
                                  <a:srgbClr val="FF0000"/>
                                </a:solidFill>
                                <a:latin typeface="Cambria Math" panose="02040503050406030204" pitchFamily="18" charset="0"/>
                              </a:rPr>
                              <m:t>𝑖</m:t>
                            </m:r>
                          </m:sub>
                        </m:sSub>
                        <m:d>
                          <m:dPr>
                            <m:ctrlPr>
                              <a:rPr lang="en-US" sz="1600" b="0" i="1" smtClean="0">
                                <a:solidFill>
                                  <a:srgbClr val="FF0000"/>
                                </a:solidFill>
                                <a:latin typeface="Cambria Math" panose="02040503050406030204" pitchFamily="18" charset="0"/>
                              </a:rPr>
                            </m:ctrlPr>
                          </m:dPr>
                          <m:e>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𝑇</m:t>
                                </m:r>
                              </m:e>
                              <m:sub>
                                <m:r>
                                  <a:rPr lang="en-US" sz="1600" b="0" i="1" smtClean="0">
                                    <a:solidFill>
                                      <a:srgbClr val="FF0000"/>
                                    </a:solidFill>
                                    <a:latin typeface="Cambria Math" panose="02040503050406030204" pitchFamily="18" charset="0"/>
                                  </a:rPr>
                                  <m:t>𝑖</m:t>
                                </m:r>
                                <m:r>
                                  <a:rPr lang="en-US" sz="1600" b="0" i="1" smtClean="0">
                                    <a:solidFill>
                                      <a:srgbClr val="FF0000"/>
                                    </a:solidFill>
                                    <a:latin typeface="Cambria Math" panose="02040503050406030204" pitchFamily="18" charset="0"/>
                                  </a:rPr>
                                  <m:t>+1</m:t>
                                </m:r>
                              </m:sub>
                            </m:sSub>
                          </m:e>
                        </m:d>
                        <m:r>
                          <a:rPr lang="en-US" sz="1600" b="0" i="1" smtClean="0">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acc>
                              <m:accPr>
                                <m:chr m:val="̇"/>
                                <m:ctrlPr>
                                  <a:rPr lang="en-US" sz="1600" i="1" smtClean="0">
                                    <a:solidFill>
                                      <a:srgbClr val="FF0000"/>
                                    </a:solidFill>
                                    <a:latin typeface="Cambria Math" panose="02040503050406030204" pitchFamily="18" charset="0"/>
                                  </a:rPr>
                                </m:ctrlPr>
                              </m:accPr>
                              <m:e>
                                <m:r>
                                  <a:rPr lang="en-US" sz="1600" b="0" i="1" smtClean="0">
                                    <a:solidFill>
                                      <a:srgbClr val="FF0000"/>
                                    </a:solidFill>
                                    <a:latin typeface="Cambria Math" panose="02040503050406030204" pitchFamily="18" charset="0"/>
                                  </a:rPr>
                                  <m:t>𝑞</m:t>
                                </m:r>
                              </m:e>
                            </m:acc>
                          </m:e>
                          <m:sub>
                            <m:r>
                              <a:rPr lang="en-US" sz="1600" b="0" i="1" smtClean="0">
                                <a:solidFill>
                                  <a:srgbClr val="FF0000"/>
                                </a:solidFill>
                                <a:latin typeface="Cambria Math" panose="02040503050406030204" pitchFamily="18" charset="0"/>
                              </a:rPr>
                              <m:t>𝑖</m:t>
                            </m:r>
                            <m:r>
                              <a:rPr lang="en-US" sz="1600" b="0" i="1" smtClean="0">
                                <a:solidFill>
                                  <a:srgbClr val="FF0000"/>
                                </a:solidFill>
                                <a:latin typeface="Cambria Math" panose="02040503050406030204" pitchFamily="18" charset="0"/>
                              </a:rPr>
                              <m:t>+1</m:t>
                            </m:r>
                          </m:sub>
                        </m:sSub>
                        <m:d>
                          <m:dPr>
                            <m:ctrlPr>
                              <a:rPr lang="en-US" sz="1600" b="0" i="1" smtClean="0">
                                <a:solidFill>
                                  <a:srgbClr val="FF0000"/>
                                </a:solidFill>
                                <a:latin typeface="Cambria Math" panose="02040503050406030204" pitchFamily="18" charset="0"/>
                              </a:rPr>
                            </m:ctrlPr>
                          </m:dPr>
                          <m:e>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𝑇</m:t>
                                </m:r>
                              </m:e>
                              <m:sub>
                                <m:r>
                                  <a:rPr lang="en-US" sz="1600" b="0" i="1" smtClean="0">
                                    <a:solidFill>
                                      <a:srgbClr val="FF0000"/>
                                    </a:solidFill>
                                    <a:latin typeface="Cambria Math" panose="02040503050406030204" pitchFamily="18" charset="0"/>
                                  </a:rPr>
                                  <m:t>𝑖</m:t>
                                </m:r>
                                <m:r>
                                  <a:rPr lang="en-US" sz="1600" b="0" i="1" smtClean="0">
                                    <a:solidFill>
                                      <a:srgbClr val="FF0000"/>
                                    </a:solidFill>
                                    <a:latin typeface="Cambria Math" panose="02040503050406030204" pitchFamily="18" charset="0"/>
                                  </a:rPr>
                                  <m:t>+1</m:t>
                                </m:r>
                              </m:sub>
                            </m:sSub>
                          </m:e>
                        </m:d>
                      </m:oMath>
                    </m:oMathPara>
                  </a14:m>
                  <a:endParaRPr lang="en-US" sz="1600" b="0" dirty="0">
                    <a:solidFill>
                      <a:srgbClr val="FF0000"/>
                    </a:solidFill>
                  </a:endParaRPr>
                </a:p>
              </p:txBody>
            </p:sp>
          </mc:Choice>
          <mc:Fallback xmlns="">
            <p:sp>
              <p:nvSpPr>
                <p:cNvPr id="24" name="TextBox 23">
                  <a:extLst>
                    <a:ext uri="{FF2B5EF4-FFF2-40B4-BE49-F238E27FC236}">
                      <a16:creationId xmlns:a16="http://schemas.microsoft.com/office/drawing/2014/main" id="{37C69E49-9C7D-7A76-F55C-D313AC572579}"/>
                    </a:ext>
                  </a:extLst>
                </p:cNvPr>
                <p:cNvSpPr txBox="1">
                  <a:spLocks noRot="1" noChangeAspect="1" noMove="1" noResize="1" noEditPoints="1" noAdjustHandles="1" noChangeArrowheads="1" noChangeShapeType="1" noTextEdit="1"/>
                </p:cNvSpPr>
                <p:nvPr/>
              </p:nvSpPr>
              <p:spPr>
                <a:xfrm>
                  <a:off x="431348" y="2661999"/>
                  <a:ext cx="1584372" cy="246221"/>
                </a:xfrm>
                <a:prstGeom prst="rect">
                  <a:avLst/>
                </a:prstGeom>
                <a:blipFill>
                  <a:blip r:embed="rId6"/>
                  <a:stretch>
                    <a:fillRect t="-2500" b="-27500"/>
                  </a:stretch>
                </a:blipFill>
                <a:ln w="12700">
                  <a:noFill/>
                </a:ln>
              </p:spPr>
              <p:txBody>
                <a:bodyPr/>
                <a:lstStyle/>
                <a:p>
                  <a:r>
                    <a:rPr lang="en-GB">
                      <a:noFill/>
                    </a:rPr>
                    <a:t> </a:t>
                  </a:r>
                </a:p>
              </p:txBody>
            </p:sp>
          </mc:Fallback>
        </mc:AlternateContent>
      </p:grpSp>
      <p:grpSp>
        <p:nvGrpSpPr>
          <p:cNvPr id="33" name="Group 32">
            <a:extLst>
              <a:ext uri="{FF2B5EF4-FFF2-40B4-BE49-F238E27FC236}">
                <a16:creationId xmlns:a16="http://schemas.microsoft.com/office/drawing/2014/main" id="{E37A1748-B9F1-9E3F-6D87-DF91FB6E40CB}"/>
              </a:ext>
            </a:extLst>
          </p:cNvPr>
          <p:cNvGrpSpPr/>
          <p:nvPr/>
        </p:nvGrpSpPr>
        <p:grpSpPr>
          <a:xfrm>
            <a:off x="948166" y="2317166"/>
            <a:ext cx="2131168" cy="312420"/>
            <a:chOff x="412776" y="2636520"/>
            <a:chExt cx="1621517" cy="312420"/>
          </a:xfrm>
          <a:effectLst>
            <a:outerShdw blurRad="50800" dist="38100" dir="2700000" algn="tl" rotWithShape="0">
              <a:prstClr val="black">
                <a:alpha val="40000"/>
              </a:prstClr>
            </a:outerShdw>
          </a:effectLst>
        </p:grpSpPr>
        <p:sp>
          <p:nvSpPr>
            <p:cNvPr id="34" name="Rectangle: Rounded Corners 33">
              <a:extLst>
                <a:ext uri="{FF2B5EF4-FFF2-40B4-BE49-F238E27FC236}">
                  <a16:creationId xmlns:a16="http://schemas.microsoft.com/office/drawing/2014/main" id="{6F39DEA1-D863-08CF-AF38-CFB25BA9B09C}"/>
                </a:ext>
              </a:extLst>
            </p:cNvPr>
            <p:cNvSpPr/>
            <p:nvPr/>
          </p:nvSpPr>
          <p:spPr>
            <a:xfrm>
              <a:off x="412776" y="2636520"/>
              <a:ext cx="1621517" cy="312420"/>
            </a:xfrm>
            <a:prstGeom prst="round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2C6F565-F12D-9161-2E9B-13957647CCCA}"/>
                    </a:ext>
                  </a:extLst>
                </p:cNvPr>
                <p:cNvSpPr txBox="1"/>
                <p:nvPr/>
              </p:nvSpPr>
              <p:spPr>
                <a:xfrm>
                  <a:off x="431348" y="2661999"/>
                  <a:ext cx="1584372" cy="246221"/>
                </a:xfrm>
                <a:prstGeom prst="rect">
                  <a:avLst/>
                </a:prstGeom>
                <a:noFill/>
                <a:ln w="12700">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rgbClr val="FF0000"/>
                                </a:solidFill>
                                <a:latin typeface="Cambria Math" panose="02040503050406030204" pitchFamily="18" charset="0"/>
                              </a:rPr>
                            </m:ctrlPr>
                          </m:sSubPr>
                          <m:e>
                            <m:acc>
                              <m:accPr>
                                <m:chr m:val="̈"/>
                                <m:ctrlPr>
                                  <a:rPr lang="en-US" sz="1600" b="0" i="1" smtClean="0">
                                    <a:solidFill>
                                      <a:srgbClr val="FF0000"/>
                                    </a:solidFill>
                                    <a:latin typeface="Cambria Math" panose="02040503050406030204" pitchFamily="18" charset="0"/>
                                  </a:rPr>
                                </m:ctrlPr>
                              </m:accPr>
                              <m:e>
                                <m:r>
                                  <a:rPr lang="en-US" sz="1600" b="0" i="1" smtClean="0">
                                    <a:solidFill>
                                      <a:srgbClr val="FF0000"/>
                                    </a:solidFill>
                                    <a:latin typeface="Cambria Math" panose="02040503050406030204" pitchFamily="18" charset="0"/>
                                  </a:rPr>
                                  <m:t>𝑞</m:t>
                                </m:r>
                              </m:e>
                            </m:acc>
                          </m:e>
                          <m:sub>
                            <m:r>
                              <a:rPr lang="en-US" sz="1600" b="0" i="1" smtClean="0">
                                <a:solidFill>
                                  <a:srgbClr val="FF0000"/>
                                </a:solidFill>
                                <a:latin typeface="Cambria Math" panose="02040503050406030204" pitchFamily="18" charset="0"/>
                              </a:rPr>
                              <m:t>𝑖</m:t>
                            </m:r>
                          </m:sub>
                        </m:sSub>
                        <m:d>
                          <m:dPr>
                            <m:ctrlPr>
                              <a:rPr lang="en-US" sz="1600" b="0" i="1" smtClean="0">
                                <a:solidFill>
                                  <a:srgbClr val="FF0000"/>
                                </a:solidFill>
                                <a:latin typeface="Cambria Math" panose="02040503050406030204" pitchFamily="18" charset="0"/>
                              </a:rPr>
                            </m:ctrlPr>
                          </m:dPr>
                          <m:e>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𝑇</m:t>
                                </m:r>
                              </m:e>
                              <m:sub>
                                <m:r>
                                  <a:rPr lang="en-US" sz="1600" b="0" i="1" smtClean="0">
                                    <a:solidFill>
                                      <a:srgbClr val="FF0000"/>
                                    </a:solidFill>
                                    <a:latin typeface="Cambria Math" panose="02040503050406030204" pitchFamily="18" charset="0"/>
                                  </a:rPr>
                                  <m:t>𝑖</m:t>
                                </m:r>
                                <m:r>
                                  <a:rPr lang="en-US" sz="1600" b="0" i="1" smtClean="0">
                                    <a:solidFill>
                                      <a:srgbClr val="FF0000"/>
                                    </a:solidFill>
                                    <a:latin typeface="Cambria Math" panose="02040503050406030204" pitchFamily="18" charset="0"/>
                                  </a:rPr>
                                  <m:t>+1</m:t>
                                </m:r>
                              </m:sub>
                            </m:sSub>
                          </m:e>
                        </m:d>
                        <m:r>
                          <a:rPr lang="en-US" sz="1600" b="0" i="1" smtClean="0">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acc>
                              <m:accPr>
                                <m:chr m:val="̈"/>
                                <m:ctrlPr>
                                  <a:rPr lang="en-US" sz="1600" i="1">
                                    <a:solidFill>
                                      <a:srgbClr val="FF0000"/>
                                    </a:solidFill>
                                    <a:latin typeface="Cambria Math" panose="02040503050406030204" pitchFamily="18" charset="0"/>
                                  </a:rPr>
                                </m:ctrlPr>
                              </m:accPr>
                              <m:e>
                                <m:r>
                                  <a:rPr lang="en-US" sz="1600" b="0" i="1" smtClean="0">
                                    <a:solidFill>
                                      <a:srgbClr val="FF0000"/>
                                    </a:solidFill>
                                    <a:latin typeface="Cambria Math" panose="02040503050406030204" pitchFamily="18" charset="0"/>
                                  </a:rPr>
                                  <m:t>𝑞</m:t>
                                </m:r>
                              </m:e>
                            </m:acc>
                          </m:e>
                          <m:sub>
                            <m:r>
                              <a:rPr lang="en-US" sz="1600" b="0" i="1" smtClean="0">
                                <a:solidFill>
                                  <a:srgbClr val="FF0000"/>
                                </a:solidFill>
                                <a:latin typeface="Cambria Math" panose="02040503050406030204" pitchFamily="18" charset="0"/>
                              </a:rPr>
                              <m:t>𝑖</m:t>
                            </m:r>
                            <m:r>
                              <a:rPr lang="en-US" sz="1600" b="0" i="1" smtClean="0">
                                <a:solidFill>
                                  <a:srgbClr val="FF0000"/>
                                </a:solidFill>
                                <a:latin typeface="Cambria Math" panose="02040503050406030204" pitchFamily="18" charset="0"/>
                              </a:rPr>
                              <m:t>+1</m:t>
                            </m:r>
                          </m:sub>
                        </m:sSub>
                        <m:d>
                          <m:dPr>
                            <m:ctrlPr>
                              <a:rPr lang="en-US" sz="1600" b="0" i="1" smtClean="0">
                                <a:solidFill>
                                  <a:srgbClr val="FF0000"/>
                                </a:solidFill>
                                <a:latin typeface="Cambria Math" panose="02040503050406030204" pitchFamily="18" charset="0"/>
                              </a:rPr>
                            </m:ctrlPr>
                          </m:dPr>
                          <m:e>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𝑇</m:t>
                                </m:r>
                              </m:e>
                              <m:sub>
                                <m:r>
                                  <a:rPr lang="en-US" sz="1600" b="0" i="1" smtClean="0">
                                    <a:solidFill>
                                      <a:srgbClr val="FF0000"/>
                                    </a:solidFill>
                                    <a:latin typeface="Cambria Math" panose="02040503050406030204" pitchFamily="18" charset="0"/>
                                  </a:rPr>
                                  <m:t>𝑖</m:t>
                                </m:r>
                                <m:r>
                                  <a:rPr lang="en-US" sz="1600" b="0" i="1" smtClean="0">
                                    <a:solidFill>
                                      <a:srgbClr val="FF0000"/>
                                    </a:solidFill>
                                    <a:latin typeface="Cambria Math" panose="02040503050406030204" pitchFamily="18" charset="0"/>
                                  </a:rPr>
                                  <m:t>+1</m:t>
                                </m:r>
                              </m:sub>
                            </m:sSub>
                          </m:e>
                        </m:d>
                      </m:oMath>
                    </m:oMathPara>
                  </a14:m>
                  <a:endParaRPr lang="en-US" sz="1600" b="0" dirty="0">
                    <a:solidFill>
                      <a:srgbClr val="FF0000"/>
                    </a:solidFill>
                  </a:endParaRPr>
                </a:p>
              </p:txBody>
            </p:sp>
          </mc:Choice>
          <mc:Fallback xmlns="">
            <p:sp>
              <p:nvSpPr>
                <p:cNvPr id="35" name="TextBox 34">
                  <a:extLst>
                    <a:ext uri="{FF2B5EF4-FFF2-40B4-BE49-F238E27FC236}">
                      <a16:creationId xmlns:a16="http://schemas.microsoft.com/office/drawing/2014/main" id="{72C6F565-F12D-9161-2E9B-13957647CCCA}"/>
                    </a:ext>
                  </a:extLst>
                </p:cNvPr>
                <p:cNvSpPr txBox="1">
                  <a:spLocks noRot="1" noChangeAspect="1" noMove="1" noResize="1" noEditPoints="1" noAdjustHandles="1" noChangeArrowheads="1" noChangeShapeType="1" noTextEdit="1"/>
                </p:cNvSpPr>
                <p:nvPr/>
              </p:nvSpPr>
              <p:spPr>
                <a:xfrm>
                  <a:off x="431348" y="2661999"/>
                  <a:ext cx="1584372" cy="246221"/>
                </a:xfrm>
                <a:prstGeom prst="rect">
                  <a:avLst/>
                </a:prstGeom>
                <a:blipFill>
                  <a:blip r:embed="rId7"/>
                  <a:stretch>
                    <a:fillRect b="-24390"/>
                  </a:stretch>
                </a:blipFill>
                <a:ln w="12700">
                  <a:noFill/>
                </a:ln>
              </p:spPr>
              <p:txBody>
                <a:bodyPr/>
                <a:lstStyle/>
                <a:p>
                  <a:r>
                    <a:rPr lang="en-GB">
                      <a:noFill/>
                    </a:rPr>
                    <a:t> </a:t>
                  </a:r>
                </a:p>
              </p:txBody>
            </p:sp>
          </mc:Fallback>
        </mc:AlternateContent>
      </p:grpSp>
      <p:sp>
        <p:nvSpPr>
          <p:cNvPr id="8" name="TextBox 7">
            <a:extLst>
              <a:ext uri="{FF2B5EF4-FFF2-40B4-BE49-F238E27FC236}">
                <a16:creationId xmlns:a16="http://schemas.microsoft.com/office/drawing/2014/main" id="{115F8FF5-7F6E-EF21-4F12-F8ED9D141F4D}"/>
              </a:ext>
            </a:extLst>
          </p:cNvPr>
          <p:cNvSpPr txBox="1"/>
          <p:nvPr/>
        </p:nvSpPr>
        <p:spPr>
          <a:xfrm>
            <a:off x="948166" y="1311163"/>
            <a:ext cx="2082348" cy="246221"/>
          </a:xfrm>
          <a:prstGeom prst="rect">
            <a:avLst/>
          </a:prstGeom>
          <a:noFill/>
          <a:ln w="12700">
            <a:noFill/>
          </a:ln>
        </p:spPr>
        <p:txBody>
          <a:bodyPr wrap="square" lIns="0" tIns="0" rIns="0" bIns="0" rtlCol="0">
            <a:spAutoFit/>
          </a:bodyPr>
          <a:lstStyle/>
          <a:p>
            <a:pPr algn="ctr"/>
            <a:r>
              <a:rPr lang="en-US" sz="1600" b="0" dirty="0">
                <a:solidFill>
                  <a:srgbClr val="FF0000"/>
                </a:solidFill>
              </a:rPr>
              <a:t>Iterative algorithm</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7DAEAA6-35C6-D426-FAF1-203521C145E1}"/>
                  </a:ext>
                </a:extLst>
              </p:cNvPr>
              <p:cNvSpPr txBox="1"/>
              <p:nvPr/>
            </p:nvSpPr>
            <p:spPr>
              <a:xfrm>
                <a:off x="1118601" y="5139236"/>
                <a:ext cx="733647" cy="181268"/>
              </a:xfrm>
              <a:prstGeom prst="rect">
                <a:avLst/>
              </a:prstGeom>
              <a:solidFill>
                <a:schemeClr val="bg1"/>
              </a:solid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AU" sz="1050" b="0" i="1" smtClean="0">
                              <a:solidFill>
                                <a:srgbClr val="2F2F2F"/>
                              </a:solidFill>
                              <a:latin typeface="Cambria Math" panose="02040503050406030204" pitchFamily="18" charset="0"/>
                            </a:rPr>
                          </m:ctrlPr>
                        </m:sSubPr>
                        <m:e>
                          <m:acc>
                            <m:accPr>
                              <m:chr m:val="⃗"/>
                              <m:ctrlPr>
                                <a:rPr lang="en-AU" sz="1050" i="1" smtClean="0">
                                  <a:solidFill>
                                    <a:srgbClr val="2F2F2F"/>
                                  </a:solidFill>
                                  <a:latin typeface="Cambria Math" panose="02040503050406030204" pitchFamily="18" charset="0"/>
                                </a:rPr>
                              </m:ctrlPr>
                            </m:accPr>
                            <m:e>
                              <m:r>
                                <a:rPr lang="en-AU" sz="1050" b="0" i="1" smtClean="0">
                                  <a:solidFill>
                                    <a:srgbClr val="2F2F2F"/>
                                  </a:solidFill>
                                  <a:latin typeface="Cambria Math" panose="02040503050406030204" pitchFamily="18" charset="0"/>
                                </a:rPr>
                                <m:t>𝑅</m:t>
                              </m:r>
                            </m:e>
                          </m:acc>
                        </m:e>
                        <m:sub>
                          <m:r>
                            <a:rPr lang="en-AU" sz="1050" b="0" i="1" smtClean="0">
                              <a:solidFill>
                                <a:srgbClr val="2F2F2F"/>
                              </a:solidFill>
                              <a:latin typeface="Cambria Math" panose="02040503050406030204" pitchFamily="18" charset="0"/>
                            </a:rPr>
                            <m:t>1</m:t>
                          </m:r>
                        </m:sub>
                      </m:sSub>
                      <m:d>
                        <m:dPr>
                          <m:ctrlPr>
                            <a:rPr lang="en-AU" sz="1050" b="0" i="1" smtClean="0">
                              <a:solidFill>
                                <a:srgbClr val="2F2F2F"/>
                              </a:solidFill>
                              <a:latin typeface="Cambria Math" panose="02040503050406030204" pitchFamily="18" charset="0"/>
                            </a:rPr>
                          </m:ctrlPr>
                        </m:dPr>
                        <m:e>
                          <m:r>
                            <a:rPr lang="en-AU" sz="1050" b="0" i="1" smtClean="0">
                              <a:solidFill>
                                <a:srgbClr val="2F2F2F"/>
                              </a:solidFill>
                              <a:latin typeface="Cambria Math" panose="02040503050406030204" pitchFamily="18" charset="0"/>
                            </a:rPr>
                            <m:t>𝑡</m:t>
                          </m:r>
                        </m:e>
                      </m:d>
                    </m:oMath>
                  </m:oMathPara>
                </a14:m>
                <a:endParaRPr lang="en-AU" sz="1050" dirty="0">
                  <a:solidFill>
                    <a:srgbClr val="2F2F2F"/>
                  </a:solidFill>
                </a:endParaRPr>
              </a:p>
            </p:txBody>
          </p:sp>
        </mc:Choice>
        <mc:Fallback xmlns="">
          <p:sp>
            <p:nvSpPr>
              <p:cNvPr id="11" name="TextBox 10">
                <a:extLst>
                  <a:ext uri="{FF2B5EF4-FFF2-40B4-BE49-F238E27FC236}">
                    <a16:creationId xmlns:a16="http://schemas.microsoft.com/office/drawing/2014/main" id="{67DAEAA6-35C6-D426-FAF1-203521C145E1}"/>
                  </a:ext>
                </a:extLst>
              </p:cNvPr>
              <p:cNvSpPr txBox="1">
                <a:spLocks noRot="1" noChangeAspect="1" noMove="1" noResize="1" noEditPoints="1" noAdjustHandles="1" noChangeArrowheads="1" noChangeShapeType="1" noTextEdit="1"/>
              </p:cNvSpPr>
              <p:nvPr/>
            </p:nvSpPr>
            <p:spPr>
              <a:xfrm>
                <a:off x="1118601" y="5139236"/>
                <a:ext cx="733647" cy="181268"/>
              </a:xfrm>
              <a:prstGeom prst="rect">
                <a:avLst/>
              </a:prstGeom>
              <a:blipFill>
                <a:blip r:embed="rId3"/>
                <a:stretch>
                  <a:fillRect b="-13333"/>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A27E20A-A024-0AB8-842C-B2F8983B3ACE}"/>
                  </a:ext>
                </a:extLst>
              </p:cNvPr>
              <p:cNvSpPr txBox="1"/>
              <p:nvPr/>
            </p:nvSpPr>
            <p:spPr>
              <a:xfrm>
                <a:off x="2188607" y="5143170"/>
                <a:ext cx="733647" cy="181268"/>
              </a:xfrm>
              <a:prstGeom prst="rect">
                <a:avLst/>
              </a:prstGeom>
              <a:solidFill>
                <a:schemeClr val="bg1"/>
              </a:solid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AU" sz="1050" b="0" i="1" smtClean="0">
                              <a:solidFill>
                                <a:srgbClr val="2F2F2F"/>
                              </a:solidFill>
                              <a:latin typeface="Cambria Math" panose="02040503050406030204" pitchFamily="18" charset="0"/>
                            </a:rPr>
                          </m:ctrlPr>
                        </m:sSubPr>
                        <m:e>
                          <m:acc>
                            <m:accPr>
                              <m:chr m:val="⃗"/>
                              <m:ctrlPr>
                                <a:rPr lang="en-AU" sz="1050" i="1" smtClean="0">
                                  <a:solidFill>
                                    <a:srgbClr val="2F2F2F"/>
                                  </a:solidFill>
                                  <a:latin typeface="Cambria Math" panose="02040503050406030204" pitchFamily="18" charset="0"/>
                                </a:rPr>
                              </m:ctrlPr>
                            </m:accPr>
                            <m:e>
                              <m:r>
                                <a:rPr lang="en-AU" sz="1050" b="0" i="1" smtClean="0">
                                  <a:solidFill>
                                    <a:srgbClr val="2F2F2F"/>
                                  </a:solidFill>
                                  <a:latin typeface="Cambria Math" panose="02040503050406030204" pitchFamily="18" charset="0"/>
                                </a:rPr>
                                <m:t>𝑅</m:t>
                              </m:r>
                            </m:e>
                          </m:acc>
                        </m:e>
                        <m:sub>
                          <m:r>
                            <a:rPr lang="en-AU" sz="1050" b="0" i="1" smtClean="0">
                              <a:solidFill>
                                <a:srgbClr val="2F2F2F"/>
                              </a:solidFill>
                              <a:latin typeface="Cambria Math" panose="02040503050406030204" pitchFamily="18" charset="0"/>
                            </a:rPr>
                            <m:t>2</m:t>
                          </m:r>
                        </m:sub>
                      </m:sSub>
                      <m:d>
                        <m:dPr>
                          <m:ctrlPr>
                            <a:rPr lang="en-AU" sz="1050" b="0" i="1" smtClean="0">
                              <a:solidFill>
                                <a:srgbClr val="2F2F2F"/>
                              </a:solidFill>
                              <a:latin typeface="Cambria Math" panose="02040503050406030204" pitchFamily="18" charset="0"/>
                            </a:rPr>
                          </m:ctrlPr>
                        </m:dPr>
                        <m:e>
                          <m:r>
                            <a:rPr lang="en-AU" sz="1050" b="0" i="1" smtClean="0">
                              <a:solidFill>
                                <a:srgbClr val="2F2F2F"/>
                              </a:solidFill>
                              <a:latin typeface="Cambria Math" panose="02040503050406030204" pitchFamily="18" charset="0"/>
                            </a:rPr>
                            <m:t>𝑡</m:t>
                          </m:r>
                        </m:e>
                      </m:d>
                    </m:oMath>
                  </m:oMathPara>
                </a14:m>
                <a:endParaRPr lang="en-AU" sz="1050" dirty="0">
                  <a:solidFill>
                    <a:srgbClr val="2F2F2F"/>
                  </a:solidFill>
                </a:endParaRPr>
              </a:p>
            </p:txBody>
          </p:sp>
        </mc:Choice>
        <mc:Fallback xmlns="">
          <p:sp>
            <p:nvSpPr>
              <p:cNvPr id="12" name="TextBox 11">
                <a:extLst>
                  <a:ext uri="{FF2B5EF4-FFF2-40B4-BE49-F238E27FC236}">
                    <a16:creationId xmlns:a16="http://schemas.microsoft.com/office/drawing/2014/main" id="{EA27E20A-A024-0AB8-842C-B2F8983B3ACE}"/>
                  </a:ext>
                </a:extLst>
              </p:cNvPr>
              <p:cNvSpPr txBox="1">
                <a:spLocks noRot="1" noChangeAspect="1" noMove="1" noResize="1" noEditPoints="1" noAdjustHandles="1" noChangeArrowheads="1" noChangeShapeType="1" noTextEdit="1"/>
              </p:cNvSpPr>
              <p:nvPr/>
            </p:nvSpPr>
            <p:spPr>
              <a:xfrm>
                <a:off x="2188607" y="5143170"/>
                <a:ext cx="733647" cy="181268"/>
              </a:xfrm>
              <a:prstGeom prst="rect">
                <a:avLst/>
              </a:prstGeom>
              <a:blipFill>
                <a:blip r:embed="rId4"/>
                <a:stretch>
                  <a:fillRect b="-13793"/>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F9CAD33-B16C-1653-5FD7-478FA469C21A}"/>
                  </a:ext>
                </a:extLst>
              </p:cNvPr>
              <p:cNvSpPr txBox="1"/>
              <p:nvPr/>
            </p:nvSpPr>
            <p:spPr>
              <a:xfrm>
                <a:off x="3281703" y="5143941"/>
                <a:ext cx="733647" cy="181268"/>
              </a:xfrm>
              <a:prstGeom prst="rect">
                <a:avLst/>
              </a:prstGeom>
              <a:solidFill>
                <a:schemeClr val="bg1"/>
              </a:solid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AU" sz="1050" b="0" i="1" smtClean="0">
                              <a:solidFill>
                                <a:srgbClr val="2F2F2F"/>
                              </a:solidFill>
                              <a:latin typeface="Cambria Math" panose="02040503050406030204" pitchFamily="18" charset="0"/>
                            </a:rPr>
                          </m:ctrlPr>
                        </m:sSubPr>
                        <m:e>
                          <m:acc>
                            <m:accPr>
                              <m:chr m:val="⃗"/>
                              <m:ctrlPr>
                                <a:rPr lang="en-AU" sz="1050" i="1" smtClean="0">
                                  <a:solidFill>
                                    <a:srgbClr val="2F2F2F"/>
                                  </a:solidFill>
                                  <a:latin typeface="Cambria Math" panose="02040503050406030204" pitchFamily="18" charset="0"/>
                                </a:rPr>
                              </m:ctrlPr>
                            </m:accPr>
                            <m:e>
                              <m:r>
                                <a:rPr lang="en-AU" sz="1050" b="0" i="1" smtClean="0">
                                  <a:solidFill>
                                    <a:srgbClr val="2F2F2F"/>
                                  </a:solidFill>
                                  <a:latin typeface="Cambria Math" panose="02040503050406030204" pitchFamily="18" charset="0"/>
                                </a:rPr>
                                <m:t>𝑅</m:t>
                              </m:r>
                            </m:e>
                          </m:acc>
                        </m:e>
                        <m:sub>
                          <m:r>
                            <a:rPr lang="en-AU" sz="1050" b="0" i="1" smtClean="0">
                              <a:solidFill>
                                <a:srgbClr val="2F2F2F"/>
                              </a:solidFill>
                              <a:latin typeface="Cambria Math" panose="02040503050406030204" pitchFamily="18" charset="0"/>
                            </a:rPr>
                            <m:t>3</m:t>
                          </m:r>
                        </m:sub>
                      </m:sSub>
                      <m:d>
                        <m:dPr>
                          <m:ctrlPr>
                            <a:rPr lang="en-AU" sz="1050" b="0" i="1" smtClean="0">
                              <a:solidFill>
                                <a:srgbClr val="2F2F2F"/>
                              </a:solidFill>
                              <a:latin typeface="Cambria Math" panose="02040503050406030204" pitchFamily="18" charset="0"/>
                            </a:rPr>
                          </m:ctrlPr>
                        </m:dPr>
                        <m:e>
                          <m:r>
                            <a:rPr lang="en-AU" sz="1050" b="0" i="1" smtClean="0">
                              <a:solidFill>
                                <a:srgbClr val="2F2F2F"/>
                              </a:solidFill>
                              <a:latin typeface="Cambria Math" panose="02040503050406030204" pitchFamily="18" charset="0"/>
                            </a:rPr>
                            <m:t>𝑡</m:t>
                          </m:r>
                        </m:e>
                      </m:d>
                    </m:oMath>
                  </m:oMathPara>
                </a14:m>
                <a:endParaRPr lang="en-AU" sz="1050" dirty="0">
                  <a:solidFill>
                    <a:srgbClr val="2F2F2F"/>
                  </a:solidFill>
                </a:endParaRPr>
              </a:p>
            </p:txBody>
          </p:sp>
        </mc:Choice>
        <mc:Fallback xmlns="">
          <p:sp>
            <p:nvSpPr>
              <p:cNvPr id="13" name="TextBox 12">
                <a:extLst>
                  <a:ext uri="{FF2B5EF4-FFF2-40B4-BE49-F238E27FC236}">
                    <a16:creationId xmlns:a16="http://schemas.microsoft.com/office/drawing/2014/main" id="{DF9CAD33-B16C-1653-5FD7-478FA469C21A}"/>
                  </a:ext>
                </a:extLst>
              </p:cNvPr>
              <p:cNvSpPr txBox="1">
                <a:spLocks noRot="1" noChangeAspect="1" noMove="1" noResize="1" noEditPoints="1" noAdjustHandles="1" noChangeArrowheads="1" noChangeShapeType="1" noTextEdit="1"/>
              </p:cNvSpPr>
              <p:nvPr/>
            </p:nvSpPr>
            <p:spPr>
              <a:xfrm>
                <a:off x="3281703" y="5143941"/>
                <a:ext cx="733647" cy="181268"/>
              </a:xfrm>
              <a:prstGeom prst="rect">
                <a:avLst/>
              </a:prstGeom>
              <a:blipFill>
                <a:blip r:embed="rId8"/>
                <a:stretch>
                  <a:fillRect b="-10000"/>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474849F-B067-7F59-9CCA-FD7B1B46A729}"/>
                  </a:ext>
                </a:extLst>
              </p:cNvPr>
              <p:cNvSpPr txBox="1"/>
              <p:nvPr/>
            </p:nvSpPr>
            <p:spPr>
              <a:xfrm>
                <a:off x="4328254" y="5143170"/>
                <a:ext cx="733647" cy="181268"/>
              </a:xfrm>
              <a:prstGeom prst="rect">
                <a:avLst/>
              </a:prstGeom>
              <a:solidFill>
                <a:schemeClr val="bg1"/>
              </a:solid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AU" sz="1050" b="0" i="1" smtClean="0">
                              <a:solidFill>
                                <a:srgbClr val="2F2F2F"/>
                              </a:solidFill>
                              <a:latin typeface="Cambria Math" panose="02040503050406030204" pitchFamily="18" charset="0"/>
                            </a:rPr>
                          </m:ctrlPr>
                        </m:sSubPr>
                        <m:e>
                          <m:acc>
                            <m:accPr>
                              <m:chr m:val="⃗"/>
                              <m:ctrlPr>
                                <a:rPr lang="en-AU" sz="1050" i="1" smtClean="0">
                                  <a:solidFill>
                                    <a:srgbClr val="2F2F2F"/>
                                  </a:solidFill>
                                  <a:latin typeface="Cambria Math" panose="02040503050406030204" pitchFamily="18" charset="0"/>
                                </a:rPr>
                              </m:ctrlPr>
                            </m:accPr>
                            <m:e>
                              <m:r>
                                <a:rPr lang="en-AU" sz="1050" b="0" i="1" smtClean="0">
                                  <a:solidFill>
                                    <a:srgbClr val="2F2F2F"/>
                                  </a:solidFill>
                                  <a:latin typeface="Cambria Math" panose="02040503050406030204" pitchFamily="18" charset="0"/>
                                </a:rPr>
                                <m:t>𝑅</m:t>
                              </m:r>
                            </m:e>
                          </m:acc>
                        </m:e>
                        <m:sub>
                          <m:r>
                            <a:rPr lang="en-AU" sz="1050" b="0" i="1" smtClean="0">
                              <a:solidFill>
                                <a:srgbClr val="2F2F2F"/>
                              </a:solidFill>
                              <a:latin typeface="Cambria Math" panose="02040503050406030204" pitchFamily="18" charset="0"/>
                            </a:rPr>
                            <m:t>4</m:t>
                          </m:r>
                        </m:sub>
                      </m:sSub>
                      <m:d>
                        <m:dPr>
                          <m:ctrlPr>
                            <a:rPr lang="en-AU" sz="1050" b="0" i="1" smtClean="0">
                              <a:solidFill>
                                <a:srgbClr val="2F2F2F"/>
                              </a:solidFill>
                              <a:latin typeface="Cambria Math" panose="02040503050406030204" pitchFamily="18" charset="0"/>
                            </a:rPr>
                          </m:ctrlPr>
                        </m:dPr>
                        <m:e>
                          <m:r>
                            <a:rPr lang="en-AU" sz="1050" b="0" i="1" smtClean="0">
                              <a:solidFill>
                                <a:srgbClr val="2F2F2F"/>
                              </a:solidFill>
                              <a:latin typeface="Cambria Math" panose="02040503050406030204" pitchFamily="18" charset="0"/>
                            </a:rPr>
                            <m:t>𝑡</m:t>
                          </m:r>
                        </m:e>
                      </m:d>
                    </m:oMath>
                  </m:oMathPara>
                </a14:m>
                <a:endParaRPr lang="en-AU" sz="1050" dirty="0">
                  <a:solidFill>
                    <a:srgbClr val="2F2F2F"/>
                  </a:solidFill>
                </a:endParaRPr>
              </a:p>
            </p:txBody>
          </p:sp>
        </mc:Choice>
        <mc:Fallback xmlns="">
          <p:sp>
            <p:nvSpPr>
              <p:cNvPr id="14" name="TextBox 13">
                <a:extLst>
                  <a:ext uri="{FF2B5EF4-FFF2-40B4-BE49-F238E27FC236}">
                    <a16:creationId xmlns:a16="http://schemas.microsoft.com/office/drawing/2014/main" id="{5474849F-B067-7F59-9CCA-FD7B1B46A729}"/>
                  </a:ext>
                </a:extLst>
              </p:cNvPr>
              <p:cNvSpPr txBox="1">
                <a:spLocks noRot="1" noChangeAspect="1" noMove="1" noResize="1" noEditPoints="1" noAdjustHandles="1" noChangeArrowheads="1" noChangeShapeType="1" noTextEdit="1"/>
              </p:cNvSpPr>
              <p:nvPr/>
            </p:nvSpPr>
            <p:spPr>
              <a:xfrm>
                <a:off x="4328254" y="5143170"/>
                <a:ext cx="733647" cy="181268"/>
              </a:xfrm>
              <a:prstGeom prst="rect">
                <a:avLst/>
              </a:prstGeom>
              <a:blipFill>
                <a:blip r:embed="rId9"/>
                <a:stretch>
                  <a:fillRect b="-13793"/>
                </a:stretch>
              </a:blipFill>
            </p:spPr>
            <p:txBody>
              <a:bodyPr/>
              <a:lstStyle/>
              <a:p>
                <a:r>
                  <a:rPr lang="en-AU">
                    <a:noFill/>
                  </a:rPr>
                  <a:t> </a:t>
                </a:r>
              </a:p>
            </p:txBody>
          </p:sp>
        </mc:Fallback>
      </mc:AlternateContent>
    </p:spTree>
    <p:extLst>
      <p:ext uri="{BB962C8B-B14F-4D97-AF65-F5344CB8AC3E}">
        <p14:creationId xmlns:p14="http://schemas.microsoft.com/office/powerpoint/2010/main" val="29256881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66" name="Group 2065">
            <a:extLst>
              <a:ext uri="{FF2B5EF4-FFF2-40B4-BE49-F238E27FC236}">
                <a16:creationId xmlns:a16="http://schemas.microsoft.com/office/drawing/2014/main" id="{D4EE820A-8FE4-261F-96EC-9665FE00E01E}"/>
              </a:ext>
            </a:extLst>
          </p:cNvPr>
          <p:cNvGrpSpPr/>
          <p:nvPr/>
        </p:nvGrpSpPr>
        <p:grpSpPr>
          <a:xfrm>
            <a:off x="266702" y="1524000"/>
            <a:ext cx="5643561" cy="3960433"/>
            <a:chOff x="609601" y="1039199"/>
            <a:chExt cx="7325734" cy="5139931"/>
          </a:xfrm>
        </p:grpSpPr>
        <p:pic>
          <p:nvPicPr>
            <p:cNvPr id="2060" name="Picture 2059">
              <a:extLst>
                <a:ext uri="{FF2B5EF4-FFF2-40B4-BE49-F238E27FC236}">
                  <a16:creationId xmlns:a16="http://schemas.microsoft.com/office/drawing/2014/main" id="{C93917B6-887A-BEA9-2FBD-1D6BF2379062}"/>
                </a:ext>
              </a:extLst>
            </p:cNvPr>
            <p:cNvPicPr>
              <a:picLocks noChangeAspect="1"/>
            </p:cNvPicPr>
            <p:nvPr/>
          </p:nvPicPr>
          <p:blipFill rotWithShape="1">
            <a:blip r:embed="rId3"/>
            <a:srcRect t="-1912" b="3618"/>
            <a:stretch/>
          </p:blipFill>
          <p:spPr>
            <a:xfrm>
              <a:off x="609601" y="1039199"/>
              <a:ext cx="7325734" cy="5139931"/>
            </a:xfrm>
            <a:prstGeom prst="rect">
              <a:avLst/>
            </a:prstGeom>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5AB2C08-537A-076B-BC42-0FA719406DFD}"/>
                    </a:ext>
                  </a:extLst>
                </p:cNvPr>
                <p:cNvSpPr txBox="1"/>
                <p:nvPr/>
              </p:nvSpPr>
              <p:spPr>
                <a:xfrm>
                  <a:off x="4909699" y="2409411"/>
                  <a:ext cx="802946" cy="321133"/>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400" b="0" i="1" smtClean="0">
                                <a:solidFill>
                                  <a:srgbClr val="00B050"/>
                                </a:solidFill>
                                <a:latin typeface="Cambria Math" panose="02040503050406030204" pitchFamily="18" charset="0"/>
                              </a:rPr>
                            </m:ctrlPr>
                          </m:sSubPr>
                          <m:e>
                            <m:r>
                              <a:rPr lang="en-US" sz="1400" b="0" i="1" smtClean="0">
                                <a:solidFill>
                                  <a:srgbClr val="00B050"/>
                                </a:solidFill>
                                <a:latin typeface="Cambria Math" panose="02040503050406030204" pitchFamily="18" charset="0"/>
                              </a:rPr>
                              <m:t>𝑞</m:t>
                            </m:r>
                          </m:e>
                          <m:sub>
                            <m:r>
                              <a:rPr lang="en-US" sz="1400" b="0" i="1" smtClean="0">
                                <a:solidFill>
                                  <a:srgbClr val="00B050"/>
                                </a:solidFill>
                                <a:latin typeface="Cambria Math" panose="02040503050406030204" pitchFamily="18" charset="0"/>
                              </a:rPr>
                              <m:t>3</m:t>
                            </m:r>
                          </m:sub>
                        </m:sSub>
                        <m:d>
                          <m:dPr>
                            <m:ctrlPr>
                              <a:rPr lang="en-US" sz="1400" b="0" i="1" smtClean="0">
                                <a:solidFill>
                                  <a:srgbClr val="00B050"/>
                                </a:solidFill>
                                <a:latin typeface="Cambria Math" panose="02040503050406030204" pitchFamily="18" charset="0"/>
                              </a:rPr>
                            </m:ctrlPr>
                          </m:dPr>
                          <m:e>
                            <m:sSub>
                              <m:sSubPr>
                                <m:ctrlPr>
                                  <a:rPr lang="en-US" sz="1400" b="0" i="1" smtClean="0">
                                    <a:solidFill>
                                      <a:srgbClr val="00B050"/>
                                    </a:solidFill>
                                    <a:latin typeface="Cambria Math" panose="02040503050406030204" pitchFamily="18" charset="0"/>
                                  </a:rPr>
                                </m:ctrlPr>
                              </m:sSubPr>
                              <m:e>
                                <m:r>
                                  <a:rPr lang="en-US" sz="1400" b="0" i="1" smtClean="0">
                                    <a:solidFill>
                                      <a:srgbClr val="00B050"/>
                                    </a:solidFill>
                                    <a:latin typeface="Cambria Math" panose="02040503050406030204" pitchFamily="18" charset="0"/>
                                  </a:rPr>
                                  <m:t>𝑇</m:t>
                                </m:r>
                              </m:e>
                              <m:sub>
                                <m:r>
                                  <a:rPr lang="en-US" sz="1400" b="0" i="1" smtClean="0">
                                    <a:solidFill>
                                      <a:srgbClr val="00B050"/>
                                    </a:solidFill>
                                    <a:latin typeface="Cambria Math" panose="02040503050406030204" pitchFamily="18" charset="0"/>
                                  </a:rPr>
                                  <m:t>𝑝</m:t>
                                </m:r>
                              </m:sub>
                            </m:sSub>
                          </m:e>
                        </m:d>
                      </m:oMath>
                    </m:oMathPara>
                  </a14:m>
                  <a:endParaRPr lang="en-GB" sz="1400" dirty="0">
                    <a:solidFill>
                      <a:srgbClr val="00B050"/>
                    </a:solidFill>
                  </a:endParaRPr>
                </a:p>
              </p:txBody>
            </p:sp>
          </mc:Choice>
          <mc:Fallback xmlns="">
            <p:sp>
              <p:nvSpPr>
                <p:cNvPr id="16" name="TextBox 15">
                  <a:extLst>
                    <a:ext uri="{FF2B5EF4-FFF2-40B4-BE49-F238E27FC236}">
                      <a16:creationId xmlns:a16="http://schemas.microsoft.com/office/drawing/2014/main" id="{55AB2C08-537A-076B-BC42-0FA719406DFD}"/>
                    </a:ext>
                  </a:extLst>
                </p:cNvPr>
                <p:cNvSpPr txBox="1">
                  <a:spLocks noRot="1" noChangeAspect="1" noMove="1" noResize="1" noEditPoints="1" noAdjustHandles="1" noChangeArrowheads="1" noChangeShapeType="1" noTextEdit="1"/>
                </p:cNvSpPr>
                <p:nvPr/>
              </p:nvSpPr>
              <p:spPr>
                <a:xfrm>
                  <a:off x="4909699" y="2409411"/>
                  <a:ext cx="802946" cy="321133"/>
                </a:xfrm>
                <a:prstGeom prst="rect">
                  <a:avLst/>
                </a:prstGeom>
                <a:blipFill>
                  <a:blip r:embed="rId4"/>
                  <a:stretch>
                    <a:fillRect l="-980" b="-17073"/>
                  </a:stretch>
                </a:blipFill>
              </p:spPr>
              <p:txBody>
                <a:bodyPr/>
                <a:lstStyle/>
                <a:p>
                  <a:r>
                    <a:rPr lang="en-GB">
                      <a:noFill/>
                    </a:rPr>
                    <a:t> </a:t>
                  </a:r>
                </a:p>
              </p:txBody>
            </p:sp>
          </mc:Fallback>
        </mc:AlternateContent>
        <p:cxnSp>
          <p:nvCxnSpPr>
            <p:cNvPr id="2062" name="Straight Connector 2061">
              <a:extLst>
                <a:ext uri="{FF2B5EF4-FFF2-40B4-BE49-F238E27FC236}">
                  <a16:creationId xmlns:a16="http://schemas.microsoft.com/office/drawing/2014/main" id="{D9577272-51DE-433C-20E8-2ECBAEDC771D}"/>
                </a:ext>
              </a:extLst>
            </p:cNvPr>
            <p:cNvCxnSpPr>
              <a:cxnSpLocks/>
            </p:cNvCxnSpPr>
            <p:nvPr/>
          </p:nvCxnSpPr>
          <p:spPr>
            <a:xfrm>
              <a:off x="4954256" y="1194626"/>
              <a:ext cx="0" cy="3621124"/>
            </a:xfrm>
            <a:prstGeom prst="line">
              <a:avLst/>
            </a:prstGeom>
            <a:ln w="28575">
              <a:solidFill>
                <a:srgbClr val="59AC59"/>
              </a:solidFill>
              <a:prstDash val="dash"/>
            </a:ln>
          </p:spPr>
          <p:style>
            <a:lnRef idx="1">
              <a:schemeClr val="accent1"/>
            </a:lnRef>
            <a:fillRef idx="0">
              <a:schemeClr val="accent1"/>
            </a:fillRef>
            <a:effectRef idx="0">
              <a:schemeClr val="accent1"/>
            </a:effectRef>
            <a:fontRef idx="minor">
              <a:schemeClr val="tx1"/>
            </a:fontRef>
          </p:style>
        </p:cxnSp>
      </p:grpSp>
      <p:sp>
        <p:nvSpPr>
          <p:cNvPr id="12" name="Freeform: Shape 11">
            <a:extLst>
              <a:ext uri="{FF2B5EF4-FFF2-40B4-BE49-F238E27FC236}">
                <a16:creationId xmlns:a16="http://schemas.microsoft.com/office/drawing/2014/main" id="{9260904C-2930-4B3E-2BA9-3A058CE6A7CC}"/>
              </a:ext>
            </a:extLst>
          </p:cNvPr>
          <p:cNvSpPr/>
          <p:nvPr/>
        </p:nvSpPr>
        <p:spPr>
          <a:xfrm>
            <a:off x="3065462" y="3194026"/>
            <a:ext cx="1076325" cy="727075"/>
          </a:xfrm>
          <a:custGeom>
            <a:avLst/>
            <a:gdLst>
              <a:gd name="connsiteX0" fmla="*/ 0 w 1676400"/>
              <a:gd name="connsiteY0" fmla="*/ 95250 h 387908"/>
              <a:gd name="connsiteX1" fmla="*/ 387350 w 1676400"/>
              <a:gd name="connsiteY1" fmla="*/ 107950 h 387908"/>
              <a:gd name="connsiteX2" fmla="*/ 635000 w 1676400"/>
              <a:gd name="connsiteY2" fmla="*/ 387350 h 387908"/>
              <a:gd name="connsiteX3" fmla="*/ 1117600 w 1676400"/>
              <a:gd name="connsiteY3" fmla="*/ 25400 h 387908"/>
              <a:gd name="connsiteX4" fmla="*/ 1346200 w 1676400"/>
              <a:gd name="connsiteY4" fmla="*/ 254000 h 387908"/>
              <a:gd name="connsiteX5" fmla="*/ 1676400 w 1676400"/>
              <a:gd name="connsiteY5" fmla="*/ 0 h 387908"/>
              <a:gd name="connsiteX0" fmla="*/ 0 w 1885950"/>
              <a:gd name="connsiteY0" fmla="*/ 127000 h 387897"/>
              <a:gd name="connsiteX1" fmla="*/ 596900 w 1885950"/>
              <a:gd name="connsiteY1" fmla="*/ 107950 h 387897"/>
              <a:gd name="connsiteX2" fmla="*/ 844550 w 1885950"/>
              <a:gd name="connsiteY2" fmla="*/ 387350 h 387897"/>
              <a:gd name="connsiteX3" fmla="*/ 1327150 w 1885950"/>
              <a:gd name="connsiteY3" fmla="*/ 25400 h 387897"/>
              <a:gd name="connsiteX4" fmla="*/ 1555750 w 1885950"/>
              <a:gd name="connsiteY4" fmla="*/ 254000 h 387897"/>
              <a:gd name="connsiteX5" fmla="*/ 1885950 w 1885950"/>
              <a:gd name="connsiteY5" fmla="*/ 0 h 387897"/>
              <a:gd name="connsiteX0" fmla="*/ 0 w 1885950"/>
              <a:gd name="connsiteY0" fmla="*/ 134739 h 395127"/>
              <a:gd name="connsiteX1" fmla="*/ 444500 w 1885950"/>
              <a:gd name="connsiteY1" fmla="*/ 7739 h 395127"/>
              <a:gd name="connsiteX2" fmla="*/ 844550 w 1885950"/>
              <a:gd name="connsiteY2" fmla="*/ 395089 h 395127"/>
              <a:gd name="connsiteX3" fmla="*/ 1327150 w 1885950"/>
              <a:gd name="connsiteY3" fmla="*/ 33139 h 395127"/>
              <a:gd name="connsiteX4" fmla="*/ 1555750 w 1885950"/>
              <a:gd name="connsiteY4" fmla="*/ 261739 h 395127"/>
              <a:gd name="connsiteX5" fmla="*/ 1885950 w 1885950"/>
              <a:gd name="connsiteY5" fmla="*/ 7739 h 395127"/>
              <a:gd name="connsiteX0" fmla="*/ 0 w 1885950"/>
              <a:gd name="connsiteY0" fmla="*/ 520742 h 647846"/>
              <a:gd name="connsiteX1" fmla="*/ 444500 w 1885950"/>
              <a:gd name="connsiteY1" fmla="*/ 393742 h 647846"/>
              <a:gd name="connsiteX2" fmla="*/ 806450 w 1885950"/>
              <a:gd name="connsiteY2" fmla="*/ 42 h 647846"/>
              <a:gd name="connsiteX3" fmla="*/ 1327150 w 1885950"/>
              <a:gd name="connsiteY3" fmla="*/ 419142 h 647846"/>
              <a:gd name="connsiteX4" fmla="*/ 1555750 w 1885950"/>
              <a:gd name="connsiteY4" fmla="*/ 647742 h 647846"/>
              <a:gd name="connsiteX5" fmla="*/ 1885950 w 1885950"/>
              <a:gd name="connsiteY5" fmla="*/ 393742 h 647846"/>
              <a:gd name="connsiteX0" fmla="*/ 0 w 1885950"/>
              <a:gd name="connsiteY0" fmla="*/ 521930 h 649034"/>
              <a:gd name="connsiteX1" fmla="*/ 425450 w 1885950"/>
              <a:gd name="connsiteY1" fmla="*/ 299680 h 649034"/>
              <a:gd name="connsiteX2" fmla="*/ 806450 w 1885950"/>
              <a:gd name="connsiteY2" fmla="*/ 1230 h 649034"/>
              <a:gd name="connsiteX3" fmla="*/ 1327150 w 1885950"/>
              <a:gd name="connsiteY3" fmla="*/ 420330 h 649034"/>
              <a:gd name="connsiteX4" fmla="*/ 1555750 w 1885950"/>
              <a:gd name="connsiteY4" fmla="*/ 648930 h 649034"/>
              <a:gd name="connsiteX5" fmla="*/ 1885950 w 1885950"/>
              <a:gd name="connsiteY5" fmla="*/ 394930 h 649034"/>
              <a:gd name="connsiteX0" fmla="*/ 0 w 1885950"/>
              <a:gd name="connsiteY0" fmla="*/ 408401 h 535492"/>
              <a:gd name="connsiteX1" fmla="*/ 425450 w 1885950"/>
              <a:gd name="connsiteY1" fmla="*/ 186151 h 535492"/>
              <a:gd name="connsiteX2" fmla="*/ 730250 w 1885950"/>
              <a:gd name="connsiteY2" fmla="*/ 2001 h 535492"/>
              <a:gd name="connsiteX3" fmla="*/ 1327150 w 1885950"/>
              <a:gd name="connsiteY3" fmla="*/ 306801 h 535492"/>
              <a:gd name="connsiteX4" fmla="*/ 1555750 w 1885950"/>
              <a:gd name="connsiteY4" fmla="*/ 535401 h 535492"/>
              <a:gd name="connsiteX5" fmla="*/ 1885950 w 1885950"/>
              <a:gd name="connsiteY5" fmla="*/ 281401 h 535492"/>
              <a:gd name="connsiteX0" fmla="*/ 0 w 1885950"/>
              <a:gd name="connsiteY0" fmla="*/ 406434 h 533525"/>
              <a:gd name="connsiteX1" fmla="*/ 285750 w 1885950"/>
              <a:gd name="connsiteY1" fmla="*/ 285784 h 533525"/>
              <a:gd name="connsiteX2" fmla="*/ 730250 w 1885950"/>
              <a:gd name="connsiteY2" fmla="*/ 34 h 533525"/>
              <a:gd name="connsiteX3" fmla="*/ 1327150 w 1885950"/>
              <a:gd name="connsiteY3" fmla="*/ 304834 h 533525"/>
              <a:gd name="connsiteX4" fmla="*/ 1555750 w 1885950"/>
              <a:gd name="connsiteY4" fmla="*/ 533434 h 533525"/>
              <a:gd name="connsiteX5" fmla="*/ 1885950 w 1885950"/>
              <a:gd name="connsiteY5" fmla="*/ 279434 h 533525"/>
              <a:gd name="connsiteX0" fmla="*/ 0 w 1885950"/>
              <a:gd name="connsiteY0" fmla="*/ 406434 h 533525"/>
              <a:gd name="connsiteX1" fmla="*/ 285750 w 1885950"/>
              <a:gd name="connsiteY1" fmla="*/ 285784 h 533525"/>
              <a:gd name="connsiteX2" fmla="*/ 736600 w 1885950"/>
              <a:gd name="connsiteY2" fmla="*/ 34 h 533525"/>
              <a:gd name="connsiteX3" fmla="*/ 1327150 w 1885950"/>
              <a:gd name="connsiteY3" fmla="*/ 304834 h 533525"/>
              <a:gd name="connsiteX4" fmla="*/ 1555750 w 1885950"/>
              <a:gd name="connsiteY4" fmla="*/ 533434 h 533525"/>
              <a:gd name="connsiteX5" fmla="*/ 1885950 w 1885950"/>
              <a:gd name="connsiteY5" fmla="*/ 279434 h 533525"/>
              <a:gd name="connsiteX0" fmla="*/ 0 w 1885950"/>
              <a:gd name="connsiteY0" fmla="*/ 561152 h 688175"/>
              <a:gd name="connsiteX1" fmla="*/ 285750 w 1885950"/>
              <a:gd name="connsiteY1" fmla="*/ 440502 h 688175"/>
              <a:gd name="connsiteX2" fmla="*/ 736600 w 1885950"/>
              <a:gd name="connsiteY2" fmla="*/ 154752 h 688175"/>
              <a:gd name="connsiteX3" fmla="*/ 863600 w 1885950"/>
              <a:gd name="connsiteY3" fmla="*/ 27752 h 688175"/>
              <a:gd name="connsiteX4" fmla="*/ 1555750 w 1885950"/>
              <a:gd name="connsiteY4" fmla="*/ 688152 h 688175"/>
              <a:gd name="connsiteX5" fmla="*/ 1885950 w 1885950"/>
              <a:gd name="connsiteY5" fmla="*/ 434152 h 688175"/>
              <a:gd name="connsiteX0" fmla="*/ 0 w 1885950"/>
              <a:gd name="connsiteY0" fmla="*/ 566493 h 693516"/>
              <a:gd name="connsiteX1" fmla="*/ 285750 w 1885950"/>
              <a:gd name="connsiteY1" fmla="*/ 445843 h 693516"/>
              <a:gd name="connsiteX2" fmla="*/ 679450 w 1885950"/>
              <a:gd name="connsiteY2" fmla="*/ 134693 h 693516"/>
              <a:gd name="connsiteX3" fmla="*/ 863600 w 1885950"/>
              <a:gd name="connsiteY3" fmla="*/ 33093 h 693516"/>
              <a:gd name="connsiteX4" fmla="*/ 1555750 w 1885950"/>
              <a:gd name="connsiteY4" fmla="*/ 693493 h 693516"/>
              <a:gd name="connsiteX5" fmla="*/ 1885950 w 1885950"/>
              <a:gd name="connsiteY5" fmla="*/ 439493 h 693516"/>
              <a:gd name="connsiteX0" fmla="*/ 0 w 1885950"/>
              <a:gd name="connsiteY0" fmla="*/ 640615 h 767635"/>
              <a:gd name="connsiteX1" fmla="*/ 285750 w 1885950"/>
              <a:gd name="connsiteY1" fmla="*/ 519965 h 767635"/>
              <a:gd name="connsiteX2" fmla="*/ 679450 w 1885950"/>
              <a:gd name="connsiteY2" fmla="*/ 208815 h 767635"/>
              <a:gd name="connsiteX3" fmla="*/ 1009650 w 1885950"/>
              <a:gd name="connsiteY3" fmla="*/ 24665 h 767635"/>
              <a:gd name="connsiteX4" fmla="*/ 1555750 w 1885950"/>
              <a:gd name="connsiteY4" fmla="*/ 767615 h 767635"/>
              <a:gd name="connsiteX5" fmla="*/ 1885950 w 1885950"/>
              <a:gd name="connsiteY5" fmla="*/ 513615 h 767635"/>
              <a:gd name="connsiteX0" fmla="*/ 0 w 1885950"/>
              <a:gd name="connsiteY0" fmla="*/ 692173 h 692173"/>
              <a:gd name="connsiteX1" fmla="*/ 285750 w 1885950"/>
              <a:gd name="connsiteY1" fmla="*/ 571523 h 692173"/>
              <a:gd name="connsiteX2" fmla="*/ 679450 w 1885950"/>
              <a:gd name="connsiteY2" fmla="*/ 260373 h 692173"/>
              <a:gd name="connsiteX3" fmla="*/ 1009650 w 1885950"/>
              <a:gd name="connsiteY3" fmla="*/ 76223 h 692173"/>
              <a:gd name="connsiteX4" fmla="*/ 1092200 w 1885950"/>
              <a:gd name="connsiteY4" fmla="*/ 23 h 692173"/>
              <a:gd name="connsiteX5" fmla="*/ 1885950 w 1885950"/>
              <a:gd name="connsiteY5" fmla="*/ 565173 h 692173"/>
              <a:gd name="connsiteX0" fmla="*/ 0 w 1092200"/>
              <a:gd name="connsiteY0" fmla="*/ 692150 h 692150"/>
              <a:gd name="connsiteX1" fmla="*/ 285750 w 1092200"/>
              <a:gd name="connsiteY1" fmla="*/ 571500 h 692150"/>
              <a:gd name="connsiteX2" fmla="*/ 679450 w 1092200"/>
              <a:gd name="connsiteY2" fmla="*/ 260350 h 692150"/>
              <a:gd name="connsiteX3" fmla="*/ 1009650 w 1092200"/>
              <a:gd name="connsiteY3" fmla="*/ 76200 h 692150"/>
              <a:gd name="connsiteX4" fmla="*/ 1092200 w 1092200"/>
              <a:gd name="connsiteY4" fmla="*/ 0 h 692150"/>
              <a:gd name="connsiteX0" fmla="*/ 0 w 1092200"/>
              <a:gd name="connsiteY0" fmla="*/ 692150 h 692150"/>
              <a:gd name="connsiteX1" fmla="*/ 285750 w 1092200"/>
              <a:gd name="connsiteY1" fmla="*/ 571500 h 692150"/>
              <a:gd name="connsiteX2" fmla="*/ 615950 w 1092200"/>
              <a:gd name="connsiteY2" fmla="*/ 330200 h 692150"/>
              <a:gd name="connsiteX3" fmla="*/ 1009650 w 1092200"/>
              <a:gd name="connsiteY3" fmla="*/ 76200 h 692150"/>
              <a:gd name="connsiteX4" fmla="*/ 1092200 w 1092200"/>
              <a:gd name="connsiteY4" fmla="*/ 0 h 692150"/>
              <a:gd name="connsiteX0" fmla="*/ 0 w 1092200"/>
              <a:gd name="connsiteY0" fmla="*/ 692150 h 692150"/>
              <a:gd name="connsiteX1" fmla="*/ 285750 w 1092200"/>
              <a:gd name="connsiteY1" fmla="*/ 571500 h 692150"/>
              <a:gd name="connsiteX2" fmla="*/ 615950 w 1092200"/>
              <a:gd name="connsiteY2" fmla="*/ 330200 h 692150"/>
              <a:gd name="connsiteX3" fmla="*/ 863600 w 1092200"/>
              <a:gd name="connsiteY3" fmla="*/ 95250 h 692150"/>
              <a:gd name="connsiteX4" fmla="*/ 1092200 w 1092200"/>
              <a:gd name="connsiteY4" fmla="*/ 0 h 692150"/>
              <a:gd name="connsiteX0" fmla="*/ 0 w 1073150"/>
              <a:gd name="connsiteY0" fmla="*/ 730250 h 730250"/>
              <a:gd name="connsiteX1" fmla="*/ 285750 w 1073150"/>
              <a:gd name="connsiteY1" fmla="*/ 609600 h 730250"/>
              <a:gd name="connsiteX2" fmla="*/ 615950 w 1073150"/>
              <a:gd name="connsiteY2" fmla="*/ 368300 h 730250"/>
              <a:gd name="connsiteX3" fmla="*/ 863600 w 1073150"/>
              <a:gd name="connsiteY3" fmla="*/ 133350 h 730250"/>
              <a:gd name="connsiteX4" fmla="*/ 1073150 w 1073150"/>
              <a:gd name="connsiteY4" fmla="*/ 0 h 730250"/>
              <a:gd name="connsiteX0" fmla="*/ 0 w 1073150"/>
              <a:gd name="connsiteY0" fmla="*/ 730250 h 730250"/>
              <a:gd name="connsiteX1" fmla="*/ 285750 w 1073150"/>
              <a:gd name="connsiteY1" fmla="*/ 609600 h 730250"/>
              <a:gd name="connsiteX2" fmla="*/ 615950 w 1073150"/>
              <a:gd name="connsiteY2" fmla="*/ 368300 h 730250"/>
              <a:gd name="connsiteX3" fmla="*/ 863600 w 1073150"/>
              <a:gd name="connsiteY3" fmla="*/ 133350 h 730250"/>
              <a:gd name="connsiteX4" fmla="*/ 1073150 w 1073150"/>
              <a:gd name="connsiteY4" fmla="*/ 0 h 730250"/>
              <a:gd name="connsiteX0" fmla="*/ 0 w 1073150"/>
              <a:gd name="connsiteY0" fmla="*/ 730250 h 730250"/>
              <a:gd name="connsiteX1" fmla="*/ 285750 w 1073150"/>
              <a:gd name="connsiteY1" fmla="*/ 609600 h 730250"/>
              <a:gd name="connsiteX2" fmla="*/ 558800 w 1073150"/>
              <a:gd name="connsiteY2" fmla="*/ 406400 h 730250"/>
              <a:gd name="connsiteX3" fmla="*/ 863600 w 1073150"/>
              <a:gd name="connsiteY3" fmla="*/ 133350 h 730250"/>
              <a:gd name="connsiteX4" fmla="*/ 1073150 w 1073150"/>
              <a:gd name="connsiteY4" fmla="*/ 0 h 730250"/>
              <a:gd name="connsiteX0" fmla="*/ 0 w 1073150"/>
              <a:gd name="connsiteY0" fmla="*/ 730250 h 730250"/>
              <a:gd name="connsiteX1" fmla="*/ 285750 w 1073150"/>
              <a:gd name="connsiteY1" fmla="*/ 609600 h 730250"/>
              <a:gd name="connsiteX2" fmla="*/ 542925 w 1073150"/>
              <a:gd name="connsiteY2" fmla="*/ 412750 h 730250"/>
              <a:gd name="connsiteX3" fmla="*/ 863600 w 1073150"/>
              <a:gd name="connsiteY3" fmla="*/ 133350 h 730250"/>
              <a:gd name="connsiteX4" fmla="*/ 1073150 w 1073150"/>
              <a:gd name="connsiteY4" fmla="*/ 0 h 730250"/>
              <a:gd name="connsiteX0" fmla="*/ 0 w 1073150"/>
              <a:gd name="connsiteY0" fmla="*/ 730250 h 730250"/>
              <a:gd name="connsiteX1" fmla="*/ 285750 w 1073150"/>
              <a:gd name="connsiteY1" fmla="*/ 609600 h 730250"/>
              <a:gd name="connsiteX2" fmla="*/ 542925 w 1073150"/>
              <a:gd name="connsiteY2" fmla="*/ 412750 h 730250"/>
              <a:gd name="connsiteX3" fmla="*/ 863600 w 1073150"/>
              <a:gd name="connsiteY3" fmla="*/ 133350 h 730250"/>
              <a:gd name="connsiteX4" fmla="*/ 1073150 w 1073150"/>
              <a:gd name="connsiteY4" fmla="*/ 0 h 730250"/>
              <a:gd name="connsiteX0" fmla="*/ 0 w 1073150"/>
              <a:gd name="connsiteY0" fmla="*/ 730250 h 730250"/>
              <a:gd name="connsiteX1" fmla="*/ 285750 w 1073150"/>
              <a:gd name="connsiteY1" fmla="*/ 609600 h 730250"/>
              <a:gd name="connsiteX2" fmla="*/ 552450 w 1073150"/>
              <a:gd name="connsiteY2" fmla="*/ 400050 h 730250"/>
              <a:gd name="connsiteX3" fmla="*/ 863600 w 1073150"/>
              <a:gd name="connsiteY3" fmla="*/ 133350 h 730250"/>
              <a:gd name="connsiteX4" fmla="*/ 1073150 w 1073150"/>
              <a:gd name="connsiteY4" fmla="*/ 0 h 730250"/>
              <a:gd name="connsiteX0" fmla="*/ 0 w 1073150"/>
              <a:gd name="connsiteY0" fmla="*/ 730250 h 730250"/>
              <a:gd name="connsiteX1" fmla="*/ 285750 w 1073150"/>
              <a:gd name="connsiteY1" fmla="*/ 609600 h 730250"/>
              <a:gd name="connsiteX2" fmla="*/ 552450 w 1073150"/>
              <a:gd name="connsiteY2" fmla="*/ 400050 h 730250"/>
              <a:gd name="connsiteX3" fmla="*/ 863600 w 1073150"/>
              <a:gd name="connsiteY3" fmla="*/ 133350 h 730250"/>
              <a:gd name="connsiteX4" fmla="*/ 1073150 w 1073150"/>
              <a:gd name="connsiteY4" fmla="*/ 0 h 730250"/>
              <a:gd name="connsiteX0" fmla="*/ 0 w 1073150"/>
              <a:gd name="connsiteY0" fmla="*/ 730250 h 730250"/>
              <a:gd name="connsiteX1" fmla="*/ 285750 w 1073150"/>
              <a:gd name="connsiteY1" fmla="*/ 609600 h 730250"/>
              <a:gd name="connsiteX2" fmla="*/ 552450 w 1073150"/>
              <a:gd name="connsiteY2" fmla="*/ 400050 h 730250"/>
              <a:gd name="connsiteX3" fmla="*/ 863600 w 1073150"/>
              <a:gd name="connsiteY3" fmla="*/ 133350 h 730250"/>
              <a:gd name="connsiteX4" fmla="*/ 1073150 w 1073150"/>
              <a:gd name="connsiteY4" fmla="*/ 0 h 730250"/>
              <a:gd name="connsiteX0" fmla="*/ 0 w 1076325"/>
              <a:gd name="connsiteY0" fmla="*/ 727075 h 727075"/>
              <a:gd name="connsiteX1" fmla="*/ 288925 w 1076325"/>
              <a:gd name="connsiteY1" fmla="*/ 609600 h 727075"/>
              <a:gd name="connsiteX2" fmla="*/ 555625 w 1076325"/>
              <a:gd name="connsiteY2" fmla="*/ 400050 h 727075"/>
              <a:gd name="connsiteX3" fmla="*/ 866775 w 1076325"/>
              <a:gd name="connsiteY3" fmla="*/ 133350 h 727075"/>
              <a:gd name="connsiteX4" fmla="*/ 1076325 w 1076325"/>
              <a:gd name="connsiteY4" fmla="*/ 0 h 727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6325" h="727075">
                <a:moveTo>
                  <a:pt x="0" y="727075"/>
                </a:moveTo>
                <a:cubicBezTo>
                  <a:pt x="140758" y="709083"/>
                  <a:pt x="196321" y="664104"/>
                  <a:pt x="288925" y="609600"/>
                </a:cubicBezTo>
                <a:cubicBezTo>
                  <a:pt x="381529" y="555096"/>
                  <a:pt x="459317" y="479425"/>
                  <a:pt x="555625" y="400050"/>
                </a:cubicBezTo>
                <a:cubicBezTo>
                  <a:pt x="651933" y="320675"/>
                  <a:pt x="779992" y="200025"/>
                  <a:pt x="866775" y="133350"/>
                </a:cubicBezTo>
                <a:cubicBezTo>
                  <a:pt x="953558" y="66675"/>
                  <a:pt x="999067" y="42333"/>
                  <a:pt x="1076325" y="0"/>
                </a:cubicBezTo>
              </a:path>
            </a:pathLst>
          </a:custGeom>
          <a:noFill/>
          <a:ln w="28575">
            <a:solidFill>
              <a:srgbClr val="00B05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786107"/>
          </a:xfrm>
        </p:spPr>
        <p:txBody>
          <a:bodyPr/>
          <a:lstStyle/>
          <a:p>
            <a:r>
              <a:rPr lang="en-US" dirty="0"/>
              <a:t>Cubic Orientation Spline Algorithm </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55</a:t>
            </a:fld>
            <a:endParaRPr lang="en-US" dirty="0"/>
          </a:p>
        </p:txBody>
      </p:sp>
      <p:sp>
        <p:nvSpPr>
          <p:cNvPr id="9" name="Rectangle: Rounded Corners 8">
            <a:extLst>
              <a:ext uri="{FF2B5EF4-FFF2-40B4-BE49-F238E27FC236}">
                <a16:creationId xmlns:a16="http://schemas.microsoft.com/office/drawing/2014/main" id="{B57F9A30-FFD9-84B0-88A3-7D6F60558107}"/>
              </a:ext>
            </a:extLst>
          </p:cNvPr>
          <p:cNvSpPr/>
          <p:nvPr/>
        </p:nvSpPr>
        <p:spPr>
          <a:xfrm>
            <a:off x="8292353" y="345766"/>
            <a:ext cx="2303929" cy="622422"/>
          </a:xfrm>
          <a:prstGeom prst="roundRect">
            <a:avLst/>
          </a:prstGeom>
          <a:solidFill>
            <a:srgbClr val="CDDCF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CubicOrientationSpline</a:t>
            </a:r>
            <a:endParaRPr lang="en-GB" sz="1200" dirty="0">
              <a:solidFill>
                <a:srgbClr val="003399"/>
              </a:solidFill>
            </a:endParaRPr>
          </a:p>
        </p:txBody>
      </p:sp>
      <p:sp>
        <p:nvSpPr>
          <p:cNvPr id="8" name="Rectangle 4">
            <a:extLst>
              <a:ext uri="{FF2B5EF4-FFF2-40B4-BE49-F238E27FC236}">
                <a16:creationId xmlns:a16="http://schemas.microsoft.com/office/drawing/2014/main" id="{04E740D3-CD46-25CB-5FBF-22EEF9AAD268}"/>
              </a:ext>
            </a:extLst>
          </p:cNvPr>
          <p:cNvSpPr>
            <a:spLocks noChangeArrowheads="1"/>
          </p:cNvSpPr>
          <p:nvPr/>
        </p:nvSpPr>
        <p:spPr bwMode="auto">
          <a:xfrm>
            <a:off x="5816472" y="1529049"/>
            <a:ext cx="449703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lang="en-US" altLang="en-US" sz="1600" dirty="0" err="1">
                <a:solidFill>
                  <a:srgbClr val="00B050"/>
                </a:solidFill>
                <a:latin typeface="Cascadia Code" panose="020B0609020000020004" pitchFamily="49" charset="0"/>
                <a:cs typeface="Cascadia Code" panose="020B0609020000020004" pitchFamily="49" charset="0"/>
              </a:rPr>
              <a:t>CubicOrientationSpline.evaluate</a:t>
            </a:r>
            <a:r>
              <a:rPr lang="en-US" altLang="en-US" sz="1600" dirty="0">
                <a:solidFill>
                  <a:srgbClr val="00B050"/>
                </a:solidFill>
                <a:latin typeface="Cascadia Code" panose="020B0609020000020004" pitchFamily="49" charset="0"/>
                <a:cs typeface="Cascadia Code" panose="020B0609020000020004" pitchFamily="49" charset="0"/>
              </a:rPr>
              <a:t>(</a:t>
            </a:r>
            <a:r>
              <a:rPr lang="en-US" altLang="en-US" sz="1600" dirty="0" err="1">
                <a:solidFill>
                  <a:srgbClr val="00B050"/>
                </a:solidFill>
                <a:latin typeface="Cascadia Code" panose="020B0609020000020004" pitchFamily="49" charset="0"/>
                <a:cs typeface="Cascadia Code" panose="020B0609020000020004" pitchFamily="49" charset="0"/>
              </a:rPr>
              <a:t>Tp</a:t>
            </a:r>
            <a:r>
              <a:rPr lang="en-US" altLang="en-US" sz="1600" dirty="0">
                <a:solidFill>
                  <a:srgbClr val="00B050"/>
                </a:solidFill>
                <a:latin typeface="Cascadia Code" panose="020B0609020000020004" pitchFamily="49" charset="0"/>
                <a:cs typeface="Cascadia Code" panose="020B0609020000020004" pitchFamily="49" charset="0"/>
              </a:rPr>
              <a:t>)</a:t>
            </a:r>
            <a:endParaRPr kumimoji="0" lang="en-US" altLang="en-US" sz="1600" b="0" i="0" u="none" strike="noStrike" cap="none" normalizeH="0" baseline="0" dirty="0">
              <a:ln>
                <a:noFill/>
              </a:ln>
              <a:solidFill>
                <a:srgbClr val="00B050"/>
              </a:solidFill>
              <a:effectLst/>
              <a:latin typeface="Cascadia Code" panose="020B0609020000020004" pitchFamily="49" charset="0"/>
              <a:cs typeface="Cascadia Code" panose="020B0609020000020004" pitchFamily="49" charset="0"/>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4030C03-FBC0-7CC1-C446-B7100A80635B}"/>
                  </a:ext>
                </a:extLst>
              </p:cNvPr>
              <p:cNvSpPr txBox="1"/>
              <p:nvPr/>
            </p:nvSpPr>
            <p:spPr>
              <a:xfrm>
                <a:off x="3404170" y="4546457"/>
                <a:ext cx="424873" cy="26827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US" sz="1600" b="1" i="1" smtClean="0">
                              <a:solidFill>
                                <a:srgbClr val="00B050"/>
                              </a:solidFill>
                              <a:latin typeface="Cambria Math" panose="02040503050406030204" pitchFamily="18" charset="0"/>
                            </a:rPr>
                          </m:ctrlPr>
                        </m:sSubPr>
                        <m:e>
                          <m:r>
                            <a:rPr lang="en-US" sz="1600" b="1" i="1" smtClean="0">
                              <a:solidFill>
                                <a:srgbClr val="00B050"/>
                              </a:solidFill>
                              <a:latin typeface="Cambria Math" panose="02040503050406030204" pitchFamily="18" charset="0"/>
                            </a:rPr>
                            <m:t>𝑻</m:t>
                          </m:r>
                        </m:e>
                        <m:sub>
                          <m:r>
                            <a:rPr lang="en-US" sz="1600" b="1" i="1" smtClean="0">
                              <a:solidFill>
                                <a:srgbClr val="00B050"/>
                              </a:solidFill>
                              <a:latin typeface="Cambria Math" panose="02040503050406030204" pitchFamily="18" charset="0"/>
                            </a:rPr>
                            <m:t>𝒑</m:t>
                          </m:r>
                        </m:sub>
                      </m:sSub>
                    </m:oMath>
                  </m:oMathPara>
                </a14:m>
                <a:endParaRPr lang="en-GB" sz="1600" b="1" dirty="0">
                  <a:solidFill>
                    <a:schemeClr val="tx2"/>
                  </a:solidFill>
                </a:endParaRPr>
              </a:p>
            </p:txBody>
          </p:sp>
        </mc:Choice>
        <mc:Fallback xmlns="">
          <p:sp>
            <p:nvSpPr>
              <p:cNvPr id="15" name="TextBox 14">
                <a:extLst>
                  <a:ext uri="{FF2B5EF4-FFF2-40B4-BE49-F238E27FC236}">
                    <a16:creationId xmlns:a16="http://schemas.microsoft.com/office/drawing/2014/main" id="{C4030C03-FBC0-7CC1-C446-B7100A80635B}"/>
                  </a:ext>
                </a:extLst>
              </p:cNvPr>
              <p:cNvSpPr txBox="1">
                <a:spLocks noRot="1" noChangeAspect="1" noMove="1" noResize="1" noEditPoints="1" noAdjustHandles="1" noChangeArrowheads="1" noChangeShapeType="1" noTextEdit="1"/>
              </p:cNvSpPr>
              <p:nvPr/>
            </p:nvSpPr>
            <p:spPr>
              <a:xfrm>
                <a:off x="3404170" y="4546457"/>
                <a:ext cx="424873" cy="268279"/>
              </a:xfrm>
              <a:prstGeom prst="rect">
                <a:avLst/>
              </a:prstGeom>
              <a:blipFill>
                <a:blip r:embed="rId5"/>
                <a:stretch>
                  <a:fillRect b="-2045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70" name="TextBox 2069">
                <a:extLst>
                  <a:ext uri="{FF2B5EF4-FFF2-40B4-BE49-F238E27FC236}">
                    <a16:creationId xmlns:a16="http://schemas.microsoft.com/office/drawing/2014/main" id="{7EC24AD7-079E-2BC1-4051-9F715B854698}"/>
                  </a:ext>
                </a:extLst>
              </p:cNvPr>
              <p:cNvSpPr txBox="1"/>
              <p:nvPr/>
            </p:nvSpPr>
            <p:spPr>
              <a:xfrm>
                <a:off x="5910263" y="2456636"/>
                <a:ext cx="1689584" cy="276999"/>
              </a:xfrm>
              <a:prstGeom prst="rect">
                <a:avLst/>
              </a:prstGeom>
              <a:noFill/>
            </p:spPr>
            <p:txBody>
              <a:bodyPr wrap="square" lIns="0" tIns="0" rIns="0" bIns="0" rtlCol="0">
                <a:spAutoFit/>
              </a:bodyPr>
              <a:lstStyle/>
              <a:p>
                <a:pPr algn="l"/>
                <a14:m>
                  <m:oMathPara xmlns:m="http://schemas.openxmlformats.org/officeDocument/2006/math">
                    <m:oMathParaPr>
                      <m:jc m:val="left"/>
                    </m:oMathParaPr>
                    <m:oMath xmlns:m="http://schemas.openxmlformats.org/officeDocument/2006/math">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𝑞</m:t>
                          </m:r>
                        </m:e>
                        <m:sub>
                          <m:r>
                            <a:rPr lang="en-US" b="0" i="1" smtClean="0">
                              <a:solidFill>
                                <a:schemeClr val="tx2"/>
                              </a:solidFill>
                              <a:latin typeface="Cambria Math" panose="02040503050406030204" pitchFamily="18" charset="0"/>
                            </a:rPr>
                            <m:t>3</m:t>
                          </m:r>
                        </m:sub>
                      </m:sSub>
                      <m:d>
                        <m:dPr>
                          <m:ctrlPr>
                            <a:rPr lang="en-US" b="0" i="1" smtClean="0">
                              <a:solidFill>
                                <a:schemeClr val="tx2"/>
                              </a:solidFill>
                              <a:latin typeface="Cambria Math" panose="02040503050406030204" pitchFamily="18" charset="0"/>
                            </a:rPr>
                          </m:ctrlPr>
                        </m:dPr>
                        <m:e>
                          <m:r>
                            <a:rPr lang="en-US" b="0" i="1" smtClean="0">
                              <a:solidFill>
                                <a:schemeClr val="tx2"/>
                              </a:solidFill>
                              <a:latin typeface="Cambria Math" panose="02040503050406030204" pitchFamily="18" charset="0"/>
                            </a:rPr>
                            <m:t>𝑡</m:t>
                          </m:r>
                        </m:e>
                      </m:d>
                      <m:r>
                        <a:rPr lang="en-US" b="0" i="1" smtClean="0">
                          <a:solidFill>
                            <a:schemeClr val="tx2"/>
                          </a:solidFill>
                          <a:latin typeface="Cambria Math" panose="02040503050406030204" pitchFamily="18" charset="0"/>
                        </a:rPr>
                        <m:t>=</m:t>
                      </m:r>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𝑄</m:t>
                          </m:r>
                        </m:e>
                        <m:sub>
                          <m:r>
                            <a:rPr lang="en-US" b="0" i="1" smtClean="0">
                              <a:solidFill>
                                <a:schemeClr val="tx2"/>
                              </a:solidFill>
                              <a:latin typeface="Cambria Math" panose="02040503050406030204" pitchFamily="18" charset="0"/>
                            </a:rPr>
                            <m:t>3</m:t>
                          </m:r>
                        </m:sub>
                      </m:sSub>
                      <m:r>
                        <m:rPr>
                          <m:sty m:val="p"/>
                        </m:rPr>
                        <a:rPr lang="en-US" b="0" i="0" smtClean="0">
                          <a:solidFill>
                            <a:schemeClr val="tx2"/>
                          </a:solidFill>
                          <a:latin typeface="Cambria Math" panose="02040503050406030204" pitchFamily="18" charset="0"/>
                        </a:rPr>
                        <m:t>Δ</m:t>
                      </m:r>
                      <m:r>
                        <a:rPr lang="en-US" b="0" i="1" smtClean="0">
                          <a:solidFill>
                            <a:schemeClr val="tx2"/>
                          </a:solidFill>
                          <a:latin typeface="Cambria Math" panose="02040503050406030204" pitchFamily="18" charset="0"/>
                        </a:rPr>
                        <m:t>𝑞</m:t>
                      </m:r>
                      <m:r>
                        <a:rPr lang="en-US" b="0" i="1" smtClean="0">
                          <a:solidFill>
                            <a:schemeClr val="tx2"/>
                          </a:solidFill>
                          <a:latin typeface="Cambria Math" panose="02040503050406030204" pitchFamily="18" charset="0"/>
                        </a:rPr>
                        <m:t>(</m:t>
                      </m:r>
                      <m:r>
                        <a:rPr lang="en-US" b="0" i="1" smtClean="0">
                          <a:solidFill>
                            <a:schemeClr val="tx2"/>
                          </a:solidFill>
                          <a:latin typeface="Cambria Math" panose="02040503050406030204" pitchFamily="18" charset="0"/>
                        </a:rPr>
                        <m:t>𝑡</m:t>
                      </m:r>
                      <m:r>
                        <a:rPr lang="en-US" b="0" i="1" smtClean="0">
                          <a:solidFill>
                            <a:schemeClr val="tx2"/>
                          </a:solidFill>
                          <a:latin typeface="Cambria Math" panose="02040503050406030204" pitchFamily="18" charset="0"/>
                        </a:rPr>
                        <m:t>)</m:t>
                      </m:r>
                    </m:oMath>
                  </m:oMathPara>
                </a14:m>
                <a:endParaRPr lang="en-GB" dirty="0">
                  <a:solidFill>
                    <a:schemeClr val="tx2"/>
                  </a:solidFill>
                </a:endParaRPr>
              </a:p>
            </p:txBody>
          </p:sp>
        </mc:Choice>
        <mc:Fallback xmlns="">
          <p:sp>
            <p:nvSpPr>
              <p:cNvPr id="2070" name="TextBox 2069">
                <a:extLst>
                  <a:ext uri="{FF2B5EF4-FFF2-40B4-BE49-F238E27FC236}">
                    <a16:creationId xmlns:a16="http://schemas.microsoft.com/office/drawing/2014/main" id="{7EC24AD7-079E-2BC1-4051-9F715B854698}"/>
                  </a:ext>
                </a:extLst>
              </p:cNvPr>
              <p:cNvSpPr txBox="1">
                <a:spLocks noRot="1" noChangeAspect="1" noMove="1" noResize="1" noEditPoints="1" noAdjustHandles="1" noChangeArrowheads="1" noChangeShapeType="1" noTextEdit="1"/>
              </p:cNvSpPr>
              <p:nvPr/>
            </p:nvSpPr>
            <p:spPr>
              <a:xfrm>
                <a:off x="5910263" y="2456636"/>
                <a:ext cx="1689584" cy="276999"/>
              </a:xfrm>
              <a:prstGeom prst="rect">
                <a:avLst/>
              </a:prstGeom>
              <a:blipFill>
                <a:blip r:embed="rId6"/>
                <a:stretch>
                  <a:fillRect l="-5054" r="-2527" b="-3777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98CFB51-2131-D326-7D00-D520086456DF}"/>
                  </a:ext>
                </a:extLst>
              </p:cNvPr>
              <p:cNvSpPr txBox="1"/>
              <p:nvPr/>
            </p:nvSpPr>
            <p:spPr>
              <a:xfrm>
                <a:off x="5816472" y="1955164"/>
                <a:ext cx="5692801" cy="310598"/>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acc>
                        <m:accPr>
                          <m:chr m:val="⃗"/>
                          <m:ctrlPr>
                            <a:rPr lang="en-US" b="0" i="1" smtClean="0">
                              <a:solidFill>
                                <a:schemeClr val="tx2"/>
                              </a:solidFill>
                              <a:latin typeface="Cambria Math" panose="02040503050406030204" pitchFamily="18" charset="0"/>
                            </a:rPr>
                          </m:ctrlPr>
                        </m:accPr>
                        <m:e>
                          <m:r>
                            <a:rPr lang="en-US" b="0" i="1" smtClean="0">
                              <a:solidFill>
                                <a:schemeClr val="tx2"/>
                              </a:solidFill>
                              <a:latin typeface="Cambria Math" panose="02040503050406030204" pitchFamily="18" charset="0"/>
                            </a:rPr>
                            <m:t>𝑅</m:t>
                          </m:r>
                        </m:e>
                      </m:acc>
                      <m:d>
                        <m:dPr>
                          <m:ctrlPr>
                            <a:rPr lang="en-US" b="0" i="1" smtClean="0">
                              <a:solidFill>
                                <a:schemeClr val="tx2"/>
                              </a:solidFill>
                              <a:latin typeface="Cambria Math" panose="02040503050406030204" pitchFamily="18" charset="0"/>
                            </a:rPr>
                          </m:ctrlPr>
                        </m:dPr>
                        <m:e>
                          <m:r>
                            <a:rPr lang="en-US" b="0" i="1" smtClean="0">
                              <a:solidFill>
                                <a:schemeClr val="tx2"/>
                              </a:solidFill>
                              <a:latin typeface="Cambria Math" panose="02040503050406030204" pitchFamily="18" charset="0"/>
                            </a:rPr>
                            <m:t>𝑡</m:t>
                          </m:r>
                        </m:e>
                      </m:d>
                      <m:r>
                        <a:rPr lang="en-US" b="0" i="1" smtClean="0">
                          <a:solidFill>
                            <a:schemeClr val="tx2"/>
                          </a:solidFill>
                          <a:latin typeface="Cambria Math" panose="02040503050406030204" pitchFamily="18" charset="0"/>
                        </a:rPr>
                        <m:t>=</m:t>
                      </m:r>
                      <m:sSub>
                        <m:sSubPr>
                          <m:ctrlPr>
                            <a:rPr lang="en-US" b="0" i="1" smtClean="0">
                              <a:solidFill>
                                <a:schemeClr val="tx2"/>
                              </a:solidFill>
                              <a:latin typeface="Cambria Math" panose="02040503050406030204" pitchFamily="18" charset="0"/>
                            </a:rPr>
                          </m:ctrlPr>
                        </m:sSubPr>
                        <m:e>
                          <m:acc>
                            <m:accPr>
                              <m:chr m:val="⃗"/>
                              <m:ctrlPr>
                                <a:rPr lang="en-US" i="1">
                                  <a:solidFill>
                                    <a:schemeClr val="tx2"/>
                                  </a:solidFill>
                                  <a:latin typeface="Cambria Math" panose="02040503050406030204" pitchFamily="18" charset="0"/>
                                </a:rPr>
                              </m:ctrlPr>
                            </m:accPr>
                            <m:e>
                              <m:r>
                                <a:rPr lang="en-US" i="1">
                                  <a:solidFill>
                                    <a:schemeClr val="tx2"/>
                                  </a:solidFill>
                                  <a:latin typeface="Cambria Math" panose="02040503050406030204" pitchFamily="18" charset="0"/>
                                </a:rPr>
                                <m:t>𝑎</m:t>
                              </m:r>
                            </m:e>
                          </m:acc>
                        </m:e>
                        <m:sub>
                          <m:r>
                            <a:rPr lang="en-US" b="0" i="1" smtClean="0">
                              <a:solidFill>
                                <a:schemeClr val="tx2"/>
                              </a:solidFill>
                              <a:latin typeface="Cambria Math" panose="02040503050406030204" pitchFamily="18" charset="0"/>
                            </a:rPr>
                            <m:t>1</m:t>
                          </m:r>
                        </m:sub>
                      </m:sSub>
                      <m:sSup>
                        <m:sSupPr>
                          <m:ctrlPr>
                            <a:rPr lang="en-US" b="0" i="1" smtClean="0">
                              <a:solidFill>
                                <a:schemeClr val="tx2"/>
                              </a:solidFill>
                              <a:latin typeface="Cambria Math" panose="02040503050406030204" pitchFamily="18" charset="0"/>
                            </a:rPr>
                          </m:ctrlPr>
                        </m:sSupPr>
                        <m:e>
                          <m:d>
                            <m:dPr>
                              <m:ctrlPr>
                                <a:rPr lang="en-US" b="0" i="1" smtClean="0">
                                  <a:solidFill>
                                    <a:schemeClr val="tx2"/>
                                  </a:solidFill>
                                  <a:latin typeface="Cambria Math" panose="02040503050406030204" pitchFamily="18" charset="0"/>
                                </a:rPr>
                              </m:ctrlPr>
                            </m:dPr>
                            <m:e>
                              <m:r>
                                <a:rPr lang="en-US" b="0" i="1" smtClean="0">
                                  <a:solidFill>
                                    <a:schemeClr val="tx2"/>
                                  </a:solidFill>
                                  <a:latin typeface="Cambria Math" panose="02040503050406030204" pitchFamily="18" charset="0"/>
                                </a:rPr>
                                <m:t>𝑥</m:t>
                              </m:r>
                              <m:r>
                                <a:rPr lang="en-US" b="0" i="1" smtClean="0">
                                  <a:solidFill>
                                    <a:schemeClr val="tx2"/>
                                  </a:solidFill>
                                  <a:latin typeface="Cambria Math" panose="02040503050406030204" pitchFamily="18" charset="0"/>
                                </a:rPr>
                                <m:t>−1</m:t>
                              </m:r>
                            </m:e>
                          </m:d>
                        </m:e>
                        <m:sup>
                          <m:r>
                            <a:rPr lang="en-US" b="0" i="1" smtClean="0">
                              <a:solidFill>
                                <a:schemeClr val="tx2"/>
                              </a:solidFill>
                              <a:latin typeface="Cambria Math" panose="02040503050406030204" pitchFamily="18" charset="0"/>
                            </a:rPr>
                            <m:t>3</m:t>
                          </m:r>
                        </m:sup>
                      </m:sSup>
                      <m:r>
                        <a:rPr lang="en-US" b="0" i="1" smtClean="0">
                          <a:solidFill>
                            <a:schemeClr val="tx2"/>
                          </a:solidFill>
                          <a:latin typeface="Cambria Math" panose="02040503050406030204" pitchFamily="18" charset="0"/>
                        </a:rPr>
                        <m:t>+</m:t>
                      </m:r>
                      <m:sSub>
                        <m:sSubPr>
                          <m:ctrlPr>
                            <a:rPr lang="en-US" i="1">
                              <a:solidFill>
                                <a:schemeClr val="tx2"/>
                              </a:solidFill>
                              <a:latin typeface="Cambria Math" panose="02040503050406030204" pitchFamily="18" charset="0"/>
                            </a:rPr>
                          </m:ctrlPr>
                        </m:sSubPr>
                        <m:e>
                          <m:acc>
                            <m:accPr>
                              <m:chr m:val="⃗"/>
                              <m:ctrlPr>
                                <a:rPr lang="en-US" i="1">
                                  <a:solidFill>
                                    <a:schemeClr val="tx2"/>
                                  </a:solidFill>
                                  <a:latin typeface="Cambria Math" panose="02040503050406030204" pitchFamily="18" charset="0"/>
                                </a:rPr>
                              </m:ctrlPr>
                            </m:accPr>
                            <m:e>
                              <m:r>
                                <a:rPr lang="en-US" i="1">
                                  <a:solidFill>
                                    <a:schemeClr val="tx2"/>
                                  </a:solidFill>
                                  <a:latin typeface="Cambria Math" panose="02040503050406030204" pitchFamily="18" charset="0"/>
                                </a:rPr>
                                <m:t>𝑎</m:t>
                              </m:r>
                            </m:e>
                          </m:acc>
                        </m:e>
                        <m:sub>
                          <m:r>
                            <a:rPr lang="en-US" b="0" i="1" smtClean="0">
                              <a:solidFill>
                                <a:schemeClr val="tx2"/>
                              </a:solidFill>
                              <a:latin typeface="Cambria Math" panose="02040503050406030204" pitchFamily="18" charset="0"/>
                            </a:rPr>
                            <m:t>2</m:t>
                          </m:r>
                        </m:sub>
                      </m:sSub>
                      <m:r>
                        <a:rPr lang="en-US" b="0" i="1" smtClean="0">
                          <a:solidFill>
                            <a:schemeClr val="tx2"/>
                          </a:solidFill>
                          <a:latin typeface="Cambria Math" panose="02040503050406030204" pitchFamily="18" charset="0"/>
                        </a:rPr>
                        <m:t>𝑥</m:t>
                      </m:r>
                      <m:sSup>
                        <m:sSupPr>
                          <m:ctrlPr>
                            <a:rPr lang="en-US" b="0" i="1" smtClean="0">
                              <a:solidFill>
                                <a:schemeClr val="tx2"/>
                              </a:solidFill>
                              <a:latin typeface="Cambria Math" panose="02040503050406030204" pitchFamily="18" charset="0"/>
                            </a:rPr>
                          </m:ctrlPr>
                        </m:sSupPr>
                        <m:e>
                          <m:d>
                            <m:dPr>
                              <m:ctrlPr>
                                <a:rPr lang="en-US" b="0" i="1" smtClean="0">
                                  <a:solidFill>
                                    <a:schemeClr val="tx2"/>
                                  </a:solidFill>
                                  <a:latin typeface="Cambria Math" panose="02040503050406030204" pitchFamily="18" charset="0"/>
                                </a:rPr>
                              </m:ctrlPr>
                            </m:dPr>
                            <m:e>
                              <m:r>
                                <a:rPr lang="en-US" b="0" i="1" smtClean="0">
                                  <a:solidFill>
                                    <a:schemeClr val="tx2"/>
                                  </a:solidFill>
                                  <a:latin typeface="Cambria Math" panose="02040503050406030204" pitchFamily="18" charset="0"/>
                                </a:rPr>
                                <m:t>𝑥</m:t>
                              </m:r>
                              <m:r>
                                <a:rPr lang="en-US" b="0" i="1" smtClean="0">
                                  <a:solidFill>
                                    <a:schemeClr val="tx2"/>
                                  </a:solidFill>
                                  <a:latin typeface="Cambria Math" panose="02040503050406030204" pitchFamily="18" charset="0"/>
                                </a:rPr>
                                <m:t>−1</m:t>
                              </m:r>
                            </m:e>
                          </m:d>
                        </m:e>
                        <m:sup>
                          <m:r>
                            <a:rPr lang="en-US" b="0" i="1" smtClean="0">
                              <a:solidFill>
                                <a:schemeClr val="tx2"/>
                              </a:solidFill>
                              <a:latin typeface="Cambria Math" panose="02040503050406030204" pitchFamily="18" charset="0"/>
                            </a:rPr>
                            <m:t>2</m:t>
                          </m:r>
                        </m:sup>
                      </m:sSup>
                      <m:r>
                        <a:rPr lang="en-US" b="0" i="1" smtClean="0">
                          <a:solidFill>
                            <a:schemeClr val="tx2"/>
                          </a:solidFill>
                          <a:latin typeface="Cambria Math" panose="02040503050406030204" pitchFamily="18" charset="0"/>
                        </a:rPr>
                        <m:t>+</m:t>
                      </m:r>
                      <m:sSub>
                        <m:sSubPr>
                          <m:ctrlPr>
                            <a:rPr lang="en-US" i="1">
                              <a:solidFill>
                                <a:schemeClr val="tx2"/>
                              </a:solidFill>
                              <a:latin typeface="Cambria Math" panose="02040503050406030204" pitchFamily="18" charset="0"/>
                            </a:rPr>
                          </m:ctrlPr>
                        </m:sSubPr>
                        <m:e>
                          <m:acc>
                            <m:accPr>
                              <m:chr m:val="⃗"/>
                              <m:ctrlPr>
                                <a:rPr lang="en-US" i="1">
                                  <a:solidFill>
                                    <a:schemeClr val="tx2"/>
                                  </a:solidFill>
                                  <a:latin typeface="Cambria Math" panose="02040503050406030204" pitchFamily="18" charset="0"/>
                                </a:rPr>
                              </m:ctrlPr>
                            </m:accPr>
                            <m:e>
                              <m:r>
                                <a:rPr lang="en-US" i="1">
                                  <a:solidFill>
                                    <a:schemeClr val="tx2"/>
                                  </a:solidFill>
                                  <a:latin typeface="Cambria Math" panose="02040503050406030204" pitchFamily="18" charset="0"/>
                                </a:rPr>
                                <m:t>𝑎</m:t>
                              </m:r>
                            </m:e>
                          </m:acc>
                        </m:e>
                        <m:sub>
                          <m:r>
                            <a:rPr lang="en-US" b="0" i="1" smtClean="0">
                              <a:solidFill>
                                <a:schemeClr val="tx2"/>
                              </a:solidFill>
                              <a:latin typeface="Cambria Math" panose="02040503050406030204" pitchFamily="18" charset="0"/>
                            </a:rPr>
                            <m:t>3</m:t>
                          </m:r>
                        </m:sub>
                      </m:sSub>
                      <m:sSup>
                        <m:sSupPr>
                          <m:ctrlPr>
                            <a:rPr lang="en-US" b="0" i="1" smtClean="0">
                              <a:solidFill>
                                <a:schemeClr val="tx2"/>
                              </a:solidFill>
                              <a:latin typeface="Cambria Math" panose="02040503050406030204" pitchFamily="18" charset="0"/>
                            </a:rPr>
                          </m:ctrlPr>
                        </m:sSupPr>
                        <m:e>
                          <m:r>
                            <a:rPr lang="en-US" b="0" i="1" smtClean="0">
                              <a:solidFill>
                                <a:schemeClr val="tx2"/>
                              </a:solidFill>
                              <a:latin typeface="Cambria Math" panose="02040503050406030204" pitchFamily="18" charset="0"/>
                            </a:rPr>
                            <m:t>𝑥</m:t>
                          </m:r>
                        </m:e>
                        <m:sup>
                          <m:r>
                            <a:rPr lang="en-US" b="0" i="1" smtClean="0">
                              <a:solidFill>
                                <a:schemeClr val="tx2"/>
                              </a:solidFill>
                              <a:latin typeface="Cambria Math" panose="02040503050406030204" pitchFamily="18" charset="0"/>
                            </a:rPr>
                            <m:t>2</m:t>
                          </m:r>
                        </m:sup>
                      </m:sSup>
                      <m:d>
                        <m:dPr>
                          <m:ctrlPr>
                            <a:rPr lang="en-US" b="0" i="1" smtClean="0">
                              <a:solidFill>
                                <a:schemeClr val="tx2"/>
                              </a:solidFill>
                              <a:latin typeface="Cambria Math" panose="02040503050406030204" pitchFamily="18" charset="0"/>
                            </a:rPr>
                          </m:ctrlPr>
                        </m:dPr>
                        <m:e>
                          <m:r>
                            <a:rPr lang="en-US" b="0" i="1" smtClean="0">
                              <a:solidFill>
                                <a:schemeClr val="tx2"/>
                              </a:solidFill>
                              <a:latin typeface="Cambria Math" panose="02040503050406030204" pitchFamily="18" charset="0"/>
                            </a:rPr>
                            <m:t>𝑥</m:t>
                          </m:r>
                          <m:r>
                            <a:rPr lang="en-US" b="0" i="1" smtClean="0">
                              <a:solidFill>
                                <a:schemeClr val="tx2"/>
                              </a:solidFill>
                              <a:latin typeface="Cambria Math" panose="02040503050406030204" pitchFamily="18" charset="0"/>
                            </a:rPr>
                            <m:t>−1</m:t>
                          </m:r>
                        </m:e>
                      </m:d>
                      <m:r>
                        <a:rPr lang="en-US" b="0" i="1" smtClean="0">
                          <a:solidFill>
                            <a:schemeClr val="tx2"/>
                          </a:solidFill>
                          <a:latin typeface="Cambria Math" panose="02040503050406030204" pitchFamily="18" charset="0"/>
                        </a:rPr>
                        <m:t>+</m:t>
                      </m:r>
                      <m:sSub>
                        <m:sSubPr>
                          <m:ctrlPr>
                            <a:rPr lang="en-US" i="1">
                              <a:solidFill>
                                <a:schemeClr val="tx2"/>
                              </a:solidFill>
                              <a:latin typeface="Cambria Math" panose="02040503050406030204" pitchFamily="18" charset="0"/>
                            </a:rPr>
                          </m:ctrlPr>
                        </m:sSubPr>
                        <m:e>
                          <m:acc>
                            <m:accPr>
                              <m:chr m:val="⃗"/>
                              <m:ctrlPr>
                                <a:rPr lang="en-US" i="1">
                                  <a:solidFill>
                                    <a:schemeClr val="tx2"/>
                                  </a:solidFill>
                                  <a:latin typeface="Cambria Math" panose="02040503050406030204" pitchFamily="18" charset="0"/>
                                </a:rPr>
                              </m:ctrlPr>
                            </m:accPr>
                            <m:e>
                              <m:r>
                                <a:rPr lang="en-US" i="1">
                                  <a:solidFill>
                                    <a:schemeClr val="tx2"/>
                                  </a:solidFill>
                                  <a:latin typeface="Cambria Math" panose="02040503050406030204" pitchFamily="18" charset="0"/>
                                </a:rPr>
                                <m:t>𝑎</m:t>
                              </m:r>
                            </m:e>
                          </m:acc>
                        </m:e>
                        <m:sub>
                          <m:r>
                            <a:rPr lang="en-US" b="0" i="1" smtClean="0">
                              <a:solidFill>
                                <a:schemeClr val="tx2"/>
                              </a:solidFill>
                              <a:latin typeface="Cambria Math" panose="02040503050406030204" pitchFamily="18" charset="0"/>
                            </a:rPr>
                            <m:t>4</m:t>
                          </m:r>
                        </m:sub>
                      </m:sSub>
                      <m:sSup>
                        <m:sSupPr>
                          <m:ctrlPr>
                            <a:rPr lang="en-US" b="0" i="1" smtClean="0">
                              <a:solidFill>
                                <a:schemeClr val="tx2"/>
                              </a:solidFill>
                              <a:latin typeface="Cambria Math" panose="02040503050406030204" pitchFamily="18" charset="0"/>
                            </a:rPr>
                          </m:ctrlPr>
                        </m:sSupPr>
                        <m:e>
                          <m:r>
                            <a:rPr lang="en-US" b="0" i="1" smtClean="0">
                              <a:solidFill>
                                <a:schemeClr val="tx2"/>
                              </a:solidFill>
                              <a:latin typeface="Cambria Math" panose="02040503050406030204" pitchFamily="18" charset="0"/>
                            </a:rPr>
                            <m:t>𝑥</m:t>
                          </m:r>
                        </m:e>
                        <m:sup>
                          <m:r>
                            <a:rPr lang="en-US" b="0" i="1" smtClean="0">
                              <a:solidFill>
                                <a:schemeClr val="tx2"/>
                              </a:solidFill>
                              <a:latin typeface="Cambria Math" panose="02040503050406030204" pitchFamily="18" charset="0"/>
                            </a:rPr>
                            <m:t>3</m:t>
                          </m:r>
                        </m:sup>
                      </m:sSup>
                    </m:oMath>
                  </m:oMathPara>
                </a14:m>
                <a:endParaRPr lang="en-GB" dirty="0">
                  <a:solidFill>
                    <a:schemeClr val="tx2"/>
                  </a:solidFill>
                </a:endParaRPr>
              </a:p>
            </p:txBody>
          </p:sp>
        </mc:Choice>
        <mc:Fallback xmlns="">
          <p:sp>
            <p:nvSpPr>
              <p:cNvPr id="11" name="TextBox 10">
                <a:extLst>
                  <a:ext uri="{FF2B5EF4-FFF2-40B4-BE49-F238E27FC236}">
                    <a16:creationId xmlns:a16="http://schemas.microsoft.com/office/drawing/2014/main" id="{598CFB51-2131-D326-7D00-D520086456DF}"/>
                  </a:ext>
                </a:extLst>
              </p:cNvPr>
              <p:cNvSpPr txBox="1">
                <a:spLocks noRot="1" noChangeAspect="1" noMove="1" noResize="1" noEditPoints="1" noAdjustHandles="1" noChangeArrowheads="1" noChangeShapeType="1" noTextEdit="1"/>
              </p:cNvSpPr>
              <p:nvPr/>
            </p:nvSpPr>
            <p:spPr>
              <a:xfrm>
                <a:off x="5816472" y="1955164"/>
                <a:ext cx="5692801" cy="310598"/>
              </a:xfrm>
              <a:prstGeom prst="rect">
                <a:avLst/>
              </a:prstGeom>
              <a:blipFill>
                <a:blip r:embed="rId7"/>
                <a:stretch>
                  <a:fillRect t="-29412" b="-15686"/>
                </a:stretch>
              </a:blipFill>
            </p:spPr>
            <p:txBody>
              <a:bodyPr/>
              <a:lstStyle/>
              <a:p>
                <a:r>
                  <a:rPr lang="en-GB">
                    <a:noFill/>
                  </a:rPr>
                  <a:t> </a:t>
                </a:r>
              </a:p>
            </p:txBody>
          </p:sp>
        </mc:Fallback>
      </mc:AlternateContent>
      <p:sp>
        <p:nvSpPr>
          <p:cNvPr id="13" name="Oval 12">
            <a:extLst>
              <a:ext uri="{FF2B5EF4-FFF2-40B4-BE49-F238E27FC236}">
                <a16:creationId xmlns:a16="http://schemas.microsoft.com/office/drawing/2014/main" id="{3E2E44FD-E6A5-18F2-1C75-6A0EB37C6A0B}"/>
              </a:ext>
            </a:extLst>
          </p:cNvPr>
          <p:cNvSpPr/>
          <p:nvPr/>
        </p:nvSpPr>
        <p:spPr>
          <a:xfrm>
            <a:off x="3551541" y="3546672"/>
            <a:ext cx="124348" cy="124372"/>
          </a:xfrm>
          <a:prstGeom prst="ellipse">
            <a:avLst/>
          </a:prstGeom>
          <a:solidFill>
            <a:srgbClr val="00B05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Freeform: Shape 19">
            <a:extLst>
              <a:ext uri="{FF2B5EF4-FFF2-40B4-BE49-F238E27FC236}">
                <a16:creationId xmlns:a16="http://schemas.microsoft.com/office/drawing/2014/main" id="{AFEA76F8-8C70-D155-944E-D75E26015C65}"/>
              </a:ext>
            </a:extLst>
          </p:cNvPr>
          <p:cNvSpPr/>
          <p:nvPr/>
        </p:nvSpPr>
        <p:spPr>
          <a:xfrm>
            <a:off x="3074987" y="3192658"/>
            <a:ext cx="1066800" cy="714375"/>
          </a:xfrm>
          <a:custGeom>
            <a:avLst/>
            <a:gdLst>
              <a:gd name="connsiteX0" fmla="*/ 0 w 1676400"/>
              <a:gd name="connsiteY0" fmla="*/ 95250 h 387908"/>
              <a:gd name="connsiteX1" fmla="*/ 387350 w 1676400"/>
              <a:gd name="connsiteY1" fmla="*/ 107950 h 387908"/>
              <a:gd name="connsiteX2" fmla="*/ 635000 w 1676400"/>
              <a:gd name="connsiteY2" fmla="*/ 387350 h 387908"/>
              <a:gd name="connsiteX3" fmla="*/ 1117600 w 1676400"/>
              <a:gd name="connsiteY3" fmla="*/ 25400 h 387908"/>
              <a:gd name="connsiteX4" fmla="*/ 1346200 w 1676400"/>
              <a:gd name="connsiteY4" fmla="*/ 254000 h 387908"/>
              <a:gd name="connsiteX5" fmla="*/ 1676400 w 1676400"/>
              <a:gd name="connsiteY5" fmla="*/ 0 h 387908"/>
              <a:gd name="connsiteX0" fmla="*/ 0 w 1885950"/>
              <a:gd name="connsiteY0" fmla="*/ 127000 h 387897"/>
              <a:gd name="connsiteX1" fmla="*/ 596900 w 1885950"/>
              <a:gd name="connsiteY1" fmla="*/ 107950 h 387897"/>
              <a:gd name="connsiteX2" fmla="*/ 844550 w 1885950"/>
              <a:gd name="connsiteY2" fmla="*/ 387350 h 387897"/>
              <a:gd name="connsiteX3" fmla="*/ 1327150 w 1885950"/>
              <a:gd name="connsiteY3" fmla="*/ 25400 h 387897"/>
              <a:gd name="connsiteX4" fmla="*/ 1555750 w 1885950"/>
              <a:gd name="connsiteY4" fmla="*/ 254000 h 387897"/>
              <a:gd name="connsiteX5" fmla="*/ 1885950 w 1885950"/>
              <a:gd name="connsiteY5" fmla="*/ 0 h 387897"/>
              <a:gd name="connsiteX0" fmla="*/ 0 w 1885950"/>
              <a:gd name="connsiteY0" fmla="*/ 134739 h 395127"/>
              <a:gd name="connsiteX1" fmla="*/ 444500 w 1885950"/>
              <a:gd name="connsiteY1" fmla="*/ 7739 h 395127"/>
              <a:gd name="connsiteX2" fmla="*/ 844550 w 1885950"/>
              <a:gd name="connsiteY2" fmla="*/ 395089 h 395127"/>
              <a:gd name="connsiteX3" fmla="*/ 1327150 w 1885950"/>
              <a:gd name="connsiteY3" fmla="*/ 33139 h 395127"/>
              <a:gd name="connsiteX4" fmla="*/ 1555750 w 1885950"/>
              <a:gd name="connsiteY4" fmla="*/ 261739 h 395127"/>
              <a:gd name="connsiteX5" fmla="*/ 1885950 w 1885950"/>
              <a:gd name="connsiteY5" fmla="*/ 7739 h 395127"/>
              <a:gd name="connsiteX0" fmla="*/ 0 w 1885950"/>
              <a:gd name="connsiteY0" fmla="*/ 520742 h 647846"/>
              <a:gd name="connsiteX1" fmla="*/ 444500 w 1885950"/>
              <a:gd name="connsiteY1" fmla="*/ 393742 h 647846"/>
              <a:gd name="connsiteX2" fmla="*/ 806450 w 1885950"/>
              <a:gd name="connsiteY2" fmla="*/ 42 h 647846"/>
              <a:gd name="connsiteX3" fmla="*/ 1327150 w 1885950"/>
              <a:gd name="connsiteY3" fmla="*/ 419142 h 647846"/>
              <a:gd name="connsiteX4" fmla="*/ 1555750 w 1885950"/>
              <a:gd name="connsiteY4" fmla="*/ 647742 h 647846"/>
              <a:gd name="connsiteX5" fmla="*/ 1885950 w 1885950"/>
              <a:gd name="connsiteY5" fmla="*/ 393742 h 647846"/>
              <a:gd name="connsiteX0" fmla="*/ 0 w 1885950"/>
              <a:gd name="connsiteY0" fmla="*/ 521930 h 649034"/>
              <a:gd name="connsiteX1" fmla="*/ 425450 w 1885950"/>
              <a:gd name="connsiteY1" fmla="*/ 299680 h 649034"/>
              <a:gd name="connsiteX2" fmla="*/ 806450 w 1885950"/>
              <a:gd name="connsiteY2" fmla="*/ 1230 h 649034"/>
              <a:gd name="connsiteX3" fmla="*/ 1327150 w 1885950"/>
              <a:gd name="connsiteY3" fmla="*/ 420330 h 649034"/>
              <a:gd name="connsiteX4" fmla="*/ 1555750 w 1885950"/>
              <a:gd name="connsiteY4" fmla="*/ 648930 h 649034"/>
              <a:gd name="connsiteX5" fmla="*/ 1885950 w 1885950"/>
              <a:gd name="connsiteY5" fmla="*/ 394930 h 649034"/>
              <a:gd name="connsiteX0" fmla="*/ 0 w 1885950"/>
              <a:gd name="connsiteY0" fmla="*/ 408401 h 535492"/>
              <a:gd name="connsiteX1" fmla="*/ 425450 w 1885950"/>
              <a:gd name="connsiteY1" fmla="*/ 186151 h 535492"/>
              <a:gd name="connsiteX2" fmla="*/ 730250 w 1885950"/>
              <a:gd name="connsiteY2" fmla="*/ 2001 h 535492"/>
              <a:gd name="connsiteX3" fmla="*/ 1327150 w 1885950"/>
              <a:gd name="connsiteY3" fmla="*/ 306801 h 535492"/>
              <a:gd name="connsiteX4" fmla="*/ 1555750 w 1885950"/>
              <a:gd name="connsiteY4" fmla="*/ 535401 h 535492"/>
              <a:gd name="connsiteX5" fmla="*/ 1885950 w 1885950"/>
              <a:gd name="connsiteY5" fmla="*/ 281401 h 535492"/>
              <a:gd name="connsiteX0" fmla="*/ 0 w 1885950"/>
              <a:gd name="connsiteY0" fmla="*/ 406434 h 533525"/>
              <a:gd name="connsiteX1" fmla="*/ 285750 w 1885950"/>
              <a:gd name="connsiteY1" fmla="*/ 285784 h 533525"/>
              <a:gd name="connsiteX2" fmla="*/ 730250 w 1885950"/>
              <a:gd name="connsiteY2" fmla="*/ 34 h 533525"/>
              <a:gd name="connsiteX3" fmla="*/ 1327150 w 1885950"/>
              <a:gd name="connsiteY3" fmla="*/ 304834 h 533525"/>
              <a:gd name="connsiteX4" fmla="*/ 1555750 w 1885950"/>
              <a:gd name="connsiteY4" fmla="*/ 533434 h 533525"/>
              <a:gd name="connsiteX5" fmla="*/ 1885950 w 1885950"/>
              <a:gd name="connsiteY5" fmla="*/ 279434 h 533525"/>
              <a:gd name="connsiteX0" fmla="*/ 0 w 1885950"/>
              <a:gd name="connsiteY0" fmla="*/ 406434 h 533525"/>
              <a:gd name="connsiteX1" fmla="*/ 285750 w 1885950"/>
              <a:gd name="connsiteY1" fmla="*/ 285784 h 533525"/>
              <a:gd name="connsiteX2" fmla="*/ 736600 w 1885950"/>
              <a:gd name="connsiteY2" fmla="*/ 34 h 533525"/>
              <a:gd name="connsiteX3" fmla="*/ 1327150 w 1885950"/>
              <a:gd name="connsiteY3" fmla="*/ 304834 h 533525"/>
              <a:gd name="connsiteX4" fmla="*/ 1555750 w 1885950"/>
              <a:gd name="connsiteY4" fmla="*/ 533434 h 533525"/>
              <a:gd name="connsiteX5" fmla="*/ 1885950 w 1885950"/>
              <a:gd name="connsiteY5" fmla="*/ 279434 h 533525"/>
              <a:gd name="connsiteX0" fmla="*/ 0 w 1885950"/>
              <a:gd name="connsiteY0" fmla="*/ 561152 h 688175"/>
              <a:gd name="connsiteX1" fmla="*/ 285750 w 1885950"/>
              <a:gd name="connsiteY1" fmla="*/ 440502 h 688175"/>
              <a:gd name="connsiteX2" fmla="*/ 736600 w 1885950"/>
              <a:gd name="connsiteY2" fmla="*/ 154752 h 688175"/>
              <a:gd name="connsiteX3" fmla="*/ 863600 w 1885950"/>
              <a:gd name="connsiteY3" fmla="*/ 27752 h 688175"/>
              <a:gd name="connsiteX4" fmla="*/ 1555750 w 1885950"/>
              <a:gd name="connsiteY4" fmla="*/ 688152 h 688175"/>
              <a:gd name="connsiteX5" fmla="*/ 1885950 w 1885950"/>
              <a:gd name="connsiteY5" fmla="*/ 434152 h 688175"/>
              <a:gd name="connsiteX0" fmla="*/ 0 w 1885950"/>
              <a:gd name="connsiteY0" fmla="*/ 566493 h 693516"/>
              <a:gd name="connsiteX1" fmla="*/ 285750 w 1885950"/>
              <a:gd name="connsiteY1" fmla="*/ 445843 h 693516"/>
              <a:gd name="connsiteX2" fmla="*/ 679450 w 1885950"/>
              <a:gd name="connsiteY2" fmla="*/ 134693 h 693516"/>
              <a:gd name="connsiteX3" fmla="*/ 863600 w 1885950"/>
              <a:gd name="connsiteY3" fmla="*/ 33093 h 693516"/>
              <a:gd name="connsiteX4" fmla="*/ 1555750 w 1885950"/>
              <a:gd name="connsiteY4" fmla="*/ 693493 h 693516"/>
              <a:gd name="connsiteX5" fmla="*/ 1885950 w 1885950"/>
              <a:gd name="connsiteY5" fmla="*/ 439493 h 693516"/>
              <a:gd name="connsiteX0" fmla="*/ 0 w 1885950"/>
              <a:gd name="connsiteY0" fmla="*/ 640615 h 767635"/>
              <a:gd name="connsiteX1" fmla="*/ 285750 w 1885950"/>
              <a:gd name="connsiteY1" fmla="*/ 519965 h 767635"/>
              <a:gd name="connsiteX2" fmla="*/ 679450 w 1885950"/>
              <a:gd name="connsiteY2" fmla="*/ 208815 h 767635"/>
              <a:gd name="connsiteX3" fmla="*/ 1009650 w 1885950"/>
              <a:gd name="connsiteY3" fmla="*/ 24665 h 767635"/>
              <a:gd name="connsiteX4" fmla="*/ 1555750 w 1885950"/>
              <a:gd name="connsiteY4" fmla="*/ 767615 h 767635"/>
              <a:gd name="connsiteX5" fmla="*/ 1885950 w 1885950"/>
              <a:gd name="connsiteY5" fmla="*/ 513615 h 767635"/>
              <a:gd name="connsiteX0" fmla="*/ 0 w 1885950"/>
              <a:gd name="connsiteY0" fmla="*/ 692173 h 692173"/>
              <a:gd name="connsiteX1" fmla="*/ 285750 w 1885950"/>
              <a:gd name="connsiteY1" fmla="*/ 571523 h 692173"/>
              <a:gd name="connsiteX2" fmla="*/ 679450 w 1885950"/>
              <a:gd name="connsiteY2" fmla="*/ 260373 h 692173"/>
              <a:gd name="connsiteX3" fmla="*/ 1009650 w 1885950"/>
              <a:gd name="connsiteY3" fmla="*/ 76223 h 692173"/>
              <a:gd name="connsiteX4" fmla="*/ 1092200 w 1885950"/>
              <a:gd name="connsiteY4" fmla="*/ 23 h 692173"/>
              <a:gd name="connsiteX5" fmla="*/ 1885950 w 1885950"/>
              <a:gd name="connsiteY5" fmla="*/ 565173 h 692173"/>
              <a:gd name="connsiteX0" fmla="*/ 0 w 1092200"/>
              <a:gd name="connsiteY0" fmla="*/ 692150 h 692150"/>
              <a:gd name="connsiteX1" fmla="*/ 285750 w 1092200"/>
              <a:gd name="connsiteY1" fmla="*/ 571500 h 692150"/>
              <a:gd name="connsiteX2" fmla="*/ 679450 w 1092200"/>
              <a:gd name="connsiteY2" fmla="*/ 260350 h 692150"/>
              <a:gd name="connsiteX3" fmla="*/ 1009650 w 1092200"/>
              <a:gd name="connsiteY3" fmla="*/ 76200 h 692150"/>
              <a:gd name="connsiteX4" fmla="*/ 1092200 w 1092200"/>
              <a:gd name="connsiteY4" fmla="*/ 0 h 692150"/>
              <a:gd name="connsiteX0" fmla="*/ 0 w 1092200"/>
              <a:gd name="connsiteY0" fmla="*/ 692150 h 692150"/>
              <a:gd name="connsiteX1" fmla="*/ 285750 w 1092200"/>
              <a:gd name="connsiteY1" fmla="*/ 571500 h 692150"/>
              <a:gd name="connsiteX2" fmla="*/ 615950 w 1092200"/>
              <a:gd name="connsiteY2" fmla="*/ 330200 h 692150"/>
              <a:gd name="connsiteX3" fmla="*/ 1009650 w 1092200"/>
              <a:gd name="connsiteY3" fmla="*/ 76200 h 692150"/>
              <a:gd name="connsiteX4" fmla="*/ 1092200 w 1092200"/>
              <a:gd name="connsiteY4" fmla="*/ 0 h 692150"/>
              <a:gd name="connsiteX0" fmla="*/ 0 w 1092200"/>
              <a:gd name="connsiteY0" fmla="*/ 692150 h 692150"/>
              <a:gd name="connsiteX1" fmla="*/ 285750 w 1092200"/>
              <a:gd name="connsiteY1" fmla="*/ 571500 h 692150"/>
              <a:gd name="connsiteX2" fmla="*/ 615950 w 1092200"/>
              <a:gd name="connsiteY2" fmla="*/ 330200 h 692150"/>
              <a:gd name="connsiteX3" fmla="*/ 863600 w 1092200"/>
              <a:gd name="connsiteY3" fmla="*/ 95250 h 692150"/>
              <a:gd name="connsiteX4" fmla="*/ 1092200 w 1092200"/>
              <a:gd name="connsiteY4" fmla="*/ 0 h 692150"/>
              <a:gd name="connsiteX0" fmla="*/ 0 w 1073150"/>
              <a:gd name="connsiteY0" fmla="*/ 730250 h 730250"/>
              <a:gd name="connsiteX1" fmla="*/ 285750 w 1073150"/>
              <a:gd name="connsiteY1" fmla="*/ 609600 h 730250"/>
              <a:gd name="connsiteX2" fmla="*/ 615950 w 1073150"/>
              <a:gd name="connsiteY2" fmla="*/ 368300 h 730250"/>
              <a:gd name="connsiteX3" fmla="*/ 863600 w 1073150"/>
              <a:gd name="connsiteY3" fmla="*/ 133350 h 730250"/>
              <a:gd name="connsiteX4" fmla="*/ 1073150 w 1073150"/>
              <a:gd name="connsiteY4" fmla="*/ 0 h 730250"/>
              <a:gd name="connsiteX0" fmla="*/ 0 w 1073150"/>
              <a:gd name="connsiteY0" fmla="*/ 730250 h 730250"/>
              <a:gd name="connsiteX1" fmla="*/ 285750 w 1073150"/>
              <a:gd name="connsiteY1" fmla="*/ 609600 h 730250"/>
              <a:gd name="connsiteX2" fmla="*/ 615950 w 1073150"/>
              <a:gd name="connsiteY2" fmla="*/ 368300 h 730250"/>
              <a:gd name="connsiteX3" fmla="*/ 863600 w 1073150"/>
              <a:gd name="connsiteY3" fmla="*/ 133350 h 730250"/>
              <a:gd name="connsiteX4" fmla="*/ 1073150 w 1073150"/>
              <a:gd name="connsiteY4" fmla="*/ 0 h 730250"/>
              <a:gd name="connsiteX0" fmla="*/ 0 w 1073150"/>
              <a:gd name="connsiteY0" fmla="*/ 730250 h 730250"/>
              <a:gd name="connsiteX1" fmla="*/ 285750 w 1073150"/>
              <a:gd name="connsiteY1" fmla="*/ 609600 h 730250"/>
              <a:gd name="connsiteX2" fmla="*/ 558800 w 1073150"/>
              <a:gd name="connsiteY2" fmla="*/ 406400 h 730250"/>
              <a:gd name="connsiteX3" fmla="*/ 863600 w 1073150"/>
              <a:gd name="connsiteY3" fmla="*/ 133350 h 730250"/>
              <a:gd name="connsiteX4" fmla="*/ 1073150 w 1073150"/>
              <a:gd name="connsiteY4" fmla="*/ 0 h 730250"/>
              <a:gd name="connsiteX0" fmla="*/ 0 w 1073150"/>
              <a:gd name="connsiteY0" fmla="*/ 730250 h 730250"/>
              <a:gd name="connsiteX1" fmla="*/ 285750 w 1073150"/>
              <a:gd name="connsiteY1" fmla="*/ 609600 h 730250"/>
              <a:gd name="connsiteX2" fmla="*/ 542925 w 1073150"/>
              <a:gd name="connsiteY2" fmla="*/ 412750 h 730250"/>
              <a:gd name="connsiteX3" fmla="*/ 863600 w 1073150"/>
              <a:gd name="connsiteY3" fmla="*/ 133350 h 730250"/>
              <a:gd name="connsiteX4" fmla="*/ 1073150 w 1073150"/>
              <a:gd name="connsiteY4" fmla="*/ 0 h 730250"/>
              <a:gd name="connsiteX0" fmla="*/ 0 w 1073150"/>
              <a:gd name="connsiteY0" fmla="*/ 730250 h 730250"/>
              <a:gd name="connsiteX1" fmla="*/ 285750 w 1073150"/>
              <a:gd name="connsiteY1" fmla="*/ 609600 h 730250"/>
              <a:gd name="connsiteX2" fmla="*/ 542925 w 1073150"/>
              <a:gd name="connsiteY2" fmla="*/ 412750 h 730250"/>
              <a:gd name="connsiteX3" fmla="*/ 863600 w 1073150"/>
              <a:gd name="connsiteY3" fmla="*/ 133350 h 730250"/>
              <a:gd name="connsiteX4" fmla="*/ 1073150 w 1073150"/>
              <a:gd name="connsiteY4" fmla="*/ 0 h 730250"/>
              <a:gd name="connsiteX0" fmla="*/ 0 w 1073150"/>
              <a:gd name="connsiteY0" fmla="*/ 730250 h 730250"/>
              <a:gd name="connsiteX1" fmla="*/ 285750 w 1073150"/>
              <a:gd name="connsiteY1" fmla="*/ 609600 h 730250"/>
              <a:gd name="connsiteX2" fmla="*/ 552450 w 1073150"/>
              <a:gd name="connsiteY2" fmla="*/ 400050 h 730250"/>
              <a:gd name="connsiteX3" fmla="*/ 863600 w 1073150"/>
              <a:gd name="connsiteY3" fmla="*/ 133350 h 730250"/>
              <a:gd name="connsiteX4" fmla="*/ 1073150 w 1073150"/>
              <a:gd name="connsiteY4" fmla="*/ 0 h 730250"/>
              <a:gd name="connsiteX0" fmla="*/ 0 w 1073150"/>
              <a:gd name="connsiteY0" fmla="*/ 730250 h 730250"/>
              <a:gd name="connsiteX1" fmla="*/ 285750 w 1073150"/>
              <a:gd name="connsiteY1" fmla="*/ 609600 h 730250"/>
              <a:gd name="connsiteX2" fmla="*/ 552450 w 1073150"/>
              <a:gd name="connsiteY2" fmla="*/ 400050 h 730250"/>
              <a:gd name="connsiteX3" fmla="*/ 863600 w 1073150"/>
              <a:gd name="connsiteY3" fmla="*/ 133350 h 730250"/>
              <a:gd name="connsiteX4" fmla="*/ 1073150 w 1073150"/>
              <a:gd name="connsiteY4" fmla="*/ 0 h 730250"/>
              <a:gd name="connsiteX0" fmla="*/ 0 w 1073150"/>
              <a:gd name="connsiteY0" fmla="*/ 730250 h 730250"/>
              <a:gd name="connsiteX1" fmla="*/ 285750 w 1073150"/>
              <a:gd name="connsiteY1" fmla="*/ 609600 h 730250"/>
              <a:gd name="connsiteX2" fmla="*/ 552450 w 1073150"/>
              <a:gd name="connsiteY2" fmla="*/ 400050 h 730250"/>
              <a:gd name="connsiteX3" fmla="*/ 863600 w 1073150"/>
              <a:gd name="connsiteY3" fmla="*/ 133350 h 730250"/>
              <a:gd name="connsiteX4" fmla="*/ 1073150 w 1073150"/>
              <a:gd name="connsiteY4" fmla="*/ 0 h 730250"/>
              <a:gd name="connsiteX0" fmla="*/ 0 w 1076325"/>
              <a:gd name="connsiteY0" fmla="*/ 727075 h 727075"/>
              <a:gd name="connsiteX1" fmla="*/ 288925 w 1076325"/>
              <a:gd name="connsiteY1" fmla="*/ 609600 h 727075"/>
              <a:gd name="connsiteX2" fmla="*/ 555625 w 1076325"/>
              <a:gd name="connsiteY2" fmla="*/ 400050 h 727075"/>
              <a:gd name="connsiteX3" fmla="*/ 866775 w 1076325"/>
              <a:gd name="connsiteY3" fmla="*/ 133350 h 727075"/>
              <a:gd name="connsiteX4" fmla="*/ 1076325 w 1076325"/>
              <a:gd name="connsiteY4" fmla="*/ 0 h 727075"/>
              <a:gd name="connsiteX0" fmla="*/ 0 w 1076325"/>
              <a:gd name="connsiteY0" fmla="*/ 727075 h 727075"/>
              <a:gd name="connsiteX1" fmla="*/ 288925 w 1076325"/>
              <a:gd name="connsiteY1" fmla="*/ 609600 h 727075"/>
              <a:gd name="connsiteX2" fmla="*/ 558800 w 1076325"/>
              <a:gd name="connsiteY2" fmla="*/ 257175 h 727075"/>
              <a:gd name="connsiteX3" fmla="*/ 866775 w 1076325"/>
              <a:gd name="connsiteY3" fmla="*/ 133350 h 727075"/>
              <a:gd name="connsiteX4" fmla="*/ 1076325 w 1076325"/>
              <a:gd name="connsiteY4" fmla="*/ 0 h 727075"/>
              <a:gd name="connsiteX0" fmla="*/ 0 w 1076325"/>
              <a:gd name="connsiteY0" fmla="*/ 727075 h 727075"/>
              <a:gd name="connsiteX1" fmla="*/ 288925 w 1076325"/>
              <a:gd name="connsiteY1" fmla="*/ 609600 h 727075"/>
              <a:gd name="connsiteX2" fmla="*/ 558800 w 1076325"/>
              <a:gd name="connsiteY2" fmla="*/ 257175 h 727075"/>
              <a:gd name="connsiteX3" fmla="*/ 885825 w 1076325"/>
              <a:gd name="connsiteY3" fmla="*/ 82550 h 727075"/>
              <a:gd name="connsiteX4" fmla="*/ 1076325 w 1076325"/>
              <a:gd name="connsiteY4" fmla="*/ 0 h 727075"/>
              <a:gd name="connsiteX0" fmla="*/ 0 w 1076325"/>
              <a:gd name="connsiteY0" fmla="*/ 727075 h 727075"/>
              <a:gd name="connsiteX1" fmla="*/ 257175 w 1076325"/>
              <a:gd name="connsiteY1" fmla="*/ 539750 h 727075"/>
              <a:gd name="connsiteX2" fmla="*/ 558800 w 1076325"/>
              <a:gd name="connsiteY2" fmla="*/ 257175 h 727075"/>
              <a:gd name="connsiteX3" fmla="*/ 885825 w 1076325"/>
              <a:gd name="connsiteY3" fmla="*/ 82550 h 727075"/>
              <a:gd name="connsiteX4" fmla="*/ 1076325 w 1076325"/>
              <a:gd name="connsiteY4" fmla="*/ 0 h 727075"/>
              <a:gd name="connsiteX0" fmla="*/ 0 w 1076325"/>
              <a:gd name="connsiteY0" fmla="*/ 727075 h 727075"/>
              <a:gd name="connsiteX1" fmla="*/ 257175 w 1076325"/>
              <a:gd name="connsiteY1" fmla="*/ 539750 h 727075"/>
              <a:gd name="connsiteX2" fmla="*/ 558800 w 1076325"/>
              <a:gd name="connsiteY2" fmla="*/ 257175 h 727075"/>
              <a:gd name="connsiteX3" fmla="*/ 885825 w 1076325"/>
              <a:gd name="connsiteY3" fmla="*/ 82550 h 727075"/>
              <a:gd name="connsiteX4" fmla="*/ 1076325 w 1076325"/>
              <a:gd name="connsiteY4" fmla="*/ 0 h 727075"/>
              <a:gd name="connsiteX0" fmla="*/ 0 w 1076325"/>
              <a:gd name="connsiteY0" fmla="*/ 727075 h 727075"/>
              <a:gd name="connsiteX1" fmla="*/ 257175 w 1076325"/>
              <a:gd name="connsiteY1" fmla="*/ 539750 h 727075"/>
              <a:gd name="connsiteX2" fmla="*/ 558800 w 1076325"/>
              <a:gd name="connsiteY2" fmla="*/ 257175 h 727075"/>
              <a:gd name="connsiteX3" fmla="*/ 885825 w 1076325"/>
              <a:gd name="connsiteY3" fmla="*/ 82550 h 727075"/>
              <a:gd name="connsiteX4" fmla="*/ 1076325 w 1076325"/>
              <a:gd name="connsiteY4" fmla="*/ 0 h 727075"/>
              <a:gd name="connsiteX0" fmla="*/ 0 w 1038225"/>
              <a:gd name="connsiteY0" fmla="*/ 723900 h 723900"/>
              <a:gd name="connsiteX1" fmla="*/ 219075 w 1038225"/>
              <a:gd name="connsiteY1" fmla="*/ 539750 h 723900"/>
              <a:gd name="connsiteX2" fmla="*/ 520700 w 1038225"/>
              <a:gd name="connsiteY2" fmla="*/ 257175 h 723900"/>
              <a:gd name="connsiteX3" fmla="*/ 847725 w 1038225"/>
              <a:gd name="connsiteY3" fmla="*/ 82550 h 723900"/>
              <a:gd name="connsiteX4" fmla="*/ 1038225 w 1038225"/>
              <a:gd name="connsiteY4" fmla="*/ 0 h 723900"/>
              <a:gd name="connsiteX0" fmla="*/ 0 w 1038225"/>
              <a:gd name="connsiteY0" fmla="*/ 723900 h 723900"/>
              <a:gd name="connsiteX1" fmla="*/ 257175 w 1038225"/>
              <a:gd name="connsiteY1" fmla="*/ 501650 h 723900"/>
              <a:gd name="connsiteX2" fmla="*/ 520700 w 1038225"/>
              <a:gd name="connsiteY2" fmla="*/ 257175 h 723900"/>
              <a:gd name="connsiteX3" fmla="*/ 847725 w 1038225"/>
              <a:gd name="connsiteY3" fmla="*/ 82550 h 723900"/>
              <a:gd name="connsiteX4" fmla="*/ 1038225 w 1038225"/>
              <a:gd name="connsiteY4" fmla="*/ 0 h 723900"/>
              <a:gd name="connsiteX0" fmla="*/ 0 w 1038225"/>
              <a:gd name="connsiteY0" fmla="*/ 723900 h 723900"/>
              <a:gd name="connsiteX1" fmla="*/ 257175 w 1038225"/>
              <a:gd name="connsiteY1" fmla="*/ 501650 h 723900"/>
              <a:gd name="connsiteX2" fmla="*/ 520700 w 1038225"/>
              <a:gd name="connsiteY2" fmla="*/ 257175 h 723900"/>
              <a:gd name="connsiteX3" fmla="*/ 847725 w 1038225"/>
              <a:gd name="connsiteY3" fmla="*/ 82550 h 723900"/>
              <a:gd name="connsiteX4" fmla="*/ 1038225 w 1038225"/>
              <a:gd name="connsiteY4" fmla="*/ 0 h 723900"/>
              <a:gd name="connsiteX0" fmla="*/ 0 w 1038225"/>
              <a:gd name="connsiteY0" fmla="*/ 723900 h 723900"/>
              <a:gd name="connsiteX1" fmla="*/ 155575 w 1038225"/>
              <a:gd name="connsiteY1" fmla="*/ 584200 h 723900"/>
              <a:gd name="connsiteX2" fmla="*/ 520700 w 1038225"/>
              <a:gd name="connsiteY2" fmla="*/ 257175 h 723900"/>
              <a:gd name="connsiteX3" fmla="*/ 847725 w 1038225"/>
              <a:gd name="connsiteY3" fmla="*/ 82550 h 723900"/>
              <a:gd name="connsiteX4" fmla="*/ 1038225 w 1038225"/>
              <a:gd name="connsiteY4" fmla="*/ 0 h 723900"/>
              <a:gd name="connsiteX0" fmla="*/ 0 w 1038225"/>
              <a:gd name="connsiteY0" fmla="*/ 723900 h 723900"/>
              <a:gd name="connsiteX1" fmla="*/ 155575 w 1038225"/>
              <a:gd name="connsiteY1" fmla="*/ 584200 h 723900"/>
              <a:gd name="connsiteX2" fmla="*/ 520700 w 1038225"/>
              <a:gd name="connsiteY2" fmla="*/ 257175 h 723900"/>
              <a:gd name="connsiteX3" fmla="*/ 847725 w 1038225"/>
              <a:gd name="connsiteY3" fmla="*/ 82550 h 723900"/>
              <a:gd name="connsiteX4" fmla="*/ 1038225 w 1038225"/>
              <a:gd name="connsiteY4" fmla="*/ 0 h 723900"/>
              <a:gd name="connsiteX0" fmla="*/ 0 w 1038225"/>
              <a:gd name="connsiteY0" fmla="*/ 723900 h 723900"/>
              <a:gd name="connsiteX1" fmla="*/ 234950 w 1038225"/>
              <a:gd name="connsiteY1" fmla="*/ 514350 h 723900"/>
              <a:gd name="connsiteX2" fmla="*/ 520700 w 1038225"/>
              <a:gd name="connsiteY2" fmla="*/ 257175 h 723900"/>
              <a:gd name="connsiteX3" fmla="*/ 847725 w 1038225"/>
              <a:gd name="connsiteY3" fmla="*/ 82550 h 723900"/>
              <a:gd name="connsiteX4" fmla="*/ 1038225 w 1038225"/>
              <a:gd name="connsiteY4" fmla="*/ 0 h 723900"/>
              <a:gd name="connsiteX0" fmla="*/ 0 w 1038225"/>
              <a:gd name="connsiteY0" fmla="*/ 723900 h 723900"/>
              <a:gd name="connsiteX1" fmla="*/ 234950 w 1038225"/>
              <a:gd name="connsiteY1" fmla="*/ 514350 h 723900"/>
              <a:gd name="connsiteX2" fmla="*/ 536575 w 1038225"/>
              <a:gd name="connsiteY2" fmla="*/ 257175 h 723900"/>
              <a:gd name="connsiteX3" fmla="*/ 847725 w 1038225"/>
              <a:gd name="connsiteY3" fmla="*/ 82550 h 723900"/>
              <a:gd name="connsiteX4" fmla="*/ 1038225 w 1038225"/>
              <a:gd name="connsiteY4" fmla="*/ 0 h 723900"/>
              <a:gd name="connsiteX0" fmla="*/ 0 w 1066800"/>
              <a:gd name="connsiteY0" fmla="*/ 723900 h 723900"/>
              <a:gd name="connsiteX1" fmla="*/ 263525 w 1066800"/>
              <a:gd name="connsiteY1" fmla="*/ 514350 h 723900"/>
              <a:gd name="connsiteX2" fmla="*/ 565150 w 1066800"/>
              <a:gd name="connsiteY2" fmla="*/ 257175 h 723900"/>
              <a:gd name="connsiteX3" fmla="*/ 876300 w 1066800"/>
              <a:gd name="connsiteY3" fmla="*/ 82550 h 723900"/>
              <a:gd name="connsiteX4" fmla="*/ 1066800 w 1066800"/>
              <a:gd name="connsiteY4" fmla="*/ 0 h 723900"/>
              <a:gd name="connsiteX0" fmla="*/ 0 w 1066800"/>
              <a:gd name="connsiteY0" fmla="*/ 723900 h 723900"/>
              <a:gd name="connsiteX1" fmla="*/ 263525 w 1066800"/>
              <a:gd name="connsiteY1" fmla="*/ 514350 h 723900"/>
              <a:gd name="connsiteX2" fmla="*/ 565150 w 1066800"/>
              <a:gd name="connsiteY2" fmla="*/ 257175 h 723900"/>
              <a:gd name="connsiteX3" fmla="*/ 860425 w 1066800"/>
              <a:gd name="connsiteY3" fmla="*/ 88900 h 723900"/>
              <a:gd name="connsiteX4" fmla="*/ 1066800 w 1066800"/>
              <a:gd name="connsiteY4" fmla="*/ 0 h 723900"/>
              <a:gd name="connsiteX0" fmla="*/ 0 w 1028700"/>
              <a:gd name="connsiteY0" fmla="*/ 704850 h 704850"/>
              <a:gd name="connsiteX1" fmla="*/ 263525 w 1028700"/>
              <a:gd name="connsiteY1" fmla="*/ 495300 h 704850"/>
              <a:gd name="connsiteX2" fmla="*/ 565150 w 1028700"/>
              <a:gd name="connsiteY2" fmla="*/ 238125 h 704850"/>
              <a:gd name="connsiteX3" fmla="*/ 860425 w 1028700"/>
              <a:gd name="connsiteY3" fmla="*/ 69850 h 704850"/>
              <a:gd name="connsiteX4" fmla="*/ 1028700 w 1028700"/>
              <a:gd name="connsiteY4" fmla="*/ 0 h 704850"/>
              <a:gd name="connsiteX0" fmla="*/ 0 w 1066800"/>
              <a:gd name="connsiteY0" fmla="*/ 714375 h 714375"/>
              <a:gd name="connsiteX1" fmla="*/ 263525 w 1066800"/>
              <a:gd name="connsiteY1" fmla="*/ 504825 h 714375"/>
              <a:gd name="connsiteX2" fmla="*/ 565150 w 1066800"/>
              <a:gd name="connsiteY2" fmla="*/ 247650 h 714375"/>
              <a:gd name="connsiteX3" fmla="*/ 860425 w 1066800"/>
              <a:gd name="connsiteY3" fmla="*/ 79375 h 714375"/>
              <a:gd name="connsiteX4" fmla="*/ 1066800 w 1066800"/>
              <a:gd name="connsiteY4" fmla="*/ 0 h 714375"/>
              <a:gd name="connsiteX0" fmla="*/ 0 w 1066800"/>
              <a:gd name="connsiteY0" fmla="*/ 714375 h 714375"/>
              <a:gd name="connsiteX1" fmla="*/ 263525 w 1066800"/>
              <a:gd name="connsiteY1" fmla="*/ 504825 h 714375"/>
              <a:gd name="connsiteX2" fmla="*/ 565150 w 1066800"/>
              <a:gd name="connsiteY2" fmla="*/ 247650 h 714375"/>
              <a:gd name="connsiteX3" fmla="*/ 860425 w 1066800"/>
              <a:gd name="connsiteY3" fmla="*/ 79375 h 714375"/>
              <a:gd name="connsiteX4" fmla="*/ 1066800 w 1066800"/>
              <a:gd name="connsiteY4" fmla="*/ 0 h 7143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6800" h="714375">
                <a:moveTo>
                  <a:pt x="0" y="714375"/>
                </a:moveTo>
                <a:cubicBezTo>
                  <a:pt x="159808" y="582083"/>
                  <a:pt x="169333" y="582612"/>
                  <a:pt x="263525" y="504825"/>
                </a:cubicBezTo>
                <a:cubicBezTo>
                  <a:pt x="357717" y="427038"/>
                  <a:pt x="465667" y="318558"/>
                  <a:pt x="565150" y="247650"/>
                </a:cubicBezTo>
                <a:cubicBezTo>
                  <a:pt x="664633" y="176742"/>
                  <a:pt x="776817" y="120650"/>
                  <a:pt x="860425" y="79375"/>
                </a:cubicBezTo>
                <a:cubicBezTo>
                  <a:pt x="944033" y="38100"/>
                  <a:pt x="1018117" y="10583"/>
                  <a:pt x="1066800" y="0"/>
                </a:cubicBezTo>
              </a:path>
            </a:pathLst>
          </a:custGeom>
          <a:noFill/>
          <a:ln w="28575">
            <a:solidFill>
              <a:srgbClr val="00B05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a:extLst>
              <a:ext uri="{FF2B5EF4-FFF2-40B4-BE49-F238E27FC236}">
                <a16:creationId xmlns:a16="http://schemas.microsoft.com/office/drawing/2014/main" id="{960E64C3-E837-D608-7CBC-7251F7154569}"/>
              </a:ext>
            </a:extLst>
          </p:cNvPr>
          <p:cNvSpPr/>
          <p:nvPr/>
        </p:nvSpPr>
        <p:spPr>
          <a:xfrm>
            <a:off x="3551541" y="3382017"/>
            <a:ext cx="124348" cy="124372"/>
          </a:xfrm>
          <a:prstGeom prst="ellipse">
            <a:avLst/>
          </a:prstGeom>
          <a:solidFill>
            <a:srgbClr val="00B05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Freeform: Shape 21">
            <a:extLst>
              <a:ext uri="{FF2B5EF4-FFF2-40B4-BE49-F238E27FC236}">
                <a16:creationId xmlns:a16="http://schemas.microsoft.com/office/drawing/2014/main" id="{07240D72-1E5C-27E0-52A6-D52C8191B476}"/>
              </a:ext>
            </a:extLst>
          </p:cNvPr>
          <p:cNvSpPr/>
          <p:nvPr/>
        </p:nvSpPr>
        <p:spPr>
          <a:xfrm>
            <a:off x="3080634" y="2185571"/>
            <a:ext cx="1057275" cy="304800"/>
          </a:xfrm>
          <a:custGeom>
            <a:avLst/>
            <a:gdLst>
              <a:gd name="connsiteX0" fmla="*/ 0 w 1676400"/>
              <a:gd name="connsiteY0" fmla="*/ 95250 h 387908"/>
              <a:gd name="connsiteX1" fmla="*/ 387350 w 1676400"/>
              <a:gd name="connsiteY1" fmla="*/ 107950 h 387908"/>
              <a:gd name="connsiteX2" fmla="*/ 635000 w 1676400"/>
              <a:gd name="connsiteY2" fmla="*/ 387350 h 387908"/>
              <a:gd name="connsiteX3" fmla="*/ 1117600 w 1676400"/>
              <a:gd name="connsiteY3" fmla="*/ 25400 h 387908"/>
              <a:gd name="connsiteX4" fmla="*/ 1346200 w 1676400"/>
              <a:gd name="connsiteY4" fmla="*/ 254000 h 387908"/>
              <a:gd name="connsiteX5" fmla="*/ 1676400 w 1676400"/>
              <a:gd name="connsiteY5" fmla="*/ 0 h 387908"/>
              <a:gd name="connsiteX0" fmla="*/ 0 w 1885950"/>
              <a:gd name="connsiteY0" fmla="*/ 127000 h 387897"/>
              <a:gd name="connsiteX1" fmla="*/ 596900 w 1885950"/>
              <a:gd name="connsiteY1" fmla="*/ 107950 h 387897"/>
              <a:gd name="connsiteX2" fmla="*/ 844550 w 1885950"/>
              <a:gd name="connsiteY2" fmla="*/ 387350 h 387897"/>
              <a:gd name="connsiteX3" fmla="*/ 1327150 w 1885950"/>
              <a:gd name="connsiteY3" fmla="*/ 25400 h 387897"/>
              <a:gd name="connsiteX4" fmla="*/ 1555750 w 1885950"/>
              <a:gd name="connsiteY4" fmla="*/ 254000 h 387897"/>
              <a:gd name="connsiteX5" fmla="*/ 1885950 w 1885950"/>
              <a:gd name="connsiteY5" fmla="*/ 0 h 387897"/>
              <a:gd name="connsiteX0" fmla="*/ 0 w 1885950"/>
              <a:gd name="connsiteY0" fmla="*/ 134739 h 395127"/>
              <a:gd name="connsiteX1" fmla="*/ 444500 w 1885950"/>
              <a:gd name="connsiteY1" fmla="*/ 7739 h 395127"/>
              <a:gd name="connsiteX2" fmla="*/ 844550 w 1885950"/>
              <a:gd name="connsiteY2" fmla="*/ 395089 h 395127"/>
              <a:gd name="connsiteX3" fmla="*/ 1327150 w 1885950"/>
              <a:gd name="connsiteY3" fmla="*/ 33139 h 395127"/>
              <a:gd name="connsiteX4" fmla="*/ 1555750 w 1885950"/>
              <a:gd name="connsiteY4" fmla="*/ 261739 h 395127"/>
              <a:gd name="connsiteX5" fmla="*/ 1885950 w 1885950"/>
              <a:gd name="connsiteY5" fmla="*/ 7739 h 395127"/>
              <a:gd name="connsiteX0" fmla="*/ 0 w 1885950"/>
              <a:gd name="connsiteY0" fmla="*/ 520742 h 647846"/>
              <a:gd name="connsiteX1" fmla="*/ 444500 w 1885950"/>
              <a:gd name="connsiteY1" fmla="*/ 393742 h 647846"/>
              <a:gd name="connsiteX2" fmla="*/ 806450 w 1885950"/>
              <a:gd name="connsiteY2" fmla="*/ 42 h 647846"/>
              <a:gd name="connsiteX3" fmla="*/ 1327150 w 1885950"/>
              <a:gd name="connsiteY3" fmla="*/ 419142 h 647846"/>
              <a:gd name="connsiteX4" fmla="*/ 1555750 w 1885950"/>
              <a:gd name="connsiteY4" fmla="*/ 647742 h 647846"/>
              <a:gd name="connsiteX5" fmla="*/ 1885950 w 1885950"/>
              <a:gd name="connsiteY5" fmla="*/ 393742 h 647846"/>
              <a:gd name="connsiteX0" fmla="*/ 0 w 1885950"/>
              <a:gd name="connsiteY0" fmla="*/ 521930 h 649034"/>
              <a:gd name="connsiteX1" fmla="*/ 425450 w 1885950"/>
              <a:gd name="connsiteY1" fmla="*/ 299680 h 649034"/>
              <a:gd name="connsiteX2" fmla="*/ 806450 w 1885950"/>
              <a:gd name="connsiteY2" fmla="*/ 1230 h 649034"/>
              <a:gd name="connsiteX3" fmla="*/ 1327150 w 1885950"/>
              <a:gd name="connsiteY3" fmla="*/ 420330 h 649034"/>
              <a:gd name="connsiteX4" fmla="*/ 1555750 w 1885950"/>
              <a:gd name="connsiteY4" fmla="*/ 648930 h 649034"/>
              <a:gd name="connsiteX5" fmla="*/ 1885950 w 1885950"/>
              <a:gd name="connsiteY5" fmla="*/ 394930 h 649034"/>
              <a:gd name="connsiteX0" fmla="*/ 0 w 1885950"/>
              <a:gd name="connsiteY0" fmla="*/ 408401 h 535492"/>
              <a:gd name="connsiteX1" fmla="*/ 425450 w 1885950"/>
              <a:gd name="connsiteY1" fmla="*/ 186151 h 535492"/>
              <a:gd name="connsiteX2" fmla="*/ 730250 w 1885950"/>
              <a:gd name="connsiteY2" fmla="*/ 2001 h 535492"/>
              <a:gd name="connsiteX3" fmla="*/ 1327150 w 1885950"/>
              <a:gd name="connsiteY3" fmla="*/ 306801 h 535492"/>
              <a:gd name="connsiteX4" fmla="*/ 1555750 w 1885950"/>
              <a:gd name="connsiteY4" fmla="*/ 535401 h 535492"/>
              <a:gd name="connsiteX5" fmla="*/ 1885950 w 1885950"/>
              <a:gd name="connsiteY5" fmla="*/ 281401 h 535492"/>
              <a:gd name="connsiteX0" fmla="*/ 0 w 1885950"/>
              <a:gd name="connsiteY0" fmla="*/ 406434 h 533525"/>
              <a:gd name="connsiteX1" fmla="*/ 285750 w 1885950"/>
              <a:gd name="connsiteY1" fmla="*/ 285784 h 533525"/>
              <a:gd name="connsiteX2" fmla="*/ 730250 w 1885950"/>
              <a:gd name="connsiteY2" fmla="*/ 34 h 533525"/>
              <a:gd name="connsiteX3" fmla="*/ 1327150 w 1885950"/>
              <a:gd name="connsiteY3" fmla="*/ 304834 h 533525"/>
              <a:gd name="connsiteX4" fmla="*/ 1555750 w 1885950"/>
              <a:gd name="connsiteY4" fmla="*/ 533434 h 533525"/>
              <a:gd name="connsiteX5" fmla="*/ 1885950 w 1885950"/>
              <a:gd name="connsiteY5" fmla="*/ 279434 h 533525"/>
              <a:gd name="connsiteX0" fmla="*/ 0 w 1885950"/>
              <a:gd name="connsiteY0" fmla="*/ 406434 h 533525"/>
              <a:gd name="connsiteX1" fmla="*/ 285750 w 1885950"/>
              <a:gd name="connsiteY1" fmla="*/ 285784 h 533525"/>
              <a:gd name="connsiteX2" fmla="*/ 736600 w 1885950"/>
              <a:gd name="connsiteY2" fmla="*/ 34 h 533525"/>
              <a:gd name="connsiteX3" fmla="*/ 1327150 w 1885950"/>
              <a:gd name="connsiteY3" fmla="*/ 304834 h 533525"/>
              <a:gd name="connsiteX4" fmla="*/ 1555750 w 1885950"/>
              <a:gd name="connsiteY4" fmla="*/ 533434 h 533525"/>
              <a:gd name="connsiteX5" fmla="*/ 1885950 w 1885950"/>
              <a:gd name="connsiteY5" fmla="*/ 279434 h 533525"/>
              <a:gd name="connsiteX0" fmla="*/ 0 w 1885950"/>
              <a:gd name="connsiteY0" fmla="*/ 561152 h 688175"/>
              <a:gd name="connsiteX1" fmla="*/ 285750 w 1885950"/>
              <a:gd name="connsiteY1" fmla="*/ 440502 h 688175"/>
              <a:gd name="connsiteX2" fmla="*/ 736600 w 1885950"/>
              <a:gd name="connsiteY2" fmla="*/ 154752 h 688175"/>
              <a:gd name="connsiteX3" fmla="*/ 863600 w 1885950"/>
              <a:gd name="connsiteY3" fmla="*/ 27752 h 688175"/>
              <a:gd name="connsiteX4" fmla="*/ 1555750 w 1885950"/>
              <a:gd name="connsiteY4" fmla="*/ 688152 h 688175"/>
              <a:gd name="connsiteX5" fmla="*/ 1885950 w 1885950"/>
              <a:gd name="connsiteY5" fmla="*/ 434152 h 688175"/>
              <a:gd name="connsiteX0" fmla="*/ 0 w 1885950"/>
              <a:gd name="connsiteY0" fmla="*/ 566493 h 693516"/>
              <a:gd name="connsiteX1" fmla="*/ 285750 w 1885950"/>
              <a:gd name="connsiteY1" fmla="*/ 445843 h 693516"/>
              <a:gd name="connsiteX2" fmla="*/ 679450 w 1885950"/>
              <a:gd name="connsiteY2" fmla="*/ 134693 h 693516"/>
              <a:gd name="connsiteX3" fmla="*/ 863600 w 1885950"/>
              <a:gd name="connsiteY3" fmla="*/ 33093 h 693516"/>
              <a:gd name="connsiteX4" fmla="*/ 1555750 w 1885950"/>
              <a:gd name="connsiteY4" fmla="*/ 693493 h 693516"/>
              <a:gd name="connsiteX5" fmla="*/ 1885950 w 1885950"/>
              <a:gd name="connsiteY5" fmla="*/ 439493 h 693516"/>
              <a:gd name="connsiteX0" fmla="*/ 0 w 1885950"/>
              <a:gd name="connsiteY0" fmla="*/ 640615 h 767635"/>
              <a:gd name="connsiteX1" fmla="*/ 285750 w 1885950"/>
              <a:gd name="connsiteY1" fmla="*/ 519965 h 767635"/>
              <a:gd name="connsiteX2" fmla="*/ 679450 w 1885950"/>
              <a:gd name="connsiteY2" fmla="*/ 208815 h 767635"/>
              <a:gd name="connsiteX3" fmla="*/ 1009650 w 1885950"/>
              <a:gd name="connsiteY3" fmla="*/ 24665 h 767635"/>
              <a:gd name="connsiteX4" fmla="*/ 1555750 w 1885950"/>
              <a:gd name="connsiteY4" fmla="*/ 767615 h 767635"/>
              <a:gd name="connsiteX5" fmla="*/ 1885950 w 1885950"/>
              <a:gd name="connsiteY5" fmla="*/ 513615 h 767635"/>
              <a:gd name="connsiteX0" fmla="*/ 0 w 1885950"/>
              <a:gd name="connsiteY0" fmla="*/ 692173 h 692173"/>
              <a:gd name="connsiteX1" fmla="*/ 285750 w 1885950"/>
              <a:gd name="connsiteY1" fmla="*/ 571523 h 692173"/>
              <a:gd name="connsiteX2" fmla="*/ 679450 w 1885950"/>
              <a:gd name="connsiteY2" fmla="*/ 260373 h 692173"/>
              <a:gd name="connsiteX3" fmla="*/ 1009650 w 1885950"/>
              <a:gd name="connsiteY3" fmla="*/ 76223 h 692173"/>
              <a:gd name="connsiteX4" fmla="*/ 1092200 w 1885950"/>
              <a:gd name="connsiteY4" fmla="*/ 23 h 692173"/>
              <a:gd name="connsiteX5" fmla="*/ 1885950 w 1885950"/>
              <a:gd name="connsiteY5" fmla="*/ 565173 h 692173"/>
              <a:gd name="connsiteX0" fmla="*/ 0 w 1092200"/>
              <a:gd name="connsiteY0" fmla="*/ 692150 h 692150"/>
              <a:gd name="connsiteX1" fmla="*/ 285750 w 1092200"/>
              <a:gd name="connsiteY1" fmla="*/ 571500 h 692150"/>
              <a:gd name="connsiteX2" fmla="*/ 679450 w 1092200"/>
              <a:gd name="connsiteY2" fmla="*/ 260350 h 692150"/>
              <a:gd name="connsiteX3" fmla="*/ 1009650 w 1092200"/>
              <a:gd name="connsiteY3" fmla="*/ 76200 h 692150"/>
              <a:gd name="connsiteX4" fmla="*/ 1092200 w 1092200"/>
              <a:gd name="connsiteY4" fmla="*/ 0 h 692150"/>
              <a:gd name="connsiteX0" fmla="*/ 0 w 1092200"/>
              <a:gd name="connsiteY0" fmla="*/ 692150 h 692150"/>
              <a:gd name="connsiteX1" fmla="*/ 285750 w 1092200"/>
              <a:gd name="connsiteY1" fmla="*/ 571500 h 692150"/>
              <a:gd name="connsiteX2" fmla="*/ 615950 w 1092200"/>
              <a:gd name="connsiteY2" fmla="*/ 330200 h 692150"/>
              <a:gd name="connsiteX3" fmla="*/ 1009650 w 1092200"/>
              <a:gd name="connsiteY3" fmla="*/ 76200 h 692150"/>
              <a:gd name="connsiteX4" fmla="*/ 1092200 w 1092200"/>
              <a:gd name="connsiteY4" fmla="*/ 0 h 692150"/>
              <a:gd name="connsiteX0" fmla="*/ 0 w 1092200"/>
              <a:gd name="connsiteY0" fmla="*/ 692150 h 692150"/>
              <a:gd name="connsiteX1" fmla="*/ 285750 w 1092200"/>
              <a:gd name="connsiteY1" fmla="*/ 571500 h 692150"/>
              <a:gd name="connsiteX2" fmla="*/ 615950 w 1092200"/>
              <a:gd name="connsiteY2" fmla="*/ 330200 h 692150"/>
              <a:gd name="connsiteX3" fmla="*/ 863600 w 1092200"/>
              <a:gd name="connsiteY3" fmla="*/ 95250 h 692150"/>
              <a:gd name="connsiteX4" fmla="*/ 1092200 w 1092200"/>
              <a:gd name="connsiteY4" fmla="*/ 0 h 692150"/>
              <a:gd name="connsiteX0" fmla="*/ 0 w 1073150"/>
              <a:gd name="connsiteY0" fmla="*/ 730250 h 730250"/>
              <a:gd name="connsiteX1" fmla="*/ 285750 w 1073150"/>
              <a:gd name="connsiteY1" fmla="*/ 609600 h 730250"/>
              <a:gd name="connsiteX2" fmla="*/ 615950 w 1073150"/>
              <a:gd name="connsiteY2" fmla="*/ 368300 h 730250"/>
              <a:gd name="connsiteX3" fmla="*/ 863600 w 1073150"/>
              <a:gd name="connsiteY3" fmla="*/ 133350 h 730250"/>
              <a:gd name="connsiteX4" fmla="*/ 1073150 w 1073150"/>
              <a:gd name="connsiteY4" fmla="*/ 0 h 730250"/>
              <a:gd name="connsiteX0" fmla="*/ 0 w 1073150"/>
              <a:gd name="connsiteY0" fmla="*/ 730250 h 730250"/>
              <a:gd name="connsiteX1" fmla="*/ 285750 w 1073150"/>
              <a:gd name="connsiteY1" fmla="*/ 609600 h 730250"/>
              <a:gd name="connsiteX2" fmla="*/ 615950 w 1073150"/>
              <a:gd name="connsiteY2" fmla="*/ 368300 h 730250"/>
              <a:gd name="connsiteX3" fmla="*/ 863600 w 1073150"/>
              <a:gd name="connsiteY3" fmla="*/ 133350 h 730250"/>
              <a:gd name="connsiteX4" fmla="*/ 1073150 w 1073150"/>
              <a:gd name="connsiteY4" fmla="*/ 0 h 730250"/>
              <a:gd name="connsiteX0" fmla="*/ 0 w 1073150"/>
              <a:gd name="connsiteY0" fmla="*/ 730250 h 730250"/>
              <a:gd name="connsiteX1" fmla="*/ 285750 w 1073150"/>
              <a:gd name="connsiteY1" fmla="*/ 609600 h 730250"/>
              <a:gd name="connsiteX2" fmla="*/ 558800 w 1073150"/>
              <a:gd name="connsiteY2" fmla="*/ 406400 h 730250"/>
              <a:gd name="connsiteX3" fmla="*/ 863600 w 1073150"/>
              <a:gd name="connsiteY3" fmla="*/ 133350 h 730250"/>
              <a:gd name="connsiteX4" fmla="*/ 1073150 w 1073150"/>
              <a:gd name="connsiteY4" fmla="*/ 0 h 730250"/>
              <a:gd name="connsiteX0" fmla="*/ 0 w 1073150"/>
              <a:gd name="connsiteY0" fmla="*/ 730250 h 730250"/>
              <a:gd name="connsiteX1" fmla="*/ 285750 w 1073150"/>
              <a:gd name="connsiteY1" fmla="*/ 609600 h 730250"/>
              <a:gd name="connsiteX2" fmla="*/ 542925 w 1073150"/>
              <a:gd name="connsiteY2" fmla="*/ 412750 h 730250"/>
              <a:gd name="connsiteX3" fmla="*/ 863600 w 1073150"/>
              <a:gd name="connsiteY3" fmla="*/ 133350 h 730250"/>
              <a:gd name="connsiteX4" fmla="*/ 1073150 w 1073150"/>
              <a:gd name="connsiteY4" fmla="*/ 0 h 730250"/>
              <a:gd name="connsiteX0" fmla="*/ 0 w 1073150"/>
              <a:gd name="connsiteY0" fmla="*/ 730250 h 730250"/>
              <a:gd name="connsiteX1" fmla="*/ 285750 w 1073150"/>
              <a:gd name="connsiteY1" fmla="*/ 609600 h 730250"/>
              <a:gd name="connsiteX2" fmla="*/ 542925 w 1073150"/>
              <a:gd name="connsiteY2" fmla="*/ 412750 h 730250"/>
              <a:gd name="connsiteX3" fmla="*/ 863600 w 1073150"/>
              <a:gd name="connsiteY3" fmla="*/ 133350 h 730250"/>
              <a:gd name="connsiteX4" fmla="*/ 1073150 w 1073150"/>
              <a:gd name="connsiteY4" fmla="*/ 0 h 730250"/>
              <a:gd name="connsiteX0" fmla="*/ 0 w 1073150"/>
              <a:gd name="connsiteY0" fmla="*/ 730250 h 730250"/>
              <a:gd name="connsiteX1" fmla="*/ 285750 w 1073150"/>
              <a:gd name="connsiteY1" fmla="*/ 609600 h 730250"/>
              <a:gd name="connsiteX2" fmla="*/ 552450 w 1073150"/>
              <a:gd name="connsiteY2" fmla="*/ 400050 h 730250"/>
              <a:gd name="connsiteX3" fmla="*/ 863600 w 1073150"/>
              <a:gd name="connsiteY3" fmla="*/ 133350 h 730250"/>
              <a:gd name="connsiteX4" fmla="*/ 1073150 w 1073150"/>
              <a:gd name="connsiteY4" fmla="*/ 0 h 730250"/>
              <a:gd name="connsiteX0" fmla="*/ 0 w 1073150"/>
              <a:gd name="connsiteY0" fmla="*/ 730250 h 730250"/>
              <a:gd name="connsiteX1" fmla="*/ 285750 w 1073150"/>
              <a:gd name="connsiteY1" fmla="*/ 609600 h 730250"/>
              <a:gd name="connsiteX2" fmla="*/ 552450 w 1073150"/>
              <a:gd name="connsiteY2" fmla="*/ 400050 h 730250"/>
              <a:gd name="connsiteX3" fmla="*/ 863600 w 1073150"/>
              <a:gd name="connsiteY3" fmla="*/ 133350 h 730250"/>
              <a:gd name="connsiteX4" fmla="*/ 1073150 w 1073150"/>
              <a:gd name="connsiteY4" fmla="*/ 0 h 730250"/>
              <a:gd name="connsiteX0" fmla="*/ 0 w 1073150"/>
              <a:gd name="connsiteY0" fmla="*/ 730250 h 730250"/>
              <a:gd name="connsiteX1" fmla="*/ 285750 w 1073150"/>
              <a:gd name="connsiteY1" fmla="*/ 609600 h 730250"/>
              <a:gd name="connsiteX2" fmla="*/ 552450 w 1073150"/>
              <a:gd name="connsiteY2" fmla="*/ 400050 h 730250"/>
              <a:gd name="connsiteX3" fmla="*/ 863600 w 1073150"/>
              <a:gd name="connsiteY3" fmla="*/ 133350 h 730250"/>
              <a:gd name="connsiteX4" fmla="*/ 1073150 w 1073150"/>
              <a:gd name="connsiteY4" fmla="*/ 0 h 730250"/>
              <a:gd name="connsiteX0" fmla="*/ 0 w 1076325"/>
              <a:gd name="connsiteY0" fmla="*/ 727075 h 727075"/>
              <a:gd name="connsiteX1" fmla="*/ 288925 w 1076325"/>
              <a:gd name="connsiteY1" fmla="*/ 609600 h 727075"/>
              <a:gd name="connsiteX2" fmla="*/ 555625 w 1076325"/>
              <a:gd name="connsiteY2" fmla="*/ 400050 h 727075"/>
              <a:gd name="connsiteX3" fmla="*/ 866775 w 1076325"/>
              <a:gd name="connsiteY3" fmla="*/ 133350 h 727075"/>
              <a:gd name="connsiteX4" fmla="*/ 1076325 w 1076325"/>
              <a:gd name="connsiteY4" fmla="*/ 0 h 727075"/>
              <a:gd name="connsiteX0" fmla="*/ 0 w 1076325"/>
              <a:gd name="connsiteY0" fmla="*/ 727075 h 727075"/>
              <a:gd name="connsiteX1" fmla="*/ 288925 w 1076325"/>
              <a:gd name="connsiteY1" fmla="*/ 609600 h 727075"/>
              <a:gd name="connsiteX2" fmla="*/ 558800 w 1076325"/>
              <a:gd name="connsiteY2" fmla="*/ 257175 h 727075"/>
              <a:gd name="connsiteX3" fmla="*/ 866775 w 1076325"/>
              <a:gd name="connsiteY3" fmla="*/ 133350 h 727075"/>
              <a:gd name="connsiteX4" fmla="*/ 1076325 w 1076325"/>
              <a:gd name="connsiteY4" fmla="*/ 0 h 727075"/>
              <a:gd name="connsiteX0" fmla="*/ 0 w 1076325"/>
              <a:gd name="connsiteY0" fmla="*/ 727075 h 727075"/>
              <a:gd name="connsiteX1" fmla="*/ 288925 w 1076325"/>
              <a:gd name="connsiteY1" fmla="*/ 609600 h 727075"/>
              <a:gd name="connsiteX2" fmla="*/ 558800 w 1076325"/>
              <a:gd name="connsiteY2" fmla="*/ 257175 h 727075"/>
              <a:gd name="connsiteX3" fmla="*/ 885825 w 1076325"/>
              <a:gd name="connsiteY3" fmla="*/ 82550 h 727075"/>
              <a:gd name="connsiteX4" fmla="*/ 1076325 w 1076325"/>
              <a:gd name="connsiteY4" fmla="*/ 0 h 727075"/>
              <a:gd name="connsiteX0" fmla="*/ 0 w 1076325"/>
              <a:gd name="connsiteY0" fmla="*/ 727075 h 727075"/>
              <a:gd name="connsiteX1" fmla="*/ 257175 w 1076325"/>
              <a:gd name="connsiteY1" fmla="*/ 539750 h 727075"/>
              <a:gd name="connsiteX2" fmla="*/ 558800 w 1076325"/>
              <a:gd name="connsiteY2" fmla="*/ 257175 h 727075"/>
              <a:gd name="connsiteX3" fmla="*/ 885825 w 1076325"/>
              <a:gd name="connsiteY3" fmla="*/ 82550 h 727075"/>
              <a:gd name="connsiteX4" fmla="*/ 1076325 w 1076325"/>
              <a:gd name="connsiteY4" fmla="*/ 0 h 727075"/>
              <a:gd name="connsiteX0" fmla="*/ 0 w 1076325"/>
              <a:gd name="connsiteY0" fmla="*/ 727075 h 727075"/>
              <a:gd name="connsiteX1" fmla="*/ 257175 w 1076325"/>
              <a:gd name="connsiteY1" fmla="*/ 539750 h 727075"/>
              <a:gd name="connsiteX2" fmla="*/ 558800 w 1076325"/>
              <a:gd name="connsiteY2" fmla="*/ 257175 h 727075"/>
              <a:gd name="connsiteX3" fmla="*/ 885825 w 1076325"/>
              <a:gd name="connsiteY3" fmla="*/ 82550 h 727075"/>
              <a:gd name="connsiteX4" fmla="*/ 1076325 w 1076325"/>
              <a:gd name="connsiteY4" fmla="*/ 0 h 727075"/>
              <a:gd name="connsiteX0" fmla="*/ 0 w 1076325"/>
              <a:gd name="connsiteY0" fmla="*/ 727075 h 727075"/>
              <a:gd name="connsiteX1" fmla="*/ 257175 w 1076325"/>
              <a:gd name="connsiteY1" fmla="*/ 539750 h 727075"/>
              <a:gd name="connsiteX2" fmla="*/ 558800 w 1076325"/>
              <a:gd name="connsiteY2" fmla="*/ 257175 h 727075"/>
              <a:gd name="connsiteX3" fmla="*/ 885825 w 1076325"/>
              <a:gd name="connsiteY3" fmla="*/ 82550 h 727075"/>
              <a:gd name="connsiteX4" fmla="*/ 1076325 w 1076325"/>
              <a:gd name="connsiteY4" fmla="*/ 0 h 727075"/>
              <a:gd name="connsiteX0" fmla="*/ 0 w 1038225"/>
              <a:gd name="connsiteY0" fmla="*/ 723900 h 723900"/>
              <a:gd name="connsiteX1" fmla="*/ 219075 w 1038225"/>
              <a:gd name="connsiteY1" fmla="*/ 539750 h 723900"/>
              <a:gd name="connsiteX2" fmla="*/ 520700 w 1038225"/>
              <a:gd name="connsiteY2" fmla="*/ 257175 h 723900"/>
              <a:gd name="connsiteX3" fmla="*/ 847725 w 1038225"/>
              <a:gd name="connsiteY3" fmla="*/ 82550 h 723900"/>
              <a:gd name="connsiteX4" fmla="*/ 1038225 w 1038225"/>
              <a:gd name="connsiteY4" fmla="*/ 0 h 723900"/>
              <a:gd name="connsiteX0" fmla="*/ 0 w 1038225"/>
              <a:gd name="connsiteY0" fmla="*/ 723900 h 723900"/>
              <a:gd name="connsiteX1" fmla="*/ 257175 w 1038225"/>
              <a:gd name="connsiteY1" fmla="*/ 501650 h 723900"/>
              <a:gd name="connsiteX2" fmla="*/ 520700 w 1038225"/>
              <a:gd name="connsiteY2" fmla="*/ 257175 h 723900"/>
              <a:gd name="connsiteX3" fmla="*/ 847725 w 1038225"/>
              <a:gd name="connsiteY3" fmla="*/ 82550 h 723900"/>
              <a:gd name="connsiteX4" fmla="*/ 1038225 w 1038225"/>
              <a:gd name="connsiteY4" fmla="*/ 0 h 723900"/>
              <a:gd name="connsiteX0" fmla="*/ 0 w 1038225"/>
              <a:gd name="connsiteY0" fmla="*/ 723900 h 723900"/>
              <a:gd name="connsiteX1" fmla="*/ 257175 w 1038225"/>
              <a:gd name="connsiteY1" fmla="*/ 501650 h 723900"/>
              <a:gd name="connsiteX2" fmla="*/ 520700 w 1038225"/>
              <a:gd name="connsiteY2" fmla="*/ 257175 h 723900"/>
              <a:gd name="connsiteX3" fmla="*/ 847725 w 1038225"/>
              <a:gd name="connsiteY3" fmla="*/ 82550 h 723900"/>
              <a:gd name="connsiteX4" fmla="*/ 1038225 w 1038225"/>
              <a:gd name="connsiteY4" fmla="*/ 0 h 723900"/>
              <a:gd name="connsiteX0" fmla="*/ 0 w 1038225"/>
              <a:gd name="connsiteY0" fmla="*/ 723900 h 723900"/>
              <a:gd name="connsiteX1" fmla="*/ 155575 w 1038225"/>
              <a:gd name="connsiteY1" fmla="*/ 584200 h 723900"/>
              <a:gd name="connsiteX2" fmla="*/ 520700 w 1038225"/>
              <a:gd name="connsiteY2" fmla="*/ 257175 h 723900"/>
              <a:gd name="connsiteX3" fmla="*/ 847725 w 1038225"/>
              <a:gd name="connsiteY3" fmla="*/ 82550 h 723900"/>
              <a:gd name="connsiteX4" fmla="*/ 1038225 w 1038225"/>
              <a:gd name="connsiteY4" fmla="*/ 0 h 723900"/>
              <a:gd name="connsiteX0" fmla="*/ 0 w 1038225"/>
              <a:gd name="connsiteY0" fmla="*/ 723900 h 723900"/>
              <a:gd name="connsiteX1" fmla="*/ 155575 w 1038225"/>
              <a:gd name="connsiteY1" fmla="*/ 584200 h 723900"/>
              <a:gd name="connsiteX2" fmla="*/ 520700 w 1038225"/>
              <a:gd name="connsiteY2" fmla="*/ 257175 h 723900"/>
              <a:gd name="connsiteX3" fmla="*/ 847725 w 1038225"/>
              <a:gd name="connsiteY3" fmla="*/ 82550 h 723900"/>
              <a:gd name="connsiteX4" fmla="*/ 1038225 w 1038225"/>
              <a:gd name="connsiteY4" fmla="*/ 0 h 723900"/>
              <a:gd name="connsiteX0" fmla="*/ 0 w 1038225"/>
              <a:gd name="connsiteY0" fmla="*/ 723900 h 723900"/>
              <a:gd name="connsiteX1" fmla="*/ 234950 w 1038225"/>
              <a:gd name="connsiteY1" fmla="*/ 514350 h 723900"/>
              <a:gd name="connsiteX2" fmla="*/ 520700 w 1038225"/>
              <a:gd name="connsiteY2" fmla="*/ 257175 h 723900"/>
              <a:gd name="connsiteX3" fmla="*/ 847725 w 1038225"/>
              <a:gd name="connsiteY3" fmla="*/ 82550 h 723900"/>
              <a:gd name="connsiteX4" fmla="*/ 1038225 w 1038225"/>
              <a:gd name="connsiteY4" fmla="*/ 0 h 723900"/>
              <a:gd name="connsiteX0" fmla="*/ 0 w 1038225"/>
              <a:gd name="connsiteY0" fmla="*/ 723900 h 723900"/>
              <a:gd name="connsiteX1" fmla="*/ 234950 w 1038225"/>
              <a:gd name="connsiteY1" fmla="*/ 514350 h 723900"/>
              <a:gd name="connsiteX2" fmla="*/ 536575 w 1038225"/>
              <a:gd name="connsiteY2" fmla="*/ 257175 h 723900"/>
              <a:gd name="connsiteX3" fmla="*/ 847725 w 1038225"/>
              <a:gd name="connsiteY3" fmla="*/ 82550 h 723900"/>
              <a:gd name="connsiteX4" fmla="*/ 1038225 w 1038225"/>
              <a:gd name="connsiteY4" fmla="*/ 0 h 723900"/>
              <a:gd name="connsiteX0" fmla="*/ 0 w 1066800"/>
              <a:gd name="connsiteY0" fmla="*/ 723900 h 723900"/>
              <a:gd name="connsiteX1" fmla="*/ 263525 w 1066800"/>
              <a:gd name="connsiteY1" fmla="*/ 514350 h 723900"/>
              <a:gd name="connsiteX2" fmla="*/ 565150 w 1066800"/>
              <a:gd name="connsiteY2" fmla="*/ 257175 h 723900"/>
              <a:gd name="connsiteX3" fmla="*/ 876300 w 1066800"/>
              <a:gd name="connsiteY3" fmla="*/ 82550 h 723900"/>
              <a:gd name="connsiteX4" fmla="*/ 1066800 w 1066800"/>
              <a:gd name="connsiteY4" fmla="*/ 0 h 723900"/>
              <a:gd name="connsiteX0" fmla="*/ 0 w 1066800"/>
              <a:gd name="connsiteY0" fmla="*/ 723900 h 723900"/>
              <a:gd name="connsiteX1" fmla="*/ 263525 w 1066800"/>
              <a:gd name="connsiteY1" fmla="*/ 514350 h 723900"/>
              <a:gd name="connsiteX2" fmla="*/ 565150 w 1066800"/>
              <a:gd name="connsiteY2" fmla="*/ 257175 h 723900"/>
              <a:gd name="connsiteX3" fmla="*/ 860425 w 1066800"/>
              <a:gd name="connsiteY3" fmla="*/ 88900 h 723900"/>
              <a:gd name="connsiteX4" fmla="*/ 1066800 w 1066800"/>
              <a:gd name="connsiteY4" fmla="*/ 0 h 723900"/>
              <a:gd name="connsiteX0" fmla="*/ 0 w 1028700"/>
              <a:gd name="connsiteY0" fmla="*/ 704850 h 704850"/>
              <a:gd name="connsiteX1" fmla="*/ 263525 w 1028700"/>
              <a:gd name="connsiteY1" fmla="*/ 495300 h 704850"/>
              <a:gd name="connsiteX2" fmla="*/ 565150 w 1028700"/>
              <a:gd name="connsiteY2" fmla="*/ 238125 h 704850"/>
              <a:gd name="connsiteX3" fmla="*/ 860425 w 1028700"/>
              <a:gd name="connsiteY3" fmla="*/ 69850 h 704850"/>
              <a:gd name="connsiteX4" fmla="*/ 1028700 w 1028700"/>
              <a:gd name="connsiteY4" fmla="*/ 0 h 704850"/>
              <a:gd name="connsiteX0" fmla="*/ 0 w 1066800"/>
              <a:gd name="connsiteY0" fmla="*/ 714375 h 714375"/>
              <a:gd name="connsiteX1" fmla="*/ 263525 w 1066800"/>
              <a:gd name="connsiteY1" fmla="*/ 504825 h 714375"/>
              <a:gd name="connsiteX2" fmla="*/ 565150 w 1066800"/>
              <a:gd name="connsiteY2" fmla="*/ 247650 h 714375"/>
              <a:gd name="connsiteX3" fmla="*/ 860425 w 1066800"/>
              <a:gd name="connsiteY3" fmla="*/ 79375 h 714375"/>
              <a:gd name="connsiteX4" fmla="*/ 1066800 w 1066800"/>
              <a:gd name="connsiteY4" fmla="*/ 0 h 714375"/>
              <a:gd name="connsiteX0" fmla="*/ 0 w 1066800"/>
              <a:gd name="connsiteY0" fmla="*/ 714375 h 714375"/>
              <a:gd name="connsiteX1" fmla="*/ 263525 w 1066800"/>
              <a:gd name="connsiteY1" fmla="*/ 504825 h 714375"/>
              <a:gd name="connsiteX2" fmla="*/ 565150 w 1066800"/>
              <a:gd name="connsiteY2" fmla="*/ 247650 h 714375"/>
              <a:gd name="connsiteX3" fmla="*/ 860425 w 1066800"/>
              <a:gd name="connsiteY3" fmla="*/ 79375 h 714375"/>
              <a:gd name="connsiteX4" fmla="*/ 1066800 w 1066800"/>
              <a:gd name="connsiteY4" fmla="*/ 0 h 714375"/>
              <a:gd name="connsiteX0" fmla="*/ 0 w 1066800"/>
              <a:gd name="connsiteY0" fmla="*/ 714375 h 714375"/>
              <a:gd name="connsiteX1" fmla="*/ 323850 w 1066800"/>
              <a:gd name="connsiteY1" fmla="*/ 679450 h 714375"/>
              <a:gd name="connsiteX2" fmla="*/ 565150 w 1066800"/>
              <a:gd name="connsiteY2" fmla="*/ 247650 h 714375"/>
              <a:gd name="connsiteX3" fmla="*/ 860425 w 1066800"/>
              <a:gd name="connsiteY3" fmla="*/ 79375 h 714375"/>
              <a:gd name="connsiteX4" fmla="*/ 1066800 w 1066800"/>
              <a:gd name="connsiteY4" fmla="*/ 0 h 714375"/>
              <a:gd name="connsiteX0" fmla="*/ 0 w 1066800"/>
              <a:gd name="connsiteY0" fmla="*/ 714375 h 714375"/>
              <a:gd name="connsiteX1" fmla="*/ 323850 w 1066800"/>
              <a:gd name="connsiteY1" fmla="*/ 679450 h 714375"/>
              <a:gd name="connsiteX2" fmla="*/ 650875 w 1066800"/>
              <a:gd name="connsiteY2" fmla="*/ 593725 h 714375"/>
              <a:gd name="connsiteX3" fmla="*/ 860425 w 1066800"/>
              <a:gd name="connsiteY3" fmla="*/ 79375 h 714375"/>
              <a:gd name="connsiteX4" fmla="*/ 1066800 w 1066800"/>
              <a:gd name="connsiteY4" fmla="*/ 0 h 714375"/>
              <a:gd name="connsiteX0" fmla="*/ 0 w 1066800"/>
              <a:gd name="connsiteY0" fmla="*/ 714375 h 714375"/>
              <a:gd name="connsiteX1" fmla="*/ 323850 w 1066800"/>
              <a:gd name="connsiteY1" fmla="*/ 679450 h 714375"/>
              <a:gd name="connsiteX2" fmla="*/ 650875 w 1066800"/>
              <a:gd name="connsiteY2" fmla="*/ 593725 h 714375"/>
              <a:gd name="connsiteX3" fmla="*/ 904875 w 1066800"/>
              <a:gd name="connsiteY3" fmla="*/ 495300 h 714375"/>
              <a:gd name="connsiteX4" fmla="*/ 1066800 w 1066800"/>
              <a:gd name="connsiteY4" fmla="*/ 0 h 714375"/>
              <a:gd name="connsiteX0" fmla="*/ 0 w 1085850"/>
              <a:gd name="connsiteY0" fmla="*/ 304800 h 304800"/>
              <a:gd name="connsiteX1" fmla="*/ 323850 w 1085850"/>
              <a:gd name="connsiteY1" fmla="*/ 269875 h 304800"/>
              <a:gd name="connsiteX2" fmla="*/ 650875 w 1085850"/>
              <a:gd name="connsiteY2" fmla="*/ 184150 h 304800"/>
              <a:gd name="connsiteX3" fmla="*/ 904875 w 1085850"/>
              <a:gd name="connsiteY3" fmla="*/ 85725 h 304800"/>
              <a:gd name="connsiteX4" fmla="*/ 1085850 w 1085850"/>
              <a:gd name="connsiteY4" fmla="*/ 0 h 304800"/>
              <a:gd name="connsiteX0" fmla="*/ 0 w 1085850"/>
              <a:gd name="connsiteY0" fmla="*/ 304800 h 304800"/>
              <a:gd name="connsiteX1" fmla="*/ 323850 w 1085850"/>
              <a:gd name="connsiteY1" fmla="*/ 269875 h 304800"/>
              <a:gd name="connsiteX2" fmla="*/ 650875 w 1085850"/>
              <a:gd name="connsiteY2" fmla="*/ 184150 h 304800"/>
              <a:gd name="connsiteX3" fmla="*/ 904875 w 1085850"/>
              <a:gd name="connsiteY3" fmla="*/ 85725 h 304800"/>
              <a:gd name="connsiteX4" fmla="*/ 1085850 w 1085850"/>
              <a:gd name="connsiteY4" fmla="*/ 0 h 304800"/>
              <a:gd name="connsiteX0" fmla="*/ 0 w 1057275"/>
              <a:gd name="connsiteY0" fmla="*/ 304800 h 304800"/>
              <a:gd name="connsiteX1" fmla="*/ 323850 w 1057275"/>
              <a:gd name="connsiteY1" fmla="*/ 269875 h 304800"/>
              <a:gd name="connsiteX2" fmla="*/ 650875 w 1057275"/>
              <a:gd name="connsiteY2" fmla="*/ 184150 h 304800"/>
              <a:gd name="connsiteX3" fmla="*/ 904875 w 1057275"/>
              <a:gd name="connsiteY3" fmla="*/ 85725 h 304800"/>
              <a:gd name="connsiteX4" fmla="*/ 1057275 w 1057275"/>
              <a:gd name="connsiteY4" fmla="*/ 0 h 304800"/>
              <a:gd name="connsiteX0" fmla="*/ 0 w 1057275"/>
              <a:gd name="connsiteY0" fmla="*/ 304800 h 304800"/>
              <a:gd name="connsiteX1" fmla="*/ 323850 w 1057275"/>
              <a:gd name="connsiteY1" fmla="*/ 269875 h 304800"/>
              <a:gd name="connsiteX2" fmla="*/ 650875 w 1057275"/>
              <a:gd name="connsiteY2" fmla="*/ 184150 h 304800"/>
              <a:gd name="connsiteX3" fmla="*/ 904875 w 1057275"/>
              <a:gd name="connsiteY3" fmla="*/ 85725 h 304800"/>
              <a:gd name="connsiteX4" fmla="*/ 1057275 w 1057275"/>
              <a:gd name="connsiteY4" fmla="*/ 0 h 304800"/>
              <a:gd name="connsiteX0" fmla="*/ 0 w 1057275"/>
              <a:gd name="connsiteY0" fmla="*/ 304800 h 304800"/>
              <a:gd name="connsiteX1" fmla="*/ 323850 w 1057275"/>
              <a:gd name="connsiteY1" fmla="*/ 269875 h 304800"/>
              <a:gd name="connsiteX2" fmla="*/ 654050 w 1057275"/>
              <a:gd name="connsiteY2" fmla="*/ 200025 h 304800"/>
              <a:gd name="connsiteX3" fmla="*/ 904875 w 1057275"/>
              <a:gd name="connsiteY3" fmla="*/ 85725 h 304800"/>
              <a:gd name="connsiteX4" fmla="*/ 1057275 w 1057275"/>
              <a:gd name="connsiteY4" fmla="*/ 0 h 304800"/>
              <a:gd name="connsiteX0" fmla="*/ 0 w 1057275"/>
              <a:gd name="connsiteY0" fmla="*/ 304800 h 304800"/>
              <a:gd name="connsiteX1" fmla="*/ 323850 w 1057275"/>
              <a:gd name="connsiteY1" fmla="*/ 269875 h 304800"/>
              <a:gd name="connsiteX2" fmla="*/ 654050 w 1057275"/>
              <a:gd name="connsiteY2" fmla="*/ 200025 h 304800"/>
              <a:gd name="connsiteX3" fmla="*/ 914400 w 1057275"/>
              <a:gd name="connsiteY3" fmla="*/ 85725 h 304800"/>
              <a:gd name="connsiteX4" fmla="*/ 1057275 w 1057275"/>
              <a:gd name="connsiteY4" fmla="*/ 0 h 304800"/>
              <a:gd name="connsiteX0" fmla="*/ 0 w 1057275"/>
              <a:gd name="connsiteY0" fmla="*/ 304800 h 304800"/>
              <a:gd name="connsiteX1" fmla="*/ 323850 w 1057275"/>
              <a:gd name="connsiteY1" fmla="*/ 269875 h 304800"/>
              <a:gd name="connsiteX2" fmla="*/ 654050 w 1057275"/>
              <a:gd name="connsiteY2" fmla="*/ 200025 h 304800"/>
              <a:gd name="connsiteX3" fmla="*/ 892175 w 1057275"/>
              <a:gd name="connsiteY3" fmla="*/ 85725 h 304800"/>
              <a:gd name="connsiteX4" fmla="*/ 1057275 w 1057275"/>
              <a:gd name="connsiteY4" fmla="*/ 0 h 304800"/>
              <a:gd name="connsiteX0" fmla="*/ 0 w 1057275"/>
              <a:gd name="connsiteY0" fmla="*/ 304800 h 304800"/>
              <a:gd name="connsiteX1" fmla="*/ 323850 w 1057275"/>
              <a:gd name="connsiteY1" fmla="*/ 269875 h 304800"/>
              <a:gd name="connsiteX2" fmla="*/ 654050 w 1057275"/>
              <a:gd name="connsiteY2" fmla="*/ 200025 h 304800"/>
              <a:gd name="connsiteX3" fmla="*/ 892175 w 1057275"/>
              <a:gd name="connsiteY3" fmla="*/ 95250 h 304800"/>
              <a:gd name="connsiteX4" fmla="*/ 1057275 w 1057275"/>
              <a:gd name="connsiteY4" fmla="*/ 0 h 30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7275" h="304800">
                <a:moveTo>
                  <a:pt x="0" y="304800"/>
                </a:moveTo>
                <a:cubicBezTo>
                  <a:pt x="207433" y="286808"/>
                  <a:pt x="214842" y="287338"/>
                  <a:pt x="323850" y="269875"/>
                </a:cubicBezTo>
                <a:cubicBezTo>
                  <a:pt x="432858" y="252412"/>
                  <a:pt x="559329" y="229129"/>
                  <a:pt x="654050" y="200025"/>
                </a:cubicBezTo>
                <a:cubicBezTo>
                  <a:pt x="748771" y="170921"/>
                  <a:pt x="824971" y="128587"/>
                  <a:pt x="892175" y="95250"/>
                </a:cubicBezTo>
                <a:cubicBezTo>
                  <a:pt x="959379" y="61913"/>
                  <a:pt x="1008592" y="39158"/>
                  <a:pt x="1057275" y="0"/>
                </a:cubicBezTo>
              </a:path>
            </a:pathLst>
          </a:custGeom>
          <a:noFill/>
          <a:ln w="28575">
            <a:solidFill>
              <a:srgbClr val="00B05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Oval 22">
            <a:extLst>
              <a:ext uri="{FF2B5EF4-FFF2-40B4-BE49-F238E27FC236}">
                <a16:creationId xmlns:a16="http://schemas.microsoft.com/office/drawing/2014/main" id="{89AAC4D3-1AA8-0288-4F6B-12276B1517C5}"/>
              </a:ext>
            </a:extLst>
          </p:cNvPr>
          <p:cNvSpPr/>
          <p:nvPr/>
        </p:nvSpPr>
        <p:spPr>
          <a:xfrm>
            <a:off x="3551541" y="2345302"/>
            <a:ext cx="124348" cy="124372"/>
          </a:xfrm>
          <a:prstGeom prst="ellipse">
            <a:avLst/>
          </a:prstGeom>
          <a:solidFill>
            <a:srgbClr val="00B05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Freeform: Shape 23">
            <a:extLst>
              <a:ext uri="{FF2B5EF4-FFF2-40B4-BE49-F238E27FC236}">
                <a16:creationId xmlns:a16="http://schemas.microsoft.com/office/drawing/2014/main" id="{B7A3EA38-1048-7465-6834-193921B95A68}"/>
              </a:ext>
            </a:extLst>
          </p:cNvPr>
          <p:cNvSpPr/>
          <p:nvPr/>
        </p:nvSpPr>
        <p:spPr>
          <a:xfrm>
            <a:off x="3078377" y="2077794"/>
            <a:ext cx="1057275" cy="407298"/>
          </a:xfrm>
          <a:custGeom>
            <a:avLst/>
            <a:gdLst>
              <a:gd name="connsiteX0" fmla="*/ 0 w 1676400"/>
              <a:gd name="connsiteY0" fmla="*/ 95250 h 387908"/>
              <a:gd name="connsiteX1" fmla="*/ 387350 w 1676400"/>
              <a:gd name="connsiteY1" fmla="*/ 107950 h 387908"/>
              <a:gd name="connsiteX2" fmla="*/ 635000 w 1676400"/>
              <a:gd name="connsiteY2" fmla="*/ 387350 h 387908"/>
              <a:gd name="connsiteX3" fmla="*/ 1117600 w 1676400"/>
              <a:gd name="connsiteY3" fmla="*/ 25400 h 387908"/>
              <a:gd name="connsiteX4" fmla="*/ 1346200 w 1676400"/>
              <a:gd name="connsiteY4" fmla="*/ 254000 h 387908"/>
              <a:gd name="connsiteX5" fmla="*/ 1676400 w 1676400"/>
              <a:gd name="connsiteY5" fmla="*/ 0 h 387908"/>
              <a:gd name="connsiteX0" fmla="*/ 0 w 1885950"/>
              <a:gd name="connsiteY0" fmla="*/ 127000 h 387897"/>
              <a:gd name="connsiteX1" fmla="*/ 596900 w 1885950"/>
              <a:gd name="connsiteY1" fmla="*/ 107950 h 387897"/>
              <a:gd name="connsiteX2" fmla="*/ 844550 w 1885950"/>
              <a:gd name="connsiteY2" fmla="*/ 387350 h 387897"/>
              <a:gd name="connsiteX3" fmla="*/ 1327150 w 1885950"/>
              <a:gd name="connsiteY3" fmla="*/ 25400 h 387897"/>
              <a:gd name="connsiteX4" fmla="*/ 1555750 w 1885950"/>
              <a:gd name="connsiteY4" fmla="*/ 254000 h 387897"/>
              <a:gd name="connsiteX5" fmla="*/ 1885950 w 1885950"/>
              <a:gd name="connsiteY5" fmla="*/ 0 h 387897"/>
              <a:gd name="connsiteX0" fmla="*/ 0 w 1885950"/>
              <a:gd name="connsiteY0" fmla="*/ 134739 h 395127"/>
              <a:gd name="connsiteX1" fmla="*/ 444500 w 1885950"/>
              <a:gd name="connsiteY1" fmla="*/ 7739 h 395127"/>
              <a:gd name="connsiteX2" fmla="*/ 844550 w 1885950"/>
              <a:gd name="connsiteY2" fmla="*/ 395089 h 395127"/>
              <a:gd name="connsiteX3" fmla="*/ 1327150 w 1885950"/>
              <a:gd name="connsiteY3" fmla="*/ 33139 h 395127"/>
              <a:gd name="connsiteX4" fmla="*/ 1555750 w 1885950"/>
              <a:gd name="connsiteY4" fmla="*/ 261739 h 395127"/>
              <a:gd name="connsiteX5" fmla="*/ 1885950 w 1885950"/>
              <a:gd name="connsiteY5" fmla="*/ 7739 h 395127"/>
              <a:gd name="connsiteX0" fmla="*/ 0 w 1885950"/>
              <a:gd name="connsiteY0" fmla="*/ 520742 h 647846"/>
              <a:gd name="connsiteX1" fmla="*/ 444500 w 1885950"/>
              <a:gd name="connsiteY1" fmla="*/ 393742 h 647846"/>
              <a:gd name="connsiteX2" fmla="*/ 806450 w 1885950"/>
              <a:gd name="connsiteY2" fmla="*/ 42 h 647846"/>
              <a:gd name="connsiteX3" fmla="*/ 1327150 w 1885950"/>
              <a:gd name="connsiteY3" fmla="*/ 419142 h 647846"/>
              <a:gd name="connsiteX4" fmla="*/ 1555750 w 1885950"/>
              <a:gd name="connsiteY4" fmla="*/ 647742 h 647846"/>
              <a:gd name="connsiteX5" fmla="*/ 1885950 w 1885950"/>
              <a:gd name="connsiteY5" fmla="*/ 393742 h 647846"/>
              <a:gd name="connsiteX0" fmla="*/ 0 w 1885950"/>
              <a:gd name="connsiteY0" fmla="*/ 521930 h 649034"/>
              <a:gd name="connsiteX1" fmla="*/ 425450 w 1885950"/>
              <a:gd name="connsiteY1" fmla="*/ 299680 h 649034"/>
              <a:gd name="connsiteX2" fmla="*/ 806450 w 1885950"/>
              <a:gd name="connsiteY2" fmla="*/ 1230 h 649034"/>
              <a:gd name="connsiteX3" fmla="*/ 1327150 w 1885950"/>
              <a:gd name="connsiteY3" fmla="*/ 420330 h 649034"/>
              <a:gd name="connsiteX4" fmla="*/ 1555750 w 1885950"/>
              <a:gd name="connsiteY4" fmla="*/ 648930 h 649034"/>
              <a:gd name="connsiteX5" fmla="*/ 1885950 w 1885950"/>
              <a:gd name="connsiteY5" fmla="*/ 394930 h 649034"/>
              <a:gd name="connsiteX0" fmla="*/ 0 w 1885950"/>
              <a:gd name="connsiteY0" fmla="*/ 408401 h 535492"/>
              <a:gd name="connsiteX1" fmla="*/ 425450 w 1885950"/>
              <a:gd name="connsiteY1" fmla="*/ 186151 h 535492"/>
              <a:gd name="connsiteX2" fmla="*/ 730250 w 1885950"/>
              <a:gd name="connsiteY2" fmla="*/ 2001 h 535492"/>
              <a:gd name="connsiteX3" fmla="*/ 1327150 w 1885950"/>
              <a:gd name="connsiteY3" fmla="*/ 306801 h 535492"/>
              <a:gd name="connsiteX4" fmla="*/ 1555750 w 1885950"/>
              <a:gd name="connsiteY4" fmla="*/ 535401 h 535492"/>
              <a:gd name="connsiteX5" fmla="*/ 1885950 w 1885950"/>
              <a:gd name="connsiteY5" fmla="*/ 281401 h 535492"/>
              <a:gd name="connsiteX0" fmla="*/ 0 w 1885950"/>
              <a:gd name="connsiteY0" fmla="*/ 406434 h 533525"/>
              <a:gd name="connsiteX1" fmla="*/ 285750 w 1885950"/>
              <a:gd name="connsiteY1" fmla="*/ 285784 h 533525"/>
              <a:gd name="connsiteX2" fmla="*/ 730250 w 1885950"/>
              <a:gd name="connsiteY2" fmla="*/ 34 h 533525"/>
              <a:gd name="connsiteX3" fmla="*/ 1327150 w 1885950"/>
              <a:gd name="connsiteY3" fmla="*/ 304834 h 533525"/>
              <a:gd name="connsiteX4" fmla="*/ 1555750 w 1885950"/>
              <a:gd name="connsiteY4" fmla="*/ 533434 h 533525"/>
              <a:gd name="connsiteX5" fmla="*/ 1885950 w 1885950"/>
              <a:gd name="connsiteY5" fmla="*/ 279434 h 533525"/>
              <a:gd name="connsiteX0" fmla="*/ 0 w 1885950"/>
              <a:gd name="connsiteY0" fmla="*/ 406434 h 533525"/>
              <a:gd name="connsiteX1" fmla="*/ 285750 w 1885950"/>
              <a:gd name="connsiteY1" fmla="*/ 285784 h 533525"/>
              <a:gd name="connsiteX2" fmla="*/ 736600 w 1885950"/>
              <a:gd name="connsiteY2" fmla="*/ 34 h 533525"/>
              <a:gd name="connsiteX3" fmla="*/ 1327150 w 1885950"/>
              <a:gd name="connsiteY3" fmla="*/ 304834 h 533525"/>
              <a:gd name="connsiteX4" fmla="*/ 1555750 w 1885950"/>
              <a:gd name="connsiteY4" fmla="*/ 533434 h 533525"/>
              <a:gd name="connsiteX5" fmla="*/ 1885950 w 1885950"/>
              <a:gd name="connsiteY5" fmla="*/ 279434 h 533525"/>
              <a:gd name="connsiteX0" fmla="*/ 0 w 1885950"/>
              <a:gd name="connsiteY0" fmla="*/ 561152 h 688175"/>
              <a:gd name="connsiteX1" fmla="*/ 285750 w 1885950"/>
              <a:gd name="connsiteY1" fmla="*/ 440502 h 688175"/>
              <a:gd name="connsiteX2" fmla="*/ 736600 w 1885950"/>
              <a:gd name="connsiteY2" fmla="*/ 154752 h 688175"/>
              <a:gd name="connsiteX3" fmla="*/ 863600 w 1885950"/>
              <a:gd name="connsiteY3" fmla="*/ 27752 h 688175"/>
              <a:gd name="connsiteX4" fmla="*/ 1555750 w 1885950"/>
              <a:gd name="connsiteY4" fmla="*/ 688152 h 688175"/>
              <a:gd name="connsiteX5" fmla="*/ 1885950 w 1885950"/>
              <a:gd name="connsiteY5" fmla="*/ 434152 h 688175"/>
              <a:gd name="connsiteX0" fmla="*/ 0 w 1885950"/>
              <a:gd name="connsiteY0" fmla="*/ 566493 h 693516"/>
              <a:gd name="connsiteX1" fmla="*/ 285750 w 1885950"/>
              <a:gd name="connsiteY1" fmla="*/ 445843 h 693516"/>
              <a:gd name="connsiteX2" fmla="*/ 679450 w 1885950"/>
              <a:gd name="connsiteY2" fmla="*/ 134693 h 693516"/>
              <a:gd name="connsiteX3" fmla="*/ 863600 w 1885950"/>
              <a:gd name="connsiteY3" fmla="*/ 33093 h 693516"/>
              <a:gd name="connsiteX4" fmla="*/ 1555750 w 1885950"/>
              <a:gd name="connsiteY4" fmla="*/ 693493 h 693516"/>
              <a:gd name="connsiteX5" fmla="*/ 1885950 w 1885950"/>
              <a:gd name="connsiteY5" fmla="*/ 439493 h 693516"/>
              <a:gd name="connsiteX0" fmla="*/ 0 w 1885950"/>
              <a:gd name="connsiteY0" fmla="*/ 640615 h 767635"/>
              <a:gd name="connsiteX1" fmla="*/ 285750 w 1885950"/>
              <a:gd name="connsiteY1" fmla="*/ 519965 h 767635"/>
              <a:gd name="connsiteX2" fmla="*/ 679450 w 1885950"/>
              <a:gd name="connsiteY2" fmla="*/ 208815 h 767635"/>
              <a:gd name="connsiteX3" fmla="*/ 1009650 w 1885950"/>
              <a:gd name="connsiteY3" fmla="*/ 24665 h 767635"/>
              <a:gd name="connsiteX4" fmla="*/ 1555750 w 1885950"/>
              <a:gd name="connsiteY4" fmla="*/ 767615 h 767635"/>
              <a:gd name="connsiteX5" fmla="*/ 1885950 w 1885950"/>
              <a:gd name="connsiteY5" fmla="*/ 513615 h 767635"/>
              <a:gd name="connsiteX0" fmla="*/ 0 w 1885950"/>
              <a:gd name="connsiteY0" fmla="*/ 692173 h 692173"/>
              <a:gd name="connsiteX1" fmla="*/ 285750 w 1885950"/>
              <a:gd name="connsiteY1" fmla="*/ 571523 h 692173"/>
              <a:gd name="connsiteX2" fmla="*/ 679450 w 1885950"/>
              <a:gd name="connsiteY2" fmla="*/ 260373 h 692173"/>
              <a:gd name="connsiteX3" fmla="*/ 1009650 w 1885950"/>
              <a:gd name="connsiteY3" fmla="*/ 76223 h 692173"/>
              <a:gd name="connsiteX4" fmla="*/ 1092200 w 1885950"/>
              <a:gd name="connsiteY4" fmla="*/ 23 h 692173"/>
              <a:gd name="connsiteX5" fmla="*/ 1885950 w 1885950"/>
              <a:gd name="connsiteY5" fmla="*/ 565173 h 692173"/>
              <a:gd name="connsiteX0" fmla="*/ 0 w 1092200"/>
              <a:gd name="connsiteY0" fmla="*/ 692150 h 692150"/>
              <a:gd name="connsiteX1" fmla="*/ 285750 w 1092200"/>
              <a:gd name="connsiteY1" fmla="*/ 571500 h 692150"/>
              <a:gd name="connsiteX2" fmla="*/ 679450 w 1092200"/>
              <a:gd name="connsiteY2" fmla="*/ 260350 h 692150"/>
              <a:gd name="connsiteX3" fmla="*/ 1009650 w 1092200"/>
              <a:gd name="connsiteY3" fmla="*/ 76200 h 692150"/>
              <a:gd name="connsiteX4" fmla="*/ 1092200 w 1092200"/>
              <a:gd name="connsiteY4" fmla="*/ 0 h 692150"/>
              <a:gd name="connsiteX0" fmla="*/ 0 w 1092200"/>
              <a:gd name="connsiteY0" fmla="*/ 692150 h 692150"/>
              <a:gd name="connsiteX1" fmla="*/ 285750 w 1092200"/>
              <a:gd name="connsiteY1" fmla="*/ 571500 h 692150"/>
              <a:gd name="connsiteX2" fmla="*/ 615950 w 1092200"/>
              <a:gd name="connsiteY2" fmla="*/ 330200 h 692150"/>
              <a:gd name="connsiteX3" fmla="*/ 1009650 w 1092200"/>
              <a:gd name="connsiteY3" fmla="*/ 76200 h 692150"/>
              <a:gd name="connsiteX4" fmla="*/ 1092200 w 1092200"/>
              <a:gd name="connsiteY4" fmla="*/ 0 h 692150"/>
              <a:gd name="connsiteX0" fmla="*/ 0 w 1092200"/>
              <a:gd name="connsiteY0" fmla="*/ 692150 h 692150"/>
              <a:gd name="connsiteX1" fmla="*/ 285750 w 1092200"/>
              <a:gd name="connsiteY1" fmla="*/ 571500 h 692150"/>
              <a:gd name="connsiteX2" fmla="*/ 615950 w 1092200"/>
              <a:gd name="connsiteY2" fmla="*/ 330200 h 692150"/>
              <a:gd name="connsiteX3" fmla="*/ 863600 w 1092200"/>
              <a:gd name="connsiteY3" fmla="*/ 95250 h 692150"/>
              <a:gd name="connsiteX4" fmla="*/ 1092200 w 1092200"/>
              <a:gd name="connsiteY4" fmla="*/ 0 h 692150"/>
              <a:gd name="connsiteX0" fmla="*/ 0 w 1073150"/>
              <a:gd name="connsiteY0" fmla="*/ 730250 h 730250"/>
              <a:gd name="connsiteX1" fmla="*/ 285750 w 1073150"/>
              <a:gd name="connsiteY1" fmla="*/ 609600 h 730250"/>
              <a:gd name="connsiteX2" fmla="*/ 615950 w 1073150"/>
              <a:gd name="connsiteY2" fmla="*/ 368300 h 730250"/>
              <a:gd name="connsiteX3" fmla="*/ 863600 w 1073150"/>
              <a:gd name="connsiteY3" fmla="*/ 133350 h 730250"/>
              <a:gd name="connsiteX4" fmla="*/ 1073150 w 1073150"/>
              <a:gd name="connsiteY4" fmla="*/ 0 h 730250"/>
              <a:gd name="connsiteX0" fmla="*/ 0 w 1073150"/>
              <a:gd name="connsiteY0" fmla="*/ 730250 h 730250"/>
              <a:gd name="connsiteX1" fmla="*/ 285750 w 1073150"/>
              <a:gd name="connsiteY1" fmla="*/ 609600 h 730250"/>
              <a:gd name="connsiteX2" fmla="*/ 615950 w 1073150"/>
              <a:gd name="connsiteY2" fmla="*/ 368300 h 730250"/>
              <a:gd name="connsiteX3" fmla="*/ 863600 w 1073150"/>
              <a:gd name="connsiteY3" fmla="*/ 133350 h 730250"/>
              <a:gd name="connsiteX4" fmla="*/ 1073150 w 1073150"/>
              <a:gd name="connsiteY4" fmla="*/ 0 h 730250"/>
              <a:gd name="connsiteX0" fmla="*/ 0 w 1073150"/>
              <a:gd name="connsiteY0" fmla="*/ 730250 h 730250"/>
              <a:gd name="connsiteX1" fmla="*/ 285750 w 1073150"/>
              <a:gd name="connsiteY1" fmla="*/ 609600 h 730250"/>
              <a:gd name="connsiteX2" fmla="*/ 558800 w 1073150"/>
              <a:gd name="connsiteY2" fmla="*/ 406400 h 730250"/>
              <a:gd name="connsiteX3" fmla="*/ 863600 w 1073150"/>
              <a:gd name="connsiteY3" fmla="*/ 133350 h 730250"/>
              <a:gd name="connsiteX4" fmla="*/ 1073150 w 1073150"/>
              <a:gd name="connsiteY4" fmla="*/ 0 h 730250"/>
              <a:gd name="connsiteX0" fmla="*/ 0 w 1073150"/>
              <a:gd name="connsiteY0" fmla="*/ 730250 h 730250"/>
              <a:gd name="connsiteX1" fmla="*/ 285750 w 1073150"/>
              <a:gd name="connsiteY1" fmla="*/ 609600 h 730250"/>
              <a:gd name="connsiteX2" fmla="*/ 542925 w 1073150"/>
              <a:gd name="connsiteY2" fmla="*/ 412750 h 730250"/>
              <a:gd name="connsiteX3" fmla="*/ 863600 w 1073150"/>
              <a:gd name="connsiteY3" fmla="*/ 133350 h 730250"/>
              <a:gd name="connsiteX4" fmla="*/ 1073150 w 1073150"/>
              <a:gd name="connsiteY4" fmla="*/ 0 h 730250"/>
              <a:gd name="connsiteX0" fmla="*/ 0 w 1073150"/>
              <a:gd name="connsiteY0" fmla="*/ 730250 h 730250"/>
              <a:gd name="connsiteX1" fmla="*/ 285750 w 1073150"/>
              <a:gd name="connsiteY1" fmla="*/ 609600 h 730250"/>
              <a:gd name="connsiteX2" fmla="*/ 542925 w 1073150"/>
              <a:gd name="connsiteY2" fmla="*/ 412750 h 730250"/>
              <a:gd name="connsiteX3" fmla="*/ 863600 w 1073150"/>
              <a:gd name="connsiteY3" fmla="*/ 133350 h 730250"/>
              <a:gd name="connsiteX4" fmla="*/ 1073150 w 1073150"/>
              <a:gd name="connsiteY4" fmla="*/ 0 h 730250"/>
              <a:gd name="connsiteX0" fmla="*/ 0 w 1073150"/>
              <a:gd name="connsiteY0" fmla="*/ 730250 h 730250"/>
              <a:gd name="connsiteX1" fmla="*/ 285750 w 1073150"/>
              <a:gd name="connsiteY1" fmla="*/ 609600 h 730250"/>
              <a:gd name="connsiteX2" fmla="*/ 552450 w 1073150"/>
              <a:gd name="connsiteY2" fmla="*/ 400050 h 730250"/>
              <a:gd name="connsiteX3" fmla="*/ 863600 w 1073150"/>
              <a:gd name="connsiteY3" fmla="*/ 133350 h 730250"/>
              <a:gd name="connsiteX4" fmla="*/ 1073150 w 1073150"/>
              <a:gd name="connsiteY4" fmla="*/ 0 h 730250"/>
              <a:gd name="connsiteX0" fmla="*/ 0 w 1073150"/>
              <a:gd name="connsiteY0" fmla="*/ 730250 h 730250"/>
              <a:gd name="connsiteX1" fmla="*/ 285750 w 1073150"/>
              <a:gd name="connsiteY1" fmla="*/ 609600 h 730250"/>
              <a:gd name="connsiteX2" fmla="*/ 552450 w 1073150"/>
              <a:gd name="connsiteY2" fmla="*/ 400050 h 730250"/>
              <a:gd name="connsiteX3" fmla="*/ 863600 w 1073150"/>
              <a:gd name="connsiteY3" fmla="*/ 133350 h 730250"/>
              <a:gd name="connsiteX4" fmla="*/ 1073150 w 1073150"/>
              <a:gd name="connsiteY4" fmla="*/ 0 h 730250"/>
              <a:gd name="connsiteX0" fmla="*/ 0 w 1073150"/>
              <a:gd name="connsiteY0" fmla="*/ 730250 h 730250"/>
              <a:gd name="connsiteX1" fmla="*/ 285750 w 1073150"/>
              <a:gd name="connsiteY1" fmla="*/ 609600 h 730250"/>
              <a:gd name="connsiteX2" fmla="*/ 552450 w 1073150"/>
              <a:gd name="connsiteY2" fmla="*/ 400050 h 730250"/>
              <a:gd name="connsiteX3" fmla="*/ 863600 w 1073150"/>
              <a:gd name="connsiteY3" fmla="*/ 133350 h 730250"/>
              <a:gd name="connsiteX4" fmla="*/ 1073150 w 1073150"/>
              <a:gd name="connsiteY4" fmla="*/ 0 h 730250"/>
              <a:gd name="connsiteX0" fmla="*/ 0 w 1076325"/>
              <a:gd name="connsiteY0" fmla="*/ 727075 h 727075"/>
              <a:gd name="connsiteX1" fmla="*/ 288925 w 1076325"/>
              <a:gd name="connsiteY1" fmla="*/ 609600 h 727075"/>
              <a:gd name="connsiteX2" fmla="*/ 555625 w 1076325"/>
              <a:gd name="connsiteY2" fmla="*/ 400050 h 727075"/>
              <a:gd name="connsiteX3" fmla="*/ 866775 w 1076325"/>
              <a:gd name="connsiteY3" fmla="*/ 133350 h 727075"/>
              <a:gd name="connsiteX4" fmla="*/ 1076325 w 1076325"/>
              <a:gd name="connsiteY4" fmla="*/ 0 h 727075"/>
              <a:gd name="connsiteX0" fmla="*/ 0 w 1076325"/>
              <a:gd name="connsiteY0" fmla="*/ 727075 h 727075"/>
              <a:gd name="connsiteX1" fmla="*/ 288925 w 1076325"/>
              <a:gd name="connsiteY1" fmla="*/ 609600 h 727075"/>
              <a:gd name="connsiteX2" fmla="*/ 558800 w 1076325"/>
              <a:gd name="connsiteY2" fmla="*/ 257175 h 727075"/>
              <a:gd name="connsiteX3" fmla="*/ 866775 w 1076325"/>
              <a:gd name="connsiteY3" fmla="*/ 133350 h 727075"/>
              <a:gd name="connsiteX4" fmla="*/ 1076325 w 1076325"/>
              <a:gd name="connsiteY4" fmla="*/ 0 h 727075"/>
              <a:gd name="connsiteX0" fmla="*/ 0 w 1076325"/>
              <a:gd name="connsiteY0" fmla="*/ 727075 h 727075"/>
              <a:gd name="connsiteX1" fmla="*/ 288925 w 1076325"/>
              <a:gd name="connsiteY1" fmla="*/ 609600 h 727075"/>
              <a:gd name="connsiteX2" fmla="*/ 558800 w 1076325"/>
              <a:gd name="connsiteY2" fmla="*/ 257175 h 727075"/>
              <a:gd name="connsiteX3" fmla="*/ 885825 w 1076325"/>
              <a:gd name="connsiteY3" fmla="*/ 82550 h 727075"/>
              <a:gd name="connsiteX4" fmla="*/ 1076325 w 1076325"/>
              <a:gd name="connsiteY4" fmla="*/ 0 h 727075"/>
              <a:gd name="connsiteX0" fmla="*/ 0 w 1076325"/>
              <a:gd name="connsiteY0" fmla="*/ 727075 h 727075"/>
              <a:gd name="connsiteX1" fmla="*/ 257175 w 1076325"/>
              <a:gd name="connsiteY1" fmla="*/ 539750 h 727075"/>
              <a:gd name="connsiteX2" fmla="*/ 558800 w 1076325"/>
              <a:gd name="connsiteY2" fmla="*/ 257175 h 727075"/>
              <a:gd name="connsiteX3" fmla="*/ 885825 w 1076325"/>
              <a:gd name="connsiteY3" fmla="*/ 82550 h 727075"/>
              <a:gd name="connsiteX4" fmla="*/ 1076325 w 1076325"/>
              <a:gd name="connsiteY4" fmla="*/ 0 h 727075"/>
              <a:gd name="connsiteX0" fmla="*/ 0 w 1076325"/>
              <a:gd name="connsiteY0" fmla="*/ 727075 h 727075"/>
              <a:gd name="connsiteX1" fmla="*/ 257175 w 1076325"/>
              <a:gd name="connsiteY1" fmla="*/ 539750 h 727075"/>
              <a:gd name="connsiteX2" fmla="*/ 558800 w 1076325"/>
              <a:gd name="connsiteY2" fmla="*/ 257175 h 727075"/>
              <a:gd name="connsiteX3" fmla="*/ 885825 w 1076325"/>
              <a:gd name="connsiteY3" fmla="*/ 82550 h 727075"/>
              <a:gd name="connsiteX4" fmla="*/ 1076325 w 1076325"/>
              <a:gd name="connsiteY4" fmla="*/ 0 h 727075"/>
              <a:gd name="connsiteX0" fmla="*/ 0 w 1076325"/>
              <a:gd name="connsiteY0" fmla="*/ 727075 h 727075"/>
              <a:gd name="connsiteX1" fmla="*/ 257175 w 1076325"/>
              <a:gd name="connsiteY1" fmla="*/ 539750 h 727075"/>
              <a:gd name="connsiteX2" fmla="*/ 558800 w 1076325"/>
              <a:gd name="connsiteY2" fmla="*/ 257175 h 727075"/>
              <a:gd name="connsiteX3" fmla="*/ 885825 w 1076325"/>
              <a:gd name="connsiteY3" fmla="*/ 82550 h 727075"/>
              <a:gd name="connsiteX4" fmla="*/ 1076325 w 1076325"/>
              <a:gd name="connsiteY4" fmla="*/ 0 h 727075"/>
              <a:gd name="connsiteX0" fmla="*/ 0 w 1038225"/>
              <a:gd name="connsiteY0" fmla="*/ 723900 h 723900"/>
              <a:gd name="connsiteX1" fmla="*/ 219075 w 1038225"/>
              <a:gd name="connsiteY1" fmla="*/ 539750 h 723900"/>
              <a:gd name="connsiteX2" fmla="*/ 520700 w 1038225"/>
              <a:gd name="connsiteY2" fmla="*/ 257175 h 723900"/>
              <a:gd name="connsiteX3" fmla="*/ 847725 w 1038225"/>
              <a:gd name="connsiteY3" fmla="*/ 82550 h 723900"/>
              <a:gd name="connsiteX4" fmla="*/ 1038225 w 1038225"/>
              <a:gd name="connsiteY4" fmla="*/ 0 h 723900"/>
              <a:gd name="connsiteX0" fmla="*/ 0 w 1038225"/>
              <a:gd name="connsiteY0" fmla="*/ 723900 h 723900"/>
              <a:gd name="connsiteX1" fmla="*/ 257175 w 1038225"/>
              <a:gd name="connsiteY1" fmla="*/ 501650 h 723900"/>
              <a:gd name="connsiteX2" fmla="*/ 520700 w 1038225"/>
              <a:gd name="connsiteY2" fmla="*/ 257175 h 723900"/>
              <a:gd name="connsiteX3" fmla="*/ 847725 w 1038225"/>
              <a:gd name="connsiteY3" fmla="*/ 82550 h 723900"/>
              <a:gd name="connsiteX4" fmla="*/ 1038225 w 1038225"/>
              <a:gd name="connsiteY4" fmla="*/ 0 h 723900"/>
              <a:gd name="connsiteX0" fmla="*/ 0 w 1038225"/>
              <a:gd name="connsiteY0" fmla="*/ 723900 h 723900"/>
              <a:gd name="connsiteX1" fmla="*/ 257175 w 1038225"/>
              <a:gd name="connsiteY1" fmla="*/ 501650 h 723900"/>
              <a:gd name="connsiteX2" fmla="*/ 520700 w 1038225"/>
              <a:gd name="connsiteY2" fmla="*/ 257175 h 723900"/>
              <a:gd name="connsiteX3" fmla="*/ 847725 w 1038225"/>
              <a:gd name="connsiteY3" fmla="*/ 82550 h 723900"/>
              <a:gd name="connsiteX4" fmla="*/ 1038225 w 1038225"/>
              <a:gd name="connsiteY4" fmla="*/ 0 h 723900"/>
              <a:gd name="connsiteX0" fmla="*/ 0 w 1038225"/>
              <a:gd name="connsiteY0" fmla="*/ 723900 h 723900"/>
              <a:gd name="connsiteX1" fmla="*/ 155575 w 1038225"/>
              <a:gd name="connsiteY1" fmla="*/ 584200 h 723900"/>
              <a:gd name="connsiteX2" fmla="*/ 520700 w 1038225"/>
              <a:gd name="connsiteY2" fmla="*/ 257175 h 723900"/>
              <a:gd name="connsiteX3" fmla="*/ 847725 w 1038225"/>
              <a:gd name="connsiteY3" fmla="*/ 82550 h 723900"/>
              <a:gd name="connsiteX4" fmla="*/ 1038225 w 1038225"/>
              <a:gd name="connsiteY4" fmla="*/ 0 h 723900"/>
              <a:gd name="connsiteX0" fmla="*/ 0 w 1038225"/>
              <a:gd name="connsiteY0" fmla="*/ 723900 h 723900"/>
              <a:gd name="connsiteX1" fmla="*/ 155575 w 1038225"/>
              <a:gd name="connsiteY1" fmla="*/ 584200 h 723900"/>
              <a:gd name="connsiteX2" fmla="*/ 520700 w 1038225"/>
              <a:gd name="connsiteY2" fmla="*/ 257175 h 723900"/>
              <a:gd name="connsiteX3" fmla="*/ 847725 w 1038225"/>
              <a:gd name="connsiteY3" fmla="*/ 82550 h 723900"/>
              <a:gd name="connsiteX4" fmla="*/ 1038225 w 1038225"/>
              <a:gd name="connsiteY4" fmla="*/ 0 h 723900"/>
              <a:gd name="connsiteX0" fmla="*/ 0 w 1038225"/>
              <a:gd name="connsiteY0" fmla="*/ 723900 h 723900"/>
              <a:gd name="connsiteX1" fmla="*/ 234950 w 1038225"/>
              <a:gd name="connsiteY1" fmla="*/ 514350 h 723900"/>
              <a:gd name="connsiteX2" fmla="*/ 520700 w 1038225"/>
              <a:gd name="connsiteY2" fmla="*/ 257175 h 723900"/>
              <a:gd name="connsiteX3" fmla="*/ 847725 w 1038225"/>
              <a:gd name="connsiteY3" fmla="*/ 82550 h 723900"/>
              <a:gd name="connsiteX4" fmla="*/ 1038225 w 1038225"/>
              <a:gd name="connsiteY4" fmla="*/ 0 h 723900"/>
              <a:gd name="connsiteX0" fmla="*/ 0 w 1038225"/>
              <a:gd name="connsiteY0" fmla="*/ 723900 h 723900"/>
              <a:gd name="connsiteX1" fmla="*/ 234950 w 1038225"/>
              <a:gd name="connsiteY1" fmla="*/ 514350 h 723900"/>
              <a:gd name="connsiteX2" fmla="*/ 536575 w 1038225"/>
              <a:gd name="connsiteY2" fmla="*/ 257175 h 723900"/>
              <a:gd name="connsiteX3" fmla="*/ 847725 w 1038225"/>
              <a:gd name="connsiteY3" fmla="*/ 82550 h 723900"/>
              <a:gd name="connsiteX4" fmla="*/ 1038225 w 1038225"/>
              <a:gd name="connsiteY4" fmla="*/ 0 h 723900"/>
              <a:gd name="connsiteX0" fmla="*/ 0 w 1066800"/>
              <a:gd name="connsiteY0" fmla="*/ 723900 h 723900"/>
              <a:gd name="connsiteX1" fmla="*/ 263525 w 1066800"/>
              <a:gd name="connsiteY1" fmla="*/ 514350 h 723900"/>
              <a:gd name="connsiteX2" fmla="*/ 565150 w 1066800"/>
              <a:gd name="connsiteY2" fmla="*/ 257175 h 723900"/>
              <a:gd name="connsiteX3" fmla="*/ 876300 w 1066800"/>
              <a:gd name="connsiteY3" fmla="*/ 82550 h 723900"/>
              <a:gd name="connsiteX4" fmla="*/ 1066800 w 1066800"/>
              <a:gd name="connsiteY4" fmla="*/ 0 h 723900"/>
              <a:gd name="connsiteX0" fmla="*/ 0 w 1066800"/>
              <a:gd name="connsiteY0" fmla="*/ 723900 h 723900"/>
              <a:gd name="connsiteX1" fmla="*/ 263525 w 1066800"/>
              <a:gd name="connsiteY1" fmla="*/ 514350 h 723900"/>
              <a:gd name="connsiteX2" fmla="*/ 565150 w 1066800"/>
              <a:gd name="connsiteY2" fmla="*/ 257175 h 723900"/>
              <a:gd name="connsiteX3" fmla="*/ 860425 w 1066800"/>
              <a:gd name="connsiteY3" fmla="*/ 88900 h 723900"/>
              <a:gd name="connsiteX4" fmla="*/ 1066800 w 1066800"/>
              <a:gd name="connsiteY4" fmla="*/ 0 h 723900"/>
              <a:gd name="connsiteX0" fmla="*/ 0 w 1028700"/>
              <a:gd name="connsiteY0" fmla="*/ 704850 h 704850"/>
              <a:gd name="connsiteX1" fmla="*/ 263525 w 1028700"/>
              <a:gd name="connsiteY1" fmla="*/ 495300 h 704850"/>
              <a:gd name="connsiteX2" fmla="*/ 565150 w 1028700"/>
              <a:gd name="connsiteY2" fmla="*/ 238125 h 704850"/>
              <a:gd name="connsiteX3" fmla="*/ 860425 w 1028700"/>
              <a:gd name="connsiteY3" fmla="*/ 69850 h 704850"/>
              <a:gd name="connsiteX4" fmla="*/ 1028700 w 1028700"/>
              <a:gd name="connsiteY4" fmla="*/ 0 h 704850"/>
              <a:gd name="connsiteX0" fmla="*/ 0 w 1066800"/>
              <a:gd name="connsiteY0" fmla="*/ 714375 h 714375"/>
              <a:gd name="connsiteX1" fmla="*/ 263525 w 1066800"/>
              <a:gd name="connsiteY1" fmla="*/ 504825 h 714375"/>
              <a:gd name="connsiteX2" fmla="*/ 565150 w 1066800"/>
              <a:gd name="connsiteY2" fmla="*/ 247650 h 714375"/>
              <a:gd name="connsiteX3" fmla="*/ 860425 w 1066800"/>
              <a:gd name="connsiteY3" fmla="*/ 79375 h 714375"/>
              <a:gd name="connsiteX4" fmla="*/ 1066800 w 1066800"/>
              <a:gd name="connsiteY4" fmla="*/ 0 h 714375"/>
              <a:gd name="connsiteX0" fmla="*/ 0 w 1066800"/>
              <a:gd name="connsiteY0" fmla="*/ 714375 h 714375"/>
              <a:gd name="connsiteX1" fmla="*/ 263525 w 1066800"/>
              <a:gd name="connsiteY1" fmla="*/ 504825 h 714375"/>
              <a:gd name="connsiteX2" fmla="*/ 565150 w 1066800"/>
              <a:gd name="connsiteY2" fmla="*/ 247650 h 714375"/>
              <a:gd name="connsiteX3" fmla="*/ 860425 w 1066800"/>
              <a:gd name="connsiteY3" fmla="*/ 79375 h 714375"/>
              <a:gd name="connsiteX4" fmla="*/ 1066800 w 1066800"/>
              <a:gd name="connsiteY4" fmla="*/ 0 h 714375"/>
              <a:gd name="connsiteX0" fmla="*/ 0 w 1066800"/>
              <a:gd name="connsiteY0" fmla="*/ 714375 h 714375"/>
              <a:gd name="connsiteX1" fmla="*/ 323850 w 1066800"/>
              <a:gd name="connsiteY1" fmla="*/ 679450 h 714375"/>
              <a:gd name="connsiteX2" fmla="*/ 565150 w 1066800"/>
              <a:gd name="connsiteY2" fmla="*/ 247650 h 714375"/>
              <a:gd name="connsiteX3" fmla="*/ 860425 w 1066800"/>
              <a:gd name="connsiteY3" fmla="*/ 79375 h 714375"/>
              <a:gd name="connsiteX4" fmla="*/ 1066800 w 1066800"/>
              <a:gd name="connsiteY4" fmla="*/ 0 h 714375"/>
              <a:gd name="connsiteX0" fmla="*/ 0 w 1066800"/>
              <a:gd name="connsiteY0" fmla="*/ 714375 h 714375"/>
              <a:gd name="connsiteX1" fmla="*/ 323850 w 1066800"/>
              <a:gd name="connsiteY1" fmla="*/ 679450 h 714375"/>
              <a:gd name="connsiteX2" fmla="*/ 650875 w 1066800"/>
              <a:gd name="connsiteY2" fmla="*/ 593725 h 714375"/>
              <a:gd name="connsiteX3" fmla="*/ 860425 w 1066800"/>
              <a:gd name="connsiteY3" fmla="*/ 79375 h 714375"/>
              <a:gd name="connsiteX4" fmla="*/ 1066800 w 1066800"/>
              <a:gd name="connsiteY4" fmla="*/ 0 h 714375"/>
              <a:gd name="connsiteX0" fmla="*/ 0 w 1066800"/>
              <a:gd name="connsiteY0" fmla="*/ 714375 h 714375"/>
              <a:gd name="connsiteX1" fmla="*/ 323850 w 1066800"/>
              <a:gd name="connsiteY1" fmla="*/ 679450 h 714375"/>
              <a:gd name="connsiteX2" fmla="*/ 650875 w 1066800"/>
              <a:gd name="connsiteY2" fmla="*/ 593725 h 714375"/>
              <a:gd name="connsiteX3" fmla="*/ 904875 w 1066800"/>
              <a:gd name="connsiteY3" fmla="*/ 495300 h 714375"/>
              <a:gd name="connsiteX4" fmla="*/ 1066800 w 1066800"/>
              <a:gd name="connsiteY4" fmla="*/ 0 h 714375"/>
              <a:gd name="connsiteX0" fmla="*/ 0 w 1085850"/>
              <a:gd name="connsiteY0" fmla="*/ 304800 h 304800"/>
              <a:gd name="connsiteX1" fmla="*/ 323850 w 1085850"/>
              <a:gd name="connsiteY1" fmla="*/ 269875 h 304800"/>
              <a:gd name="connsiteX2" fmla="*/ 650875 w 1085850"/>
              <a:gd name="connsiteY2" fmla="*/ 184150 h 304800"/>
              <a:gd name="connsiteX3" fmla="*/ 904875 w 1085850"/>
              <a:gd name="connsiteY3" fmla="*/ 85725 h 304800"/>
              <a:gd name="connsiteX4" fmla="*/ 1085850 w 1085850"/>
              <a:gd name="connsiteY4" fmla="*/ 0 h 304800"/>
              <a:gd name="connsiteX0" fmla="*/ 0 w 1085850"/>
              <a:gd name="connsiteY0" fmla="*/ 304800 h 304800"/>
              <a:gd name="connsiteX1" fmla="*/ 323850 w 1085850"/>
              <a:gd name="connsiteY1" fmla="*/ 269875 h 304800"/>
              <a:gd name="connsiteX2" fmla="*/ 650875 w 1085850"/>
              <a:gd name="connsiteY2" fmla="*/ 184150 h 304800"/>
              <a:gd name="connsiteX3" fmla="*/ 904875 w 1085850"/>
              <a:gd name="connsiteY3" fmla="*/ 85725 h 304800"/>
              <a:gd name="connsiteX4" fmla="*/ 1085850 w 1085850"/>
              <a:gd name="connsiteY4" fmla="*/ 0 h 304800"/>
              <a:gd name="connsiteX0" fmla="*/ 0 w 1057275"/>
              <a:gd name="connsiteY0" fmla="*/ 304800 h 304800"/>
              <a:gd name="connsiteX1" fmla="*/ 323850 w 1057275"/>
              <a:gd name="connsiteY1" fmla="*/ 269875 h 304800"/>
              <a:gd name="connsiteX2" fmla="*/ 650875 w 1057275"/>
              <a:gd name="connsiteY2" fmla="*/ 184150 h 304800"/>
              <a:gd name="connsiteX3" fmla="*/ 904875 w 1057275"/>
              <a:gd name="connsiteY3" fmla="*/ 85725 h 304800"/>
              <a:gd name="connsiteX4" fmla="*/ 1057275 w 1057275"/>
              <a:gd name="connsiteY4" fmla="*/ 0 h 304800"/>
              <a:gd name="connsiteX0" fmla="*/ 0 w 1057275"/>
              <a:gd name="connsiteY0" fmla="*/ 304800 h 304800"/>
              <a:gd name="connsiteX1" fmla="*/ 323850 w 1057275"/>
              <a:gd name="connsiteY1" fmla="*/ 269875 h 304800"/>
              <a:gd name="connsiteX2" fmla="*/ 650875 w 1057275"/>
              <a:gd name="connsiteY2" fmla="*/ 184150 h 304800"/>
              <a:gd name="connsiteX3" fmla="*/ 904875 w 1057275"/>
              <a:gd name="connsiteY3" fmla="*/ 85725 h 304800"/>
              <a:gd name="connsiteX4" fmla="*/ 1057275 w 1057275"/>
              <a:gd name="connsiteY4" fmla="*/ 0 h 304800"/>
              <a:gd name="connsiteX0" fmla="*/ 0 w 1057275"/>
              <a:gd name="connsiteY0" fmla="*/ 304800 h 304800"/>
              <a:gd name="connsiteX1" fmla="*/ 323850 w 1057275"/>
              <a:gd name="connsiteY1" fmla="*/ 269875 h 304800"/>
              <a:gd name="connsiteX2" fmla="*/ 654050 w 1057275"/>
              <a:gd name="connsiteY2" fmla="*/ 200025 h 304800"/>
              <a:gd name="connsiteX3" fmla="*/ 904875 w 1057275"/>
              <a:gd name="connsiteY3" fmla="*/ 85725 h 304800"/>
              <a:gd name="connsiteX4" fmla="*/ 1057275 w 1057275"/>
              <a:gd name="connsiteY4" fmla="*/ 0 h 304800"/>
              <a:gd name="connsiteX0" fmla="*/ 0 w 1057275"/>
              <a:gd name="connsiteY0" fmla="*/ 304800 h 304800"/>
              <a:gd name="connsiteX1" fmla="*/ 323850 w 1057275"/>
              <a:gd name="connsiteY1" fmla="*/ 269875 h 304800"/>
              <a:gd name="connsiteX2" fmla="*/ 654050 w 1057275"/>
              <a:gd name="connsiteY2" fmla="*/ 200025 h 304800"/>
              <a:gd name="connsiteX3" fmla="*/ 914400 w 1057275"/>
              <a:gd name="connsiteY3" fmla="*/ 85725 h 304800"/>
              <a:gd name="connsiteX4" fmla="*/ 1057275 w 1057275"/>
              <a:gd name="connsiteY4" fmla="*/ 0 h 304800"/>
              <a:gd name="connsiteX0" fmla="*/ 0 w 1057275"/>
              <a:gd name="connsiteY0" fmla="*/ 304800 h 304800"/>
              <a:gd name="connsiteX1" fmla="*/ 323850 w 1057275"/>
              <a:gd name="connsiteY1" fmla="*/ 269875 h 304800"/>
              <a:gd name="connsiteX2" fmla="*/ 654050 w 1057275"/>
              <a:gd name="connsiteY2" fmla="*/ 200025 h 304800"/>
              <a:gd name="connsiteX3" fmla="*/ 892175 w 1057275"/>
              <a:gd name="connsiteY3" fmla="*/ 85725 h 304800"/>
              <a:gd name="connsiteX4" fmla="*/ 1057275 w 1057275"/>
              <a:gd name="connsiteY4" fmla="*/ 0 h 304800"/>
              <a:gd name="connsiteX0" fmla="*/ 0 w 1057275"/>
              <a:gd name="connsiteY0" fmla="*/ 304800 h 304800"/>
              <a:gd name="connsiteX1" fmla="*/ 323850 w 1057275"/>
              <a:gd name="connsiteY1" fmla="*/ 269875 h 304800"/>
              <a:gd name="connsiteX2" fmla="*/ 654050 w 1057275"/>
              <a:gd name="connsiteY2" fmla="*/ 200025 h 304800"/>
              <a:gd name="connsiteX3" fmla="*/ 892175 w 1057275"/>
              <a:gd name="connsiteY3" fmla="*/ 95250 h 304800"/>
              <a:gd name="connsiteX4" fmla="*/ 1057275 w 1057275"/>
              <a:gd name="connsiteY4" fmla="*/ 0 h 304800"/>
              <a:gd name="connsiteX0" fmla="*/ 0 w 1057275"/>
              <a:gd name="connsiteY0" fmla="*/ 304800 h 304800"/>
              <a:gd name="connsiteX1" fmla="*/ 241300 w 1057275"/>
              <a:gd name="connsiteY1" fmla="*/ 107950 h 304800"/>
              <a:gd name="connsiteX2" fmla="*/ 654050 w 1057275"/>
              <a:gd name="connsiteY2" fmla="*/ 200025 h 304800"/>
              <a:gd name="connsiteX3" fmla="*/ 892175 w 1057275"/>
              <a:gd name="connsiteY3" fmla="*/ 95250 h 304800"/>
              <a:gd name="connsiteX4" fmla="*/ 1057275 w 1057275"/>
              <a:gd name="connsiteY4" fmla="*/ 0 h 304800"/>
              <a:gd name="connsiteX0" fmla="*/ 0 w 1057275"/>
              <a:gd name="connsiteY0" fmla="*/ 374671 h 374671"/>
              <a:gd name="connsiteX1" fmla="*/ 241300 w 1057275"/>
              <a:gd name="connsiteY1" fmla="*/ 177821 h 374671"/>
              <a:gd name="connsiteX2" fmla="*/ 571500 w 1057275"/>
              <a:gd name="connsiteY2" fmla="*/ 21 h 374671"/>
              <a:gd name="connsiteX3" fmla="*/ 892175 w 1057275"/>
              <a:gd name="connsiteY3" fmla="*/ 165121 h 374671"/>
              <a:gd name="connsiteX4" fmla="*/ 1057275 w 1057275"/>
              <a:gd name="connsiteY4" fmla="*/ 69871 h 374671"/>
              <a:gd name="connsiteX0" fmla="*/ 0 w 1057275"/>
              <a:gd name="connsiteY0" fmla="*/ 406165 h 406165"/>
              <a:gd name="connsiteX1" fmla="*/ 241300 w 1057275"/>
              <a:gd name="connsiteY1" fmla="*/ 209315 h 406165"/>
              <a:gd name="connsiteX2" fmla="*/ 571500 w 1057275"/>
              <a:gd name="connsiteY2" fmla="*/ 31515 h 406165"/>
              <a:gd name="connsiteX3" fmla="*/ 815975 w 1057275"/>
              <a:gd name="connsiteY3" fmla="*/ 6115 h 406165"/>
              <a:gd name="connsiteX4" fmla="*/ 1057275 w 1057275"/>
              <a:gd name="connsiteY4" fmla="*/ 101365 h 406165"/>
              <a:gd name="connsiteX0" fmla="*/ 0 w 1057275"/>
              <a:gd name="connsiteY0" fmla="*/ 406165 h 406165"/>
              <a:gd name="connsiteX1" fmla="*/ 241300 w 1057275"/>
              <a:gd name="connsiteY1" fmla="*/ 209315 h 406165"/>
              <a:gd name="connsiteX2" fmla="*/ 571500 w 1057275"/>
              <a:gd name="connsiteY2" fmla="*/ 31515 h 406165"/>
              <a:gd name="connsiteX3" fmla="*/ 815975 w 1057275"/>
              <a:gd name="connsiteY3" fmla="*/ 6115 h 406165"/>
              <a:gd name="connsiteX4" fmla="*/ 1057275 w 1057275"/>
              <a:gd name="connsiteY4" fmla="*/ 101365 h 406165"/>
              <a:gd name="connsiteX0" fmla="*/ 0 w 1057275"/>
              <a:gd name="connsiteY0" fmla="*/ 407298 h 407298"/>
              <a:gd name="connsiteX1" fmla="*/ 241300 w 1057275"/>
              <a:gd name="connsiteY1" fmla="*/ 210448 h 407298"/>
              <a:gd name="connsiteX2" fmla="*/ 549275 w 1057275"/>
              <a:gd name="connsiteY2" fmla="*/ 29473 h 407298"/>
              <a:gd name="connsiteX3" fmla="*/ 815975 w 1057275"/>
              <a:gd name="connsiteY3" fmla="*/ 7248 h 407298"/>
              <a:gd name="connsiteX4" fmla="*/ 1057275 w 1057275"/>
              <a:gd name="connsiteY4" fmla="*/ 102498 h 407298"/>
              <a:gd name="connsiteX0" fmla="*/ 0 w 1057275"/>
              <a:gd name="connsiteY0" fmla="*/ 407298 h 407298"/>
              <a:gd name="connsiteX1" fmla="*/ 241300 w 1057275"/>
              <a:gd name="connsiteY1" fmla="*/ 210448 h 407298"/>
              <a:gd name="connsiteX2" fmla="*/ 549275 w 1057275"/>
              <a:gd name="connsiteY2" fmla="*/ 29473 h 407298"/>
              <a:gd name="connsiteX3" fmla="*/ 815975 w 1057275"/>
              <a:gd name="connsiteY3" fmla="*/ 7248 h 407298"/>
              <a:gd name="connsiteX4" fmla="*/ 1057275 w 1057275"/>
              <a:gd name="connsiteY4" fmla="*/ 102498 h 407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7275" h="407298">
                <a:moveTo>
                  <a:pt x="0" y="407298"/>
                </a:moveTo>
                <a:cubicBezTo>
                  <a:pt x="159808" y="271831"/>
                  <a:pt x="149754" y="273419"/>
                  <a:pt x="241300" y="210448"/>
                </a:cubicBezTo>
                <a:cubicBezTo>
                  <a:pt x="332846" y="147477"/>
                  <a:pt x="453496" y="63340"/>
                  <a:pt x="549275" y="29473"/>
                </a:cubicBezTo>
                <a:cubicBezTo>
                  <a:pt x="645054" y="-4394"/>
                  <a:pt x="731308" y="-4923"/>
                  <a:pt x="815975" y="7248"/>
                </a:cubicBezTo>
                <a:cubicBezTo>
                  <a:pt x="900642" y="19419"/>
                  <a:pt x="1002242" y="74981"/>
                  <a:pt x="1057275" y="102498"/>
                </a:cubicBezTo>
              </a:path>
            </a:pathLst>
          </a:custGeom>
          <a:noFill/>
          <a:ln w="28575">
            <a:solidFill>
              <a:srgbClr val="00B05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5" name="Oval 24">
            <a:extLst>
              <a:ext uri="{FF2B5EF4-FFF2-40B4-BE49-F238E27FC236}">
                <a16:creationId xmlns:a16="http://schemas.microsoft.com/office/drawing/2014/main" id="{45ED6BA8-202A-0E7F-F4AD-210E13CAFADE}"/>
              </a:ext>
            </a:extLst>
          </p:cNvPr>
          <p:cNvSpPr/>
          <p:nvPr/>
        </p:nvSpPr>
        <p:spPr>
          <a:xfrm>
            <a:off x="3551541" y="2057417"/>
            <a:ext cx="124348" cy="124372"/>
          </a:xfrm>
          <a:prstGeom prst="ellipse">
            <a:avLst/>
          </a:prstGeom>
          <a:solidFill>
            <a:srgbClr val="00B05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DFF96A0-1087-39FE-F0F0-06C533C4586C}"/>
                  </a:ext>
                </a:extLst>
              </p:cNvPr>
              <p:cNvSpPr txBox="1"/>
              <p:nvPr/>
            </p:nvSpPr>
            <p:spPr>
              <a:xfrm>
                <a:off x="1118601" y="5139236"/>
                <a:ext cx="733647" cy="181268"/>
              </a:xfrm>
              <a:prstGeom prst="rect">
                <a:avLst/>
              </a:prstGeom>
              <a:solidFill>
                <a:schemeClr val="bg1"/>
              </a:solid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AU" sz="1050" b="0" i="1" smtClean="0">
                              <a:solidFill>
                                <a:srgbClr val="2F2F2F"/>
                              </a:solidFill>
                              <a:latin typeface="Cambria Math" panose="02040503050406030204" pitchFamily="18" charset="0"/>
                            </a:rPr>
                          </m:ctrlPr>
                        </m:sSubPr>
                        <m:e>
                          <m:acc>
                            <m:accPr>
                              <m:chr m:val="⃗"/>
                              <m:ctrlPr>
                                <a:rPr lang="en-AU" sz="1050" i="1" smtClean="0">
                                  <a:solidFill>
                                    <a:srgbClr val="2F2F2F"/>
                                  </a:solidFill>
                                  <a:latin typeface="Cambria Math" panose="02040503050406030204" pitchFamily="18" charset="0"/>
                                </a:rPr>
                              </m:ctrlPr>
                            </m:accPr>
                            <m:e>
                              <m:r>
                                <a:rPr lang="en-AU" sz="1050" b="0" i="1" smtClean="0">
                                  <a:solidFill>
                                    <a:srgbClr val="2F2F2F"/>
                                  </a:solidFill>
                                  <a:latin typeface="Cambria Math" panose="02040503050406030204" pitchFamily="18" charset="0"/>
                                </a:rPr>
                                <m:t>𝑅</m:t>
                              </m:r>
                            </m:e>
                          </m:acc>
                        </m:e>
                        <m:sub>
                          <m:r>
                            <a:rPr lang="en-AU" sz="1050" b="0" i="1" smtClean="0">
                              <a:solidFill>
                                <a:srgbClr val="2F2F2F"/>
                              </a:solidFill>
                              <a:latin typeface="Cambria Math" panose="02040503050406030204" pitchFamily="18" charset="0"/>
                            </a:rPr>
                            <m:t>1</m:t>
                          </m:r>
                        </m:sub>
                      </m:sSub>
                      <m:d>
                        <m:dPr>
                          <m:ctrlPr>
                            <a:rPr lang="en-AU" sz="1050" b="0" i="1" smtClean="0">
                              <a:solidFill>
                                <a:srgbClr val="2F2F2F"/>
                              </a:solidFill>
                              <a:latin typeface="Cambria Math" panose="02040503050406030204" pitchFamily="18" charset="0"/>
                            </a:rPr>
                          </m:ctrlPr>
                        </m:dPr>
                        <m:e>
                          <m:r>
                            <a:rPr lang="en-AU" sz="1050" b="0" i="1" smtClean="0">
                              <a:solidFill>
                                <a:srgbClr val="2F2F2F"/>
                              </a:solidFill>
                              <a:latin typeface="Cambria Math" panose="02040503050406030204" pitchFamily="18" charset="0"/>
                            </a:rPr>
                            <m:t>𝑡</m:t>
                          </m:r>
                        </m:e>
                      </m:d>
                    </m:oMath>
                  </m:oMathPara>
                </a14:m>
                <a:endParaRPr lang="en-AU" sz="1050" dirty="0">
                  <a:solidFill>
                    <a:srgbClr val="2F2F2F"/>
                  </a:solidFill>
                </a:endParaRPr>
              </a:p>
            </p:txBody>
          </p:sp>
        </mc:Choice>
        <mc:Fallback xmlns="">
          <p:sp>
            <p:nvSpPr>
              <p:cNvPr id="2" name="TextBox 1">
                <a:extLst>
                  <a:ext uri="{FF2B5EF4-FFF2-40B4-BE49-F238E27FC236}">
                    <a16:creationId xmlns:a16="http://schemas.microsoft.com/office/drawing/2014/main" id="{4DFF96A0-1087-39FE-F0F0-06C533C4586C}"/>
                  </a:ext>
                </a:extLst>
              </p:cNvPr>
              <p:cNvSpPr txBox="1">
                <a:spLocks noRot="1" noChangeAspect="1" noMove="1" noResize="1" noEditPoints="1" noAdjustHandles="1" noChangeArrowheads="1" noChangeShapeType="1" noTextEdit="1"/>
              </p:cNvSpPr>
              <p:nvPr/>
            </p:nvSpPr>
            <p:spPr>
              <a:xfrm>
                <a:off x="1118601" y="5139236"/>
                <a:ext cx="733647" cy="181268"/>
              </a:xfrm>
              <a:prstGeom prst="rect">
                <a:avLst/>
              </a:prstGeom>
              <a:blipFill>
                <a:blip r:embed="rId8"/>
                <a:stretch>
                  <a:fillRect b="-13333"/>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18A4FC5-8D48-291A-FFD0-460DF0BAA4C3}"/>
                  </a:ext>
                </a:extLst>
              </p:cNvPr>
              <p:cNvSpPr txBox="1"/>
              <p:nvPr/>
            </p:nvSpPr>
            <p:spPr>
              <a:xfrm>
                <a:off x="2188607" y="5143170"/>
                <a:ext cx="733647" cy="181268"/>
              </a:xfrm>
              <a:prstGeom prst="rect">
                <a:avLst/>
              </a:prstGeom>
              <a:solidFill>
                <a:schemeClr val="bg1"/>
              </a:solid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AU" sz="1050" b="0" i="1" smtClean="0">
                              <a:solidFill>
                                <a:srgbClr val="2F2F2F"/>
                              </a:solidFill>
                              <a:latin typeface="Cambria Math" panose="02040503050406030204" pitchFamily="18" charset="0"/>
                            </a:rPr>
                          </m:ctrlPr>
                        </m:sSubPr>
                        <m:e>
                          <m:acc>
                            <m:accPr>
                              <m:chr m:val="⃗"/>
                              <m:ctrlPr>
                                <a:rPr lang="en-AU" sz="1050" i="1" smtClean="0">
                                  <a:solidFill>
                                    <a:srgbClr val="2F2F2F"/>
                                  </a:solidFill>
                                  <a:latin typeface="Cambria Math" panose="02040503050406030204" pitchFamily="18" charset="0"/>
                                </a:rPr>
                              </m:ctrlPr>
                            </m:accPr>
                            <m:e>
                              <m:r>
                                <a:rPr lang="en-AU" sz="1050" b="0" i="1" smtClean="0">
                                  <a:solidFill>
                                    <a:srgbClr val="2F2F2F"/>
                                  </a:solidFill>
                                  <a:latin typeface="Cambria Math" panose="02040503050406030204" pitchFamily="18" charset="0"/>
                                </a:rPr>
                                <m:t>𝑅</m:t>
                              </m:r>
                            </m:e>
                          </m:acc>
                        </m:e>
                        <m:sub>
                          <m:r>
                            <a:rPr lang="en-AU" sz="1050" b="0" i="1" smtClean="0">
                              <a:solidFill>
                                <a:srgbClr val="2F2F2F"/>
                              </a:solidFill>
                              <a:latin typeface="Cambria Math" panose="02040503050406030204" pitchFamily="18" charset="0"/>
                            </a:rPr>
                            <m:t>2</m:t>
                          </m:r>
                        </m:sub>
                      </m:sSub>
                      <m:d>
                        <m:dPr>
                          <m:ctrlPr>
                            <a:rPr lang="en-AU" sz="1050" b="0" i="1" smtClean="0">
                              <a:solidFill>
                                <a:srgbClr val="2F2F2F"/>
                              </a:solidFill>
                              <a:latin typeface="Cambria Math" panose="02040503050406030204" pitchFamily="18" charset="0"/>
                            </a:rPr>
                          </m:ctrlPr>
                        </m:dPr>
                        <m:e>
                          <m:r>
                            <a:rPr lang="en-AU" sz="1050" b="0" i="1" smtClean="0">
                              <a:solidFill>
                                <a:srgbClr val="2F2F2F"/>
                              </a:solidFill>
                              <a:latin typeface="Cambria Math" panose="02040503050406030204" pitchFamily="18" charset="0"/>
                            </a:rPr>
                            <m:t>𝑡</m:t>
                          </m:r>
                        </m:e>
                      </m:d>
                    </m:oMath>
                  </m:oMathPara>
                </a14:m>
                <a:endParaRPr lang="en-AU" sz="1050" dirty="0">
                  <a:solidFill>
                    <a:srgbClr val="2F2F2F"/>
                  </a:solidFill>
                </a:endParaRPr>
              </a:p>
            </p:txBody>
          </p:sp>
        </mc:Choice>
        <mc:Fallback xmlns="">
          <p:sp>
            <p:nvSpPr>
              <p:cNvPr id="7" name="TextBox 6">
                <a:extLst>
                  <a:ext uri="{FF2B5EF4-FFF2-40B4-BE49-F238E27FC236}">
                    <a16:creationId xmlns:a16="http://schemas.microsoft.com/office/drawing/2014/main" id="{718A4FC5-8D48-291A-FFD0-460DF0BAA4C3}"/>
                  </a:ext>
                </a:extLst>
              </p:cNvPr>
              <p:cNvSpPr txBox="1">
                <a:spLocks noRot="1" noChangeAspect="1" noMove="1" noResize="1" noEditPoints="1" noAdjustHandles="1" noChangeArrowheads="1" noChangeShapeType="1" noTextEdit="1"/>
              </p:cNvSpPr>
              <p:nvPr/>
            </p:nvSpPr>
            <p:spPr>
              <a:xfrm>
                <a:off x="2188607" y="5143170"/>
                <a:ext cx="733647" cy="181268"/>
              </a:xfrm>
              <a:prstGeom prst="rect">
                <a:avLst/>
              </a:prstGeom>
              <a:blipFill>
                <a:blip r:embed="rId9"/>
                <a:stretch>
                  <a:fillRect b="-13793"/>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709C1D8-E5B0-6A01-79A4-01731BFA232F}"/>
                  </a:ext>
                </a:extLst>
              </p:cNvPr>
              <p:cNvSpPr txBox="1"/>
              <p:nvPr/>
            </p:nvSpPr>
            <p:spPr>
              <a:xfrm>
                <a:off x="3281703" y="5143941"/>
                <a:ext cx="733647" cy="181268"/>
              </a:xfrm>
              <a:prstGeom prst="rect">
                <a:avLst/>
              </a:prstGeom>
              <a:solidFill>
                <a:schemeClr val="bg1"/>
              </a:solid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AU" sz="1050" b="0" i="1" smtClean="0">
                              <a:solidFill>
                                <a:srgbClr val="14904C"/>
                              </a:solidFill>
                              <a:latin typeface="Cambria Math" panose="02040503050406030204" pitchFamily="18" charset="0"/>
                            </a:rPr>
                          </m:ctrlPr>
                        </m:sSubPr>
                        <m:e>
                          <m:acc>
                            <m:accPr>
                              <m:chr m:val="⃗"/>
                              <m:ctrlPr>
                                <a:rPr lang="en-AU" sz="1050" i="1" smtClean="0">
                                  <a:solidFill>
                                    <a:srgbClr val="14904C"/>
                                  </a:solidFill>
                                  <a:latin typeface="Cambria Math" panose="02040503050406030204" pitchFamily="18" charset="0"/>
                                </a:rPr>
                              </m:ctrlPr>
                            </m:accPr>
                            <m:e>
                              <m:r>
                                <a:rPr lang="en-AU" sz="1050" b="0" i="1" smtClean="0">
                                  <a:solidFill>
                                    <a:srgbClr val="14904C"/>
                                  </a:solidFill>
                                  <a:latin typeface="Cambria Math" panose="02040503050406030204" pitchFamily="18" charset="0"/>
                                </a:rPr>
                                <m:t>𝑅</m:t>
                              </m:r>
                            </m:e>
                          </m:acc>
                        </m:e>
                        <m:sub>
                          <m:r>
                            <a:rPr lang="en-AU" sz="1050" b="0" i="1" smtClean="0">
                              <a:solidFill>
                                <a:srgbClr val="14904C"/>
                              </a:solidFill>
                              <a:latin typeface="Cambria Math" panose="02040503050406030204" pitchFamily="18" charset="0"/>
                            </a:rPr>
                            <m:t>3</m:t>
                          </m:r>
                        </m:sub>
                      </m:sSub>
                      <m:d>
                        <m:dPr>
                          <m:ctrlPr>
                            <a:rPr lang="en-AU" sz="1050" b="0" i="1" smtClean="0">
                              <a:solidFill>
                                <a:srgbClr val="14904C"/>
                              </a:solidFill>
                              <a:latin typeface="Cambria Math" panose="02040503050406030204" pitchFamily="18" charset="0"/>
                            </a:rPr>
                          </m:ctrlPr>
                        </m:dPr>
                        <m:e>
                          <m:r>
                            <a:rPr lang="en-AU" sz="1050" b="0" i="1" smtClean="0">
                              <a:solidFill>
                                <a:srgbClr val="14904C"/>
                              </a:solidFill>
                              <a:latin typeface="Cambria Math" panose="02040503050406030204" pitchFamily="18" charset="0"/>
                            </a:rPr>
                            <m:t>𝑡</m:t>
                          </m:r>
                        </m:e>
                      </m:d>
                    </m:oMath>
                  </m:oMathPara>
                </a14:m>
                <a:endParaRPr lang="en-AU" sz="1050" dirty="0">
                  <a:solidFill>
                    <a:srgbClr val="14904C"/>
                  </a:solidFill>
                </a:endParaRPr>
              </a:p>
            </p:txBody>
          </p:sp>
        </mc:Choice>
        <mc:Fallback xmlns="">
          <p:sp>
            <p:nvSpPr>
              <p:cNvPr id="10" name="TextBox 9">
                <a:extLst>
                  <a:ext uri="{FF2B5EF4-FFF2-40B4-BE49-F238E27FC236}">
                    <a16:creationId xmlns:a16="http://schemas.microsoft.com/office/drawing/2014/main" id="{1709C1D8-E5B0-6A01-79A4-01731BFA232F}"/>
                  </a:ext>
                </a:extLst>
              </p:cNvPr>
              <p:cNvSpPr txBox="1">
                <a:spLocks noRot="1" noChangeAspect="1" noMove="1" noResize="1" noEditPoints="1" noAdjustHandles="1" noChangeArrowheads="1" noChangeShapeType="1" noTextEdit="1"/>
              </p:cNvSpPr>
              <p:nvPr/>
            </p:nvSpPr>
            <p:spPr>
              <a:xfrm>
                <a:off x="3281703" y="5143941"/>
                <a:ext cx="733647" cy="181268"/>
              </a:xfrm>
              <a:prstGeom prst="rect">
                <a:avLst/>
              </a:prstGeom>
              <a:blipFill>
                <a:blip r:embed="rId10"/>
                <a:stretch>
                  <a:fillRect b="-10000"/>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7200C1A-F0D2-7D72-4FAA-ECB99C2C30B3}"/>
                  </a:ext>
                </a:extLst>
              </p:cNvPr>
              <p:cNvSpPr txBox="1"/>
              <p:nvPr/>
            </p:nvSpPr>
            <p:spPr>
              <a:xfrm>
                <a:off x="4328254" y="5143170"/>
                <a:ext cx="733647" cy="181268"/>
              </a:xfrm>
              <a:prstGeom prst="rect">
                <a:avLst/>
              </a:prstGeom>
              <a:solidFill>
                <a:schemeClr val="bg1"/>
              </a:solid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en-AU" sz="1050" b="0" i="1" smtClean="0">
                              <a:solidFill>
                                <a:srgbClr val="2F2F2F"/>
                              </a:solidFill>
                              <a:latin typeface="Cambria Math" panose="02040503050406030204" pitchFamily="18" charset="0"/>
                            </a:rPr>
                          </m:ctrlPr>
                        </m:sSubPr>
                        <m:e>
                          <m:acc>
                            <m:accPr>
                              <m:chr m:val="⃗"/>
                              <m:ctrlPr>
                                <a:rPr lang="en-AU" sz="1050" i="1" smtClean="0">
                                  <a:solidFill>
                                    <a:srgbClr val="2F2F2F"/>
                                  </a:solidFill>
                                  <a:latin typeface="Cambria Math" panose="02040503050406030204" pitchFamily="18" charset="0"/>
                                </a:rPr>
                              </m:ctrlPr>
                            </m:accPr>
                            <m:e>
                              <m:r>
                                <a:rPr lang="en-AU" sz="1050" b="0" i="1" smtClean="0">
                                  <a:solidFill>
                                    <a:srgbClr val="2F2F2F"/>
                                  </a:solidFill>
                                  <a:latin typeface="Cambria Math" panose="02040503050406030204" pitchFamily="18" charset="0"/>
                                </a:rPr>
                                <m:t>𝑅</m:t>
                              </m:r>
                            </m:e>
                          </m:acc>
                        </m:e>
                        <m:sub>
                          <m:r>
                            <a:rPr lang="en-AU" sz="1050" b="0" i="1" smtClean="0">
                              <a:solidFill>
                                <a:srgbClr val="2F2F2F"/>
                              </a:solidFill>
                              <a:latin typeface="Cambria Math" panose="02040503050406030204" pitchFamily="18" charset="0"/>
                            </a:rPr>
                            <m:t>4</m:t>
                          </m:r>
                        </m:sub>
                      </m:sSub>
                      <m:d>
                        <m:dPr>
                          <m:ctrlPr>
                            <a:rPr lang="en-AU" sz="1050" b="0" i="1" smtClean="0">
                              <a:solidFill>
                                <a:srgbClr val="2F2F2F"/>
                              </a:solidFill>
                              <a:latin typeface="Cambria Math" panose="02040503050406030204" pitchFamily="18" charset="0"/>
                            </a:rPr>
                          </m:ctrlPr>
                        </m:dPr>
                        <m:e>
                          <m:r>
                            <a:rPr lang="en-AU" sz="1050" b="0" i="1" smtClean="0">
                              <a:solidFill>
                                <a:srgbClr val="2F2F2F"/>
                              </a:solidFill>
                              <a:latin typeface="Cambria Math" panose="02040503050406030204" pitchFamily="18" charset="0"/>
                            </a:rPr>
                            <m:t>𝑡</m:t>
                          </m:r>
                        </m:e>
                      </m:d>
                    </m:oMath>
                  </m:oMathPara>
                </a14:m>
                <a:endParaRPr lang="en-AU" sz="1050" dirty="0">
                  <a:solidFill>
                    <a:srgbClr val="2F2F2F"/>
                  </a:solidFill>
                </a:endParaRPr>
              </a:p>
            </p:txBody>
          </p:sp>
        </mc:Choice>
        <mc:Fallback xmlns="">
          <p:sp>
            <p:nvSpPr>
              <p:cNvPr id="14" name="TextBox 13">
                <a:extLst>
                  <a:ext uri="{FF2B5EF4-FFF2-40B4-BE49-F238E27FC236}">
                    <a16:creationId xmlns:a16="http://schemas.microsoft.com/office/drawing/2014/main" id="{87200C1A-F0D2-7D72-4FAA-ECB99C2C30B3}"/>
                  </a:ext>
                </a:extLst>
              </p:cNvPr>
              <p:cNvSpPr txBox="1">
                <a:spLocks noRot="1" noChangeAspect="1" noMove="1" noResize="1" noEditPoints="1" noAdjustHandles="1" noChangeArrowheads="1" noChangeShapeType="1" noTextEdit="1"/>
              </p:cNvSpPr>
              <p:nvPr/>
            </p:nvSpPr>
            <p:spPr>
              <a:xfrm>
                <a:off x="4328254" y="5143170"/>
                <a:ext cx="733647" cy="181268"/>
              </a:xfrm>
              <a:prstGeom prst="rect">
                <a:avLst/>
              </a:prstGeom>
              <a:blipFill>
                <a:blip r:embed="rId6"/>
                <a:stretch>
                  <a:fillRect b="-13793"/>
                </a:stretch>
              </a:blipFill>
            </p:spPr>
            <p:txBody>
              <a:bodyPr/>
              <a:lstStyle/>
              <a:p>
                <a:r>
                  <a:rPr lang="en-AU">
                    <a:noFill/>
                  </a:rPr>
                  <a:t> </a:t>
                </a:r>
              </a:p>
            </p:txBody>
          </p:sp>
        </mc:Fallback>
      </mc:AlternateContent>
    </p:spTree>
    <p:extLst>
      <p:ext uri="{BB962C8B-B14F-4D97-AF65-F5344CB8AC3E}">
        <p14:creationId xmlns:p14="http://schemas.microsoft.com/office/powerpoint/2010/main" val="11028292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Task Trajectory Generator Design</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56</a:t>
            </a:fld>
            <a:endParaRPr lang="en-US" dirty="0"/>
          </a:p>
        </p:txBody>
      </p:sp>
      <p:sp>
        <p:nvSpPr>
          <p:cNvPr id="25" name="TextBox 24">
            <a:extLst>
              <a:ext uri="{FF2B5EF4-FFF2-40B4-BE49-F238E27FC236}">
                <a16:creationId xmlns:a16="http://schemas.microsoft.com/office/drawing/2014/main" id="{C03EB202-5042-A9D0-8370-F6B485689D94}"/>
              </a:ext>
            </a:extLst>
          </p:cNvPr>
          <p:cNvSpPr txBox="1"/>
          <p:nvPr/>
        </p:nvSpPr>
        <p:spPr>
          <a:xfrm>
            <a:off x="412776" y="1540228"/>
            <a:ext cx="2041818" cy="364202"/>
          </a:xfrm>
          <a:prstGeom prst="rect">
            <a:avLst/>
          </a:prstGeom>
          <a:noFill/>
        </p:spPr>
        <p:txBody>
          <a:bodyPr wrap="square" lIns="0" tIns="0" rIns="0" bIns="0" rtlCol="0">
            <a:spAutoFit/>
          </a:bodyPr>
          <a:lstStyle/>
          <a:p>
            <a:pPr algn="l">
              <a:lnSpc>
                <a:spcPct val="150000"/>
              </a:lnSpc>
            </a:pPr>
            <a:r>
              <a:rPr lang="en-US" dirty="0">
                <a:solidFill>
                  <a:schemeClr val="tx2"/>
                </a:solidFill>
              </a:rPr>
              <a:t> </a:t>
            </a:r>
            <a:endParaRPr lang="en-GB" dirty="0">
              <a:solidFill>
                <a:schemeClr val="tx2"/>
              </a:solidFill>
            </a:endParaRPr>
          </a:p>
        </p:txBody>
      </p:sp>
      <p:sp>
        <p:nvSpPr>
          <p:cNvPr id="29" name="Rectangle 4">
            <a:extLst>
              <a:ext uri="{FF2B5EF4-FFF2-40B4-BE49-F238E27FC236}">
                <a16:creationId xmlns:a16="http://schemas.microsoft.com/office/drawing/2014/main" id="{7741F247-A90E-8CEA-B6B1-97A57D3233DF}"/>
              </a:ext>
            </a:extLst>
          </p:cNvPr>
          <p:cNvSpPr>
            <a:spLocks noChangeArrowheads="1"/>
          </p:cNvSpPr>
          <p:nvPr/>
        </p:nvSpPr>
        <p:spPr bwMode="auto">
          <a:xfrm>
            <a:off x="488951" y="1305290"/>
            <a:ext cx="548446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struct </a:t>
            </a:r>
            <a:r>
              <a:rPr kumimoji="0" lang="en-US" altLang="en-US" sz="1200" b="1" i="0" strike="noStrike" cap="none" normalizeH="0" baseline="0" dirty="0" err="1">
                <a:ln>
                  <a:noFill/>
                </a:ln>
                <a:effectLst/>
                <a:latin typeface="Cascadia Code" panose="020B0609020000020004" pitchFamily="49" charset="0"/>
                <a:cs typeface="Cascadia Code" panose="020B0609020000020004" pitchFamily="49" charset="0"/>
              </a:rPr>
              <a:t>TaskTrajectory</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  public:</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rgbClr val="303030"/>
                </a:solidFill>
                <a:latin typeface="Cascadia Code" panose="020B0609020000020004" pitchFamily="49" charset="0"/>
                <a:cs typeface="Cascadia Code" panose="020B0609020000020004" pitchFamily="49" charset="0"/>
              </a:rPr>
              <a:t>    </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std::</a:t>
            </a:r>
            <a:r>
              <a:rPr kumimoji="0" lang="en-US" altLang="en-US" sz="1200" b="0" i="0" u="none" strike="noStrike" cap="none" normalizeH="0" baseline="0" dirty="0" err="1">
                <a:ln>
                  <a:noFill/>
                </a:ln>
                <a:solidFill>
                  <a:srgbClr val="303030"/>
                </a:solidFill>
                <a:effectLst/>
                <a:latin typeface="Cascadia Code" panose="020B0609020000020004" pitchFamily="49" charset="0"/>
                <a:cs typeface="Cascadia Code" panose="020B0609020000020004" pitchFamily="49" charset="0"/>
              </a:rPr>
              <a:t>shared_ptr</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&lt;std::array&lt;</a:t>
            </a:r>
            <a:r>
              <a:rPr kumimoji="0" lang="en-US" altLang="en-US" sz="1200" b="0" i="0" u="none" strike="noStrike" cap="none" normalizeH="0" baseline="0" dirty="0" err="1">
                <a:ln>
                  <a:noFill/>
                </a:ln>
                <a:solidFill>
                  <a:srgbClr val="303030"/>
                </a:solidFill>
                <a:effectLst/>
                <a:latin typeface="Cascadia Code" panose="020B0609020000020004" pitchFamily="49" charset="0"/>
                <a:cs typeface="Cascadia Code" panose="020B0609020000020004" pitchFamily="49" charset="0"/>
              </a:rPr>
              <a:t>CubicPolynomial</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 3&gt;&gt; </a:t>
            </a:r>
            <a:r>
              <a:rPr kumimoji="0" lang="en-US" altLang="en-US" sz="1200" b="1" i="0" u="none" strike="noStrike" cap="none" normalizeH="0" baseline="0" dirty="0">
                <a:ln>
                  <a:noFill/>
                </a:ln>
                <a:effectLst/>
                <a:latin typeface="Cascadia Code" panose="020B0609020000020004" pitchFamily="49" charset="0"/>
                <a:cs typeface="Cascadia Code" panose="020B0609020000020004" pitchFamily="49" charset="0"/>
              </a:rPr>
              <a:t>linear</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rgbClr val="303030"/>
                </a:solidFill>
                <a:latin typeface="Cascadia Code" panose="020B0609020000020004" pitchFamily="49" charset="0"/>
                <a:cs typeface="Cascadia Code" panose="020B0609020000020004" pitchFamily="49" charset="0"/>
              </a:rPr>
              <a:t>   </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 std::</a:t>
            </a:r>
            <a:r>
              <a:rPr kumimoji="0" lang="en-US" altLang="en-US" sz="1200" b="0" i="0" u="none" strike="noStrike" cap="none" normalizeH="0" baseline="0" dirty="0" err="1">
                <a:ln>
                  <a:noFill/>
                </a:ln>
                <a:solidFill>
                  <a:srgbClr val="303030"/>
                </a:solidFill>
                <a:effectLst/>
                <a:latin typeface="Cascadia Code" panose="020B0609020000020004" pitchFamily="49" charset="0"/>
                <a:cs typeface="Cascadia Code" panose="020B0609020000020004" pitchFamily="49" charset="0"/>
              </a:rPr>
              <a:t>shared_ptr</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&lt;</a:t>
            </a:r>
            <a:r>
              <a:rPr kumimoji="0" lang="en-US" altLang="en-US" sz="1200" b="0" i="0" u="none" strike="noStrike" cap="none" normalizeH="0" baseline="0" dirty="0" err="1">
                <a:ln>
                  <a:noFill/>
                </a:ln>
                <a:solidFill>
                  <a:srgbClr val="303030"/>
                </a:solidFill>
                <a:effectLst/>
                <a:latin typeface="Cascadia Code" panose="020B0609020000020004" pitchFamily="49" charset="0"/>
                <a:cs typeface="Cascadia Code" panose="020B0609020000020004" pitchFamily="49" charset="0"/>
              </a:rPr>
              <a:t>CubicOrientationSpline</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&gt; </a:t>
            </a:r>
            <a:r>
              <a:rPr kumimoji="0" lang="en-US" altLang="en-US" sz="1200" b="1" i="0" u="none" strike="noStrike" cap="none" normalizeH="0" baseline="0" dirty="0">
                <a:ln>
                  <a:noFill/>
                </a:ln>
                <a:effectLst/>
                <a:latin typeface="Cascadia Code" panose="020B0609020000020004" pitchFamily="49" charset="0"/>
                <a:cs typeface="Cascadia Code" panose="020B0609020000020004" pitchFamily="49" charset="0"/>
              </a:rPr>
              <a:t>angular</a:t>
            </a:r>
            <a:r>
              <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rgbClr val="303030"/>
                </a:solidFill>
                <a:latin typeface="Cascadia Code" panose="020B0609020000020004" pitchFamily="49" charset="0"/>
                <a:cs typeface="Cascadia Code" panose="020B0609020000020004" pitchFamily="49" charset="0"/>
              </a:rPr>
              <a:t>};</a:t>
            </a:r>
            <a:endParaRPr kumimoji="0" lang="en-US" altLang="en-US" sz="1200" b="0" i="0" u="none" strike="noStrike" cap="none" normalizeH="0" baseline="0" dirty="0">
              <a:ln>
                <a:noFill/>
              </a:ln>
              <a:solidFill>
                <a:srgbClr val="303030"/>
              </a:solidFill>
              <a:effectLst/>
              <a:latin typeface="Cascadia Code" panose="020B0609020000020004" pitchFamily="49" charset="0"/>
              <a:cs typeface="Cascadia Code" panose="020B0609020000020004" pitchFamily="49" charset="0"/>
            </a:endParaRPr>
          </a:p>
        </p:txBody>
      </p:sp>
      <p:sp>
        <p:nvSpPr>
          <p:cNvPr id="7" name="Rectangle: Rounded Corners 6">
            <a:extLst>
              <a:ext uri="{FF2B5EF4-FFF2-40B4-BE49-F238E27FC236}">
                <a16:creationId xmlns:a16="http://schemas.microsoft.com/office/drawing/2014/main" id="{3FE1CCDE-D010-EFB9-7185-7F8FA3ED5A1E}"/>
              </a:ext>
            </a:extLst>
          </p:cNvPr>
          <p:cNvSpPr/>
          <p:nvPr/>
        </p:nvSpPr>
        <p:spPr>
          <a:xfrm>
            <a:off x="2340529" y="2130876"/>
            <a:ext cx="2088365" cy="326397"/>
          </a:xfrm>
          <a:prstGeom prst="roundRect">
            <a:avLst/>
          </a:prstGeom>
          <a:solidFill>
            <a:srgbClr val="CDDCF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CubicOrientationSpline</a:t>
            </a:r>
            <a:endParaRPr lang="en-GB" sz="1200" dirty="0">
              <a:solidFill>
                <a:srgbClr val="003399"/>
              </a:solidFill>
            </a:endParaRPr>
          </a:p>
        </p:txBody>
      </p:sp>
      <p:sp>
        <p:nvSpPr>
          <p:cNvPr id="2" name="Rectangle: Rounded Corners 1">
            <a:extLst>
              <a:ext uri="{FF2B5EF4-FFF2-40B4-BE49-F238E27FC236}">
                <a16:creationId xmlns:a16="http://schemas.microsoft.com/office/drawing/2014/main" id="{A58D307B-18DE-6E13-AEE6-4443B1720174}"/>
              </a:ext>
            </a:extLst>
          </p:cNvPr>
          <p:cNvSpPr/>
          <p:nvPr/>
        </p:nvSpPr>
        <p:spPr>
          <a:xfrm>
            <a:off x="8281752" y="352077"/>
            <a:ext cx="2340363" cy="660640"/>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3399"/>
              </a:solidFill>
            </a:endParaRPr>
          </a:p>
        </p:txBody>
      </p:sp>
      <p:sp>
        <p:nvSpPr>
          <p:cNvPr id="12" name="TextBox 11">
            <a:extLst>
              <a:ext uri="{FF2B5EF4-FFF2-40B4-BE49-F238E27FC236}">
                <a16:creationId xmlns:a16="http://schemas.microsoft.com/office/drawing/2014/main" id="{360A1FBB-67AB-B03B-C48E-AB57A352A632}"/>
              </a:ext>
            </a:extLst>
          </p:cNvPr>
          <p:cNvSpPr txBox="1"/>
          <p:nvPr/>
        </p:nvSpPr>
        <p:spPr>
          <a:xfrm>
            <a:off x="8281751" y="528508"/>
            <a:ext cx="2340363" cy="307777"/>
          </a:xfrm>
          <a:prstGeom prst="rect">
            <a:avLst/>
          </a:prstGeom>
          <a:noFill/>
        </p:spPr>
        <p:txBody>
          <a:bodyPr wrap="square">
            <a:spAutoFit/>
          </a:bodyPr>
          <a:lstStyle/>
          <a:p>
            <a:pPr algn="ctr"/>
            <a:r>
              <a:rPr lang="en-US" sz="1400" dirty="0" err="1"/>
              <a:t>TaskTrajectoryGenerator</a:t>
            </a:r>
            <a:endParaRPr lang="en-GB" sz="1400" dirty="0"/>
          </a:p>
        </p:txBody>
      </p:sp>
      <p:sp>
        <p:nvSpPr>
          <p:cNvPr id="14" name="Rectangle: Rounded Corners 13">
            <a:extLst>
              <a:ext uri="{FF2B5EF4-FFF2-40B4-BE49-F238E27FC236}">
                <a16:creationId xmlns:a16="http://schemas.microsoft.com/office/drawing/2014/main" id="{C9BE9789-8CC8-D73C-9C10-E3776631AA79}"/>
              </a:ext>
            </a:extLst>
          </p:cNvPr>
          <p:cNvSpPr/>
          <p:nvPr/>
        </p:nvSpPr>
        <p:spPr>
          <a:xfrm>
            <a:off x="3134885" y="1366269"/>
            <a:ext cx="1655030" cy="326397"/>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3399"/>
              </a:solidFill>
            </a:endParaRPr>
          </a:p>
        </p:txBody>
      </p:sp>
      <p:sp>
        <p:nvSpPr>
          <p:cNvPr id="17" name="TextBox 16">
            <a:extLst>
              <a:ext uri="{FF2B5EF4-FFF2-40B4-BE49-F238E27FC236}">
                <a16:creationId xmlns:a16="http://schemas.microsoft.com/office/drawing/2014/main" id="{810139B3-C809-20BC-3EA1-0A5A331B3CE5}"/>
              </a:ext>
            </a:extLst>
          </p:cNvPr>
          <p:cNvSpPr txBox="1"/>
          <p:nvPr/>
        </p:nvSpPr>
        <p:spPr>
          <a:xfrm>
            <a:off x="3134885" y="1359363"/>
            <a:ext cx="1655030" cy="170104"/>
          </a:xfrm>
          <a:prstGeom prst="rect">
            <a:avLst/>
          </a:prstGeom>
          <a:noFill/>
        </p:spPr>
        <p:txBody>
          <a:bodyPr wrap="square">
            <a:spAutoFit/>
          </a:bodyPr>
          <a:lstStyle/>
          <a:p>
            <a:pPr algn="ctr"/>
            <a:r>
              <a:rPr lang="en-US" sz="1400" dirty="0" err="1"/>
              <a:t>CubicPolynomial</a:t>
            </a:r>
            <a:endParaRPr lang="en-GB" sz="1400" dirty="0"/>
          </a:p>
        </p:txBody>
      </p:sp>
      <p:grpSp>
        <p:nvGrpSpPr>
          <p:cNvPr id="47" name="Group 46">
            <a:extLst>
              <a:ext uri="{FF2B5EF4-FFF2-40B4-BE49-F238E27FC236}">
                <a16:creationId xmlns:a16="http://schemas.microsoft.com/office/drawing/2014/main" id="{3460E9B9-C90E-FD22-AFDE-2E7645809871}"/>
              </a:ext>
            </a:extLst>
          </p:cNvPr>
          <p:cNvGrpSpPr/>
          <p:nvPr/>
        </p:nvGrpSpPr>
        <p:grpSpPr>
          <a:xfrm rot="18075836">
            <a:off x="5160264" y="5538663"/>
            <a:ext cx="418579" cy="594214"/>
            <a:chOff x="4557905" y="4542103"/>
            <a:chExt cx="358295" cy="508635"/>
          </a:xfrm>
        </p:grpSpPr>
        <p:cxnSp>
          <p:nvCxnSpPr>
            <p:cNvPr id="48" name="Straight Arrow Connector 47">
              <a:extLst>
                <a:ext uri="{FF2B5EF4-FFF2-40B4-BE49-F238E27FC236}">
                  <a16:creationId xmlns:a16="http://schemas.microsoft.com/office/drawing/2014/main" id="{43243341-8C36-B253-B71F-EFF71012C115}"/>
                </a:ext>
              </a:extLst>
            </p:cNvPr>
            <p:cNvCxnSpPr>
              <a:cxnSpLocks/>
            </p:cNvCxnSpPr>
            <p:nvPr/>
          </p:nvCxnSpPr>
          <p:spPr>
            <a:xfrm flipH="1">
              <a:off x="4748214" y="4874814"/>
              <a:ext cx="156378" cy="175924"/>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846FC1BD-FE62-20AB-5F4A-C62CE00CBD9D}"/>
                </a:ext>
              </a:extLst>
            </p:cNvPr>
            <p:cNvCxnSpPr/>
            <p:nvPr/>
          </p:nvCxnSpPr>
          <p:spPr>
            <a:xfrm flipV="1">
              <a:off x="4903097" y="4542103"/>
              <a:ext cx="0" cy="34412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11C1A72A-C642-8AA6-B9F1-7D62B0362B82}"/>
                </a:ext>
              </a:extLst>
            </p:cNvPr>
            <p:cNvCxnSpPr>
              <a:cxnSpLocks/>
            </p:cNvCxnSpPr>
            <p:nvPr/>
          </p:nvCxnSpPr>
          <p:spPr>
            <a:xfrm flipH="1">
              <a:off x="4557905" y="4874814"/>
              <a:ext cx="358295"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8" name="Group 87">
            <a:extLst>
              <a:ext uri="{FF2B5EF4-FFF2-40B4-BE49-F238E27FC236}">
                <a16:creationId xmlns:a16="http://schemas.microsoft.com/office/drawing/2014/main" id="{929D883A-4CA1-E5A3-2856-92A8FA0EF317}"/>
              </a:ext>
            </a:extLst>
          </p:cNvPr>
          <p:cNvGrpSpPr/>
          <p:nvPr/>
        </p:nvGrpSpPr>
        <p:grpSpPr>
          <a:xfrm>
            <a:off x="5342898" y="1759933"/>
            <a:ext cx="5369079" cy="4244104"/>
            <a:chOff x="5342898" y="1759933"/>
            <a:chExt cx="5369079" cy="4244104"/>
          </a:xfrm>
        </p:grpSpPr>
        <p:sp>
          <p:nvSpPr>
            <p:cNvPr id="85" name="Freeform 13">
              <a:extLst>
                <a:ext uri="{FF2B5EF4-FFF2-40B4-BE49-F238E27FC236}">
                  <a16:creationId xmlns:a16="http://schemas.microsoft.com/office/drawing/2014/main" id="{28A37B78-EC5A-30B5-7BD0-F1396AE167F0}"/>
                </a:ext>
              </a:extLst>
            </p:cNvPr>
            <p:cNvSpPr/>
            <p:nvPr/>
          </p:nvSpPr>
          <p:spPr>
            <a:xfrm>
              <a:off x="6880875" y="1759933"/>
              <a:ext cx="3831102" cy="3818900"/>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dirty="0"/>
            </a:p>
          </p:txBody>
        </p:sp>
        <p:sp>
          <p:nvSpPr>
            <p:cNvPr id="40" name="TextBox 39">
              <a:extLst>
                <a:ext uri="{FF2B5EF4-FFF2-40B4-BE49-F238E27FC236}">
                  <a16:creationId xmlns:a16="http://schemas.microsoft.com/office/drawing/2014/main" id="{983DEC83-5083-01F3-619B-0ED93A0E938F}"/>
                </a:ext>
              </a:extLst>
            </p:cNvPr>
            <p:cNvSpPr txBox="1"/>
            <p:nvPr/>
          </p:nvSpPr>
          <p:spPr>
            <a:xfrm>
              <a:off x="7807880" y="5279717"/>
              <a:ext cx="1484214" cy="276999"/>
            </a:xfrm>
            <a:prstGeom prst="rect">
              <a:avLst/>
            </a:prstGeom>
            <a:noFill/>
          </p:spPr>
          <p:txBody>
            <a:bodyPr wrap="square" lIns="0" tIns="0" rIns="0" bIns="0" rtlCol="0">
              <a:spAutoFit/>
            </a:bodyPr>
            <a:lstStyle/>
            <a:p>
              <a:pPr algn="ctr"/>
              <a:r>
                <a:rPr lang="en-US" dirty="0"/>
                <a:t>Translation</a:t>
              </a:r>
              <a:endParaRPr lang="en-GB" dirty="0"/>
            </a:p>
          </p:txBody>
        </p:sp>
        <p:grpSp>
          <p:nvGrpSpPr>
            <p:cNvPr id="41" name="Group 40">
              <a:extLst>
                <a:ext uri="{FF2B5EF4-FFF2-40B4-BE49-F238E27FC236}">
                  <a16:creationId xmlns:a16="http://schemas.microsoft.com/office/drawing/2014/main" id="{AA3B954F-404B-BEEF-8AF8-87B155C70840}"/>
                </a:ext>
              </a:extLst>
            </p:cNvPr>
            <p:cNvGrpSpPr/>
            <p:nvPr/>
          </p:nvGrpSpPr>
          <p:grpSpPr>
            <a:xfrm>
              <a:off x="7174922" y="4797172"/>
              <a:ext cx="418579" cy="594214"/>
              <a:chOff x="4557905" y="4542103"/>
              <a:chExt cx="358295" cy="508635"/>
            </a:xfrm>
          </p:grpSpPr>
          <p:cxnSp>
            <p:nvCxnSpPr>
              <p:cNvPr id="42" name="Straight Arrow Connector 41">
                <a:extLst>
                  <a:ext uri="{FF2B5EF4-FFF2-40B4-BE49-F238E27FC236}">
                    <a16:creationId xmlns:a16="http://schemas.microsoft.com/office/drawing/2014/main" id="{FA54A138-F557-89D2-3D26-CE4F94016547}"/>
                  </a:ext>
                </a:extLst>
              </p:cNvPr>
              <p:cNvCxnSpPr>
                <a:cxnSpLocks/>
              </p:cNvCxnSpPr>
              <p:nvPr/>
            </p:nvCxnSpPr>
            <p:spPr>
              <a:xfrm flipH="1">
                <a:off x="4748214" y="4874814"/>
                <a:ext cx="156378" cy="175924"/>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5A1B427E-7EB3-3536-DC1B-F52A27C6BD63}"/>
                  </a:ext>
                </a:extLst>
              </p:cNvPr>
              <p:cNvCxnSpPr/>
              <p:nvPr/>
            </p:nvCxnSpPr>
            <p:spPr>
              <a:xfrm flipV="1">
                <a:off x="4903097" y="4542103"/>
                <a:ext cx="0" cy="34412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12E01FC8-1986-1243-6493-F07E1A3FCC6E}"/>
                  </a:ext>
                </a:extLst>
              </p:cNvPr>
              <p:cNvCxnSpPr>
                <a:cxnSpLocks/>
              </p:cNvCxnSpPr>
              <p:nvPr/>
            </p:nvCxnSpPr>
            <p:spPr>
              <a:xfrm flipH="1">
                <a:off x="4557905" y="4874814"/>
                <a:ext cx="358295"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45" name="Arrow: Curved Up 44">
              <a:extLst>
                <a:ext uri="{FF2B5EF4-FFF2-40B4-BE49-F238E27FC236}">
                  <a16:creationId xmlns:a16="http://schemas.microsoft.com/office/drawing/2014/main" id="{CCFC2330-D3EB-B078-613C-4C1F1C544554}"/>
                </a:ext>
              </a:extLst>
            </p:cNvPr>
            <p:cNvSpPr/>
            <p:nvPr/>
          </p:nvSpPr>
          <p:spPr>
            <a:xfrm rot="9982028">
              <a:off x="5342898" y="4485186"/>
              <a:ext cx="2127150" cy="937251"/>
            </a:xfrm>
            <a:prstGeom prst="curvedUpArrow">
              <a:avLst>
                <a:gd name="adj1" fmla="val 0"/>
                <a:gd name="adj2" fmla="val 12921"/>
                <a:gd name="adj3" fmla="val 13732"/>
              </a:avLst>
            </a:prstGeom>
            <a:solidFill>
              <a:srgbClr val="003399"/>
            </a:solidFill>
            <a:ln>
              <a:solidFill>
                <a:srgbClr val="00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6" name="TextBox 45">
              <a:extLst>
                <a:ext uri="{FF2B5EF4-FFF2-40B4-BE49-F238E27FC236}">
                  <a16:creationId xmlns:a16="http://schemas.microsoft.com/office/drawing/2014/main" id="{1AE1ADE7-944A-A653-390B-8FEB461FC36F}"/>
                </a:ext>
              </a:extLst>
            </p:cNvPr>
            <p:cNvSpPr txBox="1"/>
            <p:nvPr/>
          </p:nvSpPr>
          <p:spPr>
            <a:xfrm>
              <a:off x="5861875" y="4083553"/>
              <a:ext cx="1126542" cy="323605"/>
            </a:xfrm>
            <a:prstGeom prst="rect">
              <a:avLst/>
            </a:prstGeom>
            <a:noFill/>
          </p:spPr>
          <p:txBody>
            <a:bodyPr wrap="square" lIns="0" tIns="0" rIns="0" bIns="0" rtlCol="0">
              <a:spAutoFit/>
            </a:bodyPr>
            <a:lstStyle/>
            <a:p>
              <a:pPr algn="l"/>
              <a:r>
                <a:rPr lang="en-US" dirty="0"/>
                <a:t>Rotation</a:t>
              </a:r>
              <a:endParaRPr lang="en-GB" dirty="0"/>
            </a:p>
          </p:txBody>
        </p:sp>
        <p:cxnSp>
          <p:nvCxnSpPr>
            <p:cNvPr id="78" name="Straight Arrow Connector 77">
              <a:extLst>
                <a:ext uri="{FF2B5EF4-FFF2-40B4-BE49-F238E27FC236}">
                  <a16:creationId xmlns:a16="http://schemas.microsoft.com/office/drawing/2014/main" id="{5FD2E8B9-AACC-9630-B2BB-53269380958D}"/>
                </a:ext>
              </a:extLst>
            </p:cNvPr>
            <p:cNvCxnSpPr>
              <a:cxnSpLocks/>
            </p:cNvCxnSpPr>
            <p:nvPr/>
          </p:nvCxnSpPr>
          <p:spPr>
            <a:xfrm flipH="1">
              <a:off x="6830533" y="5186680"/>
              <a:ext cx="747660" cy="817357"/>
            </a:xfrm>
            <a:prstGeom prst="straightConnector1">
              <a:avLst/>
            </a:prstGeom>
            <a:ln w="15875">
              <a:solidFill>
                <a:srgbClr val="00B050"/>
              </a:solidFill>
              <a:prstDash val="dash"/>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8CAD5513-5891-A1BF-1B92-1AEC9822FC45}"/>
                </a:ext>
              </a:extLst>
            </p:cNvPr>
            <p:cNvCxnSpPr>
              <a:cxnSpLocks/>
            </p:cNvCxnSpPr>
            <p:nvPr/>
          </p:nvCxnSpPr>
          <p:spPr>
            <a:xfrm flipH="1">
              <a:off x="5853860" y="5185568"/>
              <a:ext cx="1736677" cy="14794"/>
            </a:xfrm>
            <a:prstGeom prst="straightConnector1">
              <a:avLst/>
            </a:prstGeom>
            <a:ln w="15875">
              <a:solidFill>
                <a:srgbClr val="FF0000"/>
              </a:solidFill>
              <a:prstDash val="dash"/>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19661A37-8569-EEF3-F50A-F80759B6AA31}"/>
                </a:ext>
              </a:extLst>
            </p:cNvPr>
            <p:cNvCxnSpPr>
              <a:cxnSpLocks/>
            </p:cNvCxnSpPr>
            <p:nvPr/>
          </p:nvCxnSpPr>
          <p:spPr>
            <a:xfrm>
              <a:off x="7573554" y="5192706"/>
              <a:ext cx="10467" cy="582513"/>
            </a:xfrm>
            <a:prstGeom prst="straightConnector1">
              <a:avLst/>
            </a:prstGeom>
            <a:ln w="15875">
              <a:solidFill>
                <a:srgbClr val="00B0F0"/>
              </a:solidFill>
              <a:prstDash val="dash"/>
              <a:headEnd w="lg" len="lg"/>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C01CD943-79BE-082E-22B6-238F4DAC45F8}"/>
                    </a:ext>
                  </a:extLst>
                </p:cNvPr>
                <p:cNvSpPr txBox="1"/>
                <p:nvPr/>
              </p:nvSpPr>
              <p:spPr>
                <a:xfrm>
                  <a:off x="6160303" y="4841450"/>
                  <a:ext cx="1249455" cy="358912"/>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𝑥</m:t>
                        </m:r>
                      </m:oMath>
                    </m:oMathPara>
                  </a14:m>
                  <a:endParaRPr lang="en-GB" dirty="0">
                    <a:solidFill>
                      <a:schemeClr val="tx2"/>
                    </a:solidFill>
                  </a:endParaRPr>
                </a:p>
              </p:txBody>
            </p:sp>
          </mc:Choice>
          <mc:Fallback xmlns="">
            <p:sp>
              <p:nvSpPr>
                <p:cNvPr id="81" name="TextBox 80">
                  <a:extLst>
                    <a:ext uri="{FF2B5EF4-FFF2-40B4-BE49-F238E27FC236}">
                      <a16:creationId xmlns:a16="http://schemas.microsoft.com/office/drawing/2014/main" id="{C01CD943-79BE-082E-22B6-238F4DAC45F8}"/>
                    </a:ext>
                  </a:extLst>
                </p:cNvPr>
                <p:cNvSpPr txBox="1">
                  <a:spLocks noRot="1" noChangeAspect="1" noMove="1" noResize="1" noEditPoints="1" noAdjustHandles="1" noChangeArrowheads="1" noChangeShapeType="1" noTextEdit="1"/>
                </p:cNvSpPr>
                <p:nvPr/>
              </p:nvSpPr>
              <p:spPr>
                <a:xfrm>
                  <a:off x="6160303" y="4841450"/>
                  <a:ext cx="1249455" cy="358912"/>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2150A59F-F4C8-D2BE-285F-4E37E15575DE}"/>
                    </a:ext>
                  </a:extLst>
                </p:cNvPr>
                <p:cNvSpPr txBox="1"/>
                <p:nvPr/>
              </p:nvSpPr>
              <p:spPr>
                <a:xfrm>
                  <a:off x="6700512" y="5526265"/>
                  <a:ext cx="1249455" cy="358912"/>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𝑦</m:t>
                        </m:r>
                      </m:oMath>
                    </m:oMathPara>
                  </a14:m>
                  <a:endParaRPr lang="en-GB" dirty="0">
                    <a:solidFill>
                      <a:srgbClr val="00B050"/>
                    </a:solidFill>
                  </a:endParaRPr>
                </a:p>
              </p:txBody>
            </p:sp>
          </mc:Choice>
          <mc:Fallback xmlns="">
            <p:sp>
              <p:nvSpPr>
                <p:cNvPr id="82" name="TextBox 81">
                  <a:extLst>
                    <a:ext uri="{FF2B5EF4-FFF2-40B4-BE49-F238E27FC236}">
                      <a16:creationId xmlns:a16="http://schemas.microsoft.com/office/drawing/2014/main" id="{2150A59F-F4C8-D2BE-285F-4E37E15575DE}"/>
                    </a:ext>
                  </a:extLst>
                </p:cNvPr>
                <p:cNvSpPr txBox="1">
                  <a:spLocks noRot="1" noChangeAspect="1" noMove="1" noResize="1" noEditPoints="1" noAdjustHandles="1" noChangeArrowheads="1" noChangeShapeType="1" noTextEdit="1"/>
                </p:cNvSpPr>
                <p:nvPr/>
              </p:nvSpPr>
              <p:spPr>
                <a:xfrm>
                  <a:off x="6700512" y="5526265"/>
                  <a:ext cx="1249455" cy="358912"/>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5EF5775B-F077-B865-677E-9C2A5A0F9DDD}"/>
                    </a:ext>
                  </a:extLst>
                </p:cNvPr>
                <p:cNvSpPr txBox="1"/>
                <p:nvPr/>
              </p:nvSpPr>
              <p:spPr>
                <a:xfrm>
                  <a:off x="7463056" y="5238761"/>
                  <a:ext cx="486911" cy="358912"/>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a:rPr lang="en-US" b="0" i="1" dirty="0" smtClean="0">
                            <a:solidFill>
                              <a:srgbClr val="00B0F0"/>
                            </a:solidFill>
                            <a:latin typeface="Cambria Math" panose="02040503050406030204" pitchFamily="18" charset="0"/>
                          </a:rPr>
                          <m:t>𝑧</m:t>
                        </m:r>
                      </m:oMath>
                    </m:oMathPara>
                  </a14:m>
                  <a:endParaRPr lang="en-GB" dirty="0">
                    <a:solidFill>
                      <a:srgbClr val="00B0F0"/>
                    </a:solidFill>
                  </a:endParaRPr>
                </a:p>
              </p:txBody>
            </p:sp>
          </mc:Choice>
          <mc:Fallback xmlns="">
            <p:sp>
              <p:nvSpPr>
                <p:cNvPr id="83" name="TextBox 82">
                  <a:extLst>
                    <a:ext uri="{FF2B5EF4-FFF2-40B4-BE49-F238E27FC236}">
                      <a16:creationId xmlns:a16="http://schemas.microsoft.com/office/drawing/2014/main" id="{5EF5775B-F077-B865-677E-9C2A5A0F9DDD}"/>
                    </a:ext>
                  </a:extLst>
                </p:cNvPr>
                <p:cNvSpPr txBox="1">
                  <a:spLocks noRot="1" noChangeAspect="1" noMove="1" noResize="1" noEditPoints="1" noAdjustHandles="1" noChangeArrowheads="1" noChangeShapeType="1" noTextEdit="1"/>
                </p:cNvSpPr>
                <p:nvPr/>
              </p:nvSpPr>
              <p:spPr>
                <a:xfrm>
                  <a:off x="7463056" y="5238761"/>
                  <a:ext cx="486911" cy="358912"/>
                </a:xfrm>
                <a:prstGeom prst="rect">
                  <a:avLst/>
                </a:prstGeom>
                <a:blipFill>
                  <a:blip r:embed="rId6"/>
                  <a:stretch>
                    <a:fillRect/>
                  </a:stretch>
                </a:blipFill>
              </p:spPr>
              <p:txBody>
                <a:bodyPr/>
                <a:lstStyle/>
                <a:p>
                  <a:r>
                    <a:rPr lang="en-GB">
                      <a:noFill/>
                    </a:rPr>
                    <a:t> </a:t>
                  </a:r>
                </a:p>
              </p:txBody>
            </p:sp>
          </mc:Fallback>
        </mc:AlternateContent>
      </p:grpSp>
    </p:spTree>
    <p:extLst>
      <p:ext uri="{BB962C8B-B14F-4D97-AF65-F5344CB8AC3E}">
        <p14:creationId xmlns:p14="http://schemas.microsoft.com/office/powerpoint/2010/main" val="41615137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Task Trajectory Generator Design</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57</a:t>
            </a:fld>
            <a:endParaRPr lang="en-US" dirty="0"/>
          </a:p>
        </p:txBody>
      </p:sp>
      <p:sp>
        <p:nvSpPr>
          <p:cNvPr id="9" name="TextBox 8">
            <a:extLst>
              <a:ext uri="{FF2B5EF4-FFF2-40B4-BE49-F238E27FC236}">
                <a16:creationId xmlns:a16="http://schemas.microsoft.com/office/drawing/2014/main" id="{2D96B742-B0BC-D532-7418-80DC70A37B4F}"/>
              </a:ext>
            </a:extLst>
          </p:cNvPr>
          <p:cNvSpPr txBox="1"/>
          <p:nvPr/>
        </p:nvSpPr>
        <p:spPr>
          <a:xfrm>
            <a:off x="9785056" y="3532908"/>
            <a:ext cx="1785514" cy="323165"/>
          </a:xfrm>
          <a:prstGeom prst="rect">
            <a:avLst/>
          </a:prstGeom>
          <a:noFill/>
        </p:spPr>
        <p:txBody>
          <a:bodyPr wrap="square" lIns="0" tIns="0" rIns="0" bIns="0" rtlCol="0">
            <a:spAutoFit/>
          </a:bodyPr>
          <a:lstStyle/>
          <a:p>
            <a:pPr algn="ctr"/>
            <a:r>
              <a:rPr lang="en-US" sz="1200" dirty="0">
                <a:solidFill>
                  <a:schemeClr val="tx2"/>
                </a:solidFill>
              </a:rPr>
              <a:t>Trajectory point:</a:t>
            </a:r>
          </a:p>
          <a:p>
            <a:pPr algn="ctr"/>
            <a:r>
              <a:rPr lang="en-US" sz="900" dirty="0">
                <a:solidFill>
                  <a:schemeClr val="tx2"/>
                </a:solidFill>
              </a:rPr>
              <a:t>Task pose, velocity, acceleration</a:t>
            </a:r>
            <a:endParaRPr lang="en-US" sz="1000" i="1" dirty="0">
              <a:solidFill>
                <a:schemeClr val="tx2"/>
              </a:solidFill>
            </a:endParaRPr>
          </a:p>
        </p:txBody>
      </p:sp>
      <p:grpSp>
        <p:nvGrpSpPr>
          <p:cNvPr id="11" name="Group 10">
            <a:extLst>
              <a:ext uri="{FF2B5EF4-FFF2-40B4-BE49-F238E27FC236}">
                <a16:creationId xmlns:a16="http://schemas.microsoft.com/office/drawing/2014/main" id="{B698E37D-10F3-49F4-7B80-758F550093B5}"/>
              </a:ext>
            </a:extLst>
          </p:cNvPr>
          <p:cNvGrpSpPr/>
          <p:nvPr/>
        </p:nvGrpSpPr>
        <p:grpSpPr>
          <a:xfrm>
            <a:off x="9839144" y="4020214"/>
            <a:ext cx="1766536" cy="1112840"/>
            <a:chOff x="2764634" y="4139767"/>
            <a:chExt cx="1766536" cy="1112840"/>
          </a:xfrm>
        </p:grpSpPr>
        <p:grpSp>
          <p:nvGrpSpPr>
            <p:cNvPr id="12" name="Group 11">
              <a:extLst>
                <a:ext uri="{FF2B5EF4-FFF2-40B4-BE49-F238E27FC236}">
                  <a16:creationId xmlns:a16="http://schemas.microsoft.com/office/drawing/2014/main" id="{36B2EDC6-3514-DA4C-DAA8-5CBDD2540C3F}"/>
                </a:ext>
              </a:extLst>
            </p:cNvPr>
            <p:cNvGrpSpPr/>
            <p:nvPr/>
          </p:nvGrpSpPr>
          <p:grpSpPr>
            <a:xfrm>
              <a:off x="2764634" y="4139767"/>
              <a:ext cx="1766536" cy="1112840"/>
              <a:chOff x="1279822" y="2270598"/>
              <a:chExt cx="6050258" cy="3811399"/>
            </a:xfrm>
          </p:grpSpPr>
          <p:sp>
            <p:nvSpPr>
              <p:cNvPr id="27" name="Freeform 13">
                <a:extLst>
                  <a:ext uri="{FF2B5EF4-FFF2-40B4-BE49-F238E27FC236}">
                    <a16:creationId xmlns:a16="http://schemas.microsoft.com/office/drawing/2014/main" id="{A67173DD-0568-12C4-FEFE-4DE5BF798A78}"/>
                  </a:ext>
                </a:extLst>
              </p:cNvPr>
              <p:cNvSpPr/>
              <p:nvPr/>
            </p:nvSpPr>
            <p:spPr>
              <a:xfrm>
                <a:off x="3907305" y="2270598"/>
                <a:ext cx="3422775" cy="3411874"/>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a:p>
            </p:txBody>
          </p:sp>
          <p:sp>
            <p:nvSpPr>
              <p:cNvPr id="28" name="Freeform 14">
                <a:extLst>
                  <a:ext uri="{FF2B5EF4-FFF2-40B4-BE49-F238E27FC236}">
                    <a16:creationId xmlns:a16="http://schemas.microsoft.com/office/drawing/2014/main" id="{509B12FA-0CB9-3C5E-2418-8A7CD7367B7E}"/>
                  </a:ext>
                </a:extLst>
              </p:cNvPr>
              <p:cNvSpPr/>
              <p:nvPr/>
            </p:nvSpPr>
            <p:spPr>
              <a:xfrm>
                <a:off x="2048828" y="3976535"/>
                <a:ext cx="2388253" cy="2105462"/>
              </a:xfrm>
              <a:custGeom>
                <a:avLst/>
                <a:gdLst/>
                <a:ahLst/>
                <a:cxnLst/>
                <a:rect l="l" t="t" r="r" b="b"/>
                <a:pathLst>
                  <a:path w="2388253" h="2105462">
                    <a:moveTo>
                      <a:pt x="0" y="0"/>
                    </a:moveTo>
                    <a:lnTo>
                      <a:pt x="2388253" y="0"/>
                    </a:lnTo>
                    <a:lnTo>
                      <a:pt x="2388253" y="2105462"/>
                    </a:lnTo>
                    <a:lnTo>
                      <a:pt x="0" y="2105462"/>
                    </a:lnTo>
                    <a:lnTo>
                      <a:pt x="0" y="0"/>
                    </a:lnTo>
                    <a:close/>
                  </a:path>
                </a:pathLst>
              </a:custGeom>
              <a:blipFill>
                <a:blip r:embed="rId4"/>
                <a:stretch>
                  <a:fillRect l="-16072" t="-8057"/>
                </a:stretch>
              </a:blipFill>
            </p:spPr>
            <p:txBody>
              <a:bodyPr/>
              <a:lstStyle/>
              <a:p>
                <a:endParaRPr lang="en-GB"/>
              </a:p>
            </p:txBody>
          </p:sp>
          <p:sp>
            <p:nvSpPr>
              <p:cNvPr id="30" name="Freeform 15">
                <a:extLst>
                  <a:ext uri="{FF2B5EF4-FFF2-40B4-BE49-F238E27FC236}">
                    <a16:creationId xmlns:a16="http://schemas.microsoft.com/office/drawing/2014/main" id="{340E4769-0E92-3ABC-1806-CA18B37248D7}"/>
                  </a:ext>
                </a:extLst>
              </p:cNvPr>
              <p:cNvSpPr/>
              <p:nvPr/>
            </p:nvSpPr>
            <p:spPr>
              <a:xfrm>
                <a:off x="2722572" y="4644763"/>
                <a:ext cx="613182" cy="613182"/>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31" name="Freeform 16">
                <a:extLst>
                  <a:ext uri="{FF2B5EF4-FFF2-40B4-BE49-F238E27FC236}">
                    <a16:creationId xmlns:a16="http://schemas.microsoft.com/office/drawing/2014/main" id="{F425D2C9-301F-FB90-3D0D-3D991FB36D3C}"/>
                  </a:ext>
                </a:extLst>
              </p:cNvPr>
              <p:cNvSpPr/>
              <p:nvPr/>
            </p:nvSpPr>
            <p:spPr>
              <a:xfrm>
                <a:off x="1279822" y="4260259"/>
                <a:ext cx="871200" cy="871200"/>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32" name="Freeform 17">
                <a:extLst>
                  <a:ext uri="{FF2B5EF4-FFF2-40B4-BE49-F238E27FC236}">
                    <a16:creationId xmlns:a16="http://schemas.microsoft.com/office/drawing/2014/main" id="{EAADDD6B-43F6-621E-040E-1835DBF5BB0D}"/>
                  </a:ext>
                </a:extLst>
              </p:cNvPr>
              <p:cNvSpPr/>
              <p:nvPr/>
            </p:nvSpPr>
            <p:spPr>
              <a:xfrm>
                <a:off x="1537428" y="2951690"/>
                <a:ext cx="1041177" cy="1188065"/>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grpSp>
        <p:sp>
          <p:nvSpPr>
            <p:cNvPr id="13" name="Oval 12">
              <a:extLst>
                <a:ext uri="{FF2B5EF4-FFF2-40B4-BE49-F238E27FC236}">
                  <a16:creationId xmlns:a16="http://schemas.microsoft.com/office/drawing/2014/main" id="{0E0A5C12-4FBD-C234-ECAB-3285C63FDB1D}"/>
                </a:ext>
              </a:extLst>
            </p:cNvPr>
            <p:cNvSpPr/>
            <p:nvPr/>
          </p:nvSpPr>
          <p:spPr>
            <a:xfrm>
              <a:off x="3074762" y="4750848"/>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9684340F-A0B3-FB8E-630A-511C6831276C}"/>
                </a:ext>
              </a:extLst>
            </p:cNvPr>
            <p:cNvSpPr/>
            <p:nvPr/>
          </p:nvSpPr>
          <p:spPr>
            <a:xfrm>
              <a:off x="3065857" y="5012949"/>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58983F93-4316-97EA-9B95-E503E360298B}"/>
                </a:ext>
              </a:extLst>
            </p:cNvPr>
            <p:cNvSpPr/>
            <p:nvPr/>
          </p:nvSpPr>
          <p:spPr>
            <a:xfrm>
              <a:off x="3404320" y="4999695"/>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a:extLst>
                <a:ext uri="{FF2B5EF4-FFF2-40B4-BE49-F238E27FC236}">
                  <a16:creationId xmlns:a16="http://schemas.microsoft.com/office/drawing/2014/main" id="{0FE47B14-F209-14AE-2495-FEA17EE126B1}"/>
                </a:ext>
              </a:extLst>
            </p:cNvPr>
            <p:cNvSpPr/>
            <p:nvPr/>
          </p:nvSpPr>
          <p:spPr>
            <a:xfrm>
              <a:off x="3669353" y="4991789"/>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a:extLst>
                <a:ext uri="{FF2B5EF4-FFF2-40B4-BE49-F238E27FC236}">
                  <a16:creationId xmlns:a16="http://schemas.microsoft.com/office/drawing/2014/main" id="{778E7DD5-C0B9-0D7F-F77C-DDC84EA34904}"/>
                </a:ext>
              </a:extLst>
            </p:cNvPr>
            <p:cNvSpPr/>
            <p:nvPr/>
          </p:nvSpPr>
          <p:spPr>
            <a:xfrm>
              <a:off x="3019004" y="4585416"/>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3" name="Group 32">
            <a:extLst>
              <a:ext uri="{FF2B5EF4-FFF2-40B4-BE49-F238E27FC236}">
                <a16:creationId xmlns:a16="http://schemas.microsoft.com/office/drawing/2014/main" id="{20930C48-9D56-945A-5A31-1640D332F2FD}"/>
              </a:ext>
            </a:extLst>
          </p:cNvPr>
          <p:cNvGrpSpPr/>
          <p:nvPr/>
        </p:nvGrpSpPr>
        <p:grpSpPr>
          <a:xfrm>
            <a:off x="767117" y="4067870"/>
            <a:ext cx="1766536" cy="996188"/>
            <a:chOff x="492958" y="4181396"/>
            <a:chExt cx="1766536" cy="996188"/>
          </a:xfrm>
        </p:grpSpPr>
        <p:sp>
          <p:nvSpPr>
            <p:cNvPr id="34" name="Freeform 13">
              <a:extLst>
                <a:ext uri="{FF2B5EF4-FFF2-40B4-BE49-F238E27FC236}">
                  <a16:creationId xmlns:a16="http://schemas.microsoft.com/office/drawing/2014/main" id="{4F75267E-6A48-EC71-E786-79D856BB0982}"/>
                </a:ext>
              </a:extLst>
            </p:cNvPr>
            <p:cNvSpPr/>
            <p:nvPr/>
          </p:nvSpPr>
          <p:spPr>
            <a:xfrm>
              <a:off x="1260123" y="4181396"/>
              <a:ext cx="999371" cy="996188"/>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a:p>
          </p:txBody>
        </p:sp>
        <p:sp>
          <p:nvSpPr>
            <p:cNvPr id="35" name="Freeform 15">
              <a:extLst>
                <a:ext uri="{FF2B5EF4-FFF2-40B4-BE49-F238E27FC236}">
                  <a16:creationId xmlns:a16="http://schemas.microsoft.com/office/drawing/2014/main" id="{5CF6D50B-4AFA-412C-7532-6A97CCB88C5E}"/>
                </a:ext>
              </a:extLst>
            </p:cNvPr>
            <p:cNvSpPr/>
            <p:nvPr/>
          </p:nvSpPr>
          <p:spPr>
            <a:xfrm>
              <a:off x="914208" y="4874597"/>
              <a:ext cx="179035" cy="179035"/>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38" name="Freeform 16">
              <a:extLst>
                <a:ext uri="{FF2B5EF4-FFF2-40B4-BE49-F238E27FC236}">
                  <a16:creationId xmlns:a16="http://schemas.microsoft.com/office/drawing/2014/main" id="{A8B28771-B011-A44E-554C-245074CD7E4B}"/>
                </a:ext>
              </a:extLst>
            </p:cNvPr>
            <p:cNvSpPr/>
            <p:nvPr/>
          </p:nvSpPr>
          <p:spPr>
            <a:xfrm>
              <a:off x="492958" y="4762331"/>
              <a:ext cx="254370" cy="254370"/>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39" name="Freeform 17">
              <a:extLst>
                <a:ext uri="{FF2B5EF4-FFF2-40B4-BE49-F238E27FC236}">
                  <a16:creationId xmlns:a16="http://schemas.microsoft.com/office/drawing/2014/main" id="{6122D32F-1891-B8BA-1836-8BECB9F4A68D}"/>
                </a:ext>
              </a:extLst>
            </p:cNvPr>
            <p:cNvSpPr/>
            <p:nvPr/>
          </p:nvSpPr>
          <p:spPr>
            <a:xfrm>
              <a:off x="568173" y="4380259"/>
              <a:ext cx="304000" cy="346887"/>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dirty="0"/>
            </a:p>
          </p:txBody>
        </p:sp>
        <p:sp>
          <p:nvSpPr>
            <p:cNvPr id="40" name="Oval 39">
              <a:extLst>
                <a:ext uri="{FF2B5EF4-FFF2-40B4-BE49-F238E27FC236}">
                  <a16:creationId xmlns:a16="http://schemas.microsoft.com/office/drawing/2014/main" id="{95D160D5-6F37-B5D3-FF07-E8723B4CF519}"/>
                </a:ext>
              </a:extLst>
            </p:cNvPr>
            <p:cNvSpPr/>
            <p:nvPr/>
          </p:nvSpPr>
          <p:spPr>
            <a:xfrm>
              <a:off x="803086" y="4792477"/>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Oval 40">
              <a:extLst>
                <a:ext uri="{FF2B5EF4-FFF2-40B4-BE49-F238E27FC236}">
                  <a16:creationId xmlns:a16="http://schemas.microsoft.com/office/drawing/2014/main" id="{1D196655-1D21-1A7E-6A67-C0F7817A91A3}"/>
                </a:ext>
              </a:extLst>
            </p:cNvPr>
            <p:cNvSpPr/>
            <p:nvPr/>
          </p:nvSpPr>
          <p:spPr>
            <a:xfrm>
              <a:off x="794181" y="5054578"/>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Oval 41">
              <a:extLst>
                <a:ext uri="{FF2B5EF4-FFF2-40B4-BE49-F238E27FC236}">
                  <a16:creationId xmlns:a16="http://schemas.microsoft.com/office/drawing/2014/main" id="{C7353380-09F3-488C-1B79-6DFF241F9BE8}"/>
                </a:ext>
              </a:extLst>
            </p:cNvPr>
            <p:cNvSpPr/>
            <p:nvPr/>
          </p:nvSpPr>
          <p:spPr>
            <a:xfrm>
              <a:off x="1132644" y="5041324"/>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Oval 42">
              <a:extLst>
                <a:ext uri="{FF2B5EF4-FFF2-40B4-BE49-F238E27FC236}">
                  <a16:creationId xmlns:a16="http://schemas.microsoft.com/office/drawing/2014/main" id="{B092F423-1AAA-78DF-0062-4E6CF9AE0B80}"/>
                </a:ext>
              </a:extLst>
            </p:cNvPr>
            <p:cNvSpPr/>
            <p:nvPr/>
          </p:nvSpPr>
          <p:spPr>
            <a:xfrm>
              <a:off x="1397677" y="5033418"/>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Oval 43">
              <a:extLst>
                <a:ext uri="{FF2B5EF4-FFF2-40B4-BE49-F238E27FC236}">
                  <a16:creationId xmlns:a16="http://schemas.microsoft.com/office/drawing/2014/main" id="{37B282B2-E435-3587-12FB-75F5E7214B4D}"/>
                </a:ext>
              </a:extLst>
            </p:cNvPr>
            <p:cNvSpPr/>
            <p:nvPr/>
          </p:nvSpPr>
          <p:spPr>
            <a:xfrm>
              <a:off x="747328" y="4627045"/>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5" name="TextBox 44">
            <a:extLst>
              <a:ext uri="{FF2B5EF4-FFF2-40B4-BE49-F238E27FC236}">
                <a16:creationId xmlns:a16="http://schemas.microsoft.com/office/drawing/2014/main" id="{F2D366E4-20F4-87E6-3065-4901EE3164A3}"/>
              </a:ext>
            </a:extLst>
          </p:cNvPr>
          <p:cNvSpPr txBox="1"/>
          <p:nvPr/>
        </p:nvSpPr>
        <p:spPr>
          <a:xfrm>
            <a:off x="1065414" y="2724360"/>
            <a:ext cx="864685" cy="184666"/>
          </a:xfrm>
          <a:prstGeom prst="rect">
            <a:avLst/>
          </a:prstGeom>
          <a:noFill/>
        </p:spPr>
        <p:txBody>
          <a:bodyPr wrap="square" lIns="0" tIns="0" rIns="0" bIns="0" rtlCol="0">
            <a:spAutoFit/>
          </a:bodyPr>
          <a:lstStyle/>
          <a:p>
            <a:pPr algn="ctr"/>
            <a:r>
              <a:rPr lang="en-US" sz="1200" dirty="0">
                <a:solidFill>
                  <a:schemeClr val="tx2"/>
                </a:solidFill>
              </a:rPr>
              <a:t>Task path</a:t>
            </a:r>
            <a:endParaRPr lang="en-GB" sz="1200" dirty="0">
              <a:solidFill>
                <a:schemeClr val="tx2"/>
              </a:solidFill>
            </a:endParaRPr>
          </a:p>
        </p:txBody>
      </p:sp>
      <p:sp>
        <p:nvSpPr>
          <p:cNvPr id="63" name="Rectangle: Rounded Corners 62">
            <a:extLst>
              <a:ext uri="{FF2B5EF4-FFF2-40B4-BE49-F238E27FC236}">
                <a16:creationId xmlns:a16="http://schemas.microsoft.com/office/drawing/2014/main" id="{89D72689-30A3-EA0D-15BF-1F138349AB80}"/>
              </a:ext>
            </a:extLst>
          </p:cNvPr>
          <p:cNvSpPr/>
          <p:nvPr/>
        </p:nvSpPr>
        <p:spPr>
          <a:xfrm>
            <a:off x="2533654" y="1306255"/>
            <a:ext cx="7105516" cy="4515984"/>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3399"/>
              </a:solidFill>
            </a:endParaRPr>
          </a:p>
        </p:txBody>
      </p:sp>
      <p:sp>
        <p:nvSpPr>
          <p:cNvPr id="64" name="TextBox 63">
            <a:extLst>
              <a:ext uri="{FF2B5EF4-FFF2-40B4-BE49-F238E27FC236}">
                <a16:creationId xmlns:a16="http://schemas.microsoft.com/office/drawing/2014/main" id="{541E794A-9F5F-06BF-53ED-5C38A8D1CF5D}"/>
              </a:ext>
            </a:extLst>
          </p:cNvPr>
          <p:cNvSpPr txBox="1"/>
          <p:nvPr/>
        </p:nvSpPr>
        <p:spPr>
          <a:xfrm>
            <a:off x="2602162" y="1427346"/>
            <a:ext cx="6968318" cy="307777"/>
          </a:xfrm>
          <a:prstGeom prst="rect">
            <a:avLst/>
          </a:prstGeom>
          <a:noFill/>
        </p:spPr>
        <p:txBody>
          <a:bodyPr wrap="square">
            <a:spAutoFit/>
          </a:bodyPr>
          <a:lstStyle/>
          <a:p>
            <a:pPr algn="ctr"/>
            <a:r>
              <a:rPr lang="en-US" sz="1400" dirty="0" err="1"/>
              <a:t>TaskTrajectoryGenerator</a:t>
            </a:r>
            <a:endParaRPr lang="en-GB" sz="1400" dirty="0"/>
          </a:p>
        </p:txBody>
      </p:sp>
      <p:sp>
        <p:nvSpPr>
          <p:cNvPr id="94" name="TextBox 93">
            <a:extLst>
              <a:ext uri="{FF2B5EF4-FFF2-40B4-BE49-F238E27FC236}">
                <a16:creationId xmlns:a16="http://schemas.microsoft.com/office/drawing/2014/main" id="{4BF24E72-97B1-5F18-525B-3C4D3BD78DFA}"/>
              </a:ext>
            </a:extLst>
          </p:cNvPr>
          <p:cNvSpPr txBox="1"/>
          <p:nvPr/>
        </p:nvSpPr>
        <p:spPr>
          <a:xfrm>
            <a:off x="3036797" y="5176388"/>
            <a:ext cx="1640763" cy="184666"/>
          </a:xfrm>
          <a:prstGeom prst="rect">
            <a:avLst/>
          </a:prstGeom>
          <a:noFill/>
        </p:spPr>
        <p:txBody>
          <a:bodyPr wrap="square" lIns="0" tIns="0" rIns="0" bIns="0" rtlCol="0">
            <a:spAutoFit/>
          </a:bodyPr>
          <a:lstStyle/>
          <a:p>
            <a:pPr algn="ctr"/>
            <a:r>
              <a:rPr lang="en-US" sz="1200" dirty="0">
                <a:solidFill>
                  <a:schemeClr val="tx2"/>
                </a:solidFill>
              </a:rPr>
              <a:t>Orientation path</a:t>
            </a:r>
            <a:endParaRPr lang="en-GB" sz="1200" dirty="0">
              <a:solidFill>
                <a:schemeClr val="tx2"/>
              </a:solidFill>
            </a:endParaRPr>
          </a:p>
        </p:txBody>
      </p:sp>
      <p:sp>
        <p:nvSpPr>
          <p:cNvPr id="98" name="TextBox 97">
            <a:extLst>
              <a:ext uri="{FF2B5EF4-FFF2-40B4-BE49-F238E27FC236}">
                <a16:creationId xmlns:a16="http://schemas.microsoft.com/office/drawing/2014/main" id="{D1BA4AFA-4445-2605-418B-7FE9CC9118EB}"/>
              </a:ext>
            </a:extLst>
          </p:cNvPr>
          <p:cNvSpPr txBox="1"/>
          <p:nvPr/>
        </p:nvSpPr>
        <p:spPr>
          <a:xfrm>
            <a:off x="3172553" y="2566820"/>
            <a:ext cx="1427564" cy="184666"/>
          </a:xfrm>
          <a:prstGeom prst="rect">
            <a:avLst/>
          </a:prstGeom>
          <a:noFill/>
        </p:spPr>
        <p:txBody>
          <a:bodyPr wrap="square" lIns="0" tIns="0" rIns="0" bIns="0" rtlCol="0">
            <a:spAutoFit/>
          </a:bodyPr>
          <a:lstStyle/>
          <a:p>
            <a:pPr algn="ctr"/>
            <a:r>
              <a:rPr lang="en-US" sz="1200" dirty="0">
                <a:solidFill>
                  <a:schemeClr val="tx2"/>
                </a:solidFill>
              </a:rPr>
              <a:t>Position path</a:t>
            </a:r>
            <a:endParaRPr lang="en-GB" sz="1200" dirty="0">
              <a:solidFill>
                <a:schemeClr val="tx2"/>
              </a:solidFill>
            </a:endParaRPr>
          </a:p>
        </p:txBody>
      </p:sp>
      <p:sp>
        <p:nvSpPr>
          <p:cNvPr id="101" name="TextBox 100">
            <a:extLst>
              <a:ext uri="{FF2B5EF4-FFF2-40B4-BE49-F238E27FC236}">
                <a16:creationId xmlns:a16="http://schemas.microsoft.com/office/drawing/2014/main" id="{42AF833B-A353-51A3-F816-522BAB0170E0}"/>
              </a:ext>
            </a:extLst>
          </p:cNvPr>
          <p:cNvSpPr txBox="1"/>
          <p:nvPr/>
        </p:nvSpPr>
        <p:spPr>
          <a:xfrm>
            <a:off x="3114241" y="3539831"/>
            <a:ext cx="1485876" cy="184666"/>
          </a:xfrm>
          <a:prstGeom prst="rect">
            <a:avLst/>
          </a:prstGeom>
          <a:noFill/>
        </p:spPr>
        <p:txBody>
          <a:bodyPr wrap="square" lIns="0" tIns="0" rIns="0" bIns="0" rtlCol="0">
            <a:spAutoFit/>
          </a:bodyPr>
          <a:lstStyle/>
          <a:p>
            <a:pPr algn="ctr"/>
            <a:r>
              <a:rPr lang="en-US" sz="1200" dirty="0">
                <a:solidFill>
                  <a:schemeClr val="tx2"/>
                </a:solidFill>
              </a:rPr>
              <a:t>Time instances</a:t>
            </a:r>
            <a:endParaRPr lang="en-GB" sz="1200" dirty="0">
              <a:solidFill>
                <a:schemeClr val="tx2"/>
              </a:solidFill>
            </a:endParaRPr>
          </a:p>
        </p:txBody>
      </p:sp>
      <p:sp>
        <p:nvSpPr>
          <p:cNvPr id="146" name="Oval 145">
            <a:extLst>
              <a:ext uri="{FF2B5EF4-FFF2-40B4-BE49-F238E27FC236}">
                <a16:creationId xmlns:a16="http://schemas.microsoft.com/office/drawing/2014/main" id="{5C4CE19E-F730-F3F6-ADFC-8C86A67DF096}"/>
              </a:ext>
            </a:extLst>
          </p:cNvPr>
          <p:cNvSpPr/>
          <p:nvPr/>
        </p:nvSpPr>
        <p:spPr>
          <a:xfrm flipV="1">
            <a:off x="2816775" y="2790502"/>
            <a:ext cx="52382" cy="52382"/>
          </a:xfrm>
          <a:prstGeom prst="ellipse">
            <a:avLst/>
          </a:prstGeom>
          <a:solidFill>
            <a:srgbClr val="2F2F2F"/>
          </a:solidFill>
          <a:ln>
            <a:solidFill>
              <a:srgbClr val="2F2F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52" name="TextBox 151">
                <a:extLst>
                  <a:ext uri="{FF2B5EF4-FFF2-40B4-BE49-F238E27FC236}">
                    <a16:creationId xmlns:a16="http://schemas.microsoft.com/office/drawing/2014/main" id="{4E986A7E-00C4-B7A0-8FA2-2FB71F1BED86}"/>
                  </a:ext>
                </a:extLst>
              </p:cNvPr>
              <p:cNvSpPr txBox="1"/>
              <p:nvPr/>
            </p:nvSpPr>
            <p:spPr>
              <a:xfrm>
                <a:off x="3483596" y="3155951"/>
                <a:ext cx="826261" cy="199478"/>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lang="en-US" sz="1200" b="0" i="1" dirty="0" smtClean="0">
                              <a:solidFill>
                                <a:schemeClr val="tx2"/>
                              </a:solidFill>
                              <a:latin typeface="Cambria Math" panose="02040503050406030204" pitchFamily="18" charset="0"/>
                            </a:rPr>
                          </m:ctrlPr>
                        </m:sSubPr>
                        <m:e>
                          <m:r>
                            <a:rPr lang="en-US" sz="1200" b="0" i="1" dirty="0" smtClean="0">
                              <a:solidFill>
                                <a:schemeClr val="tx2"/>
                              </a:solidFill>
                              <a:latin typeface="Cambria Math" panose="02040503050406030204" pitchFamily="18" charset="0"/>
                            </a:rPr>
                            <m:t>𝑣</m:t>
                          </m:r>
                        </m:e>
                        <m:sub>
                          <m:r>
                            <a:rPr lang="en-US" sz="1200" b="0" i="1" dirty="0" smtClean="0">
                              <a:solidFill>
                                <a:schemeClr val="tx2"/>
                              </a:solidFill>
                              <a:latin typeface="Cambria Math" panose="02040503050406030204" pitchFamily="18" charset="0"/>
                            </a:rPr>
                            <m:t>𝑖</m:t>
                          </m:r>
                        </m:sub>
                      </m:sSub>
                      <m:r>
                        <a:rPr lang="en-US" sz="1200" b="0" i="1" dirty="0" smtClean="0">
                          <a:solidFill>
                            <a:schemeClr val="tx2"/>
                          </a:solidFill>
                          <a:latin typeface="Cambria Math" panose="02040503050406030204" pitchFamily="18" charset="0"/>
                        </a:rPr>
                        <m:t>, </m:t>
                      </m:r>
                      <m:sSub>
                        <m:sSubPr>
                          <m:ctrlPr>
                            <a:rPr lang="en-US" sz="1200" b="0" i="1" dirty="0" smtClean="0">
                              <a:solidFill>
                                <a:schemeClr val="tx2"/>
                              </a:solidFill>
                              <a:latin typeface="Cambria Math" panose="02040503050406030204" pitchFamily="18" charset="0"/>
                            </a:rPr>
                          </m:ctrlPr>
                        </m:sSubPr>
                        <m:e>
                          <m:r>
                            <a:rPr lang="en-US" sz="1200" b="0" i="1" dirty="0" smtClean="0">
                              <a:solidFill>
                                <a:schemeClr val="tx2"/>
                              </a:solidFill>
                              <a:latin typeface="Cambria Math" panose="02040503050406030204" pitchFamily="18" charset="0"/>
                            </a:rPr>
                            <m:t>𝑣</m:t>
                          </m:r>
                        </m:e>
                        <m:sub>
                          <m:r>
                            <a:rPr lang="en-US" sz="1200" b="0" i="1" dirty="0" smtClean="0">
                              <a:solidFill>
                                <a:schemeClr val="tx2"/>
                              </a:solidFill>
                              <a:latin typeface="Cambria Math" panose="02040503050406030204" pitchFamily="18" charset="0"/>
                            </a:rPr>
                            <m:t>𝑓</m:t>
                          </m:r>
                        </m:sub>
                      </m:sSub>
                      <m:r>
                        <a:rPr lang="en-US" sz="1200" b="0" i="1" dirty="0" smtClean="0">
                          <a:solidFill>
                            <a:schemeClr val="tx2"/>
                          </a:solidFill>
                          <a:latin typeface="Cambria Math" panose="02040503050406030204" pitchFamily="18" charset="0"/>
                        </a:rPr>
                        <m:t>=0</m:t>
                      </m:r>
                    </m:oMath>
                  </m:oMathPara>
                </a14:m>
                <a:endParaRPr lang="en-GB" sz="1200" dirty="0">
                  <a:solidFill>
                    <a:schemeClr val="tx2"/>
                  </a:solidFill>
                </a:endParaRPr>
              </a:p>
            </p:txBody>
          </p:sp>
        </mc:Choice>
        <mc:Fallback xmlns="">
          <p:sp>
            <p:nvSpPr>
              <p:cNvPr id="152" name="TextBox 151">
                <a:extLst>
                  <a:ext uri="{FF2B5EF4-FFF2-40B4-BE49-F238E27FC236}">
                    <a16:creationId xmlns:a16="http://schemas.microsoft.com/office/drawing/2014/main" id="{4E986A7E-00C4-B7A0-8FA2-2FB71F1BED86}"/>
                  </a:ext>
                </a:extLst>
              </p:cNvPr>
              <p:cNvSpPr txBox="1">
                <a:spLocks noRot="1" noChangeAspect="1" noMove="1" noResize="1" noEditPoints="1" noAdjustHandles="1" noChangeArrowheads="1" noChangeShapeType="1" noTextEdit="1"/>
              </p:cNvSpPr>
              <p:nvPr/>
            </p:nvSpPr>
            <p:spPr>
              <a:xfrm>
                <a:off x="3483596" y="3155951"/>
                <a:ext cx="826261" cy="199478"/>
              </a:xfrm>
              <a:prstGeom prst="rect">
                <a:avLst/>
              </a:prstGeom>
              <a:blipFill>
                <a:blip r:embed="rId9"/>
                <a:stretch>
                  <a:fillRect b="-2812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4" name="TextBox 153">
                <a:extLst>
                  <a:ext uri="{FF2B5EF4-FFF2-40B4-BE49-F238E27FC236}">
                    <a16:creationId xmlns:a16="http://schemas.microsoft.com/office/drawing/2014/main" id="{8F5F72EC-CAD2-AF13-3690-21BDA617FF0B}"/>
                  </a:ext>
                </a:extLst>
              </p:cNvPr>
              <p:cNvSpPr txBox="1"/>
              <p:nvPr/>
            </p:nvSpPr>
            <p:spPr>
              <a:xfrm>
                <a:off x="3497884" y="4596500"/>
                <a:ext cx="800295" cy="227306"/>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lang="en-US" sz="1200" b="0" i="1" dirty="0" smtClean="0">
                              <a:solidFill>
                                <a:schemeClr val="tx2"/>
                              </a:solidFill>
                              <a:latin typeface="Cambria Math" panose="02040503050406030204" pitchFamily="18" charset="0"/>
                            </a:rPr>
                          </m:ctrlPr>
                        </m:sSubPr>
                        <m:e>
                          <m:r>
                            <a:rPr lang="en-US" sz="1200" b="0" i="1" dirty="0" smtClean="0">
                              <a:solidFill>
                                <a:schemeClr val="tx2"/>
                              </a:solidFill>
                              <a:latin typeface="Cambria Math" panose="02040503050406030204" pitchFamily="18" charset="0"/>
                            </a:rPr>
                            <m:t>𝜔</m:t>
                          </m:r>
                        </m:e>
                        <m:sub>
                          <m:r>
                            <a:rPr lang="en-US" sz="1200" b="0" i="1" dirty="0" smtClean="0">
                              <a:solidFill>
                                <a:schemeClr val="tx2"/>
                              </a:solidFill>
                              <a:latin typeface="Cambria Math" panose="02040503050406030204" pitchFamily="18" charset="0"/>
                            </a:rPr>
                            <m:t>𝑖</m:t>
                          </m:r>
                        </m:sub>
                      </m:sSub>
                      <m:r>
                        <a:rPr lang="en-US" sz="1200" b="0" i="1" dirty="0" smtClean="0">
                          <a:solidFill>
                            <a:schemeClr val="tx2"/>
                          </a:solidFill>
                          <a:latin typeface="Cambria Math" panose="02040503050406030204" pitchFamily="18" charset="0"/>
                        </a:rPr>
                        <m:t>, </m:t>
                      </m:r>
                      <m:sSub>
                        <m:sSubPr>
                          <m:ctrlPr>
                            <a:rPr lang="en-US" sz="1200" b="0" i="1" dirty="0" smtClean="0">
                              <a:solidFill>
                                <a:schemeClr val="tx2"/>
                              </a:solidFill>
                              <a:latin typeface="Cambria Math" panose="02040503050406030204" pitchFamily="18" charset="0"/>
                            </a:rPr>
                          </m:ctrlPr>
                        </m:sSubPr>
                        <m:e>
                          <m:r>
                            <a:rPr lang="en-US" sz="1200" b="0" i="1" dirty="0" smtClean="0">
                              <a:solidFill>
                                <a:schemeClr val="tx2"/>
                              </a:solidFill>
                              <a:latin typeface="Cambria Math" panose="02040503050406030204" pitchFamily="18" charset="0"/>
                            </a:rPr>
                            <m:t>𝜔</m:t>
                          </m:r>
                        </m:e>
                        <m:sub>
                          <m:r>
                            <a:rPr lang="en-US" sz="1200" b="0" i="1" dirty="0" smtClean="0">
                              <a:solidFill>
                                <a:schemeClr val="tx2"/>
                              </a:solidFill>
                              <a:latin typeface="Cambria Math" panose="02040503050406030204" pitchFamily="18" charset="0"/>
                            </a:rPr>
                            <m:t>𝑓</m:t>
                          </m:r>
                        </m:sub>
                      </m:sSub>
                      <m:r>
                        <a:rPr lang="en-US" sz="1200" b="0" i="1" dirty="0" smtClean="0">
                          <a:solidFill>
                            <a:schemeClr val="tx2"/>
                          </a:solidFill>
                          <a:latin typeface="Cambria Math" panose="02040503050406030204" pitchFamily="18" charset="0"/>
                        </a:rPr>
                        <m:t>=</m:t>
                      </m:r>
                      <m:acc>
                        <m:accPr>
                          <m:chr m:val="⃗"/>
                          <m:ctrlPr>
                            <a:rPr lang="en-US" sz="1200" b="0" i="1" dirty="0" smtClean="0">
                              <a:solidFill>
                                <a:schemeClr val="tx2"/>
                              </a:solidFill>
                              <a:latin typeface="Cambria Math" panose="02040503050406030204" pitchFamily="18" charset="0"/>
                            </a:rPr>
                          </m:ctrlPr>
                        </m:accPr>
                        <m:e>
                          <m:r>
                            <a:rPr lang="en-US" sz="1200" b="0" i="1" dirty="0" smtClean="0">
                              <a:solidFill>
                                <a:schemeClr val="tx2"/>
                              </a:solidFill>
                              <a:latin typeface="Cambria Math" panose="02040503050406030204" pitchFamily="18" charset="0"/>
                            </a:rPr>
                            <m:t>0</m:t>
                          </m:r>
                        </m:e>
                      </m:acc>
                    </m:oMath>
                  </m:oMathPara>
                </a14:m>
                <a:endParaRPr lang="en-GB" sz="1200" dirty="0">
                  <a:solidFill>
                    <a:schemeClr val="tx2"/>
                  </a:solidFill>
                </a:endParaRPr>
              </a:p>
            </p:txBody>
          </p:sp>
        </mc:Choice>
        <mc:Fallback xmlns="">
          <p:sp>
            <p:nvSpPr>
              <p:cNvPr id="154" name="TextBox 153">
                <a:extLst>
                  <a:ext uri="{FF2B5EF4-FFF2-40B4-BE49-F238E27FC236}">
                    <a16:creationId xmlns:a16="http://schemas.microsoft.com/office/drawing/2014/main" id="{8F5F72EC-CAD2-AF13-3690-21BDA617FF0B}"/>
                  </a:ext>
                </a:extLst>
              </p:cNvPr>
              <p:cNvSpPr txBox="1">
                <a:spLocks noRot="1" noChangeAspect="1" noMove="1" noResize="1" noEditPoints="1" noAdjustHandles="1" noChangeArrowheads="1" noChangeShapeType="1" noTextEdit="1"/>
              </p:cNvSpPr>
              <p:nvPr/>
            </p:nvSpPr>
            <p:spPr>
              <a:xfrm>
                <a:off x="3497884" y="4596500"/>
                <a:ext cx="800295" cy="227306"/>
              </a:xfrm>
              <a:prstGeom prst="rect">
                <a:avLst/>
              </a:prstGeom>
              <a:blipFill>
                <a:blip r:embed="rId10"/>
                <a:stretch>
                  <a:fillRect b="-24324"/>
                </a:stretch>
              </a:blipFill>
            </p:spPr>
            <p:txBody>
              <a:bodyPr/>
              <a:lstStyle/>
              <a:p>
                <a:r>
                  <a:rPr lang="en-GB">
                    <a:noFill/>
                  </a:rPr>
                  <a:t> </a:t>
                </a:r>
              </a:p>
            </p:txBody>
          </p:sp>
        </mc:Fallback>
      </mc:AlternateContent>
      <p:cxnSp>
        <p:nvCxnSpPr>
          <p:cNvPr id="169" name="Straight Arrow Connector 168">
            <a:extLst>
              <a:ext uri="{FF2B5EF4-FFF2-40B4-BE49-F238E27FC236}">
                <a16:creationId xmlns:a16="http://schemas.microsoft.com/office/drawing/2014/main" id="{74FA8DA3-5A75-61EE-B4F6-D8C61CEE55A8}"/>
              </a:ext>
            </a:extLst>
          </p:cNvPr>
          <p:cNvCxnSpPr>
            <a:cxnSpLocks/>
            <a:stCxn id="209" idx="2"/>
          </p:cNvCxnSpPr>
          <p:nvPr/>
        </p:nvCxnSpPr>
        <p:spPr>
          <a:xfrm>
            <a:off x="9296837" y="3907465"/>
            <a:ext cx="2610284" cy="0"/>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sp>
        <p:nvSpPr>
          <p:cNvPr id="171" name="TextBox 170">
            <a:extLst>
              <a:ext uri="{FF2B5EF4-FFF2-40B4-BE49-F238E27FC236}">
                <a16:creationId xmlns:a16="http://schemas.microsoft.com/office/drawing/2014/main" id="{48B9DD9E-C563-73D9-3CD0-EA856B60FCAA}"/>
              </a:ext>
            </a:extLst>
          </p:cNvPr>
          <p:cNvSpPr txBox="1"/>
          <p:nvPr/>
        </p:nvSpPr>
        <p:spPr>
          <a:xfrm>
            <a:off x="7526082" y="2636542"/>
            <a:ext cx="897524" cy="184666"/>
          </a:xfrm>
          <a:prstGeom prst="rect">
            <a:avLst/>
          </a:prstGeom>
          <a:noFill/>
        </p:spPr>
        <p:txBody>
          <a:bodyPr wrap="square" lIns="0" tIns="0" rIns="0" bIns="0" rtlCol="0">
            <a:spAutoFit/>
          </a:bodyPr>
          <a:lstStyle/>
          <a:p>
            <a:r>
              <a:rPr lang="en-US" sz="1200" dirty="0">
                <a:solidFill>
                  <a:schemeClr val="tx2"/>
                </a:solidFill>
              </a:rPr>
              <a:t>Position at </a:t>
            </a:r>
            <a:r>
              <a:rPr lang="en-US" sz="1200" i="1" dirty="0">
                <a:solidFill>
                  <a:schemeClr val="tx2"/>
                </a:solidFill>
              </a:rPr>
              <a:t>t</a:t>
            </a:r>
            <a:endParaRPr lang="en-GB" sz="1200" i="1" dirty="0">
              <a:solidFill>
                <a:schemeClr val="tx2"/>
              </a:solidFill>
            </a:endParaRPr>
          </a:p>
        </p:txBody>
      </p:sp>
      <p:sp>
        <p:nvSpPr>
          <p:cNvPr id="173" name="TextBox 172">
            <a:extLst>
              <a:ext uri="{FF2B5EF4-FFF2-40B4-BE49-F238E27FC236}">
                <a16:creationId xmlns:a16="http://schemas.microsoft.com/office/drawing/2014/main" id="{53D6F25E-5DA2-F412-380C-0E5CC805F6FC}"/>
              </a:ext>
            </a:extLst>
          </p:cNvPr>
          <p:cNvSpPr txBox="1"/>
          <p:nvPr/>
        </p:nvSpPr>
        <p:spPr>
          <a:xfrm>
            <a:off x="7528569" y="3046918"/>
            <a:ext cx="1294545" cy="184666"/>
          </a:xfrm>
          <a:prstGeom prst="rect">
            <a:avLst/>
          </a:prstGeom>
          <a:noFill/>
        </p:spPr>
        <p:txBody>
          <a:bodyPr wrap="square" lIns="0" tIns="0" rIns="0" bIns="0" rtlCol="0">
            <a:spAutoFit/>
          </a:bodyPr>
          <a:lstStyle/>
          <a:p>
            <a:r>
              <a:rPr lang="en-US" sz="1200" dirty="0">
                <a:solidFill>
                  <a:schemeClr val="tx2"/>
                </a:solidFill>
              </a:rPr>
              <a:t>Linear velocity at </a:t>
            </a:r>
            <a:r>
              <a:rPr lang="en-US" sz="1200" i="1" dirty="0">
                <a:solidFill>
                  <a:schemeClr val="tx2"/>
                </a:solidFill>
              </a:rPr>
              <a:t>t</a:t>
            </a:r>
            <a:endParaRPr lang="en-GB" sz="1200" i="1" dirty="0">
              <a:solidFill>
                <a:schemeClr val="tx2"/>
              </a:solidFill>
            </a:endParaRPr>
          </a:p>
        </p:txBody>
      </p:sp>
      <p:sp>
        <p:nvSpPr>
          <p:cNvPr id="178" name="TextBox 177">
            <a:extLst>
              <a:ext uri="{FF2B5EF4-FFF2-40B4-BE49-F238E27FC236}">
                <a16:creationId xmlns:a16="http://schemas.microsoft.com/office/drawing/2014/main" id="{50D97E5A-0691-6E7F-4200-17FEAD55825A}"/>
              </a:ext>
            </a:extLst>
          </p:cNvPr>
          <p:cNvSpPr txBox="1"/>
          <p:nvPr/>
        </p:nvSpPr>
        <p:spPr>
          <a:xfrm>
            <a:off x="7526082" y="3487599"/>
            <a:ext cx="1540043" cy="184666"/>
          </a:xfrm>
          <a:prstGeom prst="rect">
            <a:avLst/>
          </a:prstGeom>
          <a:noFill/>
        </p:spPr>
        <p:txBody>
          <a:bodyPr wrap="square" lIns="0" tIns="0" rIns="0" bIns="0" rtlCol="0">
            <a:spAutoFit/>
          </a:bodyPr>
          <a:lstStyle/>
          <a:p>
            <a:r>
              <a:rPr lang="en-US" sz="1200" dirty="0">
                <a:solidFill>
                  <a:schemeClr val="tx2"/>
                </a:solidFill>
              </a:rPr>
              <a:t>Linear acceleration at </a:t>
            </a:r>
            <a:r>
              <a:rPr lang="en-US" sz="1200" i="1" dirty="0">
                <a:solidFill>
                  <a:schemeClr val="tx2"/>
                </a:solidFill>
              </a:rPr>
              <a:t>t</a:t>
            </a:r>
            <a:endParaRPr lang="en-GB" sz="1200" i="1" dirty="0">
              <a:solidFill>
                <a:schemeClr val="tx2"/>
              </a:solidFill>
            </a:endParaRPr>
          </a:p>
        </p:txBody>
      </p:sp>
      <p:sp>
        <p:nvSpPr>
          <p:cNvPr id="184" name="TextBox 183">
            <a:extLst>
              <a:ext uri="{FF2B5EF4-FFF2-40B4-BE49-F238E27FC236}">
                <a16:creationId xmlns:a16="http://schemas.microsoft.com/office/drawing/2014/main" id="{960E12F3-533A-7B19-B5C4-4C21C5A56E26}"/>
              </a:ext>
            </a:extLst>
          </p:cNvPr>
          <p:cNvSpPr txBox="1"/>
          <p:nvPr/>
        </p:nvSpPr>
        <p:spPr>
          <a:xfrm>
            <a:off x="7563015" y="4276464"/>
            <a:ext cx="1654214" cy="184666"/>
          </a:xfrm>
          <a:prstGeom prst="rect">
            <a:avLst/>
          </a:prstGeom>
          <a:noFill/>
        </p:spPr>
        <p:txBody>
          <a:bodyPr wrap="square" lIns="0" tIns="0" rIns="0" bIns="0" rtlCol="0">
            <a:spAutoFit/>
          </a:bodyPr>
          <a:lstStyle/>
          <a:p>
            <a:r>
              <a:rPr lang="en-US" sz="1200" dirty="0">
                <a:solidFill>
                  <a:schemeClr val="tx2"/>
                </a:solidFill>
              </a:rPr>
              <a:t>Angular acceleration at </a:t>
            </a:r>
            <a:r>
              <a:rPr lang="en-US" sz="1200" i="1" dirty="0">
                <a:solidFill>
                  <a:schemeClr val="tx2"/>
                </a:solidFill>
              </a:rPr>
              <a:t>t</a:t>
            </a:r>
            <a:endParaRPr lang="en-GB" sz="1200" i="1" dirty="0">
              <a:solidFill>
                <a:schemeClr val="tx2"/>
              </a:solidFill>
            </a:endParaRPr>
          </a:p>
        </p:txBody>
      </p:sp>
      <p:sp>
        <p:nvSpPr>
          <p:cNvPr id="185" name="TextBox 184">
            <a:extLst>
              <a:ext uri="{FF2B5EF4-FFF2-40B4-BE49-F238E27FC236}">
                <a16:creationId xmlns:a16="http://schemas.microsoft.com/office/drawing/2014/main" id="{F7D7E0E0-F7FF-7269-BF6D-CFAE2565269D}"/>
              </a:ext>
            </a:extLst>
          </p:cNvPr>
          <p:cNvSpPr txBox="1"/>
          <p:nvPr/>
        </p:nvSpPr>
        <p:spPr>
          <a:xfrm>
            <a:off x="7573708" y="4616085"/>
            <a:ext cx="1414914" cy="184666"/>
          </a:xfrm>
          <a:prstGeom prst="rect">
            <a:avLst/>
          </a:prstGeom>
          <a:noFill/>
        </p:spPr>
        <p:txBody>
          <a:bodyPr wrap="square" lIns="0" tIns="0" rIns="0" bIns="0" rtlCol="0">
            <a:spAutoFit/>
          </a:bodyPr>
          <a:lstStyle/>
          <a:p>
            <a:r>
              <a:rPr lang="en-US" sz="1200" dirty="0">
                <a:solidFill>
                  <a:schemeClr val="tx2"/>
                </a:solidFill>
              </a:rPr>
              <a:t>Angular velocity at </a:t>
            </a:r>
            <a:r>
              <a:rPr lang="en-US" sz="1200" i="1" dirty="0">
                <a:solidFill>
                  <a:schemeClr val="tx2"/>
                </a:solidFill>
              </a:rPr>
              <a:t>t</a:t>
            </a:r>
            <a:endParaRPr lang="en-GB" sz="1200" i="1" dirty="0">
              <a:solidFill>
                <a:schemeClr val="tx2"/>
              </a:solidFill>
            </a:endParaRPr>
          </a:p>
        </p:txBody>
      </p:sp>
      <p:sp>
        <p:nvSpPr>
          <p:cNvPr id="186" name="TextBox 185">
            <a:extLst>
              <a:ext uri="{FF2B5EF4-FFF2-40B4-BE49-F238E27FC236}">
                <a16:creationId xmlns:a16="http://schemas.microsoft.com/office/drawing/2014/main" id="{0D2D2ECD-A8DB-42E1-8C9D-A2F5B9E217AB}"/>
              </a:ext>
            </a:extLst>
          </p:cNvPr>
          <p:cNvSpPr txBox="1"/>
          <p:nvPr/>
        </p:nvSpPr>
        <p:spPr>
          <a:xfrm>
            <a:off x="7564183" y="5006476"/>
            <a:ext cx="1161458" cy="184666"/>
          </a:xfrm>
          <a:prstGeom prst="rect">
            <a:avLst/>
          </a:prstGeom>
          <a:noFill/>
        </p:spPr>
        <p:txBody>
          <a:bodyPr wrap="square" lIns="0" tIns="0" rIns="0" bIns="0" rtlCol="0">
            <a:spAutoFit/>
          </a:bodyPr>
          <a:lstStyle/>
          <a:p>
            <a:r>
              <a:rPr lang="en-US" sz="1200" dirty="0">
                <a:solidFill>
                  <a:schemeClr val="tx2"/>
                </a:solidFill>
              </a:rPr>
              <a:t>Orientation at </a:t>
            </a:r>
            <a:r>
              <a:rPr lang="en-US" sz="1200" i="1" dirty="0">
                <a:solidFill>
                  <a:schemeClr val="tx2"/>
                </a:solidFill>
              </a:rPr>
              <a:t>t</a:t>
            </a:r>
            <a:endParaRPr lang="en-GB" sz="1200" i="1" dirty="0">
              <a:solidFill>
                <a:schemeClr val="tx2"/>
              </a:solidFill>
            </a:endParaRPr>
          </a:p>
        </p:txBody>
      </p:sp>
      <p:cxnSp>
        <p:nvCxnSpPr>
          <p:cNvPr id="189" name="Connector: Elbow 188">
            <a:extLst>
              <a:ext uri="{FF2B5EF4-FFF2-40B4-BE49-F238E27FC236}">
                <a16:creationId xmlns:a16="http://schemas.microsoft.com/office/drawing/2014/main" id="{EE42E459-AFA0-E90D-1A09-590B874E6350}"/>
              </a:ext>
            </a:extLst>
          </p:cNvPr>
          <p:cNvCxnSpPr>
            <a:cxnSpLocks/>
            <a:stCxn id="178" idx="3"/>
            <a:endCxn id="184" idx="3"/>
          </p:cNvCxnSpPr>
          <p:nvPr/>
        </p:nvCxnSpPr>
        <p:spPr>
          <a:xfrm>
            <a:off x="9066125" y="3579932"/>
            <a:ext cx="151104" cy="788865"/>
          </a:xfrm>
          <a:prstGeom prst="bentConnector3">
            <a:avLst>
              <a:gd name="adj1" fmla="val 170916"/>
            </a:avLst>
          </a:prstGeom>
          <a:ln>
            <a:solidFill>
              <a:srgbClr val="2F2F2F"/>
            </a:solidFill>
          </a:ln>
        </p:spPr>
        <p:style>
          <a:lnRef idx="1">
            <a:schemeClr val="accent1"/>
          </a:lnRef>
          <a:fillRef idx="0">
            <a:schemeClr val="accent1"/>
          </a:fillRef>
          <a:effectRef idx="0">
            <a:schemeClr val="accent1"/>
          </a:effectRef>
          <a:fontRef idx="minor">
            <a:schemeClr val="tx1"/>
          </a:fontRef>
        </p:style>
      </p:cxnSp>
      <p:cxnSp>
        <p:nvCxnSpPr>
          <p:cNvPr id="192" name="Connector: Elbow 191">
            <a:extLst>
              <a:ext uri="{FF2B5EF4-FFF2-40B4-BE49-F238E27FC236}">
                <a16:creationId xmlns:a16="http://schemas.microsoft.com/office/drawing/2014/main" id="{E134A277-3F9A-AF9A-8640-49FC816AF8FE}"/>
              </a:ext>
            </a:extLst>
          </p:cNvPr>
          <p:cNvCxnSpPr>
            <a:cxnSpLocks/>
            <a:stCxn id="173" idx="3"/>
            <a:endCxn id="185" idx="3"/>
          </p:cNvCxnSpPr>
          <p:nvPr/>
        </p:nvCxnSpPr>
        <p:spPr>
          <a:xfrm>
            <a:off x="8823114" y="3139251"/>
            <a:ext cx="165508" cy="1569167"/>
          </a:xfrm>
          <a:prstGeom prst="bentConnector3">
            <a:avLst>
              <a:gd name="adj1" fmla="val 357057"/>
            </a:avLst>
          </a:prstGeom>
          <a:ln>
            <a:solidFill>
              <a:srgbClr val="2F2F2F"/>
            </a:solidFill>
          </a:ln>
        </p:spPr>
        <p:style>
          <a:lnRef idx="1">
            <a:schemeClr val="accent1"/>
          </a:lnRef>
          <a:fillRef idx="0">
            <a:schemeClr val="accent1"/>
          </a:fillRef>
          <a:effectRef idx="0">
            <a:schemeClr val="accent1"/>
          </a:effectRef>
          <a:fontRef idx="minor">
            <a:schemeClr val="tx1"/>
          </a:fontRef>
        </p:style>
      </p:cxnSp>
      <p:cxnSp>
        <p:nvCxnSpPr>
          <p:cNvPr id="196" name="Connector: Elbow 195">
            <a:extLst>
              <a:ext uri="{FF2B5EF4-FFF2-40B4-BE49-F238E27FC236}">
                <a16:creationId xmlns:a16="http://schemas.microsoft.com/office/drawing/2014/main" id="{43F7BE77-B22D-8C95-BF08-56A5FABF428B}"/>
              </a:ext>
            </a:extLst>
          </p:cNvPr>
          <p:cNvCxnSpPr>
            <a:cxnSpLocks/>
            <a:stCxn id="171" idx="3"/>
            <a:endCxn id="186" idx="3"/>
          </p:cNvCxnSpPr>
          <p:nvPr/>
        </p:nvCxnSpPr>
        <p:spPr>
          <a:xfrm>
            <a:off x="8423606" y="2728875"/>
            <a:ext cx="302035" cy="2369934"/>
          </a:xfrm>
          <a:prstGeom prst="bentConnector3">
            <a:avLst>
              <a:gd name="adj1" fmla="val 360699"/>
            </a:avLst>
          </a:prstGeom>
          <a:ln>
            <a:solidFill>
              <a:srgbClr val="2F2F2F"/>
            </a:solidFill>
          </a:ln>
        </p:spPr>
        <p:style>
          <a:lnRef idx="1">
            <a:schemeClr val="accent1"/>
          </a:lnRef>
          <a:fillRef idx="0">
            <a:schemeClr val="accent1"/>
          </a:fillRef>
          <a:effectRef idx="0">
            <a:schemeClr val="accent1"/>
          </a:effectRef>
          <a:fontRef idx="minor">
            <a:schemeClr val="tx1"/>
          </a:fontRef>
        </p:style>
      </p:cxnSp>
      <p:sp>
        <p:nvSpPr>
          <p:cNvPr id="209" name="Oval 208">
            <a:extLst>
              <a:ext uri="{FF2B5EF4-FFF2-40B4-BE49-F238E27FC236}">
                <a16:creationId xmlns:a16="http://schemas.microsoft.com/office/drawing/2014/main" id="{6B9ED45B-B3A1-161E-F2DC-4C60138EAB97}"/>
              </a:ext>
            </a:extLst>
          </p:cNvPr>
          <p:cNvSpPr/>
          <p:nvPr/>
        </p:nvSpPr>
        <p:spPr>
          <a:xfrm flipV="1">
            <a:off x="9296837" y="3881274"/>
            <a:ext cx="52382" cy="52382"/>
          </a:xfrm>
          <a:prstGeom prst="ellipse">
            <a:avLst/>
          </a:prstGeom>
          <a:solidFill>
            <a:srgbClr val="2F2F2F"/>
          </a:solidFill>
          <a:ln>
            <a:solidFill>
              <a:srgbClr val="2F2F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0" name="Oval 209">
            <a:extLst>
              <a:ext uri="{FF2B5EF4-FFF2-40B4-BE49-F238E27FC236}">
                <a16:creationId xmlns:a16="http://schemas.microsoft.com/office/drawing/2014/main" id="{960AE514-D950-D9C5-232A-FCAC080C3135}"/>
              </a:ext>
            </a:extLst>
          </p:cNvPr>
          <p:cNvSpPr/>
          <p:nvPr/>
        </p:nvSpPr>
        <p:spPr>
          <a:xfrm flipV="1">
            <a:off x="9387714" y="3881274"/>
            <a:ext cx="52382" cy="52382"/>
          </a:xfrm>
          <a:prstGeom prst="ellipse">
            <a:avLst/>
          </a:prstGeom>
          <a:solidFill>
            <a:srgbClr val="2F2F2F"/>
          </a:solidFill>
          <a:ln>
            <a:solidFill>
              <a:srgbClr val="2F2F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1" name="Oval 210">
            <a:extLst>
              <a:ext uri="{FF2B5EF4-FFF2-40B4-BE49-F238E27FC236}">
                <a16:creationId xmlns:a16="http://schemas.microsoft.com/office/drawing/2014/main" id="{5D36AC51-096E-364C-E9CB-2A2420F4128E}"/>
              </a:ext>
            </a:extLst>
          </p:cNvPr>
          <p:cNvSpPr/>
          <p:nvPr/>
        </p:nvSpPr>
        <p:spPr>
          <a:xfrm flipV="1">
            <a:off x="9477100" y="3880065"/>
            <a:ext cx="52382" cy="52382"/>
          </a:xfrm>
          <a:prstGeom prst="ellipse">
            <a:avLst/>
          </a:prstGeom>
          <a:solidFill>
            <a:srgbClr val="2F2F2F"/>
          </a:solidFill>
          <a:ln>
            <a:solidFill>
              <a:srgbClr val="2F2F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5" name="Rectangle: Rounded Corners 304">
            <a:extLst>
              <a:ext uri="{FF2B5EF4-FFF2-40B4-BE49-F238E27FC236}">
                <a16:creationId xmlns:a16="http://schemas.microsoft.com/office/drawing/2014/main" id="{383C1F79-F949-D984-C82B-92C4D0EEF2CC}"/>
              </a:ext>
            </a:extLst>
          </p:cNvPr>
          <p:cNvSpPr/>
          <p:nvPr/>
        </p:nvSpPr>
        <p:spPr>
          <a:xfrm>
            <a:off x="4734362" y="1901721"/>
            <a:ext cx="2610739" cy="3740458"/>
          </a:xfrm>
          <a:prstGeom prst="roundRect">
            <a:avLst>
              <a:gd name="adj" fmla="val 12859"/>
            </a:avLst>
          </a:prstGeom>
          <a:solidFill>
            <a:srgbClr val="ACCBEA"/>
          </a:solidFill>
          <a:ln>
            <a:solidFill>
              <a:srgbClr val="0033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9" name="Straight Arrow Connector 78">
            <a:extLst>
              <a:ext uri="{FF2B5EF4-FFF2-40B4-BE49-F238E27FC236}">
                <a16:creationId xmlns:a16="http://schemas.microsoft.com/office/drawing/2014/main" id="{CABFE5E3-9872-FA33-9C6C-0D9D62F48E72}"/>
              </a:ext>
            </a:extLst>
          </p:cNvPr>
          <p:cNvCxnSpPr>
            <a:cxnSpLocks/>
            <a:stCxn id="45" idx="3"/>
          </p:cNvCxnSpPr>
          <p:nvPr/>
        </p:nvCxnSpPr>
        <p:spPr>
          <a:xfrm flipV="1">
            <a:off x="1930099" y="2811370"/>
            <a:ext cx="2970080" cy="5323"/>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B7ED8F4F-8AA9-0880-A9B2-4822B2438022}"/>
              </a:ext>
            </a:extLst>
          </p:cNvPr>
          <p:cNvCxnSpPr>
            <a:cxnSpLocks/>
          </p:cNvCxnSpPr>
          <p:nvPr/>
        </p:nvCxnSpPr>
        <p:spPr>
          <a:xfrm flipV="1">
            <a:off x="3271519" y="3762882"/>
            <a:ext cx="1628662" cy="9435"/>
          </a:xfrm>
          <a:prstGeom prst="straightConnector1">
            <a:avLst/>
          </a:prstGeom>
          <a:ln>
            <a:solidFill>
              <a:srgbClr val="2F2F2F"/>
            </a:solidFill>
            <a:tailEnd type="triangle"/>
          </a:ln>
        </p:spPr>
        <p:style>
          <a:lnRef idx="1">
            <a:schemeClr val="accent1"/>
          </a:lnRef>
          <a:fillRef idx="0">
            <a:schemeClr val="accent1"/>
          </a:fillRef>
          <a:effectRef idx="0">
            <a:schemeClr val="accent1"/>
          </a:effectRef>
          <a:fontRef idx="minor">
            <a:schemeClr val="tx1"/>
          </a:fontRef>
        </p:style>
      </p:cxnSp>
      <p:grpSp>
        <p:nvGrpSpPr>
          <p:cNvPr id="165" name="Group 164">
            <a:extLst>
              <a:ext uri="{FF2B5EF4-FFF2-40B4-BE49-F238E27FC236}">
                <a16:creationId xmlns:a16="http://schemas.microsoft.com/office/drawing/2014/main" id="{35DA4FB6-87C5-471F-78E5-80F35C47A0DF}"/>
              </a:ext>
            </a:extLst>
          </p:cNvPr>
          <p:cNvGrpSpPr/>
          <p:nvPr/>
        </p:nvGrpSpPr>
        <p:grpSpPr>
          <a:xfrm>
            <a:off x="3758654" y="3749914"/>
            <a:ext cx="1150764" cy="640856"/>
            <a:chOff x="3924679" y="3052262"/>
            <a:chExt cx="1150764" cy="640856"/>
          </a:xfrm>
        </p:grpSpPr>
        <p:cxnSp>
          <p:nvCxnSpPr>
            <p:cNvPr id="116" name="Connector: Elbow 115">
              <a:extLst>
                <a:ext uri="{FF2B5EF4-FFF2-40B4-BE49-F238E27FC236}">
                  <a16:creationId xmlns:a16="http://schemas.microsoft.com/office/drawing/2014/main" id="{BD383E93-66C2-41B1-A3C6-C2199E56CEEA}"/>
                </a:ext>
              </a:extLst>
            </p:cNvPr>
            <p:cNvCxnSpPr>
              <a:cxnSpLocks/>
            </p:cNvCxnSpPr>
            <p:nvPr/>
          </p:nvCxnSpPr>
          <p:spPr>
            <a:xfrm>
              <a:off x="3950872" y="3074665"/>
              <a:ext cx="1124571" cy="618453"/>
            </a:xfrm>
            <a:prstGeom prst="bentConnector3">
              <a:avLst>
                <a:gd name="adj1" fmla="val 28"/>
              </a:avLst>
            </a:prstGeom>
            <a:ln>
              <a:solidFill>
                <a:srgbClr val="2F2F2F"/>
              </a:solidFill>
              <a:tailEnd type="triangle"/>
            </a:ln>
          </p:spPr>
          <p:style>
            <a:lnRef idx="1">
              <a:schemeClr val="accent1"/>
            </a:lnRef>
            <a:fillRef idx="0">
              <a:schemeClr val="accent1"/>
            </a:fillRef>
            <a:effectRef idx="0">
              <a:schemeClr val="accent1"/>
            </a:effectRef>
            <a:fontRef idx="minor">
              <a:schemeClr val="tx1"/>
            </a:fontRef>
          </p:style>
        </p:cxnSp>
        <p:sp>
          <p:nvSpPr>
            <p:cNvPr id="123" name="Oval 122">
              <a:extLst>
                <a:ext uri="{FF2B5EF4-FFF2-40B4-BE49-F238E27FC236}">
                  <a16:creationId xmlns:a16="http://schemas.microsoft.com/office/drawing/2014/main" id="{013CF024-B2DE-F6CC-642E-C385AEBCD0A8}"/>
                </a:ext>
              </a:extLst>
            </p:cNvPr>
            <p:cNvSpPr/>
            <p:nvPr/>
          </p:nvSpPr>
          <p:spPr>
            <a:xfrm flipV="1">
              <a:off x="3924679" y="3052262"/>
              <a:ext cx="52382" cy="52382"/>
            </a:xfrm>
            <a:prstGeom prst="ellipse">
              <a:avLst/>
            </a:prstGeom>
            <a:solidFill>
              <a:srgbClr val="2F2F2F"/>
            </a:solidFill>
            <a:ln>
              <a:solidFill>
                <a:srgbClr val="2F2F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139" name="Connector: Elbow 138">
            <a:extLst>
              <a:ext uri="{FF2B5EF4-FFF2-40B4-BE49-F238E27FC236}">
                <a16:creationId xmlns:a16="http://schemas.microsoft.com/office/drawing/2014/main" id="{D6D9FCC6-5A42-A0EC-7E12-E12ACB9CC398}"/>
              </a:ext>
            </a:extLst>
          </p:cNvPr>
          <p:cNvCxnSpPr>
            <a:cxnSpLocks/>
          </p:cNvCxnSpPr>
          <p:nvPr/>
        </p:nvCxnSpPr>
        <p:spPr>
          <a:xfrm rot="16200000" flipH="1">
            <a:off x="2733650" y="2935415"/>
            <a:ext cx="2286778" cy="2064762"/>
          </a:xfrm>
          <a:prstGeom prst="bentConnector3">
            <a:avLst>
              <a:gd name="adj1" fmla="val 99983"/>
            </a:avLst>
          </a:prstGeom>
          <a:ln>
            <a:solidFill>
              <a:srgbClr val="2F2F2F"/>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Straight Arrow Connector 148">
            <a:extLst>
              <a:ext uri="{FF2B5EF4-FFF2-40B4-BE49-F238E27FC236}">
                <a16:creationId xmlns:a16="http://schemas.microsoft.com/office/drawing/2014/main" id="{19579DE2-7DAD-D7FA-75F8-18FD40397964}"/>
              </a:ext>
            </a:extLst>
          </p:cNvPr>
          <p:cNvCxnSpPr>
            <a:cxnSpLocks/>
            <a:stCxn id="152" idx="3"/>
          </p:cNvCxnSpPr>
          <p:nvPr/>
        </p:nvCxnSpPr>
        <p:spPr>
          <a:xfrm>
            <a:off x="4309857" y="3255690"/>
            <a:ext cx="581885" cy="0"/>
          </a:xfrm>
          <a:prstGeom prst="straightConnector1">
            <a:avLst/>
          </a:prstGeom>
          <a:ln>
            <a:solidFill>
              <a:srgbClr val="2F2F2F"/>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Straight Arrow Connector 157">
            <a:extLst>
              <a:ext uri="{FF2B5EF4-FFF2-40B4-BE49-F238E27FC236}">
                <a16:creationId xmlns:a16="http://schemas.microsoft.com/office/drawing/2014/main" id="{DD9BD94B-9F5C-AC32-848F-02C36D3081CC}"/>
              </a:ext>
            </a:extLst>
          </p:cNvPr>
          <p:cNvCxnSpPr>
            <a:cxnSpLocks/>
          </p:cNvCxnSpPr>
          <p:nvPr/>
        </p:nvCxnSpPr>
        <p:spPr>
          <a:xfrm flipV="1">
            <a:off x="4333080" y="4728334"/>
            <a:ext cx="567099" cy="3819"/>
          </a:xfrm>
          <a:prstGeom prst="straightConnector1">
            <a:avLst/>
          </a:prstGeom>
          <a:ln>
            <a:solidFill>
              <a:srgbClr val="2F2F2F"/>
            </a:solidFill>
            <a:tailEnd type="triangle"/>
          </a:ln>
        </p:spPr>
        <p:style>
          <a:lnRef idx="1">
            <a:schemeClr val="accent1"/>
          </a:lnRef>
          <a:fillRef idx="0">
            <a:schemeClr val="accent1"/>
          </a:fillRef>
          <a:effectRef idx="0">
            <a:schemeClr val="accent1"/>
          </a:effectRef>
          <a:fontRef idx="minor">
            <a:schemeClr val="tx1"/>
          </a:fontRef>
        </p:style>
      </p:cxnSp>
      <p:cxnSp>
        <p:nvCxnSpPr>
          <p:cNvPr id="234" name="Straight Arrow Connector 233">
            <a:extLst>
              <a:ext uri="{FF2B5EF4-FFF2-40B4-BE49-F238E27FC236}">
                <a16:creationId xmlns:a16="http://schemas.microsoft.com/office/drawing/2014/main" id="{991BD1B6-4230-5B3E-4921-D7DCEF77DADA}"/>
              </a:ext>
            </a:extLst>
          </p:cNvPr>
          <p:cNvCxnSpPr>
            <a:cxnSpLocks/>
            <a:endCxn id="171" idx="1"/>
          </p:cNvCxnSpPr>
          <p:nvPr/>
        </p:nvCxnSpPr>
        <p:spPr>
          <a:xfrm>
            <a:off x="7205630" y="2728875"/>
            <a:ext cx="320452" cy="0"/>
          </a:xfrm>
          <a:prstGeom prst="straightConnector1">
            <a:avLst/>
          </a:prstGeom>
          <a:ln>
            <a:solidFill>
              <a:srgbClr val="2F2F2F"/>
            </a:solidFill>
            <a:tailEnd type="triangle"/>
          </a:ln>
        </p:spPr>
        <p:style>
          <a:lnRef idx="1">
            <a:schemeClr val="accent1"/>
          </a:lnRef>
          <a:fillRef idx="0">
            <a:schemeClr val="accent1"/>
          </a:fillRef>
          <a:effectRef idx="0">
            <a:schemeClr val="accent1"/>
          </a:effectRef>
          <a:fontRef idx="minor">
            <a:schemeClr val="tx1"/>
          </a:fontRef>
        </p:style>
      </p:cxnSp>
      <p:cxnSp>
        <p:nvCxnSpPr>
          <p:cNvPr id="236" name="Straight Arrow Connector 235">
            <a:extLst>
              <a:ext uri="{FF2B5EF4-FFF2-40B4-BE49-F238E27FC236}">
                <a16:creationId xmlns:a16="http://schemas.microsoft.com/office/drawing/2014/main" id="{70B8937A-88B5-E026-7724-71F8620546A9}"/>
              </a:ext>
            </a:extLst>
          </p:cNvPr>
          <p:cNvCxnSpPr>
            <a:cxnSpLocks/>
            <a:endCxn id="173" idx="1"/>
          </p:cNvCxnSpPr>
          <p:nvPr/>
        </p:nvCxnSpPr>
        <p:spPr>
          <a:xfrm>
            <a:off x="7205630" y="3139251"/>
            <a:ext cx="322939" cy="0"/>
          </a:xfrm>
          <a:prstGeom prst="straightConnector1">
            <a:avLst/>
          </a:prstGeom>
          <a:ln>
            <a:solidFill>
              <a:srgbClr val="2F2F2F"/>
            </a:solidFill>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id="{C59933D7-98FF-9448-0CF4-9BDC22C1821A}"/>
              </a:ext>
            </a:extLst>
          </p:cNvPr>
          <p:cNvCxnSpPr>
            <a:cxnSpLocks/>
            <a:endCxn id="178" idx="1"/>
          </p:cNvCxnSpPr>
          <p:nvPr/>
        </p:nvCxnSpPr>
        <p:spPr>
          <a:xfrm flipV="1">
            <a:off x="7203143" y="3579932"/>
            <a:ext cx="322939" cy="1679"/>
          </a:xfrm>
          <a:prstGeom prst="straightConnector1">
            <a:avLst/>
          </a:prstGeom>
          <a:ln>
            <a:solidFill>
              <a:srgbClr val="2F2F2F"/>
            </a:solidFill>
            <a:tailEnd type="triangle"/>
          </a:ln>
        </p:spPr>
        <p:style>
          <a:lnRef idx="1">
            <a:schemeClr val="accent1"/>
          </a:lnRef>
          <a:fillRef idx="0">
            <a:schemeClr val="accent1"/>
          </a:fillRef>
          <a:effectRef idx="0">
            <a:schemeClr val="accent1"/>
          </a:effectRef>
          <a:fontRef idx="minor">
            <a:schemeClr val="tx1"/>
          </a:fontRef>
        </p:style>
      </p:cxnSp>
      <p:cxnSp>
        <p:nvCxnSpPr>
          <p:cNvPr id="243" name="Straight Arrow Connector 242">
            <a:extLst>
              <a:ext uri="{FF2B5EF4-FFF2-40B4-BE49-F238E27FC236}">
                <a16:creationId xmlns:a16="http://schemas.microsoft.com/office/drawing/2014/main" id="{7306EDCD-4678-73B9-B35B-2434E6F1DA7D}"/>
              </a:ext>
            </a:extLst>
          </p:cNvPr>
          <p:cNvCxnSpPr>
            <a:cxnSpLocks/>
            <a:endCxn id="184" idx="1"/>
          </p:cNvCxnSpPr>
          <p:nvPr/>
        </p:nvCxnSpPr>
        <p:spPr>
          <a:xfrm>
            <a:off x="7203143" y="4368797"/>
            <a:ext cx="359872" cy="0"/>
          </a:xfrm>
          <a:prstGeom prst="straightConnector1">
            <a:avLst/>
          </a:prstGeom>
          <a:ln>
            <a:solidFill>
              <a:srgbClr val="2F2F2F"/>
            </a:solidFill>
            <a:tailEnd type="triangle"/>
          </a:ln>
        </p:spPr>
        <p:style>
          <a:lnRef idx="1">
            <a:schemeClr val="accent1"/>
          </a:lnRef>
          <a:fillRef idx="0">
            <a:schemeClr val="accent1"/>
          </a:fillRef>
          <a:effectRef idx="0">
            <a:schemeClr val="accent1"/>
          </a:effectRef>
          <a:fontRef idx="minor">
            <a:schemeClr val="tx1"/>
          </a:fontRef>
        </p:style>
      </p:cxnSp>
      <p:cxnSp>
        <p:nvCxnSpPr>
          <p:cNvPr id="246" name="Straight Arrow Connector 245">
            <a:extLst>
              <a:ext uri="{FF2B5EF4-FFF2-40B4-BE49-F238E27FC236}">
                <a16:creationId xmlns:a16="http://schemas.microsoft.com/office/drawing/2014/main" id="{7408B27C-2B0B-26C7-9084-D408D7DEF384}"/>
              </a:ext>
            </a:extLst>
          </p:cNvPr>
          <p:cNvCxnSpPr>
            <a:cxnSpLocks/>
            <a:endCxn id="185" idx="1"/>
          </p:cNvCxnSpPr>
          <p:nvPr/>
        </p:nvCxnSpPr>
        <p:spPr>
          <a:xfrm>
            <a:off x="7213836" y="4708418"/>
            <a:ext cx="359872" cy="0"/>
          </a:xfrm>
          <a:prstGeom prst="straightConnector1">
            <a:avLst/>
          </a:prstGeom>
          <a:ln>
            <a:solidFill>
              <a:srgbClr val="2F2F2F"/>
            </a:solidFill>
            <a:tailEnd type="triangle"/>
          </a:ln>
        </p:spPr>
        <p:style>
          <a:lnRef idx="1">
            <a:schemeClr val="accent1"/>
          </a:lnRef>
          <a:fillRef idx="0">
            <a:schemeClr val="accent1"/>
          </a:fillRef>
          <a:effectRef idx="0">
            <a:schemeClr val="accent1"/>
          </a:effectRef>
          <a:fontRef idx="minor">
            <a:schemeClr val="tx1"/>
          </a:fontRef>
        </p:style>
      </p:cxnSp>
      <p:cxnSp>
        <p:nvCxnSpPr>
          <p:cNvPr id="249" name="Straight Arrow Connector 248">
            <a:extLst>
              <a:ext uri="{FF2B5EF4-FFF2-40B4-BE49-F238E27FC236}">
                <a16:creationId xmlns:a16="http://schemas.microsoft.com/office/drawing/2014/main" id="{B99D1B36-8FBF-94BD-A56F-8C68744E8D07}"/>
              </a:ext>
            </a:extLst>
          </p:cNvPr>
          <p:cNvCxnSpPr>
            <a:cxnSpLocks/>
            <a:endCxn id="186" idx="1"/>
          </p:cNvCxnSpPr>
          <p:nvPr/>
        </p:nvCxnSpPr>
        <p:spPr>
          <a:xfrm>
            <a:off x="7213836" y="5098809"/>
            <a:ext cx="350347" cy="0"/>
          </a:xfrm>
          <a:prstGeom prst="straightConnector1">
            <a:avLst/>
          </a:prstGeom>
          <a:ln>
            <a:solidFill>
              <a:srgbClr val="2F2F2F"/>
            </a:solidFill>
            <a:tailEnd type="triangle"/>
          </a:ln>
        </p:spPr>
        <p:style>
          <a:lnRef idx="1">
            <a:schemeClr val="accent1"/>
          </a:lnRef>
          <a:fillRef idx="0">
            <a:schemeClr val="accent1"/>
          </a:fillRef>
          <a:effectRef idx="0">
            <a:schemeClr val="accent1"/>
          </a:effectRef>
          <a:fontRef idx="minor">
            <a:schemeClr val="tx1"/>
          </a:fontRef>
        </p:style>
      </p:cxnSp>
      <p:sp>
        <p:nvSpPr>
          <p:cNvPr id="323" name="TextBox 322">
            <a:extLst>
              <a:ext uri="{FF2B5EF4-FFF2-40B4-BE49-F238E27FC236}">
                <a16:creationId xmlns:a16="http://schemas.microsoft.com/office/drawing/2014/main" id="{3C42B7D5-C2A8-29CC-C9C4-5C6BDBA8F52B}"/>
              </a:ext>
            </a:extLst>
          </p:cNvPr>
          <p:cNvSpPr txBox="1"/>
          <p:nvPr/>
        </p:nvSpPr>
        <p:spPr>
          <a:xfrm>
            <a:off x="4625591" y="1944583"/>
            <a:ext cx="2821900" cy="307777"/>
          </a:xfrm>
          <a:prstGeom prst="rect">
            <a:avLst/>
          </a:prstGeom>
          <a:noFill/>
        </p:spPr>
        <p:txBody>
          <a:bodyPr wrap="square">
            <a:spAutoFit/>
          </a:bodyPr>
          <a:lstStyle/>
          <a:p>
            <a:pPr algn="ctr"/>
            <a:r>
              <a:rPr lang="en-US" sz="1400" dirty="0" err="1"/>
              <a:t>TaskTrajectory</a:t>
            </a:r>
            <a:endParaRPr lang="en-GB" sz="1400" dirty="0"/>
          </a:p>
        </p:txBody>
      </p:sp>
      <p:sp>
        <p:nvSpPr>
          <p:cNvPr id="7" name="Rectangle: Rounded Corners 6">
            <a:extLst>
              <a:ext uri="{FF2B5EF4-FFF2-40B4-BE49-F238E27FC236}">
                <a16:creationId xmlns:a16="http://schemas.microsoft.com/office/drawing/2014/main" id="{3FE1CCDE-D010-EFB9-7185-7F8FA3ED5A1E}"/>
              </a:ext>
            </a:extLst>
          </p:cNvPr>
          <p:cNvSpPr/>
          <p:nvPr/>
        </p:nvSpPr>
        <p:spPr>
          <a:xfrm>
            <a:off x="4909418" y="4077471"/>
            <a:ext cx="2296212" cy="1423655"/>
          </a:xfrm>
          <a:prstGeom prst="roundRect">
            <a:avLst/>
          </a:prstGeom>
          <a:solidFill>
            <a:srgbClr val="CDDCFF"/>
          </a:solidFill>
          <a:ln w="12700">
            <a:solidFill>
              <a:srgbClr val="0033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003399"/>
                </a:solidFill>
              </a:rPr>
              <a:t>CubicOrientationSpline</a:t>
            </a:r>
            <a:endParaRPr lang="en-GB" sz="1200" dirty="0">
              <a:solidFill>
                <a:srgbClr val="003399"/>
              </a:solidFill>
            </a:endParaRPr>
          </a:p>
        </p:txBody>
      </p:sp>
      <p:sp>
        <p:nvSpPr>
          <p:cNvPr id="125" name="Rectangle: Rounded Corners 124">
            <a:extLst>
              <a:ext uri="{FF2B5EF4-FFF2-40B4-BE49-F238E27FC236}">
                <a16:creationId xmlns:a16="http://schemas.microsoft.com/office/drawing/2014/main" id="{3FEB2BE7-A828-9B68-2075-F7FC8B6517C7}"/>
              </a:ext>
            </a:extLst>
          </p:cNvPr>
          <p:cNvSpPr/>
          <p:nvPr/>
        </p:nvSpPr>
        <p:spPr>
          <a:xfrm>
            <a:off x="4900181" y="2318456"/>
            <a:ext cx="2296211" cy="1669877"/>
          </a:xfrm>
          <a:prstGeom prst="roundRect">
            <a:avLst/>
          </a:prstGeom>
          <a:solidFill>
            <a:srgbClr val="CDDCFF"/>
          </a:solidFill>
          <a:ln>
            <a:solidFill>
              <a:srgbClr val="0033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3399"/>
              </a:solidFill>
            </a:endParaRPr>
          </a:p>
        </p:txBody>
      </p:sp>
      <p:sp>
        <p:nvSpPr>
          <p:cNvPr id="126" name="TextBox 125">
            <a:extLst>
              <a:ext uri="{FF2B5EF4-FFF2-40B4-BE49-F238E27FC236}">
                <a16:creationId xmlns:a16="http://schemas.microsoft.com/office/drawing/2014/main" id="{1B69C1BB-D08D-AD0E-BB6D-7CD206E0BBC5}"/>
              </a:ext>
            </a:extLst>
          </p:cNvPr>
          <p:cNvSpPr txBox="1"/>
          <p:nvPr/>
        </p:nvSpPr>
        <p:spPr>
          <a:xfrm>
            <a:off x="4900180" y="2352577"/>
            <a:ext cx="2296211" cy="777957"/>
          </a:xfrm>
          <a:prstGeom prst="rect">
            <a:avLst/>
          </a:prstGeom>
          <a:noFill/>
          <a:ln>
            <a:noFill/>
          </a:ln>
        </p:spPr>
        <p:txBody>
          <a:bodyPr wrap="square">
            <a:spAutoFit/>
          </a:bodyPr>
          <a:lstStyle/>
          <a:p>
            <a:pPr algn="ctr"/>
            <a:r>
              <a:rPr lang="en-US" sz="1400" dirty="0" err="1"/>
              <a:t>CubicPolynomial</a:t>
            </a:r>
            <a:endParaRPr lang="en-GB" sz="1400" dirty="0"/>
          </a:p>
        </p:txBody>
      </p:sp>
      <mc:AlternateContent xmlns:mc="http://schemas.openxmlformats.org/markup-compatibility/2006" xmlns:a14="http://schemas.microsoft.com/office/drawing/2010/main">
        <mc:Choice Requires="a14">
          <p:sp>
            <p:nvSpPr>
              <p:cNvPr id="127" name="Rectangle: Rounded Corners 126">
                <a:extLst>
                  <a:ext uri="{FF2B5EF4-FFF2-40B4-BE49-F238E27FC236}">
                    <a16:creationId xmlns:a16="http://schemas.microsoft.com/office/drawing/2014/main" id="{A525E258-53A0-64B6-F57F-2778A5468D1F}"/>
                  </a:ext>
                </a:extLst>
              </p:cNvPr>
              <p:cNvSpPr/>
              <p:nvPr/>
            </p:nvSpPr>
            <p:spPr>
              <a:xfrm>
                <a:off x="5680994" y="2693880"/>
                <a:ext cx="794118" cy="275942"/>
              </a:xfrm>
              <a:prstGeom prst="roundRect">
                <a:avLst/>
              </a:prstGeom>
              <a:solidFill>
                <a:srgbClr val="EFF4FF"/>
              </a:solidFill>
              <a:ln>
                <a:solidFill>
                  <a:srgbClr val="0033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i="1" dirty="0" smtClean="0">
                        <a:solidFill>
                          <a:schemeClr val="tx1"/>
                        </a:solidFill>
                        <a:latin typeface="Cambria Math" panose="02040503050406030204" pitchFamily="18" charset="0"/>
                      </a:rPr>
                      <m:t>𝑥</m:t>
                    </m:r>
                  </m:oMath>
                </a14:m>
                <a:r>
                  <a:rPr lang="en-GB" dirty="0"/>
                  <a:t> </a:t>
                </a:r>
              </a:p>
            </p:txBody>
          </p:sp>
        </mc:Choice>
        <mc:Fallback xmlns="">
          <p:sp>
            <p:nvSpPr>
              <p:cNvPr id="127" name="Rectangle: Rounded Corners 126">
                <a:extLst>
                  <a:ext uri="{FF2B5EF4-FFF2-40B4-BE49-F238E27FC236}">
                    <a16:creationId xmlns:a16="http://schemas.microsoft.com/office/drawing/2014/main" id="{A525E258-53A0-64B6-F57F-2778A5468D1F}"/>
                  </a:ext>
                </a:extLst>
              </p:cNvPr>
              <p:cNvSpPr>
                <a:spLocks noRot="1" noChangeAspect="1" noMove="1" noResize="1" noEditPoints="1" noAdjustHandles="1" noChangeArrowheads="1" noChangeShapeType="1" noTextEdit="1"/>
              </p:cNvSpPr>
              <p:nvPr/>
            </p:nvSpPr>
            <p:spPr>
              <a:xfrm>
                <a:off x="5680994" y="2693880"/>
                <a:ext cx="794118" cy="275942"/>
              </a:xfrm>
              <a:prstGeom prst="roundRect">
                <a:avLst/>
              </a:prstGeom>
              <a:blipFill>
                <a:blip r:embed="rId11"/>
                <a:stretch>
                  <a:fillRect/>
                </a:stretch>
              </a:blipFill>
              <a:ln>
                <a:solidFill>
                  <a:srgbClr val="0033A0"/>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8" name="Rectangle: Rounded Corners 127">
                <a:extLst>
                  <a:ext uri="{FF2B5EF4-FFF2-40B4-BE49-F238E27FC236}">
                    <a16:creationId xmlns:a16="http://schemas.microsoft.com/office/drawing/2014/main" id="{F2B80006-9C81-62D4-AD66-E85EA6940CE4}"/>
                  </a:ext>
                </a:extLst>
              </p:cNvPr>
              <p:cNvSpPr/>
              <p:nvPr/>
            </p:nvSpPr>
            <p:spPr>
              <a:xfrm>
                <a:off x="5685848" y="3118756"/>
                <a:ext cx="794118" cy="275942"/>
              </a:xfrm>
              <a:prstGeom prst="roundRect">
                <a:avLst/>
              </a:prstGeom>
              <a:solidFill>
                <a:srgbClr val="EFF4FF"/>
              </a:solidFill>
              <a:ln>
                <a:solidFill>
                  <a:srgbClr val="0033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b="0" i="1" smtClean="0">
                        <a:solidFill>
                          <a:schemeClr val="tx1"/>
                        </a:solidFill>
                        <a:latin typeface="Cambria Math" panose="02040503050406030204" pitchFamily="18" charset="0"/>
                      </a:rPr>
                      <m:t>𝑦</m:t>
                    </m:r>
                  </m:oMath>
                </a14:m>
                <a:r>
                  <a:rPr lang="en-GB" dirty="0"/>
                  <a:t> </a:t>
                </a:r>
              </a:p>
            </p:txBody>
          </p:sp>
        </mc:Choice>
        <mc:Fallback xmlns="">
          <p:sp>
            <p:nvSpPr>
              <p:cNvPr id="128" name="Rectangle: Rounded Corners 127">
                <a:extLst>
                  <a:ext uri="{FF2B5EF4-FFF2-40B4-BE49-F238E27FC236}">
                    <a16:creationId xmlns:a16="http://schemas.microsoft.com/office/drawing/2014/main" id="{F2B80006-9C81-62D4-AD66-E85EA6940CE4}"/>
                  </a:ext>
                </a:extLst>
              </p:cNvPr>
              <p:cNvSpPr>
                <a:spLocks noRot="1" noChangeAspect="1" noMove="1" noResize="1" noEditPoints="1" noAdjustHandles="1" noChangeArrowheads="1" noChangeShapeType="1" noTextEdit="1"/>
              </p:cNvSpPr>
              <p:nvPr/>
            </p:nvSpPr>
            <p:spPr>
              <a:xfrm>
                <a:off x="5685848" y="3118756"/>
                <a:ext cx="794118" cy="275942"/>
              </a:xfrm>
              <a:prstGeom prst="roundRect">
                <a:avLst/>
              </a:prstGeom>
              <a:blipFill>
                <a:blip r:embed="rId12"/>
                <a:stretch>
                  <a:fillRect b="-25532"/>
                </a:stretch>
              </a:blipFill>
              <a:ln>
                <a:solidFill>
                  <a:srgbClr val="0033A0"/>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9" name="Rectangle: Rounded Corners 128">
                <a:extLst>
                  <a:ext uri="{FF2B5EF4-FFF2-40B4-BE49-F238E27FC236}">
                    <a16:creationId xmlns:a16="http://schemas.microsoft.com/office/drawing/2014/main" id="{D055034D-23B4-FE8B-0751-4B34064E8B17}"/>
                  </a:ext>
                </a:extLst>
              </p:cNvPr>
              <p:cNvSpPr/>
              <p:nvPr/>
            </p:nvSpPr>
            <p:spPr>
              <a:xfrm>
                <a:off x="5689262" y="3573892"/>
                <a:ext cx="794118" cy="275942"/>
              </a:xfrm>
              <a:prstGeom prst="roundRect">
                <a:avLst/>
              </a:prstGeom>
              <a:solidFill>
                <a:srgbClr val="EFF4FF"/>
              </a:solidFill>
              <a:ln>
                <a:solidFill>
                  <a:srgbClr val="0033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b="0" i="1" smtClean="0">
                        <a:solidFill>
                          <a:schemeClr val="tx1"/>
                        </a:solidFill>
                        <a:latin typeface="Cambria Math" panose="02040503050406030204" pitchFamily="18" charset="0"/>
                      </a:rPr>
                      <m:t>𝑧</m:t>
                    </m:r>
                  </m:oMath>
                </a14:m>
                <a:r>
                  <a:rPr lang="en-GB" dirty="0"/>
                  <a:t> </a:t>
                </a:r>
              </a:p>
            </p:txBody>
          </p:sp>
        </mc:Choice>
        <mc:Fallback xmlns="">
          <p:sp>
            <p:nvSpPr>
              <p:cNvPr id="129" name="Rectangle: Rounded Corners 128">
                <a:extLst>
                  <a:ext uri="{FF2B5EF4-FFF2-40B4-BE49-F238E27FC236}">
                    <a16:creationId xmlns:a16="http://schemas.microsoft.com/office/drawing/2014/main" id="{D055034D-23B4-FE8B-0751-4B34064E8B17}"/>
                  </a:ext>
                </a:extLst>
              </p:cNvPr>
              <p:cNvSpPr>
                <a:spLocks noRot="1" noChangeAspect="1" noMove="1" noResize="1" noEditPoints="1" noAdjustHandles="1" noChangeArrowheads="1" noChangeShapeType="1" noTextEdit="1"/>
              </p:cNvSpPr>
              <p:nvPr/>
            </p:nvSpPr>
            <p:spPr>
              <a:xfrm>
                <a:off x="5689262" y="3573892"/>
                <a:ext cx="794118" cy="275942"/>
              </a:xfrm>
              <a:prstGeom prst="roundRect">
                <a:avLst/>
              </a:prstGeom>
              <a:blipFill>
                <a:blip r:embed="rId13"/>
                <a:stretch>
                  <a:fillRect/>
                </a:stretch>
              </a:blipFill>
              <a:ln>
                <a:solidFill>
                  <a:srgbClr val="0033A0"/>
                </a:solidFill>
              </a:ln>
            </p:spPr>
            <p:txBody>
              <a:bodyPr/>
              <a:lstStyle/>
              <a:p>
                <a:r>
                  <a:rPr lang="en-GB">
                    <a:noFill/>
                  </a:rPr>
                  <a:t> </a:t>
                </a:r>
              </a:p>
            </p:txBody>
          </p:sp>
        </mc:Fallback>
      </mc:AlternateContent>
    </p:spTree>
    <p:extLst>
      <p:ext uri="{BB962C8B-B14F-4D97-AF65-F5344CB8AC3E}">
        <p14:creationId xmlns:p14="http://schemas.microsoft.com/office/powerpoint/2010/main" val="13254371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Task Trajectory Generator Design</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58</a:t>
            </a:fld>
            <a:endParaRPr lang="en-US" dirty="0"/>
          </a:p>
        </p:txBody>
      </p:sp>
      <p:sp>
        <p:nvSpPr>
          <p:cNvPr id="9" name="TextBox 8">
            <a:extLst>
              <a:ext uri="{FF2B5EF4-FFF2-40B4-BE49-F238E27FC236}">
                <a16:creationId xmlns:a16="http://schemas.microsoft.com/office/drawing/2014/main" id="{2D96B742-B0BC-D532-7418-80DC70A37B4F}"/>
              </a:ext>
            </a:extLst>
          </p:cNvPr>
          <p:cNvSpPr txBox="1"/>
          <p:nvPr/>
        </p:nvSpPr>
        <p:spPr>
          <a:xfrm>
            <a:off x="9785056" y="3532908"/>
            <a:ext cx="1785514" cy="323165"/>
          </a:xfrm>
          <a:prstGeom prst="rect">
            <a:avLst/>
          </a:prstGeom>
          <a:noFill/>
        </p:spPr>
        <p:txBody>
          <a:bodyPr wrap="square" lIns="0" tIns="0" rIns="0" bIns="0" rtlCol="0">
            <a:spAutoFit/>
          </a:bodyPr>
          <a:lstStyle/>
          <a:p>
            <a:pPr algn="ctr"/>
            <a:r>
              <a:rPr lang="en-US" sz="1200" dirty="0">
                <a:solidFill>
                  <a:schemeClr val="tx2"/>
                </a:solidFill>
              </a:rPr>
              <a:t>Trajectory point:</a:t>
            </a:r>
          </a:p>
          <a:p>
            <a:pPr algn="ctr"/>
            <a:r>
              <a:rPr lang="en-US" sz="900" dirty="0">
                <a:solidFill>
                  <a:schemeClr val="tx2"/>
                </a:solidFill>
              </a:rPr>
              <a:t>Task pose, velocity, acceleration</a:t>
            </a:r>
            <a:endParaRPr lang="en-US" sz="1000" i="1" dirty="0">
              <a:solidFill>
                <a:schemeClr val="tx2"/>
              </a:solidFill>
            </a:endParaRPr>
          </a:p>
        </p:txBody>
      </p:sp>
      <p:grpSp>
        <p:nvGrpSpPr>
          <p:cNvPr id="11" name="Group 10">
            <a:extLst>
              <a:ext uri="{FF2B5EF4-FFF2-40B4-BE49-F238E27FC236}">
                <a16:creationId xmlns:a16="http://schemas.microsoft.com/office/drawing/2014/main" id="{B698E37D-10F3-49F4-7B80-758F550093B5}"/>
              </a:ext>
            </a:extLst>
          </p:cNvPr>
          <p:cNvGrpSpPr/>
          <p:nvPr/>
        </p:nvGrpSpPr>
        <p:grpSpPr>
          <a:xfrm>
            <a:off x="9839144" y="4020214"/>
            <a:ext cx="1766536" cy="1112840"/>
            <a:chOff x="2764634" y="4139767"/>
            <a:chExt cx="1766536" cy="1112840"/>
          </a:xfrm>
        </p:grpSpPr>
        <p:grpSp>
          <p:nvGrpSpPr>
            <p:cNvPr id="12" name="Group 11">
              <a:extLst>
                <a:ext uri="{FF2B5EF4-FFF2-40B4-BE49-F238E27FC236}">
                  <a16:creationId xmlns:a16="http://schemas.microsoft.com/office/drawing/2014/main" id="{36B2EDC6-3514-DA4C-DAA8-5CBDD2540C3F}"/>
                </a:ext>
              </a:extLst>
            </p:cNvPr>
            <p:cNvGrpSpPr/>
            <p:nvPr/>
          </p:nvGrpSpPr>
          <p:grpSpPr>
            <a:xfrm>
              <a:off x="2764634" y="4139767"/>
              <a:ext cx="1766536" cy="1112840"/>
              <a:chOff x="1279822" y="2270598"/>
              <a:chExt cx="6050258" cy="3811399"/>
            </a:xfrm>
          </p:grpSpPr>
          <p:sp>
            <p:nvSpPr>
              <p:cNvPr id="27" name="Freeform 13">
                <a:extLst>
                  <a:ext uri="{FF2B5EF4-FFF2-40B4-BE49-F238E27FC236}">
                    <a16:creationId xmlns:a16="http://schemas.microsoft.com/office/drawing/2014/main" id="{A67173DD-0568-12C4-FEFE-4DE5BF798A78}"/>
                  </a:ext>
                </a:extLst>
              </p:cNvPr>
              <p:cNvSpPr/>
              <p:nvPr/>
            </p:nvSpPr>
            <p:spPr>
              <a:xfrm>
                <a:off x="3907305" y="2270598"/>
                <a:ext cx="3422775" cy="3411874"/>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a:p>
            </p:txBody>
          </p:sp>
          <p:sp>
            <p:nvSpPr>
              <p:cNvPr id="28" name="Freeform 14">
                <a:extLst>
                  <a:ext uri="{FF2B5EF4-FFF2-40B4-BE49-F238E27FC236}">
                    <a16:creationId xmlns:a16="http://schemas.microsoft.com/office/drawing/2014/main" id="{509B12FA-0CB9-3C5E-2418-8A7CD7367B7E}"/>
                  </a:ext>
                </a:extLst>
              </p:cNvPr>
              <p:cNvSpPr/>
              <p:nvPr/>
            </p:nvSpPr>
            <p:spPr>
              <a:xfrm>
                <a:off x="2048828" y="3976535"/>
                <a:ext cx="2388253" cy="2105462"/>
              </a:xfrm>
              <a:custGeom>
                <a:avLst/>
                <a:gdLst/>
                <a:ahLst/>
                <a:cxnLst/>
                <a:rect l="l" t="t" r="r" b="b"/>
                <a:pathLst>
                  <a:path w="2388253" h="2105462">
                    <a:moveTo>
                      <a:pt x="0" y="0"/>
                    </a:moveTo>
                    <a:lnTo>
                      <a:pt x="2388253" y="0"/>
                    </a:lnTo>
                    <a:lnTo>
                      <a:pt x="2388253" y="2105462"/>
                    </a:lnTo>
                    <a:lnTo>
                      <a:pt x="0" y="2105462"/>
                    </a:lnTo>
                    <a:lnTo>
                      <a:pt x="0" y="0"/>
                    </a:lnTo>
                    <a:close/>
                  </a:path>
                </a:pathLst>
              </a:custGeom>
              <a:blipFill>
                <a:blip r:embed="rId4"/>
                <a:stretch>
                  <a:fillRect l="-16072" t="-8057"/>
                </a:stretch>
              </a:blipFill>
            </p:spPr>
            <p:txBody>
              <a:bodyPr/>
              <a:lstStyle/>
              <a:p>
                <a:endParaRPr lang="en-GB"/>
              </a:p>
            </p:txBody>
          </p:sp>
          <p:sp>
            <p:nvSpPr>
              <p:cNvPr id="30" name="Freeform 15">
                <a:extLst>
                  <a:ext uri="{FF2B5EF4-FFF2-40B4-BE49-F238E27FC236}">
                    <a16:creationId xmlns:a16="http://schemas.microsoft.com/office/drawing/2014/main" id="{340E4769-0E92-3ABC-1806-CA18B37248D7}"/>
                  </a:ext>
                </a:extLst>
              </p:cNvPr>
              <p:cNvSpPr/>
              <p:nvPr/>
            </p:nvSpPr>
            <p:spPr>
              <a:xfrm>
                <a:off x="2722572" y="4644763"/>
                <a:ext cx="613182" cy="613182"/>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31" name="Freeform 16">
                <a:extLst>
                  <a:ext uri="{FF2B5EF4-FFF2-40B4-BE49-F238E27FC236}">
                    <a16:creationId xmlns:a16="http://schemas.microsoft.com/office/drawing/2014/main" id="{F425D2C9-301F-FB90-3D0D-3D991FB36D3C}"/>
                  </a:ext>
                </a:extLst>
              </p:cNvPr>
              <p:cNvSpPr/>
              <p:nvPr/>
            </p:nvSpPr>
            <p:spPr>
              <a:xfrm>
                <a:off x="1279822" y="4260259"/>
                <a:ext cx="871200" cy="871200"/>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32" name="Freeform 17">
                <a:extLst>
                  <a:ext uri="{FF2B5EF4-FFF2-40B4-BE49-F238E27FC236}">
                    <a16:creationId xmlns:a16="http://schemas.microsoft.com/office/drawing/2014/main" id="{EAADDD6B-43F6-621E-040E-1835DBF5BB0D}"/>
                  </a:ext>
                </a:extLst>
              </p:cNvPr>
              <p:cNvSpPr/>
              <p:nvPr/>
            </p:nvSpPr>
            <p:spPr>
              <a:xfrm>
                <a:off x="1537428" y="2951690"/>
                <a:ext cx="1041177" cy="1188065"/>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grpSp>
        <p:sp>
          <p:nvSpPr>
            <p:cNvPr id="13" name="Oval 12">
              <a:extLst>
                <a:ext uri="{FF2B5EF4-FFF2-40B4-BE49-F238E27FC236}">
                  <a16:creationId xmlns:a16="http://schemas.microsoft.com/office/drawing/2014/main" id="{0E0A5C12-4FBD-C234-ECAB-3285C63FDB1D}"/>
                </a:ext>
              </a:extLst>
            </p:cNvPr>
            <p:cNvSpPr/>
            <p:nvPr/>
          </p:nvSpPr>
          <p:spPr>
            <a:xfrm>
              <a:off x="3074762" y="4750848"/>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9684340F-A0B3-FB8E-630A-511C6831276C}"/>
                </a:ext>
              </a:extLst>
            </p:cNvPr>
            <p:cNvSpPr/>
            <p:nvPr/>
          </p:nvSpPr>
          <p:spPr>
            <a:xfrm>
              <a:off x="3065857" y="5012949"/>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58983F93-4316-97EA-9B95-E503E360298B}"/>
                </a:ext>
              </a:extLst>
            </p:cNvPr>
            <p:cNvSpPr/>
            <p:nvPr/>
          </p:nvSpPr>
          <p:spPr>
            <a:xfrm>
              <a:off x="3404320" y="4999695"/>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a:extLst>
                <a:ext uri="{FF2B5EF4-FFF2-40B4-BE49-F238E27FC236}">
                  <a16:creationId xmlns:a16="http://schemas.microsoft.com/office/drawing/2014/main" id="{0FE47B14-F209-14AE-2495-FEA17EE126B1}"/>
                </a:ext>
              </a:extLst>
            </p:cNvPr>
            <p:cNvSpPr/>
            <p:nvPr/>
          </p:nvSpPr>
          <p:spPr>
            <a:xfrm>
              <a:off x="3669353" y="4991789"/>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a:extLst>
                <a:ext uri="{FF2B5EF4-FFF2-40B4-BE49-F238E27FC236}">
                  <a16:creationId xmlns:a16="http://schemas.microsoft.com/office/drawing/2014/main" id="{778E7DD5-C0B9-0D7F-F77C-DDC84EA34904}"/>
                </a:ext>
              </a:extLst>
            </p:cNvPr>
            <p:cNvSpPr/>
            <p:nvPr/>
          </p:nvSpPr>
          <p:spPr>
            <a:xfrm>
              <a:off x="3019004" y="4585416"/>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3" name="Group 32">
            <a:extLst>
              <a:ext uri="{FF2B5EF4-FFF2-40B4-BE49-F238E27FC236}">
                <a16:creationId xmlns:a16="http://schemas.microsoft.com/office/drawing/2014/main" id="{20930C48-9D56-945A-5A31-1640D332F2FD}"/>
              </a:ext>
            </a:extLst>
          </p:cNvPr>
          <p:cNvGrpSpPr/>
          <p:nvPr/>
        </p:nvGrpSpPr>
        <p:grpSpPr>
          <a:xfrm>
            <a:off x="767117" y="4067870"/>
            <a:ext cx="1766536" cy="996188"/>
            <a:chOff x="492958" y="4181396"/>
            <a:chExt cx="1766536" cy="996188"/>
          </a:xfrm>
        </p:grpSpPr>
        <p:sp>
          <p:nvSpPr>
            <p:cNvPr id="34" name="Freeform 13">
              <a:extLst>
                <a:ext uri="{FF2B5EF4-FFF2-40B4-BE49-F238E27FC236}">
                  <a16:creationId xmlns:a16="http://schemas.microsoft.com/office/drawing/2014/main" id="{4F75267E-6A48-EC71-E786-79D856BB0982}"/>
                </a:ext>
              </a:extLst>
            </p:cNvPr>
            <p:cNvSpPr/>
            <p:nvPr/>
          </p:nvSpPr>
          <p:spPr>
            <a:xfrm>
              <a:off x="1260123" y="4181396"/>
              <a:ext cx="999371" cy="996188"/>
            </a:xfrm>
            <a:custGeom>
              <a:avLst/>
              <a:gdLst/>
              <a:ahLst/>
              <a:cxnLst/>
              <a:rect l="l" t="t" r="r" b="b"/>
              <a:pathLst>
                <a:path w="3422775" h="3411874">
                  <a:moveTo>
                    <a:pt x="0" y="0"/>
                  </a:moveTo>
                  <a:lnTo>
                    <a:pt x="3422775" y="0"/>
                  </a:lnTo>
                  <a:lnTo>
                    <a:pt x="3422775" y="3411874"/>
                  </a:lnTo>
                  <a:lnTo>
                    <a:pt x="0" y="3411874"/>
                  </a:lnTo>
                  <a:lnTo>
                    <a:pt x="0" y="0"/>
                  </a:lnTo>
                  <a:close/>
                </a:path>
              </a:pathLst>
            </a:custGeom>
            <a:blipFill>
              <a:blip r:embed="rId3"/>
              <a:stretch>
                <a:fillRect/>
              </a:stretch>
            </a:blipFill>
          </p:spPr>
          <p:txBody>
            <a:bodyPr/>
            <a:lstStyle/>
            <a:p>
              <a:endParaRPr lang="en-GB"/>
            </a:p>
          </p:txBody>
        </p:sp>
        <p:sp>
          <p:nvSpPr>
            <p:cNvPr id="35" name="Freeform 15">
              <a:extLst>
                <a:ext uri="{FF2B5EF4-FFF2-40B4-BE49-F238E27FC236}">
                  <a16:creationId xmlns:a16="http://schemas.microsoft.com/office/drawing/2014/main" id="{5CF6D50B-4AFA-412C-7532-6A97CCB88C5E}"/>
                </a:ext>
              </a:extLst>
            </p:cNvPr>
            <p:cNvSpPr/>
            <p:nvPr/>
          </p:nvSpPr>
          <p:spPr>
            <a:xfrm>
              <a:off x="914208" y="4874597"/>
              <a:ext cx="179035" cy="179035"/>
            </a:xfrm>
            <a:custGeom>
              <a:avLst/>
              <a:gdLst/>
              <a:ahLst/>
              <a:cxnLst/>
              <a:rect l="l" t="t" r="r" b="b"/>
              <a:pathLst>
                <a:path w="613182" h="613182">
                  <a:moveTo>
                    <a:pt x="0" y="0"/>
                  </a:moveTo>
                  <a:lnTo>
                    <a:pt x="613182" y="0"/>
                  </a:lnTo>
                  <a:lnTo>
                    <a:pt x="613182" y="613182"/>
                  </a:lnTo>
                  <a:lnTo>
                    <a:pt x="0" y="6131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38" name="Freeform 16">
              <a:extLst>
                <a:ext uri="{FF2B5EF4-FFF2-40B4-BE49-F238E27FC236}">
                  <a16:creationId xmlns:a16="http://schemas.microsoft.com/office/drawing/2014/main" id="{A8B28771-B011-A44E-554C-245074CD7E4B}"/>
                </a:ext>
              </a:extLst>
            </p:cNvPr>
            <p:cNvSpPr/>
            <p:nvPr/>
          </p:nvSpPr>
          <p:spPr>
            <a:xfrm>
              <a:off x="492958" y="4762331"/>
              <a:ext cx="254370" cy="254370"/>
            </a:xfrm>
            <a:custGeom>
              <a:avLst/>
              <a:gdLst/>
              <a:ahLst/>
              <a:cxnLst/>
              <a:rect l="l" t="t" r="r" b="b"/>
              <a:pathLst>
                <a:path w="871200" h="871200">
                  <a:moveTo>
                    <a:pt x="0" y="0"/>
                  </a:moveTo>
                  <a:lnTo>
                    <a:pt x="871199" y="0"/>
                  </a:lnTo>
                  <a:lnTo>
                    <a:pt x="871199" y="871200"/>
                  </a:lnTo>
                  <a:lnTo>
                    <a:pt x="0" y="8712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39" name="Freeform 17">
              <a:extLst>
                <a:ext uri="{FF2B5EF4-FFF2-40B4-BE49-F238E27FC236}">
                  <a16:creationId xmlns:a16="http://schemas.microsoft.com/office/drawing/2014/main" id="{6122D32F-1891-B8BA-1836-8BECB9F4A68D}"/>
                </a:ext>
              </a:extLst>
            </p:cNvPr>
            <p:cNvSpPr/>
            <p:nvPr/>
          </p:nvSpPr>
          <p:spPr>
            <a:xfrm>
              <a:off x="568173" y="4380259"/>
              <a:ext cx="304000" cy="346887"/>
            </a:xfrm>
            <a:custGeom>
              <a:avLst/>
              <a:gdLst/>
              <a:ahLst/>
              <a:cxnLst/>
              <a:rect l="l" t="t" r="r" b="b"/>
              <a:pathLst>
                <a:path w="1041177" h="1188065">
                  <a:moveTo>
                    <a:pt x="0" y="0"/>
                  </a:moveTo>
                  <a:lnTo>
                    <a:pt x="1041177" y="0"/>
                  </a:lnTo>
                  <a:lnTo>
                    <a:pt x="1041177" y="1188065"/>
                  </a:lnTo>
                  <a:lnTo>
                    <a:pt x="0" y="118806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dirty="0"/>
            </a:p>
          </p:txBody>
        </p:sp>
        <p:sp>
          <p:nvSpPr>
            <p:cNvPr id="40" name="Oval 39">
              <a:extLst>
                <a:ext uri="{FF2B5EF4-FFF2-40B4-BE49-F238E27FC236}">
                  <a16:creationId xmlns:a16="http://schemas.microsoft.com/office/drawing/2014/main" id="{95D160D5-6F37-B5D3-FF07-E8723B4CF519}"/>
                </a:ext>
              </a:extLst>
            </p:cNvPr>
            <p:cNvSpPr/>
            <p:nvPr/>
          </p:nvSpPr>
          <p:spPr>
            <a:xfrm>
              <a:off x="803086" y="4792477"/>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Oval 40">
              <a:extLst>
                <a:ext uri="{FF2B5EF4-FFF2-40B4-BE49-F238E27FC236}">
                  <a16:creationId xmlns:a16="http://schemas.microsoft.com/office/drawing/2014/main" id="{1D196655-1D21-1A7E-6A67-C0F7817A91A3}"/>
                </a:ext>
              </a:extLst>
            </p:cNvPr>
            <p:cNvSpPr/>
            <p:nvPr/>
          </p:nvSpPr>
          <p:spPr>
            <a:xfrm>
              <a:off x="794181" y="5054578"/>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Oval 41">
              <a:extLst>
                <a:ext uri="{FF2B5EF4-FFF2-40B4-BE49-F238E27FC236}">
                  <a16:creationId xmlns:a16="http://schemas.microsoft.com/office/drawing/2014/main" id="{C7353380-09F3-488C-1B79-6DFF241F9BE8}"/>
                </a:ext>
              </a:extLst>
            </p:cNvPr>
            <p:cNvSpPr/>
            <p:nvPr/>
          </p:nvSpPr>
          <p:spPr>
            <a:xfrm>
              <a:off x="1132644" y="5041324"/>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Oval 42">
              <a:extLst>
                <a:ext uri="{FF2B5EF4-FFF2-40B4-BE49-F238E27FC236}">
                  <a16:creationId xmlns:a16="http://schemas.microsoft.com/office/drawing/2014/main" id="{B092F423-1AAA-78DF-0062-4E6CF9AE0B80}"/>
                </a:ext>
              </a:extLst>
            </p:cNvPr>
            <p:cNvSpPr/>
            <p:nvPr/>
          </p:nvSpPr>
          <p:spPr>
            <a:xfrm>
              <a:off x="1397677" y="5033418"/>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Oval 43">
              <a:extLst>
                <a:ext uri="{FF2B5EF4-FFF2-40B4-BE49-F238E27FC236}">
                  <a16:creationId xmlns:a16="http://schemas.microsoft.com/office/drawing/2014/main" id="{37B282B2-E435-3587-12FB-75F5E7214B4D}"/>
                </a:ext>
              </a:extLst>
            </p:cNvPr>
            <p:cNvSpPr/>
            <p:nvPr/>
          </p:nvSpPr>
          <p:spPr>
            <a:xfrm>
              <a:off x="747328" y="4627045"/>
              <a:ext cx="77613" cy="77613"/>
            </a:xfrm>
            <a:prstGeom prst="ellipse">
              <a:avLst/>
            </a:prstGeom>
            <a:solidFill>
              <a:srgbClr val="CDDCFF"/>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5" name="TextBox 44">
            <a:extLst>
              <a:ext uri="{FF2B5EF4-FFF2-40B4-BE49-F238E27FC236}">
                <a16:creationId xmlns:a16="http://schemas.microsoft.com/office/drawing/2014/main" id="{F2D366E4-20F4-87E6-3065-4901EE3164A3}"/>
              </a:ext>
            </a:extLst>
          </p:cNvPr>
          <p:cNvSpPr txBox="1"/>
          <p:nvPr/>
        </p:nvSpPr>
        <p:spPr>
          <a:xfrm>
            <a:off x="1065414" y="2724360"/>
            <a:ext cx="864685" cy="184666"/>
          </a:xfrm>
          <a:prstGeom prst="rect">
            <a:avLst/>
          </a:prstGeom>
          <a:noFill/>
        </p:spPr>
        <p:txBody>
          <a:bodyPr wrap="square" lIns="0" tIns="0" rIns="0" bIns="0" rtlCol="0">
            <a:spAutoFit/>
          </a:bodyPr>
          <a:lstStyle/>
          <a:p>
            <a:pPr algn="ctr"/>
            <a:r>
              <a:rPr lang="en-US" sz="1200" dirty="0">
                <a:solidFill>
                  <a:schemeClr val="tx2"/>
                </a:solidFill>
              </a:rPr>
              <a:t>Task path</a:t>
            </a:r>
            <a:endParaRPr lang="en-GB" sz="1200" dirty="0">
              <a:solidFill>
                <a:schemeClr val="tx2"/>
              </a:solidFill>
            </a:endParaRPr>
          </a:p>
        </p:txBody>
      </p:sp>
      <p:sp>
        <p:nvSpPr>
          <p:cNvPr id="63" name="Rectangle: Rounded Corners 62">
            <a:extLst>
              <a:ext uri="{FF2B5EF4-FFF2-40B4-BE49-F238E27FC236}">
                <a16:creationId xmlns:a16="http://schemas.microsoft.com/office/drawing/2014/main" id="{89D72689-30A3-EA0D-15BF-1F138349AB80}"/>
              </a:ext>
            </a:extLst>
          </p:cNvPr>
          <p:cNvSpPr/>
          <p:nvPr/>
        </p:nvSpPr>
        <p:spPr>
          <a:xfrm>
            <a:off x="2533654" y="1306255"/>
            <a:ext cx="7105516" cy="4515984"/>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3399"/>
              </a:solidFill>
            </a:endParaRPr>
          </a:p>
        </p:txBody>
      </p:sp>
      <p:sp>
        <p:nvSpPr>
          <p:cNvPr id="64" name="TextBox 63">
            <a:extLst>
              <a:ext uri="{FF2B5EF4-FFF2-40B4-BE49-F238E27FC236}">
                <a16:creationId xmlns:a16="http://schemas.microsoft.com/office/drawing/2014/main" id="{541E794A-9F5F-06BF-53ED-5C38A8D1CF5D}"/>
              </a:ext>
            </a:extLst>
          </p:cNvPr>
          <p:cNvSpPr txBox="1"/>
          <p:nvPr/>
        </p:nvSpPr>
        <p:spPr>
          <a:xfrm>
            <a:off x="2602162" y="1427346"/>
            <a:ext cx="6968318" cy="307777"/>
          </a:xfrm>
          <a:prstGeom prst="rect">
            <a:avLst/>
          </a:prstGeom>
          <a:noFill/>
        </p:spPr>
        <p:txBody>
          <a:bodyPr wrap="square">
            <a:spAutoFit/>
          </a:bodyPr>
          <a:lstStyle/>
          <a:p>
            <a:pPr algn="ctr"/>
            <a:r>
              <a:rPr lang="en-US" sz="1400" dirty="0" err="1"/>
              <a:t>TaskTrajectoryGenerator</a:t>
            </a:r>
            <a:endParaRPr lang="en-GB" sz="1400" dirty="0"/>
          </a:p>
        </p:txBody>
      </p:sp>
      <p:sp>
        <p:nvSpPr>
          <p:cNvPr id="48" name="TextBox 47">
            <a:extLst>
              <a:ext uri="{FF2B5EF4-FFF2-40B4-BE49-F238E27FC236}">
                <a16:creationId xmlns:a16="http://schemas.microsoft.com/office/drawing/2014/main" id="{100FC098-5768-3393-35B4-82893EC39DDF}"/>
              </a:ext>
            </a:extLst>
          </p:cNvPr>
          <p:cNvSpPr txBox="1"/>
          <p:nvPr/>
        </p:nvSpPr>
        <p:spPr>
          <a:xfrm>
            <a:off x="7046256" y="3683664"/>
            <a:ext cx="920669" cy="176972"/>
          </a:xfrm>
          <a:prstGeom prst="rect">
            <a:avLst/>
          </a:prstGeom>
          <a:noFill/>
        </p:spPr>
        <p:txBody>
          <a:bodyPr wrap="square" lIns="0" tIns="0" rIns="0" bIns="0" rtlCol="0">
            <a:spAutoFit/>
          </a:bodyPr>
          <a:lstStyle/>
          <a:p>
            <a:r>
              <a:rPr lang="en-US" sz="1150" dirty="0">
                <a:solidFill>
                  <a:schemeClr val="tx2"/>
                </a:solidFill>
              </a:rPr>
              <a:t>Poses at end</a:t>
            </a:r>
            <a:endParaRPr lang="en-GB" sz="1150" i="1" dirty="0">
              <a:solidFill>
                <a:schemeClr val="tx2"/>
              </a:solidFill>
            </a:endParaRPr>
          </a:p>
        </p:txBody>
      </p:sp>
      <p:sp>
        <p:nvSpPr>
          <p:cNvPr id="49" name="TextBox 48">
            <a:extLst>
              <a:ext uri="{FF2B5EF4-FFF2-40B4-BE49-F238E27FC236}">
                <a16:creationId xmlns:a16="http://schemas.microsoft.com/office/drawing/2014/main" id="{81A1D71F-5433-009F-0EC1-B1842689D678}"/>
              </a:ext>
            </a:extLst>
          </p:cNvPr>
          <p:cNvSpPr txBox="1"/>
          <p:nvPr/>
        </p:nvSpPr>
        <p:spPr>
          <a:xfrm>
            <a:off x="6942403" y="4019375"/>
            <a:ext cx="1024522" cy="176972"/>
          </a:xfrm>
          <a:prstGeom prst="rect">
            <a:avLst/>
          </a:prstGeom>
          <a:noFill/>
        </p:spPr>
        <p:txBody>
          <a:bodyPr wrap="square" lIns="0" tIns="0" rIns="0" bIns="0" rtlCol="0">
            <a:spAutoFit/>
          </a:bodyPr>
          <a:lstStyle/>
          <a:p>
            <a:pPr algn="ctr"/>
            <a:r>
              <a:rPr lang="en-US" sz="1150" dirty="0">
                <a:solidFill>
                  <a:schemeClr val="tx2"/>
                </a:solidFill>
              </a:rPr>
              <a:t>Velocity at end</a:t>
            </a:r>
            <a:endParaRPr lang="en-GB" sz="1150" i="1" dirty="0">
              <a:solidFill>
                <a:schemeClr val="tx2"/>
              </a:solidFill>
            </a:endParaRPr>
          </a:p>
        </p:txBody>
      </p:sp>
      <p:cxnSp>
        <p:nvCxnSpPr>
          <p:cNvPr id="67" name="Connector: Elbow 66">
            <a:extLst>
              <a:ext uri="{FF2B5EF4-FFF2-40B4-BE49-F238E27FC236}">
                <a16:creationId xmlns:a16="http://schemas.microsoft.com/office/drawing/2014/main" id="{B49E7787-CB27-F8B8-F893-719FA2BF058B}"/>
              </a:ext>
            </a:extLst>
          </p:cNvPr>
          <p:cNvCxnSpPr>
            <a:cxnSpLocks/>
            <a:stCxn id="45" idx="3"/>
          </p:cNvCxnSpPr>
          <p:nvPr/>
        </p:nvCxnSpPr>
        <p:spPr>
          <a:xfrm>
            <a:off x="1930099" y="2816693"/>
            <a:ext cx="6730483" cy="438622"/>
          </a:xfrm>
          <a:prstGeom prst="bentConnector2">
            <a:avLst/>
          </a:prstGeom>
          <a:ln>
            <a:solidFill>
              <a:srgbClr val="2F2F2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4BC1A63B-F8CA-11C1-4207-85FA8C7E3F76}"/>
                  </a:ext>
                </a:extLst>
              </p:cNvPr>
              <p:cNvSpPr txBox="1"/>
              <p:nvPr/>
            </p:nvSpPr>
            <p:spPr>
              <a:xfrm>
                <a:off x="6994329" y="3325568"/>
                <a:ext cx="1024522" cy="176972"/>
              </a:xfrm>
              <a:prstGeom prst="rect">
                <a:avLst/>
              </a:prstGeom>
              <a:noFill/>
            </p:spPr>
            <p:txBody>
              <a:bodyPr wrap="square" lIns="0" tIns="0" rIns="0" bIns="0" rtlCol="0">
                <a:spAutoFit/>
              </a:bodyPr>
              <a:lstStyle/>
              <a:p>
                <a:r>
                  <a:rPr lang="en-US" sz="1150" dirty="0">
                    <a:solidFill>
                      <a:schemeClr val="tx2"/>
                    </a:solidFill>
                  </a:rPr>
                  <a:t>Time at end, </a:t>
                </a:r>
                <a14:m>
                  <m:oMath xmlns:m="http://schemas.openxmlformats.org/officeDocument/2006/math">
                    <m:sSub>
                      <m:sSubPr>
                        <m:ctrlPr>
                          <a:rPr lang="en-US" sz="1150" b="0" i="1" smtClean="0">
                            <a:solidFill>
                              <a:schemeClr val="tx2"/>
                            </a:solidFill>
                            <a:latin typeface="Cambria Math" panose="02040503050406030204" pitchFamily="18" charset="0"/>
                          </a:rPr>
                        </m:ctrlPr>
                      </m:sSubPr>
                      <m:e>
                        <m:r>
                          <a:rPr lang="en-US" sz="1150" b="0" i="1" smtClean="0">
                            <a:solidFill>
                              <a:schemeClr val="tx2"/>
                            </a:solidFill>
                            <a:latin typeface="Cambria Math" panose="02040503050406030204" pitchFamily="18" charset="0"/>
                          </a:rPr>
                          <m:t>𝑡</m:t>
                        </m:r>
                      </m:e>
                      <m:sub>
                        <m:r>
                          <a:rPr lang="en-US" sz="1150" b="0" i="1" smtClean="0">
                            <a:solidFill>
                              <a:schemeClr val="tx2"/>
                            </a:solidFill>
                            <a:latin typeface="Cambria Math" panose="02040503050406030204" pitchFamily="18" charset="0"/>
                          </a:rPr>
                          <m:t>𝑒</m:t>
                        </m:r>
                      </m:sub>
                    </m:sSub>
                  </m:oMath>
                </a14:m>
                <a:endParaRPr lang="en-GB" sz="1150" i="1" dirty="0">
                  <a:solidFill>
                    <a:schemeClr val="tx2"/>
                  </a:solidFill>
                </a:endParaRPr>
              </a:p>
            </p:txBody>
          </p:sp>
        </mc:Choice>
        <mc:Fallback xmlns="">
          <p:sp>
            <p:nvSpPr>
              <p:cNvPr id="106" name="TextBox 105">
                <a:extLst>
                  <a:ext uri="{FF2B5EF4-FFF2-40B4-BE49-F238E27FC236}">
                    <a16:creationId xmlns:a16="http://schemas.microsoft.com/office/drawing/2014/main" id="{4BC1A63B-F8CA-11C1-4207-85FA8C7E3F76}"/>
                  </a:ext>
                </a:extLst>
              </p:cNvPr>
              <p:cNvSpPr txBox="1">
                <a:spLocks noRot="1" noChangeAspect="1" noMove="1" noResize="1" noEditPoints="1" noAdjustHandles="1" noChangeArrowheads="1" noChangeShapeType="1" noTextEdit="1"/>
              </p:cNvSpPr>
              <p:nvPr/>
            </p:nvSpPr>
            <p:spPr>
              <a:xfrm>
                <a:off x="6994329" y="3325568"/>
                <a:ext cx="1024522" cy="176972"/>
              </a:xfrm>
              <a:prstGeom prst="rect">
                <a:avLst/>
              </a:prstGeom>
              <a:blipFill>
                <a:blip r:embed="rId10"/>
                <a:stretch>
                  <a:fillRect l="-8929" t="-31034" b="-48276"/>
                </a:stretch>
              </a:blipFill>
            </p:spPr>
            <p:txBody>
              <a:bodyPr/>
              <a:lstStyle/>
              <a:p>
                <a:r>
                  <a:rPr lang="en-GB">
                    <a:noFill/>
                  </a:rPr>
                  <a:t> </a:t>
                </a:r>
              </a:p>
            </p:txBody>
          </p:sp>
        </mc:Fallback>
      </mc:AlternateContent>
      <p:cxnSp>
        <p:nvCxnSpPr>
          <p:cNvPr id="107" name="Straight Arrow Connector 106">
            <a:extLst>
              <a:ext uri="{FF2B5EF4-FFF2-40B4-BE49-F238E27FC236}">
                <a16:creationId xmlns:a16="http://schemas.microsoft.com/office/drawing/2014/main" id="{E8190CBE-87B2-4AD8-E32A-139E22BAE038}"/>
              </a:ext>
            </a:extLst>
          </p:cNvPr>
          <p:cNvCxnSpPr>
            <a:cxnSpLocks/>
          </p:cNvCxnSpPr>
          <p:nvPr/>
        </p:nvCxnSpPr>
        <p:spPr>
          <a:xfrm>
            <a:off x="6856553" y="3508983"/>
            <a:ext cx="1240218" cy="0"/>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8FE6BF12-FC5E-EDBF-C844-AAD9FD95F5A0}"/>
              </a:ext>
            </a:extLst>
          </p:cNvPr>
          <p:cNvCxnSpPr>
            <a:cxnSpLocks/>
          </p:cNvCxnSpPr>
          <p:nvPr/>
        </p:nvCxnSpPr>
        <p:spPr>
          <a:xfrm flipV="1">
            <a:off x="9639170" y="3907465"/>
            <a:ext cx="2267951" cy="2997"/>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216FF2E6-125B-455A-C527-5B970DA753FD}"/>
              </a:ext>
            </a:extLst>
          </p:cNvPr>
          <p:cNvCxnSpPr>
            <a:cxnSpLocks/>
          </p:cNvCxnSpPr>
          <p:nvPr/>
        </p:nvCxnSpPr>
        <p:spPr>
          <a:xfrm>
            <a:off x="6851109" y="3856073"/>
            <a:ext cx="1240218" cy="0"/>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95C16289-FC7C-1D94-F572-FD97F639EE3E}"/>
              </a:ext>
            </a:extLst>
          </p:cNvPr>
          <p:cNvCxnSpPr>
            <a:cxnSpLocks/>
          </p:cNvCxnSpPr>
          <p:nvPr/>
        </p:nvCxnSpPr>
        <p:spPr>
          <a:xfrm>
            <a:off x="6851109" y="4196347"/>
            <a:ext cx="1240218" cy="0"/>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5067EB6F-D010-3461-AFB6-EEE8A8E0B777}"/>
              </a:ext>
            </a:extLst>
          </p:cNvPr>
          <p:cNvSpPr/>
          <p:nvPr/>
        </p:nvSpPr>
        <p:spPr>
          <a:xfrm>
            <a:off x="2913077" y="3255315"/>
            <a:ext cx="1346185" cy="1149633"/>
          </a:xfrm>
          <a:prstGeom prst="roundRect">
            <a:avLst>
              <a:gd name="adj" fmla="val 12859"/>
            </a:avLst>
          </a:prstGeom>
          <a:solidFill>
            <a:srgbClr val="ACCBEA"/>
          </a:solidFill>
          <a:ln>
            <a:solidFill>
              <a:srgbClr val="0033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Rectangle: Rounded Corners 121">
            <a:extLst>
              <a:ext uri="{FF2B5EF4-FFF2-40B4-BE49-F238E27FC236}">
                <a16:creationId xmlns:a16="http://schemas.microsoft.com/office/drawing/2014/main" id="{F534C48D-D125-05A0-31AF-D89DADC1BF9E}"/>
              </a:ext>
            </a:extLst>
          </p:cNvPr>
          <p:cNvSpPr/>
          <p:nvPr/>
        </p:nvSpPr>
        <p:spPr>
          <a:xfrm>
            <a:off x="5504924" y="3242107"/>
            <a:ext cx="1346185" cy="1149633"/>
          </a:xfrm>
          <a:prstGeom prst="roundRect">
            <a:avLst>
              <a:gd name="adj" fmla="val 12859"/>
            </a:avLst>
          </a:prstGeom>
          <a:solidFill>
            <a:srgbClr val="ACCBEA"/>
          </a:solidFill>
          <a:ln>
            <a:solidFill>
              <a:srgbClr val="0033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1" name="Rectangle: Rounded Corners 130">
            <a:extLst>
              <a:ext uri="{FF2B5EF4-FFF2-40B4-BE49-F238E27FC236}">
                <a16:creationId xmlns:a16="http://schemas.microsoft.com/office/drawing/2014/main" id="{9C7DB881-6897-132B-B053-E9447003A194}"/>
              </a:ext>
            </a:extLst>
          </p:cNvPr>
          <p:cNvSpPr/>
          <p:nvPr/>
        </p:nvSpPr>
        <p:spPr>
          <a:xfrm>
            <a:off x="8096771" y="3248443"/>
            <a:ext cx="1346185" cy="1149633"/>
          </a:xfrm>
          <a:prstGeom prst="roundRect">
            <a:avLst>
              <a:gd name="adj" fmla="val 12859"/>
            </a:avLst>
          </a:prstGeom>
          <a:solidFill>
            <a:srgbClr val="ACCBEA"/>
          </a:solidFill>
          <a:ln>
            <a:solidFill>
              <a:srgbClr val="0033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TextBox 123">
            <a:extLst>
              <a:ext uri="{FF2B5EF4-FFF2-40B4-BE49-F238E27FC236}">
                <a16:creationId xmlns:a16="http://schemas.microsoft.com/office/drawing/2014/main" id="{20928D2A-193A-0F7F-6DDF-38839B77E6D1}"/>
              </a:ext>
            </a:extLst>
          </p:cNvPr>
          <p:cNvSpPr txBox="1"/>
          <p:nvPr/>
        </p:nvSpPr>
        <p:spPr>
          <a:xfrm>
            <a:off x="5504924" y="3589477"/>
            <a:ext cx="1346185" cy="307777"/>
          </a:xfrm>
          <a:prstGeom prst="rect">
            <a:avLst/>
          </a:prstGeom>
          <a:noFill/>
        </p:spPr>
        <p:txBody>
          <a:bodyPr wrap="square">
            <a:spAutoFit/>
          </a:bodyPr>
          <a:lstStyle/>
          <a:p>
            <a:pPr algn="ctr"/>
            <a:r>
              <a:rPr lang="en-US" sz="1400" dirty="0" err="1"/>
              <a:t>TaskTrajectory</a:t>
            </a:r>
            <a:endParaRPr lang="en-GB" sz="1400" dirty="0"/>
          </a:p>
        </p:txBody>
      </p:sp>
      <mc:AlternateContent xmlns:mc="http://schemas.openxmlformats.org/markup-compatibility/2006" xmlns:a14="http://schemas.microsoft.com/office/drawing/2010/main">
        <mc:Choice Requires="a14">
          <p:sp>
            <p:nvSpPr>
              <p:cNvPr id="130" name="TextBox 129">
                <a:extLst>
                  <a:ext uri="{FF2B5EF4-FFF2-40B4-BE49-F238E27FC236}">
                    <a16:creationId xmlns:a16="http://schemas.microsoft.com/office/drawing/2014/main" id="{A5B0419C-E64E-9D6F-457C-B9FCD8446200}"/>
                  </a:ext>
                </a:extLst>
              </p:cNvPr>
              <p:cNvSpPr txBox="1"/>
              <p:nvPr/>
            </p:nvSpPr>
            <p:spPr>
              <a:xfrm>
                <a:off x="5666222" y="3878237"/>
                <a:ext cx="1024522" cy="184666"/>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sSub>
                        <m:sSubPr>
                          <m:ctrlPr>
                            <a:rPr lang="en-US" sz="1200" b="0" i="1" smtClean="0">
                              <a:solidFill>
                                <a:schemeClr val="tx2"/>
                              </a:solidFill>
                              <a:latin typeface="Cambria Math" panose="02040503050406030204" pitchFamily="18" charset="0"/>
                            </a:rPr>
                          </m:ctrlPr>
                        </m:sSubPr>
                        <m:e>
                          <m:r>
                            <a:rPr lang="en-US" sz="1200" b="0" i="1" smtClean="0">
                              <a:solidFill>
                                <a:schemeClr val="tx2"/>
                              </a:solidFill>
                              <a:latin typeface="Cambria Math" panose="02040503050406030204" pitchFamily="18" charset="0"/>
                            </a:rPr>
                            <m:t>𝑡</m:t>
                          </m:r>
                        </m:e>
                        <m:sub>
                          <m:r>
                            <a:rPr lang="en-US" sz="1200" b="0" i="1" smtClean="0">
                              <a:solidFill>
                                <a:schemeClr val="tx2"/>
                              </a:solidFill>
                              <a:latin typeface="Cambria Math" panose="02040503050406030204" pitchFamily="18" charset="0"/>
                            </a:rPr>
                            <m:t>𝑠𝑡𝑎𝑟𝑡</m:t>
                          </m:r>
                        </m:sub>
                      </m:sSub>
                    </m:oMath>
                  </m:oMathPara>
                </a14:m>
                <a:endParaRPr lang="en-GB" sz="1200" i="1" dirty="0">
                  <a:solidFill>
                    <a:schemeClr val="tx2"/>
                  </a:solidFill>
                </a:endParaRPr>
              </a:p>
            </p:txBody>
          </p:sp>
        </mc:Choice>
        <mc:Fallback xmlns="">
          <p:sp>
            <p:nvSpPr>
              <p:cNvPr id="130" name="TextBox 129">
                <a:extLst>
                  <a:ext uri="{FF2B5EF4-FFF2-40B4-BE49-F238E27FC236}">
                    <a16:creationId xmlns:a16="http://schemas.microsoft.com/office/drawing/2014/main" id="{A5B0419C-E64E-9D6F-457C-B9FCD8446200}"/>
                  </a:ext>
                </a:extLst>
              </p:cNvPr>
              <p:cNvSpPr txBox="1">
                <a:spLocks noRot="1" noChangeAspect="1" noMove="1" noResize="1" noEditPoints="1" noAdjustHandles="1" noChangeArrowheads="1" noChangeShapeType="1" noTextEdit="1"/>
              </p:cNvSpPr>
              <p:nvPr/>
            </p:nvSpPr>
            <p:spPr>
              <a:xfrm>
                <a:off x="5666222" y="3878237"/>
                <a:ext cx="1024522" cy="184666"/>
              </a:xfrm>
              <a:prstGeom prst="rect">
                <a:avLst/>
              </a:prstGeom>
              <a:blipFill>
                <a:blip r:embed="rId11"/>
                <a:stretch>
                  <a:fillRect b="-16667"/>
                </a:stretch>
              </a:blipFill>
            </p:spPr>
            <p:txBody>
              <a:bodyPr/>
              <a:lstStyle/>
              <a:p>
                <a:r>
                  <a:rPr lang="en-GB">
                    <a:noFill/>
                  </a:rPr>
                  <a:t> </a:t>
                </a:r>
              </a:p>
            </p:txBody>
          </p:sp>
        </mc:Fallback>
      </mc:AlternateContent>
      <p:sp>
        <p:nvSpPr>
          <p:cNvPr id="132" name="TextBox 131">
            <a:extLst>
              <a:ext uri="{FF2B5EF4-FFF2-40B4-BE49-F238E27FC236}">
                <a16:creationId xmlns:a16="http://schemas.microsoft.com/office/drawing/2014/main" id="{1F232C57-9029-8221-0FD7-89A6909D81F8}"/>
              </a:ext>
            </a:extLst>
          </p:cNvPr>
          <p:cNvSpPr txBox="1"/>
          <p:nvPr/>
        </p:nvSpPr>
        <p:spPr>
          <a:xfrm>
            <a:off x="8096771" y="3595813"/>
            <a:ext cx="1346185" cy="307777"/>
          </a:xfrm>
          <a:prstGeom prst="rect">
            <a:avLst/>
          </a:prstGeom>
          <a:noFill/>
        </p:spPr>
        <p:txBody>
          <a:bodyPr wrap="square">
            <a:spAutoFit/>
          </a:bodyPr>
          <a:lstStyle/>
          <a:p>
            <a:pPr algn="ctr"/>
            <a:r>
              <a:rPr lang="en-US" sz="1400" dirty="0" err="1"/>
              <a:t>TaskTrajectory</a:t>
            </a:r>
            <a:endParaRPr lang="en-GB" sz="1400" dirty="0"/>
          </a:p>
        </p:txBody>
      </p:sp>
      <mc:AlternateContent xmlns:mc="http://schemas.openxmlformats.org/markup-compatibility/2006" xmlns:a14="http://schemas.microsoft.com/office/drawing/2010/main">
        <mc:Choice Requires="a14">
          <p:sp>
            <p:nvSpPr>
              <p:cNvPr id="133" name="TextBox 132">
                <a:extLst>
                  <a:ext uri="{FF2B5EF4-FFF2-40B4-BE49-F238E27FC236}">
                    <a16:creationId xmlns:a16="http://schemas.microsoft.com/office/drawing/2014/main" id="{23301F22-6F50-ECAD-FE4E-AE6401316259}"/>
                  </a:ext>
                </a:extLst>
              </p:cNvPr>
              <p:cNvSpPr txBox="1"/>
              <p:nvPr/>
            </p:nvSpPr>
            <p:spPr>
              <a:xfrm>
                <a:off x="8258069" y="3884573"/>
                <a:ext cx="1024522" cy="184666"/>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sSub>
                        <m:sSubPr>
                          <m:ctrlPr>
                            <a:rPr lang="en-US" sz="1200" b="0" i="1" smtClean="0">
                              <a:solidFill>
                                <a:schemeClr val="tx2"/>
                              </a:solidFill>
                              <a:latin typeface="Cambria Math" panose="02040503050406030204" pitchFamily="18" charset="0"/>
                            </a:rPr>
                          </m:ctrlPr>
                        </m:sSubPr>
                        <m:e>
                          <m:r>
                            <a:rPr lang="en-US" sz="1200" b="0" i="1" smtClean="0">
                              <a:solidFill>
                                <a:schemeClr val="tx2"/>
                              </a:solidFill>
                              <a:latin typeface="Cambria Math" panose="02040503050406030204" pitchFamily="18" charset="0"/>
                            </a:rPr>
                            <m:t>𝑡</m:t>
                          </m:r>
                        </m:e>
                        <m:sub>
                          <m:r>
                            <a:rPr lang="en-US" sz="1200" b="0" i="1" smtClean="0">
                              <a:solidFill>
                                <a:schemeClr val="tx2"/>
                              </a:solidFill>
                              <a:latin typeface="Cambria Math" panose="02040503050406030204" pitchFamily="18" charset="0"/>
                            </a:rPr>
                            <m:t>𝑠𝑡𝑎𝑟𝑡</m:t>
                          </m:r>
                        </m:sub>
                      </m:sSub>
                      <m:r>
                        <a:rPr lang="en-US" sz="1200" b="0" i="1" smtClean="0">
                          <a:solidFill>
                            <a:schemeClr val="tx2"/>
                          </a:solidFill>
                          <a:latin typeface="Cambria Math" panose="02040503050406030204" pitchFamily="18" charset="0"/>
                        </a:rPr>
                        <m:t>=</m:t>
                      </m:r>
                      <m:sSub>
                        <m:sSubPr>
                          <m:ctrlPr>
                            <a:rPr lang="en-US" sz="1200" b="0" i="1" smtClean="0">
                              <a:solidFill>
                                <a:schemeClr val="tx2"/>
                              </a:solidFill>
                              <a:latin typeface="Cambria Math" panose="02040503050406030204" pitchFamily="18" charset="0"/>
                            </a:rPr>
                          </m:ctrlPr>
                        </m:sSubPr>
                        <m:e>
                          <m:r>
                            <a:rPr lang="en-US" sz="1200" b="0" i="1" smtClean="0">
                              <a:solidFill>
                                <a:schemeClr val="tx2"/>
                              </a:solidFill>
                              <a:latin typeface="Cambria Math" panose="02040503050406030204" pitchFamily="18" charset="0"/>
                            </a:rPr>
                            <m:t>𝑡</m:t>
                          </m:r>
                        </m:e>
                        <m:sub>
                          <m:r>
                            <a:rPr lang="en-US" sz="1200" b="0" i="1" smtClean="0">
                              <a:solidFill>
                                <a:schemeClr val="tx2"/>
                              </a:solidFill>
                              <a:latin typeface="Cambria Math" panose="02040503050406030204" pitchFamily="18" charset="0"/>
                            </a:rPr>
                            <m:t>𝑒</m:t>
                          </m:r>
                        </m:sub>
                      </m:sSub>
                    </m:oMath>
                  </m:oMathPara>
                </a14:m>
                <a:endParaRPr lang="en-GB" sz="1200" i="1" dirty="0">
                  <a:solidFill>
                    <a:schemeClr val="tx2"/>
                  </a:solidFill>
                </a:endParaRPr>
              </a:p>
            </p:txBody>
          </p:sp>
        </mc:Choice>
        <mc:Fallback xmlns="">
          <p:sp>
            <p:nvSpPr>
              <p:cNvPr id="133" name="TextBox 132">
                <a:extLst>
                  <a:ext uri="{FF2B5EF4-FFF2-40B4-BE49-F238E27FC236}">
                    <a16:creationId xmlns:a16="http://schemas.microsoft.com/office/drawing/2014/main" id="{23301F22-6F50-ECAD-FE4E-AE6401316259}"/>
                  </a:ext>
                </a:extLst>
              </p:cNvPr>
              <p:cNvSpPr txBox="1">
                <a:spLocks noRot="1" noChangeAspect="1" noMove="1" noResize="1" noEditPoints="1" noAdjustHandles="1" noChangeArrowheads="1" noChangeShapeType="1" noTextEdit="1"/>
              </p:cNvSpPr>
              <p:nvPr/>
            </p:nvSpPr>
            <p:spPr>
              <a:xfrm>
                <a:off x="8258069" y="3884573"/>
                <a:ext cx="1024522" cy="184666"/>
              </a:xfrm>
              <a:prstGeom prst="rect">
                <a:avLst/>
              </a:prstGeom>
              <a:blipFill>
                <a:blip r:embed="rId12"/>
                <a:stretch>
                  <a:fillRect b="-12903"/>
                </a:stretch>
              </a:blipFill>
            </p:spPr>
            <p:txBody>
              <a:bodyPr/>
              <a:lstStyle/>
              <a:p>
                <a:r>
                  <a:rPr lang="en-GB">
                    <a:noFill/>
                  </a:rPr>
                  <a:t> </a:t>
                </a:r>
              </a:p>
            </p:txBody>
          </p:sp>
        </mc:Fallback>
      </mc:AlternateContent>
      <p:sp>
        <p:nvSpPr>
          <p:cNvPr id="19" name="TextBox 18">
            <a:extLst>
              <a:ext uri="{FF2B5EF4-FFF2-40B4-BE49-F238E27FC236}">
                <a16:creationId xmlns:a16="http://schemas.microsoft.com/office/drawing/2014/main" id="{063C5AA8-F31E-E096-8D03-1E58A603F9BB}"/>
              </a:ext>
            </a:extLst>
          </p:cNvPr>
          <p:cNvSpPr txBox="1"/>
          <p:nvPr/>
        </p:nvSpPr>
        <p:spPr>
          <a:xfrm>
            <a:off x="2913077" y="3602685"/>
            <a:ext cx="1346185" cy="307777"/>
          </a:xfrm>
          <a:prstGeom prst="rect">
            <a:avLst/>
          </a:prstGeom>
          <a:noFill/>
        </p:spPr>
        <p:txBody>
          <a:bodyPr wrap="square">
            <a:spAutoFit/>
          </a:bodyPr>
          <a:lstStyle/>
          <a:p>
            <a:pPr algn="ctr"/>
            <a:r>
              <a:rPr lang="en-US" sz="1400" dirty="0" err="1"/>
              <a:t>TaskTrajectory</a:t>
            </a:r>
            <a:endParaRPr lang="en-GB" sz="1400" dirty="0"/>
          </a:p>
        </p:txBody>
      </p:sp>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664C9BEF-24B2-2CD6-335B-DC7C9CA3917C}"/>
                  </a:ext>
                </a:extLst>
              </p:cNvPr>
              <p:cNvSpPr txBox="1"/>
              <p:nvPr/>
            </p:nvSpPr>
            <p:spPr>
              <a:xfrm>
                <a:off x="3074375" y="3891445"/>
                <a:ext cx="1024522" cy="184666"/>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sSub>
                        <m:sSubPr>
                          <m:ctrlPr>
                            <a:rPr lang="en-US" sz="1200" b="0" i="1" smtClean="0">
                              <a:solidFill>
                                <a:schemeClr val="tx2"/>
                              </a:solidFill>
                              <a:latin typeface="Cambria Math" panose="02040503050406030204" pitchFamily="18" charset="0"/>
                            </a:rPr>
                          </m:ctrlPr>
                        </m:sSubPr>
                        <m:e>
                          <m:r>
                            <a:rPr lang="en-US" sz="1200" b="0" i="1" smtClean="0">
                              <a:solidFill>
                                <a:schemeClr val="tx2"/>
                              </a:solidFill>
                              <a:latin typeface="Cambria Math" panose="02040503050406030204" pitchFamily="18" charset="0"/>
                            </a:rPr>
                            <m:t>𝑡</m:t>
                          </m:r>
                        </m:e>
                        <m:sub>
                          <m:r>
                            <a:rPr lang="en-US" sz="1200" b="0" i="1" smtClean="0">
                              <a:solidFill>
                                <a:schemeClr val="tx2"/>
                              </a:solidFill>
                              <a:latin typeface="Cambria Math" panose="02040503050406030204" pitchFamily="18" charset="0"/>
                            </a:rPr>
                            <m:t>𝑠𝑡𝑎𝑟𝑡</m:t>
                          </m:r>
                        </m:sub>
                      </m:sSub>
                      <m:r>
                        <a:rPr lang="en-US" sz="1200" b="0" i="1" smtClean="0">
                          <a:solidFill>
                            <a:schemeClr val="tx2"/>
                          </a:solidFill>
                          <a:latin typeface="Cambria Math" panose="02040503050406030204" pitchFamily="18" charset="0"/>
                        </a:rPr>
                        <m:t>=0</m:t>
                      </m:r>
                    </m:oMath>
                  </m:oMathPara>
                </a14:m>
                <a:endParaRPr lang="en-GB" sz="1200" i="1" dirty="0">
                  <a:solidFill>
                    <a:schemeClr val="tx2"/>
                  </a:solidFill>
                </a:endParaRPr>
              </a:p>
            </p:txBody>
          </p:sp>
        </mc:Choice>
        <mc:Fallback xmlns="">
          <p:sp>
            <p:nvSpPr>
              <p:cNvPr id="86" name="TextBox 85">
                <a:extLst>
                  <a:ext uri="{FF2B5EF4-FFF2-40B4-BE49-F238E27FC236}">
                    <a16:creationId xmlns:a16="http://schemas.microsoft.com/office/drawing/2014/main" id="{664C9BEF-24B2-2CD6-335B-DC7C9CA3917C}"/>
                  </a:ext>
                </a:extLst>
              </p:cNvPr>
              <p:cNvSpPr txBox="1">
                <a:spLocks noRot="1" noChangeAspect="1" noMove="1" noResize="1" noEditPoints="1" noAdjustHandles="1" noChangeArrowheads="1" noChangeShapeType="1" noTextEdit="1"/>
              </p:cNvSpPr>
              <p:nvPr/>
            </p:nvSpPr>
            <p:spPr>
              <a:xfrm>
                <a:off x="3074375" y="3891445"/>
                <a:ext cx="1024522" cy="184666"/>
              </a:xfrm>
              <a:prstGeom prst="rect">
                <a:avLst/>
              </a:prstGeom>
              <a:blipFill>
                <a:blip r:embed="rId9"/>
                <a:stretch>
                  <a:fillRect b="-12903"/>
                </a:stretch>
              </a:blipFill>
            </p:spPr>
            <p:txBody>
              <a:bodyPr/>
              <a:lstStyle/>
              <a:p>
                <a:r>
                  <a:rPr lang="en-GB">
                    <a:noFill/>
                  </a:rPr>
                  <a:t> </a:t>
                </a:r>
              </a:p>
            </p:txBody>
          </p:sp>
        </mc:Fallback>
      </mc:AlternateContent>
    </p:spTree>
    <p:extLst>
      <p:ext uri="{BB962C8B-B14F-4D97-AF65-F5344CB8AC3E}">
        <p14:creationId xmlns:p14="http://schemas.microsoft.com/office/powerpoint/2010/main" val="13761065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AEE1D7-E615-7BD8-14E6-5F4C23A7142C}"/>
              </a:ext>
            </a:extLst>
          </p:cNvPr>
          <p:cNvSpPr>
            <a:spLocks noGrp="1"/>
          </p:cNvSpPr>
          <p:nvPr>
            <p:ph idx="1"/>
          </p:nvPr>
        </p:nvSpPr>
        <p:spPr/>
        <p:txBody>
          <a:bodyPr/>
          <a:lstStyle/>
          <a:p>
            <a:pPr marL="457200" indent="-457200">
              <a:buFont typeface="+mj-lt"/>
              <a:buAutoNum type="arabicPeriod"/>
            </a:pPr>
            <a:r>
              <a:rPr lang="en-US" b="0" dirty="0"/>
              <a:t>Problem context – CERN Robotics Framework</a:t>
            </a:r>
          </a:p>
          <a:p>
            <a:pPr marL="457200" indent="-457200">
              <a:buFont typeface="+mj-lt"/>
              <a:buAutoNum type="arabicPeriod"/>
            </a:pPr>
            <a:r>
              <a:rPr lang="en-US" b="0" dirty="0"/>
              <a:t>Task Trajectory Generator design</a:t>
            </a:r>
          </a:p>
          <a:p>
            <a:pPr marL="742950" lvl="1" indent="-457200">
              <a:buFont typeface="+mj-lt"/>
              <a:buAutoNum type="arabicPeriod"/>
            </a:pPr>
            <a:r>
              <a:rPr lang="en-US" b="0" dirty="0"/>
              <a:t>Cubic Polynomial algorithm</a:t>
            </a:r>
          </a:p>
          <a:p>
            <a:pPr marL="742950" lvl="1" indent="-457200">
              <a:buFont typeface="+mj-lt"/>
              <a:buAutoNum type="arabicPeriod"/>
            </a:pPr>
            <a:r>
              <a:rPr lang="en-US" dirty="0"/>
              <a:t>Cubic Orientation Spline algorithm</a:t>
            </a:r>
            <a:endParaRPr lang="en-US" b="0" dirty="0"/>
          </a:p>
          <a:p>
            <a:pPr marL="457200" indent="-457200">
              <a:buFont typeface="+mj-lt"/>
              <a:buAutoNum type="arabicPeriod"/>
            </a:pPr>
            <a:r>
              <a:rPr lang="en-US" dirty="0"/>
              <a:t>Demonstration</a:t>
            </a:r>
          </a:p>
          <a:p>
            <a:pPr marL="457200" indent="-457200">
              <a:buFont typeface="+mj-lt"/>
              <a:buAutoNum type="arabicPeriod"/>
            </a:pPr>
            <a:r>
              <a:rPr lang="en-US" b="0" dirty="0"/>
              <a:t>Future work</a:t>
            </a:r>
          </a:p>
          <a:p>
            <a:pPr marL="457200" indent="-457200">
              <a:buFont typeface="+mj-lt"/>
              <a:buAutoNum type="arabicPeriod"/>
            </a:pPr>
            <a:endParaRPr lang="en-GB" b="0" dirty="0"/>
          </a:p>
        </p:txBody>
      </p:sp>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Content</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59</a:t>
            </a:fld>
            <a:endParaRPr lang="en-US" dirty="0"/>
          </a:p>
        </p:txBody>
      </p:sp>
    </p:spTree>
    <p:extLst>
      <p:ext uri="{BB962C8B-B14F-4D97-AF65-F5344CB8AC3E}">
        <p14:creationId xmlns:p14="http://schemas.microsoft.com/office/powerpoint/2010/main" val="214991242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RotationX">
            <a:hlinkClick r:id="" action="ppaction://media"/>
            <a:extLst>
              <a:ext uri="{FF2B5EF4-FFF2-40B4-BE49-F238E27FC236}">
                <a16:creationId xmlns:a16="http://schemas.microsoft.com/office/drawing/2014/main" id="{1C95A55C-746E-81AF-BC71-9EDFB7DC1B9B}"/>
              </a:ext>
            </a:extLst>
          </p:cNvPr>
          <p:cNvPicPr>
            <a:picLocks noChangeAspect="1"/>
          </p:cNvPicPr>
          <p:nvPr>
            <a:videoFile r:link="rId1"/>
            <p:extLst>
              <p:ext uri="{DAA4B4D4-6D71-4841-9C94-3DE7FCFB9230}">
                <p14:media xmlns:p14="http://schemas.microsoft.com/office/powerpoint/2010/main" r:embed="rId2">
                  <p14:trim end="81"/>
                </p14:media>
              </p:ext>
            </p:extLst>
          </p:nvPr>
        </p:nvPicPr>
        <p:blipFill rotWithShape="1">
          <a:blip r:embed="rId6"/>
          <a:srcRect t="25810" b="14572"/>
          <a:stretch/>
        </p:blipFill>
        <p:spPr>
          <a:xfrm>
            <a:off x="7366464" y="1313714"/>
            <a:ext cx="3857625" cy="4088651"/>
          </a:xfrm>
          <a:prstGeom prst="rect">
            <a:avLst/>
          </a:prstGeom>
        </p:spPr>
      </p:pic>
      <p:pic>
        <p:nvPicPr>
          <p:cNvPr id="23" name="TranslationSquare">
            <a:hlinkClick r:id="" action="ppaction://media"/>
            <a:extLst>
              <a:ext uri="{FF2B5EF4-FFF2-40B4-BE49-F238E27FC236}">
                <a16:creationId xmlns:a16="http://schemas.microsoft.com/office/drawing/2014/main" id="{C6FB140C-FE4B-C008-7C8F-F6E78DAC4093}"/>
              </a:ext>
            </a:extLst>
          </p:cNvPr>
          <p:cNvPicPr>
            <a:picLocks noChangeAspect="1"/>
          </p:cNvPicPr>
          <p:nvPr>
            <a:videoFile r:link="rId1"/>
            <p:extLst>
              <p:ext uri="{DAA4B4D4-6D71-4841-9C94-3DE7FCFB9230}">
                <p14:media xmlns:p14="http://schemas.microsoft.com/office/powerpoint/2010/main" r:embed="rId3">
                  <p14:trim end="92"/>
                </p14:media>
              </p:ext>
            </p:extLst>
          </p:nvPr>
        </p:nvPicPr>
        <p:blipFill rotWithShape="1">
          <a:blip r:embed="rId7"/>
          <a:srcRect t="28940" b="11442"/>
          <a:stretch/>
        </p:blipFill>
        <p:spPr>
          <a:xfrm>
            <a:off x="1549912" y="1313714"/>
            <a:ext cx="3857625" cy="4088651"/>
          </a:xfrm>
          <a:prstGeom prst="rect">
            <a:avLst/>
          </a:prstGeom>
        </p:spPr>
      </p:pic>
      <p:sp>
        <p:nvSpPr>
          <p:cNvPr id="67" name="Rectangle 66">
            <a:extLst>
              <a:ext uri="{FF2B5EF4-FFF2-40B4-BE49-F238E27FC236}">
                <a16:creationId xmlns:a16="http://schemas.microsoft.com/office/drawing/2014/main" id="{6D7F2756-B565-373F-BFF9-C39A9E190836}"/>
              </a:ext>
            </a:extLst>
          </p:cNvPr>
          <p:cNvSpPr/>
          <p:nvPr/>
        </p:nvSpPr>
        <p:spPr>
          <a:xfrm>
            <a:off x="3073462" y="3107975"/>
            <a:ext cx="1125887" cy="1345093"/>
          </a:xfrm>
          <a:prstGeom prst="rect">
            <a:avLst/>
          </a:prstGeom>
          <a:noFill/>
          <a:ln>
            <a:solidFill>
              <a:schemeClr val="bg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Demonstration – Translation and Rotation</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60</a:t>
            </a:fld>
            <a:endParaRPr lang="en-US" dirty="0"/>
          </a:p>
        </p:txBody>
      </p:sp>
      <p:sp>
        <p:nvSpPr>
          <p:cNvPr id="11" name="TextBox 10">
            <a:extLst>
              <a:ext uri="{FF2B5EF4-FFF2-40B4-BE49-F238E27FC236}">
                <a16:creationId xmlns:a16="http://schemas.microsoft.com/office/drawing/2014/main" id="{779ABB1A-792F-E9FE-EBE6-E55B636F4B53}"/>
              </a:ext>
            </a:extLst>
          </p:cNvPr>
          <p:cNvSpPr txBox="1"/>
          <p:nvPr/>
        </p:nvSpPr>
        <p:spPr>
          <a:xfrm>
            <a:off x="2390033" y="5635360"/>
            <a:ext cx="2177385" cy="276999"/>
          </a:xfrm>
          <a:prstGeom prst="rect">
            <a:avLst/>
          </a:prstGeom>
          <a:noFill/>
        </p:spPr>
        <p:txBody>
          <a:bodyPr wrap="square" lIns="0" tIns="0" rIns="0" bIns="0" rtlCol="0">
            <a:spAutoFit/>
          </a:bodyPr>
          <a:lstStyle/>
          <a:p>
            <a:pPr algn="ctr"/>
            <a:r>
              <a:rPr lang="en-US" dirty="0"/>
              <a:t>Translation - Square</a:t>
            </a:r>
            <a:endParaRPr lang="en-GB" dirty="0"/>
          </a:p>
        </p:txBody>
      </p:sp>
      <p:sp>
        <p:nvSpPr>
          <p:cNvPr id="12" name="TextBox 11">
            <a:extLst>
              <a:ext uri="{FF2B5EF4-FFF2-40B4-BE49-F238E27FC236}">
                <a16:creationId xmlns:a16="http://schemas.microsoft.com/office/drawing/2014/main" id="{5D569D5D-06B6-56E4-0907-E477D7326EBC}"/>
              </a:ext>
            </a:extLst>
          </p:cNvPr>
          <p:cNvSpPr txBox="1"/>
          <p:nvPr/>
        </p:nvSpPr>
        <p:spPr>
          <a:xfrm>
            <a:off x="8380877" y="5622873"/>
            <a:ext cx="1828800" cy="276999"/>
          </a:xfrm>
          <a:prstGeom prst="rect">
            <a:avLst/>
          </a:prstGeom>
          <a:noFill/>
        </p:spPr>
        <p:txBody>
          <a:bodyPr wrap="square" lIns="0" tIns="0" rIns="0" bIns="0" rtlCol="0">
            <a:spAutoFit/>
          </a:bodyPr>
          <a:lstStyle/>
          <a:p>
            <a:pPr algn="ctr"/>
            <a:r>
              <a:rPr lang="en-US" dirty="0"/>
              <a:t>Rotation - Roll</a:t>
            </a:r>
            <a:endParaRPr lang="en-GB" dirty="0"/>
          </a:p>
        </p:txBody>
      </p:sp>
      <p:sp>
        <p:nvSpPr>
          <p:cNvPr id="7" name="Oval 6">
            <a:extLst>
              <a:ext uri="{FF2B5EF4-FFF2-40B4-BE49-F238E27FC236}">
                <a16:creationId xmlns:a16="http://schemas.microsoft.com/office/drawing/2014/main" id="{1790D42F-B875-835C-ADFD-FA855EC0B6EB}"/>
              </a:ext>
            </a:extLst>
          </p:cNvPr>
          <p:cNvSpPr/>
          <p:nvPr/>
        </p:nvSpPr>
        <p:spPr>
          <a:xfrm rot="20931337">
            <a:off x="2999570" y="3038948"/>
            <a:ext cx="147782" cy="15345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6" name="Group 25">
            <a:extLst>
              <a:ext uri="{FF2B5EF4-FFF2-40B4-BE49-F238E27FC236}">
                <a16:creationId xmlns:a16="http://schemas.microsoft.com/office/drawing/2014/main" id="{95CC6E12-EDB5-AF3D-CF52-33F4C14EDCD0}"/>
              </a:ext>
            </a:extLst>
          </p:cNvPr>
          <p:cNvGrpSpPr/>
          <p:nvPr/>
        </p:nvGrpSpPr>
        <p:grpSpPr>
          <a:xfrm rot="20931337">
            <a:off x="4129537" y="3007268"/>
            <a:ext cx="309250" cy="353878"/>
            <a:chOff x="6104937" y="3417249"/>
            <a:chExt cx="309250" cy="353878"/>
          </a:xfrm>
          <a:solidFill>
            <a:schemeClr val="bg1"/>
          </a:solidFill>
        </p:grpSpPr>
        <p:sp>
          <p:nvSpPr>
            <p:cNvPr id="10" name="Oval 9">
              <a:extLst>
                <a:ext uri="{FF2B5EF4-FFF2-40B4-BE49-F238E27FC236}">
                  <a16:creationId xmlns:a16="http://schemas.microsoft.com/office/drawing/2014/main" id="{90CFA284-A683-081D-021F-CBC3B9E7C482}"/>
                </a:ext>
              </a:extLst>
            </p:cNvPr>
            <p:cNvSpPr/>
            <p:nvPr/>
          </p:nvSpPr>
          <p:spPr>
            <a:xfrm>
              <a:off x="6104937" y="3417249"/>
              <a:ext cx="147782" cy="153453"/>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16" name="Straight Arrow Connector 15">
              <a:extLst>
                <a:ext uri="{FF2B5EF4-FFF2-40B4-BE49-F238E27FC236}">
                  <a16:creationId xmlns:a16="http://schemas.microsoft.com/office/drawing/2014/main" id="{551C9834-32E7-0E9E-E975-602DACA7BB89}"/>
                </a:ext>
              </a:extLst>
            </p:cNvPr>
            <p:cNvCxnSpPr>
              <a:cxnSpLocks/>
              <a:stCxn id="10" idx="5"/>
            </p:cNvCxnSpPr>
            <p:nvPr/>
          </p:nvCxnSpPr>
          <p:spPr>
            <a:xfrm>
              <a:off x="6231077" y="3548229"/>
              <a:ext cx="183110" cy="222898"/>
            </a:xfrm>
            <a:prstGeom prst="straightConnector1">
              <a:avLst/>
            </a:prstGeom>
            <a:grpFill/>
            <a:ln>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7" name="Group 26">
            <a:extLst>
              <a:ext uri="{FF2B5EF4-FFF2-40B4-BE49-F238E27FC236}">
                <a16:creationId xmlns:a16="http://schemas.microsoft.com/office/drawing/2014/main" id="{DDECD1B4-88D6-3EE5-06E9-7E3DFDA9A8F6}"/>
              </a:ext>
            </a:extLst>
          </p:cNvPr>
          <p:cNvGrpSpPr/>
          <p:nvPr/>
        </p:nvGrpSpPr>
        <p:grpSpPr>
          <a:xfrm rot="20931337">
            <a:off x="3981432" y="4395903"/>
            <a:ext cx="304912" cy="319266"/>
            <a:chOff x="5939019" y="4255103"/>
            <a:chExt cx="304912" cy="319266"/>
          </a:xfrm>
          <a:solidFill>
            <a:schemeClr val="bg1"/>
          </a:solidFill>
        </p:grpSpPr>
        <p:sp>
          <p:nvSpPr>
            <p:cNvPr id="14" name="Oval 13">
              <a:extLst>
                <a:ext uri="{FF2B5EF4-FFF2-40B4-BE49-F238E27FC236}">
                  <a16:creationId xmlns:a16="http://schemas.microsoft.com/office/drawing/2014/main" id="{E2372CC4-B6C5-475F-7135-4DC016BAFFEE}"/>
                </a:ext>
              </a:extLst>
            </p:cNvPr>
            <p:cNvSpPr/>
            <p:nvPr/>
          </p:nvSpPr>
          <p:spPr>
            <a:xfrm>
              <a:off x="6096149" y="4255103"/>
              <a:ext cx="147782" cy="153453"/>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17" name="Straight Arrow Connector 16">
              <a:extLst>
                <a:ext uri="{FF2B5EF4-FFF2-40B4-BE49-F238E27FC236}">
                  <a16:creationId xmlns:a16="http://schemas.microsoft.com/office/drawing/2014/main" id="{F66F9E9F-7343-DC31-DFA5-E4D0E4225353}"/>
                </a:ext>
              </a:extLst>
            </p:cNvPr>
            <p:cNvCxnSpPr>
              <a:cxnSpLocks/>
              <a:stCxn id="14" idx="3"/>
            </p:cNvCxnSpPr>
            <p:nvPr/>
          </p:nvCxnSpPr>
          <p:spPr>
            <a:xfrm flipH="1">
              <a:off x="5939019" y="4386083"/>
              <a:ext cx="178772" cy="188286"/>
            </a:xfrm>
            <a:prstGeom prst="straightConnector1">
              <a:avLst/>
            </a:prstGeom>
            <a:grpFill/>
            <a:ln>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B5478D84-0ED9-86B3-04B5-A0EB1065A5BD}"/>
              </a:ext>
            </a:extLst>
          </p:cNvPr>
          <p:cNvGrpSpPr/>
          <p:nvPr/>
        </p:nvGrpSpPr>
        <p:grpSpPr>
          <a:xfrm rot="20931337">
            <a:off x="2835432" y="4130365"/>
            <a:ext cx="274021" cy="403146"/>
            <a:chOff x="5055396" y="4005410"/>
            <a:chExt cx="274021" cy="403146"/>
          </a:xfrm>
          <a:solidFill>
            <a:schemeClr val="bg1"/>
          </a:solidFill>
        </p:grpSpPr>
        <p:sp>
          <p:nvSpPr>
            <p:cNvPr id="13" name="Oval 12">
              <a:extLst>
                <a:ext uri="{FF2B5EF4-FFF2-40B4-BE49-F238E27FC236}">
                  <a16:creationId xmlns:a16="http://schemas.microsoft.com/office/drawing/2014/main" id="{8E2A7BA8-9E16-49A7-EFD7-3F4EA94A8265}"/>
                </a:ext>
              </a:extLst>
            </p:cNvPr>
            <p:cNvSpPr/>
            <p:nvPr/>
          </p:nvSpPr>
          <p:spPr>
            <a:xfrm>
              <a:off x="5181635" y="4255103"/>
              <a:ext cx="147782" cy="153453"/>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0" name="Straight Arrow Connector 19">
              <a:extLst>
                <a:ext uri="{FF2B5EF4-FFF2-40B4-BE49-F238E27FC236}">
                  <a16:creationId xmlns:a16="http://schemas.microsoft.com/office/drawing/2014/main" id="{B89BD94A-6E96-0FB5-4030-EA0182F4211C}"/>
                </a:ext>
              </a:extLst>
            </p:cNvPr>
            <p:cNvCxnSpPr>
              <a:cxnSpLocks/>
              <a:stCxn id="13" idx="1"/>
            </p:cNvCxnSpPr>
            <p:nvPr/>
          </p:nvCxnSpPr>
          <p:spPr>
            <a:xfrm rot="668663" flipH="1" flipV="1">
              <a:off x="5055396" y="4005410"/>
              <a:ext cx="174434" cy="257739"/>
            </a:xfrm>
            <a:prstGeom prst="straightConnector1">
              <a:avLst/>
            </a:prstGeom>
            <a:grpFill/>
            <a:ln>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 name="Group 1">
            <a:extLst>
              <a:ext uri="{FF2B5EF4-FFF2-40B4-BE49-F238E27FC236}">
                <a16:creationId xmlns:a16="http://schemas.microsoft.com/office/drawing/2014/main" id="{6F38A50F-13E4-665C-C94F-DB17A31EA0E6}"/>
              </a:ext>
            </a:extLst>
          </p:cNvPr>
          <p:cNvGrpSpPr/>
          <p:nvPr/>
        </p:nvGrpSpPr>
        <p:grpSpPr>
          <a:xfrm>
            <a:off x="7805738" y="2552745"/>
            <a:ext cx="575139" cy="316661"/>
            <a:chOff x="6864271" y="2411061"/>
            <a:chExt cx="575139" cy="316661"/>
          </a:xfrm>
        </p:grpSpPr>
        <p:cxnSp>
          <p:nvCxnSpPr>
            <p:cNvPr id="38" name="Straight Arrow Connector 37">
              <a:extLst>
                <a:ext uri="{FF2B5EF4-FFF2-40B4-BE49-F238E27FC236}">
                  <a16:creationId xmlns:a16="http://schemas.microsoft.com/office/drawing/2014/main" id="{2BBFD4B1-C9FE-ED0A-886E-5B8FB5C047BC}"/>
                </a:ext>
              </a:extLst>
            </p:cNvPr>
            <p:cNvCxnSpPr>
              <a:cxnSpLocks/>
            </p:cNvCxnSpPr>
            <p:nvPr/>
          </p:nvCxnSpPr>
          <p:spPr>
            <a:xfrm>
              <a:off x="7117641" y="2439652"/>
              <a:ext cx="321769" cy="0"/>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2474A56E-0C1B-CDE8-AD11-580FEF29B86D}"/>
                </a:ext>
              </a:extLst>
            </p:cNvPr>
            <p:cNvCxnSpPr>
              <a:cxnSpLocks/>
            </p:cNvCxnSpPr>
            <p:nvPr/>
          </p:nvCxnSpPr>
          <p:spPr>
            <a:xfrm>
              <a:off x="7117641" y="2430065"/>
              <a:ext cx="0" cy="297657"/>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3" name="Arrow: Curved Down 42">
              <a:extLst>
                <a:ext uri="{FF2B5EF4-FFF2-40B4-BE49-F238E27FC236}">
                  <a16:creationId xmlns:a16="http://schemas.microsoft.com/office/drawing/2014/main" id="{ED121283-9C44-A9BD-D1BD-514D421595C3}"/>
                </a:ext>
              </a:extLst>
            </p:cNvPr>
            <p:cNvSpPr/>
            <p:nvPr/>
          </p:nvSpPr>
          <p:spPr>
            <a:xfrm rot="3393962">
              <a:off x="6889253" y="2480523"/>
              <a:ext cx="250848" cy="111924"/>
            </a:xfrm>
            <a:prstGeom prst="curvedDownArrow">
              <a:avLst>
                <a:gd name="adj1" fmla="val 14951"/>
                <a:gd name="adj2" fmla="val 84099"/>
                <a:gd name="adj3" fmla="val 33753"/>
              </a:avLst>
            </a:prstGeom>
            <a:solidFill>
              <a:srgbClr val="FF0000"/>
            </a:solidFill>
            <a:ln w="31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cxnSp>
          <p:nvCxnSpPr>
            <p:cNvPr id="39" name="Straight Arrow Connector 38">
              <a:extLst>
                <a:ext uri="{FF2B5EF4-FFF2-40B4-BE49-F238E27FC236}">
                  <a16:creationId xmlns:a16="http://schemas.microsoft.com/office/drawing/2014/main" id="{B884A8AB-4D51-0698-05AA-CFB1BA7B5798}"/>
                </a:ext>
              </a:extLst>
            </p:cNvPr>
            <p:cNvCxnSpPr>
              <a:cxnSpLocks/>
            </p:cNvCxnSpPr>
            <p:nvPr/>
          </p:nvCxnSpPr>
          <p:spPr>
            <a:xfrm flipH="1">
              <a:off x="6864271" y="2439652"/>
              <a:ext cx="248804" cy="15951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70805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960" fill="hold"/>
                                        <p:tgtEl>
                                          <p:spTgt spid="23"/>
                                        </p:tgtEl>
                                      </p:cBhvr>
                                    </p:cmd>
                                  </p:childTnLst>
                                </p:cTn>
                              </p:par>
                              <p:par>
                                <p:cTn id="7" presetID="1" presetClass="mediacall" presetSubtype="0" fill="hold" nodeType="withEffect">
                                  <p:stCondLst>
                                    <p:cond delay="0"/>
                                  </p:stCondLst>
                                  <p:childTnLst>
                                    <p:cmd type="call" cmd="playFrom(0.0)">
                                      <p:cBhvr>
                                        <p:cTn id="8" dur="9961" fill="hold"/>
                                        <p:tgtEl>
                                          <p:spTgt spid="2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9" repeatCount="indefinite" fill="hold" display="0">
                  <p:stCondLst>
                    <p:cond delay="indefinite"/>
                  </p:stCondLst>
                </p:cTn>
                <p:tgtEl>
                  <p:spTgt spid="23"/>
                </p:tgtEl>
              </p:cMediaNode>
            </p:video>
            <p:video>
              <p:cMediaNode vol="80000">
                <p:cTn id="10" repeatCount="indefinite" fill="hold" display="0">
                  <p:stCondLst>
                    <p:cond delay="indefinite"/>
                  </p:stCondLst>
                </p:cTn>
                <p:tgtEl>
                  <p:spTgt spid="25"/>
                </p:tgtEl>
              </p:cMediaNode>
            </p:video>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RotationSquare">
            <a:hlinkClick r:id="" action="ppaction://media"/>
            <a:extLst>
              <a:ext uri="{FF2B5EF4-FFF2-40B4-BE49-F238E27FC236}">
                <a16:creationId xmlns:a16="http://schemas.microsoft.com/office/drawing/2014/main" id="{FF6DA4A1-EBE5-C504-667C-3C0EDFEDDC63}"/>
              </a:ext>
            </a:extLst>
          </p:cNvPr>
          <p:cNvPicPr>
            <a:picLocks noChangeAspect="1"/>
          </p:cNvPicPr>
          <p:nvPr>
            <a:videoFile r:link="rId1"/>
            <p:extLst>
              <p:ext uri="{DAA4B4D4-6D71-4841-9C94-3DE7FCFB9230}">
                <p14:media xmlns:p14="http://schemas.microsoft.com/office/powerpoint/2010/main" r:embed="rId2">
                  <p14:trim end="367"/>
                </p14:media>
              </p:ext>
            </p:extLst>
          </p:nvPr>
        </p:nvPicPr>
        <p:blipFill rotWithShape="1">
          <a:blip r:embed="rId7"/>
          <a:srcRect l="1940" r="2139"/>
          <a:stretch/>
        </p:blipFill>
        <p:spPr>
          <a:xfrm>
            <a:off x="1945311" y="1105120"/>
            <a:ext cx="3046878" cy="4237588"/>
          </a:xfrm>
          <a:prstGeom prst="rect">
            <a:avLst/>
          </a:prstGeom>
        </p:spPr>
      </p:pic>
      <p:pic>
        <p:nvPicPr>
          <p:cNvPr id="9" name="PointToPoint">
            <a:hlinkClick r:id="" action="ppaction://media"/>
            <a:extLst>
              <a:ext uri="{FF2B5EF4-FFF2-40B4-BE49-F238E27FC236}">
                <a16:creationId xmlns:a16="http://schemas.microsoft.com/office/drawing/2014/main" id="{4CF64E5C-63BC-FB56-8581-1C3CA321B3B3}"/>
              </a:ext>
            </a:extLst>
          </p:cNvPr>
          <p:cNvPicPr>
            <a:picLocks noChangeAspect="1"/>
          </p:cNvPicPr>
          <p:nvPr>
            <a:videoFile r:link="rId4"/>
            <p:extLst>
              <p:ext uri="{DAA4B4D4-6D71-4841-9C94-3DE7FCFB9230}">
                <p14:media xmlns:p14="http://schemas.microsoft.com/office/powerpoint/2010/main" r:embed="rId3"/>
              </p:ext>
            </p:extLst>
          </p:nvPr>
        </p:nvPicPr>
        <p:blipFill rotWithShape="1">
          <a:blip r:embed="rId8"/>
          <a:srcRect t="5502" r="11040" b="27906"/>
          <a:stretch/>
        </p:blipFill>
        <p:spPr>
          <a:xfrm>
            <a:off x="7759072" y="1235128"/>
            <a:ext cx="3072412" cy="4088650"/>
          </a:xfrm>
          <a:prstGeom prst="rect">
            <a:avLst/>
          </a:prstGeom>
        </p:spPr>
      </p:pic>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Demonstration – Combined Movement</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61</a:t>
            </a:fld>
            <a:endParaRPr lang="en-US" dirty="0"/>
          </a:p>
        </p:txBody>
      </p:sp>
      <p:sp>
        <p:nvSpPr>
          <p:cNvPr id="8" name="TextBox 7">
            <a:extLst>
              <a:ext uri="{FF2B5EF4-FFF2-40B4-BE49-F238E27FC236}">
                <a16:creationId xmlns:a16="http://schemas.microsoft.com/office/drawing/2014/main" id="{483D750C-6262-73B0-A190-AEF3C7A4F357}"/>
              </a:ext>
            </a:extLst>
          </p:cNvPr>
          <p:cNvSpPr txBox="1"/>
          <p:nvPr/>
        </p:nvSpPr>
        <p:spPr>
          <a:xfrm>
            <a:off x="2390033" y="5635360"/>
            <a:ext cx="2177385" cy="553998"/>
          </a:xfrm>
          <a:prstGeom prst="rect">
            <a:avLst/>
          </a:prstGeom>
          <a:noFill/>
        </p:spPr>
        <p:txBody>
          <a:bodyPr wrap="square" lIns="0" tIns="0" rIns="0" bIns="0" rtlCol="0">
            <a:spAutoFit/>
          </a:bodyPr>
          <a:lstStyle/>
          <a:p>
            <a:pPr algn="ctr"/>
            <a:r>
              <a:rPr lang="en-US" dirty="0"/>
              <a:t>Square translation with rotation</a:t>
            </a:r>
            <a:endParaRPr lang="en-GB" dirty="0"/>
          </a:p>
        </p:txBody>
      </p:sp>
      <p:sp>
        <p:nvSpPr>
          <p:cNvPr id="12" name="TextBox 11">
            <a:extLst>
              <a:ext uri="{FF2B5EF4-FFF2-40B4-BE49-F238E27FC236}">
                <a16:creationId xmlns:a16="http://schemas.microsoft.com/office/drawing/2014/main" id="{24F1E94A-83A6-AF0A-E307-BA6084E59496}"/>
              </a:ext>
            </a:extLst>
          </p:cNvPr>
          <p:cNvSpPr txBox="1"/>
          <p:nvPr/>
        </p:nvSpPr>
        <p:spPr>
          <a:xfrm>
            <a:off x="8380877" y="5622873"/>
            <a:ext cx="1828800" cy="276999"/>
          </a:xfrm>
          <a:prstGeom prst="rect">
            <a:avLst/>
          </a:prstGeom>
          <a:noFill/>
        </p:spPr>
        <p:txBody>
          <a:bodyPr wrap="square" lIns="0" tIns="0" rIns="0" bIns="0" rtlCol="0">
            <a:spAutoFit/>
          </a:bodyPr>
          <a:lstStyle/>
          <a:p>
            <a:pPr algn="ctr"/>
            <a:r>
              <a:rPr lang="en-US" dirty="0"/>
              <a:t>Point to point</a:t>
            </a:r>
            <a:endParaRPr lang="en-GB" dirty="0"/>
          </a:p>
        </p:txBody>
      </p:sp>
      <p:sp>
        <p:nvSpPr>
          <p:cNvPr id="7" name="Oval 6">
            <a:extLst>
              <a:ext uri="{FF2B5EF4-FFF2-40B4-BE49-F238E27FC236}">
                <a16:creationId xmlns:a16="http://schemas.microsoft.com/office/drawing/2014/main" id="{F2C01E45-882F-F227-D0B8-016473E92B11}"/>
              </a:ext>
            </a:extLst>
          </p:cNvPr>
          <p:cNvSpPr/>
          <p:nvPr/>
        </p:nvSpPr>
        <p:spPr>
          <a:xfrm rot="20931337">
            <a:off x="3274012" y="3005993"/>
            <a:ext cx="147782" cy="15345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9AB69BFD-3697-6BCE-D63C-FE5FB7AE066E}"/>
              </a:ext>
            </a:extLst>
          </p:cNvPr>
          <p:cNvSpPr/>
          <p:nvPr/>
        </p:nvSpPr>
        <p:spPr>
          <a:xfrm rot="20931337">
            <a:off x="4428754" y="3045539"/>
            <a:ext cx="147782" cy="15345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4" name="Group 13">
            <a:extLst>
              <a:ext uri="{FF2B5EF4-FFF2-40B4-BE49-F238E27FC236}">
                <a16:creationId xmlns:a16="http://schemas.microsoft.com/office/drawing/2014/main" id="{C20C9721-47A6-0818-B5D8-E892523B68AA}"/>
              </a:ext>
            </a:extLst>
          </p:cNvPr>
          <p:cNvGrpSpPr/>
          <p:nvPr/>
        </p:nvGrpSpPr>
        <p:grpSpPr>
          <a:xfrm rot="20931337">
            <a:off x="3095184" y="4219960"/>
            <a:ext cx="318822" cy="286290"/>
            <a:chOff x="5010595" y="4122266"/>
            <a:chExt cx="318822" cy="286290"/>
          </a:xfrm>
          <a:solidFill>
            <a:schemeClr val="bg1"/>
          </a:solidFill>
        </p:grpSpPr>
        <p:sp>
          <p:nvSpPr>
            <p:cNvPr id="15" name="Oval 14">
              <a:extLst>
                <a:ext uri="{FF2B5EF4-FFF2-40B4-BE49-F238E27FC236}">
                  <a16:creationId xmlns:a16="http://schemas.microsoft.com/office/drawing/2014/main" id="{53C7E7D3-9A6B-3DD5-5EE2-2D782AB9FA02}"/>
                </a:ext>
              </a:extLst>
            </p:cNvPr>
            <p:cNvSpPr/>
            <p:nvPr/>
          </p:nvSpPr>
          <p:spPr>
            <a:xfrm>
              <a:off x="5181635" y="4255103"/>
              <a:ext cx="147782" cy="153453"/>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6" name="Straight Arrow Connector 15">
              <a:extLst>
                <a:ext uri="{FF2B5EF4-FFF2-40B4-BE49-F238E27FC236}">
                  <a16:creationId xmlns:a16="http://schemas.microsoft.com/office/drawing/2014/main" id="{FC68160C-C209-63FF-02CE-B69361371CC8}"/>
                </a:ext>
              </a:extLst>
            </p:cNvPr>
            <p:cNvCxnSpPr>
              <a:cxnSpLocks/>
              <a:stCxn id="15" idx="1"/>
            </p:cNvCxnSpPr>
            <p:nvPr/>
          </p:nvCxnSpPr>
          <p:spPr>
            <a:xfrm flipH="1" flipV="1">
              <a:off x="5010595" y="4122266"/>
              <a:ext cx="192682" cy="155310"/>
            </a:xfrm>
            <a:prstGeom prst="straightConnector1">
              <a:avLst/>
            </a:prstGeom>
            <a:grpFill/>
            <a:ln>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B271DAE5-C07F-EAC1-BFB6-C4BA344C07BD}"/>
              </a:ext>
            </a:extLst>
          </p:cNvPr>
          <p:cNvGrpSpPr/>
          <p:nvPr/>
        </p:nvGrpSpPr>
        <p:grpSpPr>
          <a:xfrm rot="20931337">
            <a:off x="4262860" y="4348202"/>
            <a:ext cx="304912" cy="319266"/>
            <a:chOff x="5939019" y="4255103"/>
            <a:chExt cx="304912" cy="319266"/>
          </a:xfrm>
          <a:solidFill>
            <a:schemeClr val="bg1"/>
          </a:solidFill>
        </p:grpSpPr>
        <p:sp>
          <p:nvSpPr>
            <p:cNvPr id="19" name="Oval 18">
              <a:extLst>
                <a:ext uri="{FF2B5EF4-FFF2-40B4-BE49-F238E27FC236}">
                  <a16:creationId xmlns:a16="http://schemas.microsoft.com/office/drawing/2014/main" id="{C5BE5081-3B09-AB9B-176C-1B058D61DD64}"/>
                </a:ext>
              </a:extLst>
            </p:cNvPr>
            <p:cNvSpPr/>
            <p:nvPr/>
          </p:nvSpPr>
          <p:spPr>
            <a:xfrm>
              <a:off x="6096149" y="4255103"/>
              <a:ext cx="147782" cy="153453"/>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0" name="Straight Arrow Connector 19">
              <a:extLst>
                <a:ext uri="{FF2B5EF4-FFF2-40B4-BE49-F238E27FC236}">
                  <a16:creationId xmlns:a16="http://schemas.microsoft.com/office/drawing/2014/main" id="{DB3050E2-6C3F-7B32-C793-06A15D8A4B6D}"/>
                </a:ext>
              </a:extLst>
            </p:cNvPr>
            <p:cNvCxnSpPr>
              <a:cxnSpLocks/>
              <a:stCxn id="19" idx="3"/>
            </p:cNvCxnSpPr>
            <p:nvPr/>
          </p:nvCxnSpPr>
          <p:spPr>
            <a:xfrm flipH="1">
              <a:off x="5939019" y="4386083"/>
              <a:ext cx="178772" cy="188286"/>
            </a:xfrm>
            <a:prstGeom prst="straightConnector1">
              <a:avLst/>
            </a:prstGeom>
            <a:grpFill/>
            <a:ln>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4" name="Group 53">
            <a:extLst>
              <a:ext uri="{FF2B5EF4-FFF2-40B4-BE49-F238E27FC236}">
                <a16:creationId xmlns:a16="http://schemas.microsoft.com/office/drawing/2014/main" id="{929216D8-305D-256E-5639-0C197FB40197}"/>
              </a:ext>
            </a:extLst>
          </p:cNvPr>
          <p:cNvGrpSpPr/>
          <p:nvPr/>
        </p:nvGrpSpPr>
        <p:grpSpPr>
          <a:xfrm>
            <a:off x="8614664" y="1751869"/>
            <a:ext cx="376793" cy="358965"/>
            <a:chOff x="8629650" y="1757621"/>
            <a:chExt cx="376793" cy="358965"/>
          </a:xfrm>
        </p:grpSpPr>
        <p:cxnSp>
          <p:nvCxnSpPr>
            <p:cNvPr id="36" name="Straight Arrow Connector 35">
              <a:extLst>
                <a:ext uri="{FF2B5EF4-FFF2-40B4-BE49-F238E27FC236}">
                  <a16:creationId xmlns:a16="http://schemas.microsoft.com/office/drawing/2014/main" id="{E7029132-E32A-22B4-A99E-A4D674584F52}"/>
                </a:ext>
              </a:extLst>
            </p:cNvPr>
            <p:cNvCxnSpPr>
              <a:cxnSpLocks/>
            </p:cNvCxnSpPr>
            <p:nvPr/>
          </p:nvCxnSpPr>
          <p:spPr>
            <a:xfrm>
              <a:off x="8737315" y="1771906"/>
              <a:ext cx="269128"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3A19994B-B0FB-3A2C-6E4B-0C939FF35C98}"/>
                </a:ext>
              </a:extLst>
            </p:cNvPr>
            <p:cNvCxnSpPr>
              <a:cxnSpLocks/>
            </p:cNvCxnSpPr>
            <p:nvPr/>
          </p:nvCxnSpPr>
          <p:spPr>
            <a:xfrm flipH="1">
              <a:off x="8629650" y="1771906"/>
              <a:ext cx="112231" cy="83001"/>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A5EF3308-7CB3-332F-7963-4C773D18042C}"/>
                </a:ext>
              </a:extLst>
            </p:cNvPr>
            <p:cNvCxnSpPr>
              <a:cxnSpLocks/>
            </p:cNvCxnSpPr>
            <p:nvPr/>
          </p:nvCxnSpPr>
          <p:spPr>
            <a:xfrm>
              <a:off x="8737315" y="1757621"/>
              <a:ext cx="0" cy="35896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A1DA54B2-62C0-B3FD-10EA-879BA3C42A3F}"/>
              </a:ext>
            </a:extLst>
          </p:cNvPr>
          <p:cNvGrpSpPr/>
          <p:nvPr/>
        </p:nvGrpSpPr>
        <p:grpSpPr>
          <a:xfrm>
            <a:off x="9565433" y="3063399"/>
            <a:ext cx="402899" cy="321030"/>
            <a:chOff x="9626530" y="3081620"/>
            <a:chExt cx="402899" cy="321030"/>
          </a:xfrm>
        </p:grpSpPr>
        <p:cxnSp>
          <p:nvCxnSpPr>
            <p:cNvPr id="49" name="Straight Arrow Connector 48">
              <a:extLst>
                <a:ext uri="{FF2B5EF4-FFF2-40B4-BE49-F238E27FC236}">
                  <a16:creationId xmlns:a16="http://schemas.microsoft.com/office/drawing/2014/main" id="{ABD5D76A-EFC9-ADD8-B082-A78EE17EC27C}"/>
                </a:ext>
              </a:extLst>
            </p:cNvPr>
            <p:cNvCxnSpPr>
              <a:cxnSpLocks/>
            </p:cNvCxnSpPr>
            <p:nvPr/>
          </p:nvCxnSpPr>
          <p:spPr>
            <a:xfrm>
              <a:off x="9871906" y="3081620"/>
              <a:ext cx="157523" cy="14842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E6CB0698-6A01-78E5-9BD1-21A7A179ACA6}"/>
                </a:ext>
              </a:extLst>
            </p:cNvPr>
            <p:cNvCxnSpPr>
              <a:cxnSpLocks/>
            </p:cNvCxnSpPr>
            <p:nvPr/>
          </p:nvCxnSpPr>
          <p:spPr>
            <a:xfrm flipH="1">
              <a:off x="9626530" y="3081620"/>
              <a:ext cx="249942" cy="123088"/>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C4737BE0-1174-D375-EBE7-61E3D649DFEE}"/>
                </a:ext>
              </a:extLst>
            </p:cNvPr>
            <p:cNvCxnSpPr>
              <a:cxnSpLocks/>
            </p:cNvCxnSpPr>
            <p:nvPr/>
          </p:nvCxnSpPr>
          <p:spPr>
            <a:xfrm>
              <a:off x="9871906" y="3081621"/>
              <a:ext cx="157523" cy="321029"/>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
        <p:nvSpPr>
          <p:cNvPr id="22" name="Rectangle 21">
            <a:extLst>
              <a:ext uri="{FF2B5EF4-FFF2-40B4-BE49-F238E27FC236}">
                <a16:creationId xmlns:a16="http://schemas.microsoft.com/office/drawing/2014/main" id="{E2EE2C7E-78AC-A31E-E125-E0EEE54B5726}"/>
              </a:ext>
            </a:extLst>
          </p:cNvPr>
          <p:cNvSpPr/>
          <p:nvPr/>
        </p:nvSpPr>
        <p:spPr>
          <a:xfrm>
            <a:off x="3350185" y="3088799"/>
            <a:ext cx="1144199" cy="1316964"/>
          </a:xfrm>
          <a:prstGeom prst="rect">
            <a:avLst/>
          </a:prstGeom>
          <a:noFill/>
          <a:ln>
            <a:solidFill>
              <a:schemeClr val="bg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9" name="Graphic 58" descr="Arrow: Rotate right with solid fill">
            <a:extLst>
              <a:ext uri="{FF2B5EF4-FFF2-40B4-BE49-F238E27FC236}">
                <a16:creationId xmlns:a16="http://schemas.microsoft.com/office/drawing/2014/main" id="{5FDCA7A6-79E2-B0A4-8A58-833F660D62A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87336" y="2894309"/>
            <a:ext cx="381146" cy="430062"/>
          </a:xfrm>
          <a:prstGeom prst="rect">
            <a:avLst/>
          </a:prstGeom>
        </p:spPr>
      </p:pic>
      <p:pic>
        <p:nvPicPr>
          <p:cNvPr id="60" name="Graphic 59" descr="Arrow: Rotate right with solid fill">
            <a:extLst>
              <a:ext uri="{FF2B5EF4-FFF2-40B4-BE49-F238E27FC236}">
                <a16:creationId xmlns:a16="http://schemas.microsoft.com/office/drawing/2014/main" id="{29171995-B53A-53BE-F8ED-7B1D1FAEAF1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62140" y="4188329"/>
            <a:ext cx="406342" cy="430062"/>
          </a:xfrm>
          <a:prstGeom prst="rect">
            <a:avLst/>
          </a:prstGeom>
        </p:spPr>
      </p:pic>
    </p:spTree>
    <p:extLst>
      <p:ext uri="{BB962C8B-B14F-4D97-AF65-F5344CB8AC3E}">
        <p14:creationId xmlns:p14="http://schemas.microsoft.com/office/powerpoint/2010/main" val="365862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981" fill="hold"/>
                                        <p:tgtEl>
                                          <p:spTgt spid="9"/>
                                        </p:tgtEl>
                                      </p:cBhvr>
                                    </p:cmd>
                                  </p:childTnLst>
                                </p:cTn>
                              </p:par>
                              <p:par>
                                <p:cTn id="7" presetID="1" presetClass="mediacall" presetSubtype="0" fill="hold" nodeType="withEffect">
                                  <p:stCondLst>
                                    <p:cond delay="0"/>
                                  </p:stCondLst>
                                  <p:childTnLst>
                                    <p:cmd type="call" cmd="playFrom(0.0)">
                                      <p:cBhvr>
                                        <p:cTn id="8" dur="11006"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9" repeatCount="indefinite" fill="hold" display="0">
                  <p:stCondLst>
                    <p:cond delay="indefinite"/>
                  </p:stCondLst>
                </p:cTn>
                <p:tgtEl>
                  <p:spTgt spid="9"/>
                </p:tgtEl>
              </p:cMediaNode>
            </p:video>
            <p:video>
              <p:cMediaNode vol="80000">
                <p:cTn id="10" repeatCount="indefinite" fill="hold" display="0">
                  <p:stCondLst>
                    <p:cond delay="indefinite"/>
                  </p:stCondLst>
                </p:cTn>
                <p:tgtEl>
                  <p:spTgt spid="31"/>
                </p:tgtEl>
              </p:cMediaNode>
            </p:video>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ScrewNew">
            <a:hlinkClick r:id="" action="ppaction://media"/>
            <a:extLst>
              <a:ext uri="{FF2B5EF4-FFF2-40B4-BE49-F238E27FC236}">
                <a16:creationId xmlns:a16="http://schemas.microsoft.com/office/drawing/2014/main" id="{B4AABB6F-BF6F-5434-3454-6A72DCA862F9}"/>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5"/>
          <a:srcRect t="31173" b="20079"/>
          <a:stretch/>
        </p:blipFill>
        <p:spPr>
          <a:xfrm>
            <a:off x="3812222" y="1363569"/>
            <a:ext cx="4567553" cy="3958370"/>
          </a:xfrm>
          <a:prstGeom prst="rect">
            <a:avLst/>
          </a:prstGeom>
        </p:spPr>
      </p:pic>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Demonstration – Combined Complex Movement</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62</a:t>
            </a:fld>
            <a:endParaRPr lang="en-US" dirty="0"/>
          </a:p>
        </p:txBody>
      </p:sp>
      <p:sp>
        <p:nvSpPr>
          <p:cNvPr id="2" name="TextBox 1">
            <a:extLst>
              <a:ext uri="{FF2B5EF4-FFF2-40B4-BE49-F238E27FC236}">
                <a16:creationId xmlns:a16="http://schemas.microsoft.com/office/drawing/2014/main" id="{37E72077-16D5-4967-F250-7FEC52AEA2B1}"/>
              </a:ext>
            </a:extLst>
          </p:cNvPr>
          <p:cNvSpPr txBox="1"/>
          <p:nvPr/>
        </p:nvSpPr>
        <p:spPr>
          <a:xfrm>
            <a:off x="4439205" y="5505043"/>
            <a:ext cx="3313589" cy="276999"/>
          </a:xfrm>
          <a:prstGeom prst="rect">
            <a:avLst/>
          </a:prstGeom>
          <a:noFill/>
        </p:spPr>
        <p:txBody>
          <a:bodyPr wrap="square" lIns="0" tIns="0" rIns="0" bIns="0" rtlCol="0">
            <a:spAutoFit/>
          </a:bodyPr>
          <a:lstStyle/>
          <a:p>
            <a:pPr algn="ctr"/>
            <a:r>
              <a:rPr lang="en-US" dirty="0"/>
              <a:t>Screw</a:t>
            </a:r>
            <a:endParaRPr lang="en-GB" dirty="0"/>
          </a:p>
        </p:txBody>
      </p:sp>
      <p:pic>
        <p:nvPicPr>
          <p:cNvPr id="25" name="Graphic 24" descr="Arrow: Rotate right with solid fill">
            <a:extLst>
              <a:ext uri="{FF2B5EF4-FFF2-40B4-BE49-F238E27FC236}">
                <a16:creationId xmlns:a16="http://schemas.microsoft.com/office/drawing/2014/main" id="{2BC4F821-05EA-7629-CD39-9B073AA32C2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550789" y="3471734"/>
            <a:ext cx="167747" cy="474491"/>
          </a:xfrm>
          <a:prstGeom prst="rect">
            <a:avLst/>
          </a:prstGeom>
        </p:spPr>
      </p:pic>
      <p:sp>
        <p:nvSpPr>
          <p:cNvPr id="19" name="Oval 18">
            <a:extLst>
              <a:ext uri="{FF2B5EF4-FFF2-40B4-BE49-F238E27FC236}">
                <a16:creationId xmlns:a16="http://schemas.microsoft.com/office/drawing/2014/main" id="{AD4454DA-3589-8AEA-5ED6-4D31B1A47D48}"/>
              </a:ext>
            </a:extLst>
          </p:cNvPr>
          <p:cNvSpPr/>
          <p:nvPr/>
        </p:nvSpPr>
        <p:spPr>
          <a:xfrm>
            <a:off x="4502463" y="3634368"/>
            <a:ext cx="109537" cy="1095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1" name="Straight Arrow Connector 20">
            <a:extLst>
              <a:ext uri="{FF2B5EF4-FFF2-40B4-BE49-F238E27FC236}">
                <a16:creationId xmlns:a16="http://schemas.microsoft.com/office/drawing/2014/main" id="{4BED072F-3D73-E958-C153-12F492F26DED}"/>
              </a:ext>
            </a:extLst>
          </p:cNvPr>
          <p:cNvCxnSpPr>
            <a:cxnSpLocks/>
          </p:cNvCxnSpPr>
          <p:nvPr/>
        </p:nvCxnSpPr>
        <p:spPr>
          <a:xfrm flipH="1">
            <a:off x="5514975" y="3704494"/>
            <a:ext cx="277622" cy="0"/>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10B52F59-D5B4-21B7-D37F-06E91C4501C6}"/>
              </a:ext>
            </a:extLst>
          </p:cNvPr>
          <p:cNvSpPr/>
          <p:nvPr/>
        </p:nvSpPr>
        <p:spPr>
          <a:xfrm>
            <a:off x="5792597" y="3654211"/>
            <a:ext cx="109537" cy="1095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9" name="Straight Connector 28">
            <a:extLst>
              <a:ext uri="{FF2B5EF4-FFF2-40B4-BE49-F238E27FC236}">
                <a16:creationId xmlns:a16="http://schemas.microsoft.com/office/drawing/2014/main" id="{3A9E9ADB-EB8E-FE67-4BD2-EF2768784925}"/>
              </a:ext>
            </a:extLst>
          </p:cNvPr>
          <p:cNvCxnSpPr>
            <a:cxnSpLocks/>
            <a:endCxn id="17" idx="2"/>
          </p:cNvCxnSpPr>
          <p:nvPr/>
        </p:nvCxnSpPr>
        <p:spPr>
          <a:xfrm>
            <a:off x="4612000" y="3704494"/>
            <a:ext cx="1180597" cy="4486"/>
          </a:xfrm>
          <a:prstGeom prst="line">
            <a:avLst/>
          </a:prstGeom>
          <a:ln w="19050">
            <a:solidFill>
              <a:srgbClr val="01A6E2"/>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7672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539"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8"/>
                </p:tgtEl>
              </p:cMediaNode>
            </p:video>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AEE1D7-E615-7BD8-14E6-5F4C23A7142C}"/>
              </a:ext>
            </a:extLst>
          </p:cNvPr>
          <p:cNvSpPr>
            <a:spLocks noGrp="1"/>
          </p:cNvSpPr>
          <p:nvPr>
            <p:ph idx="1"/>
          </p:nvPr>
        </p:nvSpPr>
        <p:spPr/>
        <p:txBody>
          <a:bodyPr/>
          <a:lstStyle/>
          <a:p>
            <a:pPr marL="457200" indent="-457200">
              <a:buFont typeface="+mj-lt"/>
              <a:buAutoNum type="arabicPeriod"/>
            </a:pPr>
            <a:r>
              <a:rPr lang="en-US" b="0" dirty="0"/>
              <a:t>Problem context – CERN Robotics Framework</a:t>
            </a:r>
          </a:p>
          <a:p>
            <a:pPr marL="457200" indent="-457200">
              <a:buFont typeface="+mj-lt"/>
              <a:buAutoNum type="arabicPeriod"/>
            </a:pPr>
            <a:r>
              <a:rPr lang="en-US" b="0" dirty="0"/>
              <a:t>Task Trajectory Generator design</a:t>
            </a:r>
          </a:p>
          <a:p>
            <a:pPr marL="742950" lvl="1" indent="-457200">
              <a:buFont typeface="+mj-lt"/>
              <a:buAutoNum type="arabicPeriod"/>
            </a:pPr>
            <a:r>
              <a:rPr lang="en-US" b="0" dirty="0"/>
              <a:t>Cubic Polynomial algorithm</a:t>
            </a:r>
          </a:p>
          <a:p>
            <a:pPr marL="742950" lvl="1" indent="-457200">
              <a:buFont typeface="+mj-lt"/>
              <a:buAutoNum type="arabicPeriod"/>
            </a:pPr>
            <a:r>
              <a:rPr lang="en-US" dirty="0"/>
              <a:t>Cubic Orientation Spline algorithm</a:t>
            </a:r>
            <a:endParaRPr lang="en-US" b="0" dirty="0"/>
          </a:p>
          <a:p>
            <a:pPr marL="457200" indent="-457200">
              <a:buFont typeface="+mj-lt"/>
              <a:buAutoNum type="arabicPeriod"/>
            </a:pPr>
            <a:r>
              <a:rPr lang="en-US" b="0" dirty="0"/>
              <a:t>Demonstration</a:t>
            </a:r>
          </a:p>
          <a:p>
            <a:pPr marL="457200" indent="-457200">
              <a:buFont typeface="+mj-lt"/>
              <a:buAutoNum type="arabicPeriod"/>
            </a:pPr>
            <a:r>
              <a:rPr lang="en-US" dirty="0"/>
              <a:t>Future work</a:t>
            </a:r>
          </a:p>
          <a:p>
            <a:pPr marL="457200" indent="-457200">
              <a:buFont typeface="+mj-lt"/>
              <a:buAutoNum type="arabicPeriod"/>
            </a:pPr>
            <a:endParaRPr lang="en-GB" b="0" dirty="0"/>
          </a:p>
        </p:txBody>
      </p:sp>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Content</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63</a:t>
            </a:fld>
            <a:endParaRPr lang="en-US" dirty="0"/>
          </a:p>
        </p:txBody>
      </p:sp>
    </p:spTree>
    <p:extLst>
      <p:ext uri="{BB962C8B-B14F-4D97-AF65-F5344CB8AC3E}">
        <p14:creationId xmlns:p14="http://schemas.microsoft.com/office/powerpoint/2010/main" val="14432907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7585191" cy="1065742"/>
          </a:xfrm>
        </p:spPr>
        <p:txBody>
          <a:bodyPr/>
          <a:lstStyle/>
          <a:p>
            <a:r>
              <a:rPr lang="en-US" dirty="0"/>
              <a:t>Future Work – Quintic Polynomial </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64</a:t>
            </a:fld>
            <a:endParaRPr lang="en-US" dirty="0"/>
          </a:p>
        </p:txBody>
      </p:sp>
      <p:sp>
        <p:nvSpPr>
          <p:cNvPr id="7" name="TextBox 6">
            <a:extLst>
              <a:ext uri="{FF2B5EF4-FFF2-40B4-BE49-F238E27FC236}">
                <a16:creationId xmlns:a16="http://schemas.microsoft.com/office/drawing/2014/main" id="{B4A48ADE-FCE7-CEDC-2233-BF0E65FBCBC3}"/>
              </a:ext>
            </a:extLst>
          </p:cNvPr>
          <p:cNvSpPr txBox="1"/>
          <p:nvPr/>
        </p:nvSpPr>
        <p:spPr>
          <a:xfrm>
            <a:off x="504081" y="1249331"/>
            <a:ext cx="9659094" cy="276999"/>
          </a:xfrm>
          <a:prstGeom prst="rect">
            <a:avLst/>
          </a:prstGeom>
          <a:noFill/>
        </p:spPr>
        <p:txBody>
          <a:bodyPr wrap="square" lIns="0" tIns="0" rIns="0" bIns="0" rtlCol="0">
            <a:spAutoFit/>
          </a:bodyPr>
          <a:lstStyle/>
          <a:p>
            <a:r>
              <a:rPr lang="en-US" b="0" dirty="0">
                <a:solidFill>
                  <a:srgbClr val="2F2F2F"/>
                </a:solidFill>
              </a:rPr>
              <a:t>1. Change Cubic Polynomial to Quintic Polynomial</a:t>
            </a:r>
          </a:p>
        </p:txBody>
      </p:sp>
      <p:grpSp>
        <p:nvGrpSpPr>
          <p:cNvPr id="67" name="Group 66">
            <a:extLst>
              <a:ext uri="{FF2B5EF4-FFF2-40B4-BE49-F238E27FC236}">
                <a16:creationId xmlns:a16="http://schemas.microsoft.com/office/drawing/2014/main" id="{F236C747-DD39-AA3E-56A6-2DA33775BAC3}"/>
              </a:ext>
            </a:extLst>
          </p:cNvPr>
          <p:cNvGrpSpPr/>
          <p:nvPr/>
        </p:nvGrpSpPr>
        <p:grpSpPr>
          <a:xfrm>
            <a:off x="412776" y="2400662"/>
            <a:ext cx="6561714" cy="1857638"/>
            <a:chOff x="-421257" y="2512652"/>
            <a:chExt cx="8001597" cy="2378701"/>
          </a:xfrm>
        </p:grpSpPr>
        <p:sp>
          <p:nvSpPr>
            <p:cNvPr id="43" name="TextBox 42">
              <a:extLst>
                <a:ext uri="{FF2B5EF4-FFF2-40B4-BE49-F238E27FC236}">
                  <a16:creationId xmlns:a16="http://schemas.microsoft.com/office/drawing/2014/main" id="{1F9220D9-AF53-F7A0-42D3-42C963A7A60D}"/>
                </a:ext>
              </a:extLst>
            </p:cNvPr>
            <p:cNvSpPr txBox="1"/>
            <p:nvPr/>
          </p:nvSpPr>
          <p:spPr>
            <a:xfrm>
              <a:off x="-421257" y="3065273"/>
              <a:ext cx="962926" cy="257496"/>
            </a:xfrm>
            <a:prstGeom prst="rect">
              <a:avLst/>
            </a:prstGeom>
            <a:noFill/>
          </p:spPr>
          <p:txBody>
            <a:bodyPr wrap="square" lIns="0" tIns="0" rIns="0" bIns="0" rtlCol="0">
              <a:spAutoFit/>
            </a:bodyPr>
            <a:lstStyle/>
            <a:p>
              <a:pPr algn="ctr"/>
              <a:r>
                <a:rPr lang="en-US" sz="1200" dirty="0">
                  <a:solidFill>
                    <a:schemeClr val="tx2"/>
                  </a:solidFill>
                </a:rPr>
                <a:t>Task path</a:t>
              </a:r>
              <a:endParaRPr lang="en-GB" sz="1200" dirty="0">
                <a:solidFill>
                  <a:schemeClr val="tx2"/>
                </a:solidFill>
              </a:endParaRPr>
            </a:p>
          </p:txBody>
        </p:sp>
        <p:sp>
          <p:nvSpPr>
            <p:cNvPr id="44" name="Rectangle: Rounded Corners 43">
              <a:extLst>
                <a:ext uri="{FF2B5EF4-FFF2-40B4-BE49-F238E27FC236}">
                  <a16:creationId xmlns:a16="http://schemas.microsoft.com/office/drawing/2014/main" id="{EDCA1E32-8883-9B67-BCD4-98803B96CDE1}"/>
                </a:ext>
              </a:extLst>
            </p:cNvPr>
            <p:cNvSpPr/>
            <p:nvPr/>
          </p:nvSpPr>
          <p:spPr>
            <a:xfrm>
              <a:off x="691762" y="2512652"/>
              <a:ext cx="6886352" cy="2378701"/>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50" dirty="0">
                <a:solidFill>
                  <a:srgbClr val="003399"/>
                </a:solidFill>
              </a:endParaRPr>
            </a:p>
          </p:txBody>
        </p:sp>
        <p:sp>
          <p:nvSpPr>
            <p:cNvPr id="45" name="TextBox 44">
              <a:extLst>
                <a:ext uri="{FF2B5EF4-FFF2-40B4-BE49-F238E27FC236}">
                  <a16:creationId xmlns:a16="http://schemas.microsoft.com/office/drawing/2014/main" id="{E058B845-EBA0-73EF-5615-60FC6BFB4C3F}"/>
                </a:ext>
              </a:extLst>
            </p:cNvPr>
            <p:cNvSpPr txBox="1"/>
            <p:nvPr/>
          </p:nvSpPr>
          <p:spPr>
            <a:xfrm>
              <a:off x="612022" y="2587865"/>
              <a:ext cx="6968318" cy="307777"/>
            </a:xfrm>
            <a:prstGeom prst="rect">
              <a:avLst/>
            </a:prstGeom>
            <a:noFill/>
          </p:spPr>
          <p:txBody>
            <a:bodyPr wrap="square">
              <a:spAutoFit/>
            </a:bodyPr>
            <a:lstStyle/>
            <a:p>
              <a:pPr algn="ctr"/>
              <a:r>
                <a:rPr lang="en-US" sz="1400" dirty="0" err="1"/>
                <a:t>TaskTrajectoryGenerator</a:t>
              </a:r>
              <a:endParaRPr lang="en-GB" sz="1400" dirty="0"/>
            </a:p>
          </p:txBody>
        </p:sp>
        <p:sp>
          <p:nvSpPr>
            <p:cNvPr id="46" name="Rectangle: Rounded Corners 45">
              <a:extLst>
                <a:ext uri="{FF2B5EF4-FFF2-40B4-BE49-F238E27FC236}">
                  <a16:creationId xmlns:a16="http://schemas.microsoft.com/office/drawing/2014/main" id="{308AAC8B-19DA-DD22-4848-0B6BC3C2DF4E}"/>
                </a:ext>
              </a:extLst>
            </p:cNvPr>
            <p:cNvSpPr/>
            <p:nvPr/>
          </p:nvSpPr>
          <p:spPr>
            <a:xfrm>
              <a:off x="866020" y="3361525"/>
              <a:ext cx="1346185" cy="1149633"/>
            </a:xfrm>
            <a:prstGeom prst="roundRect">
              <a:avLst>
                <a:gd name="adj" fmla="val 12859"/>
              </a:avLst>
            </a:prstGeom>
            <a:solidFill>
              <a:srgbClr val="ACCBEA"/>
            </a:solidFill>
            <a:ln>
              <a:solidFill>
                <a:srgbClr val="0033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TextBox 46">
              <a:extLst>
                <a:ext uri="{FF2B5EF4-FFF2-40B4-BE49-F238E27FC236}">
                  <a16:creationId xmlns:a16="http://schemas.microsoft.com/office/drawing/2014/main" id="{ED5E49CF-51DE-27BA-AF20-D0F410E23663}"/>
                </a:ext>
              </a:extLst>
            </p:cNvPr>
            <p:cNvSpPr txBox="1"/>
            <p:nvPr/>
          </p:nvSpPr>
          <p:spPr>
            <a:xfrm>
              <a:off x="866020" y="3708894"/>
              <a:ext cx="1346185" cy="354057"/>
            </a:xfrm>
            <a:prstGeom prst="rect">
              <a:avLst/>
            </a:prstGeom>
            <a:noFill/>
          </p:spPr>
          <p:txBody>
            <a:bodyPr wrap="square">
              <a:spAutoFit/>
            </a:bodyPr>
            <a:lstStyle/>
            <a:p>
              <a:pPr algn="ctr"/>
              <a:r>
                <a:rPr lang="en-US" sz="1050" dirty="0" err="1"/>
                <a:t>TaskTrajectory</a:t>
              </a:r>
              <a:endParaRPr lang="en-GB" sz="1050" dirty="0"/>
            </a:p>
          </p:txBody>
        </p:sp>
        <p:sp>
          <p:nvSpPr>
            <p:cNvPr id="48" name="TextBox 47">
              <a:extLst>
                <a:ext uri="{FF2B5EF4-FFF2-40B4-BE49-F238E27FC236}">
                  <a16:creationId xmlns:a16="http://schemas.microsoft.com/office/drawing/2014/main" id="{B99BA7F3-FF1C-EF38-4F9B-A47220DD46D4}"/>
                </a:ext>
              </a:extLst>
            </p:cNvPr>
            <p:cNvSpPr txBox="1"/>
            <p:nvPr/>
          </p:nvSpPr>
          <p:spPr>
            <a:xfrm>
              <a:off x="4967458" y="3789411"/>
              <a:ext cx="1020470" cy="214579"/>
            </a:xfrm>
            <a:prstGeom prst="rect">
              <a:avLst/>
            </a:prstGeom>
            <a:noFill/>
          </p:spPr>
          <p:txBody>
            <a:bodyPr wrap="square" lIns="0" tIns="0" rIns="0" bIns="0" rtlCol="0">
              <a:spAutoFit/>
            </a:bodyPr>
            <a:lstStyle/>
            <a:p>
              <a:r>
                <a:rPr lang="en-US" sz="1000" dirty="0">
                  <a:solidFill>
                    <a:schemeClr val="tx2"/>
                  </a:solidFill>
                </a:rPr>
                <a:t>Poses at end</a:t>
              </a:r>
              <a:endParaRPr lang="en-GB" sz="1000" i="1" dirty="0">
                <a:solidFill>
                  <a:schemeClr val="tx2"/>
                </a:solidFill>
              </a:endParaRPr>
            </a:p>
          </p:txBody>
        </p:sp>
        <p:sp>
          <p:nvSpPr>
            <p:cNvPr id="49" name="TextBox 48">
              <a:extLst>
                <a:ext uri="{FF2B5EF4-FFF2-40B4-BE49-F238E27FC236}">
                  <a16:creationId xmlns:a16="http://schemas.microsoft.com/office/drawing/2014/main" id="{F31D69B6-511B-372D-458E-166619C09F02}"/>
                </a:ext>
              </a:extLst>
            </p:cNvPr>
            <p:cNvSpPr txBox="1"/>
            <p:nvPr/>
          </p:nvSpPr>
          <p:spPr>
            <a:xfrm>
              <a:off x="4906122" y="4104944"/>
              <a:ext cx="1024522" cy="214579"/>
            </a:xfrm>
            <a:prstGeom prst="rect">
              <a:avLst/>
            </a:prstGeom>
            <a:noFill/>
          </p:spPr>
          <p:txBody>
            <a:bodyPr wrap="square" lIns="0" tIns="0" rIns="0" bIns="0" rtlCol="0">
              <a:spAutoFit/>
            </a:bodyPr>
            <a:lstStyle/>
            <a:p>
              <a:pPr algn="ctr"/>
              <a:r>
                <a:rPr lang="en-US" sz="1000" dirty="0">
                  <a:solidFill>
                    <a:schemeClr val="tx2"/>
                  </a:solidFill>
                </a:rPr>
                <a:t>Velocity at end</a:t>
              </a:r>
              <a:endParaRPr lang="en-GB" sz="1000" i="1" dirty="0">
                <a:solidFill>
                  <a:schemeClr val="tx2"/>
                </a:solidFill>
              </a:endParaRPr>
            </a:p>
          </p:txBody>
        </p:sp>
        <p:cxnSp>
          <p:nvCxnSpPr>
            <p:cNvPr id="50" name="Connector: Elbow 49">
              <a:extLst>
                <a:ext uri="{FF2B5EF4-FFF2-40B4-BE49-F238E27FC236}">
                  <a16:creationId xmlns:a16="http://schemas.microsoft.com/office/drawing/2014/main" id="{A29D0EC2-4BE3-7F47-B1B4-57282C2BCB76}"/>
                </a:ext>
              </a:extLst>
            </p:cNvPr>
            <p:cNvCxnSpPr>
              <a:cxnSpLocks/>
              <a:stCxn id="43" idx="3"/>
              <a:endCxn id="58" idx="0"/>
            </p:cNvCxnSpPr>
            <p:nvPr/>
          </p:nvCxnSpPr>
          <p:spPr>
            <a:xfrm>
              <a:off x="541669" y="3194021"/>
              <a:ext cx="6181175" cy="173841"/>
            </a:xfrm>
            <a:prstGeom prst="bentConnector2">
              <a:avLst/>
            </a:prstGeom>
            <a:ln>
              <a:solidFill>
                <a:srgbClr val="2F2F2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8F2715EB-202A-E0CE-14AE-C5C1F566B26A}"/>
                    </a:ext>
                  </a:extLst>
                </p:cNvPr>
                <p:cNvSpPr txBox="1"/>
                <p:nvPr/>
              </p:nvSpPr>
              <p:spPr>
                <a:xfrm>
                  <a:off x="1027319" y="3997654"/>
                  <a:ext cx="1024522" cy="214579"/>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sSub>
                          <m:sSubPr>
                            <m:ctrlPr>
                              <a:rPr lang="en-US" sz="1000" b="0" i="1" smtClean="0">
                                <a:solidFill>
                                  <a:schemeClr val="tx2"/>
                                </a:solidFill>
                                <a:latin typeface="Cambria Math" panose="02040503050406030204" pitchFamily="18" charset="0"/>
                              </a:rPr>
                            </m:ctrlPr>
                          </m:sSubPr>
                          <m:e>
                            <m:r>
                              <a:rPr lang="en-US" sz="1000" b="0" i="1" smtClean="0">
                                <a:solidFill>
                                  <a:schemeClr val="tx2"/>
                                </a:solidFill>
                                <a:latin typeface="Cambria Math" panose="02040503050406030204" pitchFamily="18" charset="0"/>
                              </a:rPr>
                              <m:t>𝑡</m:t>
                            </m:r>
                          </m:e>
                          <m:sub>
                            <m:r>
                              <a:rPr lang="en-US" sz="1000" b="0" i="1" smtClean="0">
                                <a:solidFill>
                                  <a:schemeClr val="tx2"/>
                                </a:solidFill>
                                <a:latin typeface="Cambria Math" panose="02040503050406030204" pitchFamily="18" charset="0"/>
                              </a:rPr>
                              <m:t>𝑠𝑡𝑎𝑟𝑡</m:t>
                            </m:r>
                          </m:sub>
                        </m:sSub>
                        <m:r>
                          <a:rPr lang="en-US" sz="1000" b="0" i="1" smtClean="0">
                            <a:solidFill>
                              <a:schemeClr val="tx2"/>
                            </a:solidFill>
                            <a:latin typeface="Cambria Math" panose="02040503050406030204" pitchFamily="18" charset="0"/>
                          </a:rPr>
                          <m:t>=0</m:t>
                        </m:r>
                      </m:oMath>
                    </m:oMathPara>
                  </a14:m>
                  <a:endParaRPr lang="en-GB" sz="1000" i="1" dirty="0">
                    <a:solidFill>
                      <a:schemeClr val="tx2"/>
                    </a:solidFill>
                  </a:endParaRPr>
                </a:p>
              </p:txBody>
            </p:sp>
          </mc:Choice>
          <mc:Fallback xmlns="">
            <p:sp>
              <p:nvSpPr>
                <p:cNvPr id="51" name="TextBox 50">
                  <a:extLst>
                    <a:ext uri="{FF2B5EF4-FFF2-40B4-BE49-F238E27FC236}">
                      <a16:creationId xmlns:a16="http://schemas.microsoft.com/office/drawing/2014/main" id="{8F2715EB-202A-E0CE-14AE-C5C1F566B26A}"/>
                    </a:ext>
                  </a:extLst>
                </p:cNvPr>
                <p:cNvSpPr txBox="1">
                  <a:spLocks noRot="1" noChangeAspect="1" noMove="1" noResize="1" noEditPoints="1" noAdjustHandles="1" noChangeArrowheads="1" noChangeShapeType="1" noTextEdit="1"/>
                </p:cNvSpPr>
                <p:nvPr/>
              </p:nvSpPr>
              <p:spPr>
                <a:xfrm>
                  <a:off x="1027319" y="3997654"/>
                  <a:ext cx="1024522" cy="214579"/>
                </a:xfrm>
                <a:prstGeom prst="rect">
                  <a:avLst/>
                </a:prstGeom>
                <a:blipFill>
                  <a:blip r:embed="rId3"/>
                  <a:stretch>
                    <a:fillRect b="-357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1D58A1E3-2AEF-8E81-431B-272F6261255D}"/>
                    </a:ext>
                  </a:extLst>
                </p:cNvPr>
                <p:cNvSpPr txBox="1"/>
                <p:nvPr/>
              </p:nvSpPr>
              <p:spPr>
                <a:xfrm>
                  <a:off x="4889406" y="3412966"/>
                  <a:ext cx="1072397" cy="214579"/>
                </a:xfrm>
                <a:prstGeom prst="rect">
                  <a:avLst/>
                </a:prstGeom>
                <a:noFill/>
              </p:spPr>
              <p:txBody>
                <a:bodyPr wrap="square" lIns="0" tIns="0" rIns="0" bIns="0" rtlCol="0">
                  <a:spAutoFit/>
                </a:bodyPr>
                <a:lstStyle/>
                <a:p>
                  <a:r>
                    <a:rPr lang="en-US" sz="1000" dirty="0">
                      <a:solidFill>
                        <a:schemeClr val="tx2"/>
                      </a:solidFill>
                    </a:rPr>
                    <a:t>Time at end, </a:t>
                  </a:r>
                  <a14:m>
                    <m:oMath xmlns:m="http://schemas.openxmlformats.org/officeDocument/2006/math">
                      <m:sSub>
                        <m:sSubPr>
                          <m:ctrlPr>
                            <a:rPr lang="en-US" sz="1000" b="0" i="1" smtClean="0">
                              <a:solidFill>
                                <a:schemeClr val="tx2"/>
                              </a:solidFill>
                              <a:latin typeface="Cambria Math" panose="02040503050406030204" pitchFamily="18" charset="0"/>
                            </a:rPr>
                          </m:ctrlPr>
                        </m:sSubPr>
                        <m:e>
                          <m:r>
                            <a:rPr lang="en-US" sz="1000" b="0" i="1" smtClean="0">
                              <a:solidFill>
                                <a:schemeClr val="tx2"/>
                              </a:solidFill>
                              <a:latin typeface="Cambria Math" panose="02040503050406030204" pitchFamily="18" charset="0"/>
                            </a:rPr>
                            <m:t>𝑡</m:t>
                          </m:r>
                        </m:e>
                        <m:sub>
                          <m:r>
                            <a:rPr lang="en-US" sz="1000" b="0" i="1" smtClean="0">
                              <a:solidFill>
                                <a:schemeClr val="tx2"/>
                              </a:solidFill>
                              <a:latin typeface="Cambria Math" panose="02040503050406030204" pitchFamily="18" charset="0"/>
                            </a:rPr>
                            <m:t>𝑒</m:t>
                          </m:r>
                        </m:sub>
                      </m:sSub>
                    </m:oMath>
                  </a14:m>
                  <a:endParaRPr lang="en-GB" sz="1000" i="1" dirty="0">
                    <a:solidFill>
                      <a:schemeClr val="tx2"/>
                    </a:solidFill>
                  </a:endParaRPr>
                </a:p>
              </p:txBody>
            </p:sp>
          </mc:Choice>
          <mc:Fallback xmlns="">
            <p:sp>
              <p:nvSpPr>
                <p:cNvPr id="52" name="TextBox 51">
                  <a:extLst>
                    <a:ext uri="{FF2B5EF4-FFF2-40B4-BE49-F238E27FC236}">
                      <a16:creationId xmlns:a16="http://schemas.microsoft.com/office/drawing/2014/main" id="{1D58A1E3-2AEF-8E81-431B-272F6261255D}"/>
                    </a:ext>
                  </a:extLst>
                </p:cNvPr>
                <p:cNvSpPr txBox="1">
                  <a:spLocks noRot="1" noChangeAspect="1" noMove="1" noResize="1" noEditPoints="1" noAdjustHandles="1" noChangeArrowheads="1" noChangeShapeType="1" noTextEdit="1"/>
                </p:cNvSpPr>
                <p:nvPr/>
              </p:nvSpPr>
              <p:spPr>
                <a:xfrm>
                  <a:off x="4889406" y="3412966"/>
                  <a:ext cx="1072397" cy="214579"/>
                </a:xfrm>
                <a:prstGeom prst="rect">
                  <a:avLst/>
                </a:prstGeom>
                <a:blipFill>
                  <a:blip r:embed="rId4"/>
                  <a:stretch>
                    <a:fillRect l="-9028" t="-28571" b="-32143"/>
                  </a:stretch>
                </a:blipFill>
              </p:spPr>
              <p:txBody>
                <a:bodyPr/>
                <a:lstStyle/>
                <a:p>
                  <a:r>
                    <a:rPr lang="en-GB">
                      <a:noFill/>
                    </a:rPr>
                    <a:t> </a:t>
                  </a:r>
                </a:p>
              </p:txBody>
            </p:sp>
          </mc:Fallback>
        </mc:AlternateContent>
        <p:cxnSp>
          <p:nvCxnSpPr>
            <p:cNvPr id="53" name="Straight Arrow Connector 52">
              <a:extLst>
                <a:ext uri="{FF2B5EF4-FFF2-40B4-BE49-F238E27FC236}">
                  <a16:creationId xmlns:a16="http://schemas.microsoft.com/office/drawing/2014/main" id="{2C8BBD76-89F2-34C5-8CE0-608B655E1A01}"/>
                </a:ext>
              </a:extLst>
            </p:cNvPr>
            <p:cNvCxnSpPr>
              <a:cxnSpLocks/>
            </p:cNvCxnSpPr>
            <p:nvPr/>
          </p:nvCxnSpPr>
          <p:spPr>
            <a:xfrm>
              <a:off x="4803719" y="3628400"/>
              <a:ext cx="1240217" cy="0"/>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sp>
          <p:nvSpPr>
            <p:cNvPr id="55" name="Rectangle: Rounded Corners 54">
              <a:extLst>
                <a:ext uri="{FF2B5EF4-FFF2-40B4-BE49-F238E27FC236}">
                  <a16:creationId xmlns:a16="http://schemas.microsoft.com/office/drawing/2014/main" id="{48D27C6E-D856-FE07-1B52-2A849B3CF9BC}"/>
                </a:ext>
              </a:extLst>
            </p:cNvPr>
            <p:cNvSpPr/>
            <p:nvPr/>
          </p:nvSpPr>
          <p:spPr>
            <a:xfrm>
              <a:off x="3464005" y="3339689"/>
              <a:ext cx="1346185" cy="1149633"/>
            </a:xfrm>
            <a:prstGeom prst="roundRect">
              <a:avLst>
                <a:gd name="adj" fmla="val 12859"/>
              </a:avLst>
            </a:prstGeom>
            <a:solidFill>
              <a:srgbClr val="ACCBEA"/>
            </a:solidFill>
            <a:ln>
              <a:solidFill>
                <a:srgbClr val="0033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TextBox 55">
              <a:extLst>
                <a:ext uri="{FF2B5EF4-FFF2-40B4-BE49-F238E27FC236}">
                  <a16:creationId xmlns:a16="http://schemas.microsoft.com/office/drawing/2014/main" id="{6D31204F-E720-219B-0E1B-97A0DAFEDFAE}"/>
                </a:ext>
              </a:extLst>
            </p:cNvPr>
            <p:cNvSpPr txBox="1"/>
            <p:nvPr/>
          </p:nvSpPr>
          <p:spPr>
            <a:xfrm>
              <a:off x="3464005" y="3687058"/>
              <a:ext cx="1346185" cy="354057"/>
            </a:xfrm>
            <a:prstGeom prst="rect">
              <a:avLst/>
            </a:prstGeom>
            <a:noFill/>
          </p:spPr>
          <p:txBody>
            <a:bodyPr wrap="square">
              <a:spAutoFit/>
            </a:bodyPr>
            <a:lstStyle/>
            <a:p>
              <a:pPr algn="ctr"/>
              <a:r>
                <a:rPr lang="en-US" sz="1050" dirty="0" err="1"/>
                <a:t>TaskTrajectory</a:t>
              </a:r>
              <a:endParaRPr lang="en-GB" sz="1050" dirty="0"/>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E04570D6-C226-D1F6-14B8-496EC7BBF2AD}"/>
                    </a:ext>
                  </a:extLst>
                </p:cNvPr>
                <p:cNvSpPr txBox="1"/>
                <p:nvPr/>
              </p:nvSpPr>
              <p:spPr>
                <a:xfrm>
                  <a:off x="3625303" y="3975818"/>
                  <a:ext cx="1024522" cy="214579"/>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sSub>
                          <m:sSubPr>
                            <m:ctrlPr>
                              <a:rPr lang="en-US" sz="1000" b="0" i="1" smtClean="0">
                                <a:solidFill>
                                  <a:schemeClr val="tx2"/>
                                </a:solidFill>
                                <a:latin typeface="Cambria Math" panose="02040503050406030204" pitchFamily="18" charset="0"/>
                              </a:rPr>
                            </m:ctrlPr>
                          </m:sSubPr>
                          <m:e>
                            <m:r>
                              <a:rPr lang="en-US" sz="1000" b="0" i="1" smtClean="0">
                                <a:solidFill>
                                  <a:schemeClr val="tx2"/>
                                </a:solidFill>
                                <a:latin typeface="Cambria Math" panose="02040503050406030204" pitchFamily="18" charset="0"/>
                              </a:rPr>
                              <m:t>𝑡</m:t>
                            </m:r>
                          </m:e>
                          <m:sub>
                            <m:r>
                              <a:rPr lang="en-US" sz="1000" b="0" i="1" smtClean="0">
                                <a:solidFill>
                                  <a:schemeClr val="tx2"/>
                                </a:solidFill>
                                <a:latin typeface="Cambria Math" panose="02040503050406030204" pitchFamily="18" charset="0"/>
                              </a:rPr>
                              <m:t>𝑠𝑡𝑎𝑟𝑡</m:t>
                            </m:r>
                          </m:sub>
                        </m:sSub>
                      </m:oMath>
                    </m:oMathPara>
                  </a14:m>
                  <a:endParaRPr lang="en-GB" sz="1000" i="1" dirty="0">
                    <a:solidFill>
                      <a:schemeClr val="tx2"/>
                    </a:solidFill>
                  </a:endParaRPr>
                </a:p>
              </p:txBody>
            </p:sp>
          </mc:Choice>
          <mc:Fallback xmlns="">
            <p:sp>
              <p:nvSpPr>
                <p:cNvPr id="57" name="TextBox 56">
                  <a:extLst>
                    <a:ext uri="{FF2B5EF4-FFF2-40B4-BE49-F238E27FC236}">
                      <a16:creationId xmlns:a16="http://schemas.microsoft.com/office/drawing/2014/main" id="{E04570D6-C226-D1F6-14B8-496EC7BBF2AD}"/>
                    </a:ext>
                  </a:extLst>
                </p:cNvPr>
                <p:cNvSpPr txBox="1">
                  <a:spLocks noRot="1" noChangeAspect="1" noMove="1" noResize="1" noEditPoints="1" noAdjustHandles="1" noChangeArrowheads="1" noChangeShapeType="1" noTextEdit="1"/>
                </p:cNvSpPr>
                <p:nvPr/>
              </p:nvSpPr>
              <p:spPr>
                <a:xfrm>
                  <a:off x="3625303" y="3975818"/>
                  <a:ext cx="1024522" cy="214579"/>
                </a:xfrm>
                <a:prstGeom prst="rect">
                  <a:avLst/>
                </a:prstGeom>
                <a:blipFill>
                  <a:blip r:embed="rId5"/>
                  <a:stretch>
                    <a:fillRect b="-3571"/>
                  </a:stretch>
                </a:blipFill>
              </p:spPr>
              <p:txBody>
                <a:bodyPr/>
                <a:lstStyle/>
                <a:p>
                  <a:r>
                    <a:rPr lang="en-GB">
                      <a:noFill/>
                    </a:rPr>
                    <a:t> </a:t>
                  </a:r>
                </a:p>
              </p:txBody>
            </p:sp>
          </mc:Fallback>
        </mc:AlternateContent>
        <p:sp>
          <p:nvSpPr>
            <p:cNvPr id="58" name="Rectangle: Rounded Corners 57">
              <a:extLst>
                <a:ext uri="{FF2B5EF4-FFF2-40B4-BE49-F238E27FC236}">
                  <a16:creationId xmlns:a16="http://schemas.microsoft.com/office/drawing/2014/main" id="{983B4C02-6F3A-8223-BB18-0BE47BB93101}"/>
                </a:ext>
              </a:extLst>
            </p:cNvPr>
            <p:cNvSpPr/>
            <p:nvPr/>
          </p:nvSpPr>
          <p:spPr>
            <a:xfrm>
              <a:off x="6049751" y="3367861"/>
              <a:ext cx="1346185" cy="1149633"/>
            </a:xfrm>
            <a:prstGeom prst="roundRect">
              <a:avLst>
                <a:gd name="adj" fmla="val 12859"/>
              </a:avLst>
            </a:prstGeom>
            <a:solidFill>
              <a:srgbClr val="ACCBEA"/>
            </a:solidFill>
            <a:ln>
              <a:solidFill>
                <a:srgbClr val="0033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59" name="TextBox 58">
              <a:extLst>
                <a:ext uri="{FF2B5EF4-FFF2-40B4-BE49-F238E27FC236}">
                  <a16:creationId xmlns:a16="http://schemas.microsoft.com/office/drawing/2014/main" id="{B7FE9640-B125-EF00-9EAD-57425629EDAB}"/>
                </a:ext>
              </a:extLst>
            </p:cNvPr>
            <p:cNvSpPr txBox="1"/>
            <p:nvPr/>
          </p:nvSpPr>
          <p:spPr>
            <a:xfrm>
              <a:off x="6049751" y="3715230"/>
              <a:ext cx="1346185" cy="354057"/>
            </a:xfrm>
            <a:prstGeom prst="rect">
              <a:avLst/>
            </a:prstGeom>
            <a:noFill/>
          </p:spPr>
          <p:txBody>
            <a:bodyPr wrap="square">
              <a:spAutoFit/>
            </a:bodyPr>
            <a:lstStyle/>
            <a:p>
              <a:pPr algn="ctr"/>
              <a:r>
                <a:rPr lang="en-US" sz="1050" dirty="0" err="1"/>
                <a:t>TaskTrajectory</a:t>
              </a:r>
              <a:endParaRPr lang="en-GB" sz="1050" dirty="0"/>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A5FE0D5-087C-16C2-960A-BB80583E5E01}"/>
                    </a:ext>
                  </a:extLst>
                </p:cNvPr>
                <p:cNvSpPr txBox="1"/>
                <p:nvPr/>
              </p:nvSpPr>
              <p:spPr>
                <a:xfrm>
                  <a:off x="6211049" y="4003991"/>
                  <a:ext cx="1024522" cy="214579"/>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sSub>
                          <m:sSubPr>
                            <m:ctrlPr>
                              <a:rPr lang="en-US" sz="1000" b="0" i="1" smtClean="0">
                                <a:solidFill>
                                  <a:schemeClr val="tx2"/>
                                </a:solidFill>
                                <a:latin typeface="Cambria Math" panose="02040503050406030204" pitchFamily="18" charset="0"/>
                              </a:rPr>
                            </m:ctrlPr>
                          </m:sSubPr>
                          <m:e>
                            <m:r>
                              <a:rPr lang="en-US" sz="1000" b="0" i="1" smtClean="0">
                                <a:solidFill>
                                  <a:schemeClr val="tx2"/>
                                </a:solidFill>
                                <a:latin typeface="Cambria Math" panose="02040503050406030204" pitchFamily="18" charset="0"/>
                              </a:rPr>
                              <m:t>𝑡</m:t>
                            </m:r>
                          </m:e>
                          <m:sub>
                            <m:r>
                              <a:rPr lang="en-US" sz="1000" b="0" i="1" smtClean="0">
                                <a:solidFill>
                                  <a:schemeClr val="tx2"/>
                                </a:solidFill>
                                <a:latin typeface="Cambria Math" panose="02040503050406030204" pitchFamily="18" charset="0"/>
                              </a:rPr>
                              <m:t>𝑠𝑡𝑎𝑟𝑡</m:t>
                            </m:r>
                          </m:sub>
                        </m:sSub>
                        <m:r>
                          <a:rPr lang="en-US" sz="1000" b="0" i="1" smtClean="0">
                            <a:solidFill>
                              <a:schemeClr val="tx2"/>
                            </a:solidFill>
                            <a:latin typeface="Cambria Math" panose="02040503050406030204" pitchFamily="18" charset="0"/>
                          </a:rPr>
                          <m:t>=</m:t>
                        </m:r>
                        <m:sSub>
                          <m:sSubPr>
                            <m:ctrlPr>
                              <a:rPr lang="en-US" sz="1000" b="0" i="1" smtClean="0">
                                <a:solidFill>
                                  <a:schemeClr val="tx2"/>
                                </a:solidFill>
                                <a:latin typeface="Cambria Math" panose="02040503050406030204" pitchFamily="18" charset="0"/>
                              </a:rPr>
                            </m:ctrlPr>
                          </m:sSubPr>
                          <m:e>
                            <m:r>
                              <a:rPr lang="en-US" sz="1000" b="0" i="1" smtClean="0">
                                <a:solidFill>
                                  <a:schemeClr val="tx2"/>
                                </a:solidFill>
                                <a:latin typeface="Cambria Math" panose="02040503050406030204" pitchFamily="18" charset="0"/>
                              </a:rPr>
                              <m:t>𝑡</m:t>
                            </m:r>
                          </m:e>
                          <m:sub>
                            <m:r>
                              <a:rPr lang="en-US" sz="1000" b="0" i="1" smtClean="0">
                                <a:solidFill>
                                  <a:schemeClr val="tx2"/>
                                </a:solidFill>
                                <a:latin typeface="Cambria Math" panose="02040503050406030204" pitchFamily="18" charset="0"/>
                              </a:rPr>
                              <m:t>𝑒</m:t>
                            </m:r>
                          </m:sub>
                        </m:sSub>
                      </m:oMath>
                    </m:oMathPara>
                  </a14:m>
                  <a:endParaRPr lang="en-GB" sz="1000" i="1" dirty="0">
                    <a:solidFill>
                      <a:schemeClr val="tx2"/>
                    </a:solidFill>
                  </a:endParaRPr>
                </a:p>
              </p:txBody>
            </p:sp>
          </mc:Choice>
          <mc:Fallback xmlns="">
            <p:sp>
              <p:nvSpPr>
                <p:cNvPr id="60" name="TextBox 59">
                  <a:extLst>
                    <a:ext uri="{FF2B5EF4-FFF2-40B4-BE49-F238E27FC236}">
                      <a16:creationId xmlns:a16="http://schemas.microsoft.com/office/drawing/2014/main" id="{7A5FE0D5-087C-16C2-960A-BB80583E5E01}"/>
                    </a:ext>
                  </a:extLst>
                </p:cNvPr>
                <p:cNvSpPr txBox="1">
                  <a:spLocks noRot="1" noChangeAspect="1" noMove="1" noResize="1" noEditPoints="1" noAdjustHandles="1" noChangeArrowheads="1" noChangeShapeType="1" noTextEdit="1"/>
                </p:cNvSpPr>
                <p:nvPr/>
              </p:nvSpPr>
              <p:spPr>
                <a:xfrm>
                  <a:off x="6211049" y="4003991"/>
                  <a:ext cx="1024522" cy="214579"/>
                </a:xfrm>
                <a:prstGeom prst="rect">
                  <a:avLst/>
                </a:prstGeom>
                <a:blipFill>
                  <a:blip r:embed="rId6"/>
                  <a:stretch>
                    <a:fillRect b="-7407"/>
                  </a:stretch>
                </a:blipFill>
              </p:spPr>
              <p:txBody>
                <a:bodyPr/>
                <a:lstStyle/>
                <a:p>
                  <a:r>
                    <a:rPr lang="en-GB">
                      <a:noFill/>
                    </a:rPr>
                    <a:t> </a:t>
                  </a:r>
                </a:p>
              </p:txBody>
            </p:sp>
          </mc:Fallback>
        </mc:AlternateContent>
        <p:cxnSp>
          <p:nvCxnSpPr>
            <p:cNvPr id="61" name="Straight Arrow Connector 60">
              <a:extLst>
                <a:ext uri="{FF2B5EF4-FFF2-40B4-BE49-F238E27FC236}">
                  <a16:creationId xmlns:a16="http://schemas.microsoft.com/office/drawing/2014/main" id="{C5A91E75-970E-ACDD-9A45-14261FA7589C}"/>
                </a:ext>
              </a:extLst>
            </p:cNvPr>
            <p:cNvCxnSpPr>
              <a:cxnSpLocks/>
            </p:cNvCxnSpPr>
            <p:nvPr/>
          </p:nvCxnSpPr>
          <p:spPr>
            <a:xfrm>
              <a:off x="4798274" y="3975491"/>
              <a:ext cx="1240217" cy="0"/>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A7CA371E-568B-F531-9EF2-4744E86B2EDA}"/>
                </a:ext>
              </a:extLst>
            </p:cNvPr>
            <p:cNvCxnSpPr>
              <a:cxnSpLocks/>
            </p:cNvCxnSpPr>
            <p:nvPr/>
          </p:nvCxnSpPr>
          <p:spPr>
            <a:xfrm>
              <a:off x="4798274" y="4315764"/>
              <a:ext cx="1240217" cy="0"/>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3996616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Future Work – Quintic Polynomial </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65</a:t>
            </a:fld>
            <a:endParaRPr lang="en-US" dirty="0"/>
          </a:p>
        </p:txBody>
      </p:sp>
      <p:sp>
        <p:nvSpPr>
          <p:cNvPr id="7" name="TextBox 6">
            <a:extLst>
              <a:ext uri="{FF2B5EF4-FFF2-40B4-BE49-F238E27FC236}">
                <a16:creationId xmlns:a16="http://schemas.microsoft.com/office/drawing/2014/main" id="{B4A48ADE-FCE7-CEDC-2233-BF0E65FBCBC3}"/>
              </a:ext>
            </a:extLst>
          </p:cNvPr>
          <p:cNvSpPr txBox="1"/>
          <p:nvPr/>
        </p:nvSpPr>
        <p:spPr>
          <a:xfrm>
            <a:off x="504081" y="1249331"/>
            <a:ext cx="9659094" cy="276999"/>
          </a:xfrm>
          <a:prstGeom prst="rect">
            <a:avLst/>
          </a:prstGeom>
          <a:noFill/>
        </p:spPr>
        <p:txBody>
          <a:bodyPr wrap="square" lIns="0" tIns="0" rIns="0" bIns="0" rtlCol="0">
            <a:spAutoFit/>
          </a:bodyPr>
          <a:lstStyle/>
          <a:p>
            <a:r>
              <a:rPr lang="en-US" b="0" dirty="0">
                <a:solidFill>
                  <a:srgbClr val="2F2F2F"/>
                </a:solidFill>
              </a:rPr>
              <a:t>1. Change Cubic Polynomial to Quintic Polynomial</a:t>
            </a:r>
          </a:p>
        </p:txBody>
      </p:sp>
      <p:pic>
        <p:nvPicPr>
          <p:cNvPr id="8" name="Picture 7">
            <a:extLst>
              <a:ext uri="{FF2B5EF4-FFF2-40B4-BE49-F238E27FC236}">
                <a16:creationId xmlns:a16="http://schemas.microsoft.com/office/drawing/2014/main" id="{A08496F0-D9F2-6D4F-1AC2-823DE22A711F}"/>
              </a:ext>
            </a:extLst>
          </p:cNvPr>
          <p:cNvPicPr>
            <a:picLocks noChangeAspect="1"/>
          </p:cNvPicPr>
          <p:nvPr/>
        </p:nvPicPr>
        <p:blipFill>
          <a:blip r:embed="rId3"/>
          <a:stretch>
            <a:fillRect/>
          </a:stretch>
        </p:blipFill>
        <p:spPr>
          <a:xfrm>
            <a:off x="8060623" y="644961"/>
            <a:ext cx="2914102" cy="1932239"/>
          </a:xfrm>
          <a:prstGeom prst="rect">
            <a:avLst/>
          </a:prstGeom>
        </p:spPr>
      </p:pic>
      <p:pic>
        <p:nvPicPr>
          <p:cNvPr id="10" name="Picture 9">
            <a:extLst>
              <a:ext uri="{FF2B5EF4-FFF2-40B4-BE49-F238E27FC236}">
                <a16:creationId xmlns:a16="http://schemas.microsoft.com/office/drawing/2014/main" id="{42DCFAD1-C132-FC03-7FFB-4D69E0956AAC}"/>
              </a:ext>
            </a:extLst>
          </p:cNvPr>
          <p:cNvPicPr>
            <a:picLocks noChangeAspect="1"/>
          </p:cNvPicPr>
          <p:nvPr/>
        </p:nvPicPr>
        <p:blipFill>
          <a:blip r:embed="rId4"/>
          <a:stretch>
            <a:fillRect/>
          </a:stretch>
        </p:blipFill>
        <p:spPr>
          <a:xfrm>
            <a:off x="7993204" y="4249217"/>
            <a:ext cx="2991047" cy="1935104"/>
          </a:xfrm>
          <a:prstGeom prst="rect">
            <a:avLst/>
          </a:prstGeom>
        </p:spPr>
      </p:pic>
      <p:sp>
        <p:nvSpPr>
          <p:cNvPr id="11" name="TextBox 10">
            <a:extLst>
              <a:ext uri="{FF2B5EF4-FFF2-40B4-BE49-F238E27FC236}">
                <a16:creationId xmlns:a16="http://schemas.microsoft.com/office/drawing/2014/main" id="{19C47D62-24E3-A11B-555A-DFD5CFC40D26}"/>
              </a:ext>
            </a:extLst>
          </p:cNvPr>
          <p:cNvSpPr txBox="1"/>
          <p:nvPr/>
        </p:nvSpPr>
        <p:spPr>
          <a:xfrm>
            <a:off x="8683637" y="619484"/>
            <a:ext cx="1687125" cy="161583"/>
          </a:xfrm>
          <a:prstGeom prst="rect">
            <a:avLst/>
          </a:prstGeom>
          <a:solidFill>
            <a:schemeClr val="bg1"/>
          </a:solidFill>
        </p:spPr>
        <p:txBody>
          <a:bodyPr wrap="square" lIns="0" tIns="0" rIns="0" bIns="0" rtlCol="0">
            <a:spAutoFit/>
          </a:bodyPr>
          <a:lstStyle/>
          <a:p>
            <a:pPr algn="ctr"/>
            <a:r>
              <a:rPr lang="en-US" sz="1050" b="1" dirty="0">
                <a:solidFill>
                  <a:srgbClr val="2F2F2F"/>
                </a:solidFill>
              </a:rPr>
              <a:t>Position vs time</a:t>
            </a:r>
          </a:p>
        </p:txBody>
      </p:sp>
      <p:sp>
        <p:nvSpPr>
          <p:cNvPr id="17" name="TextBox 16">
            <a:extLst>
              <a:ext uri="{FF2B5EF4-FFF2-40B4-BE49-F238E27FC236}">
                <a16:creationId xmlns:a16="http://schemas.microsoft.com/office/drawing/2014/main" id="{E8E28F60-EE1C-95E5-0E56-8A307EC88307}"/>
              </a:ext>
            </a:extLst>
          </p:cNvPr>
          <p:cNvSpPr txBox="1"/>
          <p:nvPr/>
        </p:nvSpPr>
        <p:spPr>
          <a:xfrm rot="16200000">
            <a:off x="7294676" y="1477430"/>
            <a:ext cx="1540619" cy="153888"/>
          </a:xfrm>
          <a:prstGeom prst="rect">
            <a:avLst/>
          </a:prstGeom>
          <a:solidFill>
            <a:schemeClr val="bg1"/>
          </a:solidFill>
        </p:spPr>
        <p:txBody>
          <a:bodyPr wrap="square" lIns="0" tIns="0" rIns="0" bIns="0" rtlCol="0">
            <a:spAutoFit/>
          </a:bodyPr>
          <a:lstStyle/>
          <a:p>
            <a:pPr algn="ctr"/>
            <a:r>
              <a:rPr lang="en-US" sz="1000" dirty="0">
                <a:solidFill>
                  <a:srgbClr val="2F2F2F"/>
                </a:solidFill>
              </a:rPr>
              <a:t>Position</a:t>
            </a:r>
            <a:endParaRPr lang="en-US" sz="1000" b="0" dirty="0">
              <a:solidFill>
                <a:srgbClr val="2F2F2F"/>
              </a:solidFill>
            </a:endParaRPr>
          </a:p>
        </p:txBody>
      </p:sp>
      <p:sp>
        <p:nvSpPr>
          <p:cNvPr id="19" name="TextBox 18">
            <a:extLst>
              <a:ext uri="{FF2B5EF4-FFF2-40B4-BE49-F238E27FC236}">
                <a16:creationId xmlns:a16="http://schemas.microsoft.com/office/drawing/2014/main" id="{E00FECC7-45A2-9C32-232B-33B7423D9C68}"/>
              </a:ext>
            </a:extLst>
          </p:cNvPr>
          <p:cNvSpPr txBox="1"/>
          <p:nvPr/>
        </p:nvSpPr>
        <p:spPr>
          <a:xfrm rot="16200000">
            <a:off x="7222896" y="5166050"/>
            <a:ext cx="1540619" cy="153888"/>
          </a:xfrm>
          <a:prstGeom prst="rect">
            <a:avLst/>
          </a:prstGeom>
          <a:solidFill>
            <a:schemeClr val="bg1"/>
          </a:solidFill>
        </p:spPr>
        <p:txBody>
          <a:bodyPr wrap="square" lIns="0" tIns="0" rIns="0" bIns="0" rtlCol="0">
            <a:spAutoFit/>
          </a:bodyPr>
          <a:lstStyle/>
          <a:p>
            <a:pPr algn="ctr"/>
            <a:r>
              <a:rPr lang="en-US" sz="1000" b="0" dirty="0">
                <a:solidFill>
                  <a:srgbClr val="2F2F2F"/>
                </a:solidFill>
              </a:rPr>
              <a:t>Linear acceleration</a:t>
            </a:r>
          </a:p>
        </p:txBody>
      </p:sp>
      <p:sp>
        <p:nvSpPr>
          <p:cNvPr id="20" name="TextBox 19">
            <a:extLst>
              <a:ext uri="{FF2B5EF4-FFF2-40B4-BE49-F238E27FC236}">
                <a16:creationId xmlns:a16="http://schemas.microsoft.com/office/drawing/2014/main" id="{1E36260F-994D-3D7A-9AB6-167A65E58E8A}"/>
              </a:ext>
            </a:extLst>
          </p:cNvPr>
          <p:cNvSpPr txBox="1"/>
          <p:nvPr/>
        </p:nvSpPr>
        <p:spPr>
          <a:xfrm>
            <a:off x="8824721" y="6082573"/>
            <a:ext cx="1540619" cy="153888"/>
          </a:xfrm>
          <a:prstGeom prst="rect">
            <a:avLst/>
          </a:prstGeom>
          <a:solidFill>
            <a:schemeClr val="bg1"/>
          </a:solidFill>
        </p:spPr>
        <p:txBody>
          <a:bodyPr wrap="square" lIns="0" tIns="0" rIns="0" bIns="0" rtlCol="0">
            <a:spAutoFit/>
          </a:bodyPr>
          <a:lstStyle/>
          <a:p>
            <a:pPr algn="ctr"/>
            <a:r>
              <a:rPr lang="en-US" sz="1000" dirty="0">
                <a:solidFill>
                  <a:srgbClr val="2F2F2F"/>
                </a:solidFill>
              </a:rPr>
              <a:t>Time (s)</a:t>
            </a:r>
            <a:endParaRPr lang="en-US" sz="1000" b="0" dirty="0">
              <a:solidFill>
                <a:srgbClr val="2F2F2F"/>
              </a:solidFill>
            </a:endParaRPr>
          </a:p>
        </p:txBody>
      </p:sp>
      <p:grpSp>
        <p:nvGrpSpPr>
          <p:cNvPr id="67" name="Group 66">
            <a:extLst>
              <a:ext uri="{FF2B5EF4-FFF2-40B4-BE49-F238E27FC236}">
                <a16:creationId xmlns:a16="http://schemas.microsoft.com/office/drawing/2014/main" id="{F236C747-DD39-AA3E-56A6-2DA33775BAC3}"/>
              </a:ext>
            </a:extLst>
          </p:cNvPr>
          <p:cNvGrpSpPr/>
          <p:nvPr/>
        </p:nvGrpSpPr>
        <p:grpSpPr>
          <a:xfrm>
            <a:off x="412776" y="2400662"/>
            <a:ext cx="6561714" cy="1857638"/>
            <a:chOff x="-421257" y="2512652"/>
            <a:chExt cx="8001597" cy="2378701"/>
          </a:xfrm>
        </p:grpSpPr>
        <p:sp>
          <p:nvSpPr>
            <p:cNvPr id="43" name="TextBox 42">
              <a:extLst>
                <a:ext uri="{FF2B5EF4-FFF2-40B4-BE49-F238E27FC236}">
                  <a16:creationId xmlns:a16="http://schemas.microsoft.com/office/drawing/2014/main" id="{1F9220D9-AF53-F7A0-42D3-42C963A7A60D}"/>
                </a:ext>
              </a:extLst>
            </p:cNvPr>
            <p:cNvSpPr txBox="1"/>
            <p:nvPr/>
          </p:nvSpPr>
          <p:spPr>
            <a:xfrm>
              <a:off x="-421257" y="3065273"/>
              <a:ext cx="962926" cy="257496"/>
            </a:xfrm>
            <a:prstGeom prst="rect">
              <a:avLst/>
            </a:prstGeom>
            <a:noFill/>
          </p:spPr>
          <p:txBody>
            <a:bodyPr wrap="square" lIns="0" tIns="0" rIns="0" bIns="0" rtlCol="0">
              <a:spAutoFit/>
            </a:bodyPr>
            <a:lstStyle/>
            <a:p>
              <a:pPr algn="ctr"/>
              <a:r>
                <a:rPr lang="en-US" sz="1200" dirty="0">
                  <a:solidFill>
                    <a:schemeClr val="tx2"/>
                  </a:solidFill>
                </a:rPr>
                <a:t>Task path</a:t>
              </a:r>
              <a:endParaRPr lang="en-GB" sz="1200" dirty="0">
                <a:solidFill>
                  <a:schemeClr val="tx2"/>
                </a:solidFill>
              </a:endParaRPr>
            </a:p>
          </p:txBody>
        </p:sp>
        <p:sp>
          <p:nvSpPr>
            <p:cNvPr id="44" name="Rectangle: Rounded Corners 43">
              <a:extLst>
                <a:ext uri="{FF2B5EF4-FFF2-40B4-BE49-F238E27FC236}">
                  <a16:creationId xmlns:a16="http://schemas.microsoft.com/office/drawing/2014/main" id="{EDCA1E32-8883-9B67-BCD4-98803B96CDE1}"/>
                </a:ext>
              </a:extLst>
            </p:cNvPr>
            <p:cNvSpPr/>
            <p:nvPr/>
          </p:nvSpPr>
          <p:spPr>
            <a:xfrm>
              <a:off x="691762" y="2512652"/>
              <a:ext cx="6886352" cy="2378701"/>
            </a:xfrm>
            <a:prstGeom prst="roundRect">
              <a:avLst/>
            </a:prstGeom>
            <a:solidFill>
              <a:srgbClr val="CDD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50" dirty="0">
                <a:solidFill>
                  <a:srgbClr val="003399"/>
                </a:solidFill>
              </a:endParaRPr>
            </a:p>
          </p:txBody>
        </p:sp>
        <p:sp>
          <p:nvSpPr>
            <p:cNvPr id="45" name="TextBox 44">
              <a:extLst>
                <a:ext uri="{FF2B5EF4-FFF2-40B4-BE49-F238E27FC236}">
                  <a16:creationId xmlns:a16="http://schemas.microsoft.com/office/drawing/2014/main" id="{E058B845-EBA0-73EF-5615-60FC6BFB4C3F}"/>
                </a:ext>
              </a:extLst>
            </p:cNvPr>
            <p:cNvSpPr txBox="1"/>
            <p:nvPr/>
          </p:nvSpPr>
          <p:spPr>
            <a:xfrm>
              <a:off x="612022" y="2587865"/>
              <a:ext cx="6968318" cy="307777"/>
            </a:xfrm>
            <a:prstGeom prst="rect">
              <a:avLst/>
            </a:prstGeom>
            <a:noFill/>
          </p:spPr>
          <p:txBody>
            <a:bodyPr wrap="square">
              <a:spAutoFit/>
            </a:bodyPr>
            <a:lstStyle/>
            <a:p>
              <a:pPr algn="ctr"/>
              <a:r>
                <a:rPr lang="en-US" sz="1400" dirty="0" err="1"/>
                <a:t>TaskTrajectoryGenerator</a:t>
              </a:r>
              <a:endParaRPr lang="en-GB" sz="1400" dirty="0"/>
            </a:p>
          </p:txBody>
        </p:sp>
        <p:sp>
          <p:nvSpPr>
            <p:cNvPr id="46" name="Rectangle: Rounded Corners 45">
              <a:extLst>
                <a:ext uri="{FF2B5EF4-FFF2-40B4-BE49-F238E27FC236}">
                  <a16:creationId xmlns:a16="http://schemas.microsoft.com/office/drawing/2014/main" id="{308AAC8B-19DA-DD22-4848-0B6BC3C2DF4E}"/>
                </a:ext>
              </a:extLst>
            </p:cNvPr>
            <p:cNvSpPr/>
            <p:nvPr/>
          </p:nvSpPr>
          <p:spPr>
            <a:xfrm>
              <a:off x="866020" y="3361525"/>
              <a:ext cx="1346185" cy="1149633"/>
            </a:xfrm>
            <a:prstGeom prst="roundRect">
              <a:avLst>
                <a:gd name="adj" fmla="val 12859"/>
              </a:avLst>
            </a:prstGeom>
            <a:solidFill>
              <a:srgbClr val="ACCBEA"/>
            </a:solidFill>
            <a:ln>
              <a:solidFill>
                <a:srgbClr val="0033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TextBox 46">
              <a:extLst>
                <a:ext uri="{FF2B5EF4-FFF2-40B4-BE49-F238E27FC236}">
                  <a16:creationId xmlns:a16="http://schemas.microsoft.com/office/drawing/2014/main" id="{ED5E49CF-51DE-27BA-AF20-D0F410E23663}"/>
                </a:ext>
              </a:extLst>
            </p:cNvPr>
            <p:cNvSpPr txBox="1"/>
            <p:nvPr/>
          </p:nvSpPr>
          <p:spPr>
            <a:xfrm>
              <a:off x="866020" y="3708894"/>
              <a:ext cx="1346185" cy="354057"/>
            </a:xfrm>
            <a:prstGeom prst="rect">
              <a:avLst/>
            </a:prstGeom>
            <a:noFill/>
          </p:spPr>
          <p:txBody>
            <a:bodyPr wrap="square">
              <a:spAutoFit/>
            </a:bodyPr>
            <a:lstStyle/>
            <a:p>
              <a:pPr algn="ctr"/>
              <a:r>
                <a:rPr lang="en-US" sz="1050" dirty="0" err="1"/>
                <a:t>TaskTrajectory</a:t>
              </a:r>
              <a:endParaRPr lang="en-GB" sz="1050" dirty="0"/>
            </a:p>
          </p:txBody>
        </p:sp>
        <p:sp>
          <p:nvSpPr>
            <p:cNvPr id="48" name="TextBox 47">
              <a:extLst>
                <a:ext uri="{FF2B5EF4-FFF2-40B4-BE49-F238E27FC236}">
                  <a16:creationId xmlns:a16="http://schemas.microsoft.com/office/drawing/2014/main" id="{B99BA7F3-FF1C-EF38-4F9B-A47220DD46D4}"/>
                </a:ext>
              </a:extLst>
            </p:cNvPr>
            <p:cNvSpPr txBox="1"/>
            <p:nvPr/>
          </p:nvSpPr>
          <p:spPr>
            <a:xfrm>
              <a:off x="4967458" y="3789411"/>
              <a:ext cx="1020470" cy="214579"/>
            </a:xfrm>
            <a:prstGeom prst="rect">
              <a:avLst/>
            </a:prstGeom>
            <a:noFill/>
          </p:spPr>
          <p:txBody>
            <a:bodyPr wrap="square" lIns="0" tIns="0" rIns="0" bIns="0" rtlCol="0">
              <a:spAutoFit/>
            </a:bodyPr>
            <a:lstStyle/>
            <a:p>
              <a:r>
                <a:rPr lang="en-US" sz="1000" dirty="0">
                  <a:solidFill>
                    <a:schemeClr val="tx2"/>
                  </a:solidFill>
                </a:rPr>
                <a:t>Poses at end</a:t>
              </a:r>
              <a:endParaRPr lang="en-GB" sz="1000" i="1" dirty="0">
                <a:solidFill>
                  <a:schemeClr val="tx2"/>
                </a:solidFill>
              </a:endParaRPr>
            </a:p>
          </p:txBody>
        </p:sp>
        <p:sp>
          <p:nvSpPr>
            <p:cNvPr id="49" name="TextBox 48">
              <a:extLst>
                <a:ext uri="{FF2B5EF4-FFF2-40B4-BE49-F238E27FC236}">
                  <a16:creationId xmlns:a16="http://schemas.microsoft.com/office/drawing/2014/main" id="{F31D69B6-511B-372D-458E-166619C09F02}"/>
                </a:ext>
              </a:extLst>
            </p:cNvPr>
            <p:cNvSpPr txBox="1"/>
            <p:nvPr/>
          </p:nvSpPr>
          <p:spPr>
            <a:xfrm>
              <a:off x="4906122" y="4104944"/>
              <a:ext cx="1024522" cy="214579"/>
            </a:xfrm>
            <a:prstGeom prst="rect">
              <a:avLst/>
            </a:prstGeom>
            <a:noFill/>
          </p:spPr>
          <p:txBody>
            <a:bodyPr wrap="square" lIns="0" tIns="0" rIns="0" bIns="0" rtlCol="0">
              <a:spAutoFit/>
            </a:bodyPr>
            <a:lstStyle/>
            <a:p>
              <a:pPr algn="ctr"/>
              <a:r>
                <a:rPr lang="en-US" sz="1000" dirty="0">
                  <a:solidFill>
                    <a:schemeClr val="tx2"/>
                  </a:solidFill>
                </a:rPr>
                <a:t>Velocity at end</a:t>
              </a:r>
              <a:endParaRPr lang="en-GB" sz="1000" i="1" dirty="0">
                <a:solidFill>
                  <a:schemeClr val="tx2"/>
                </a:solidFill>
              </a:endParaRPr>
            </a:p>
          </p:txBody>
        </p:sp>
        <p:cxnSp>
          <p:nvCxnSpPr>
            <p:cNvPr id="50" name="Connector: Elbow 49">
              <a:extLst>
                <a:ext uri="{FF2B5EF4-FFF2-40B4-BE49-F238E27FC236}">
                  <a16:creationId xmlns:a16="http://schemas.microsoft.com/office/drawing/2014/main" id="{A29D0EC2-4BE3-7F47-B1B4-57282C2BCB76}"/>
                </a:ext>
              </a:extLst>
            </p:cNvPr>
            <p:cNvCxnSpPr>
              <a:cxnSpLocks/>
              <a:stCxn id="43" idx="3"/>
              <a:endCxn id="58" idx="0"/>
            </p:cNvCxnSpPr>
            <p:nvPr/>
          </p:nvCxnSpPr>
          <p:spPr>
            <a:xfrm>
              <a:off x="541669" y="3194021"/>
              <a:ext cx="6181175" cy="173841"/>
            </a:xfrm>
            <a:prstGeom prst="bentConnector2">
              <a:avLst/>
            </a:prstGeom>
            <a:ln>
              <a:solidFill>
                <a:srgbClr val="2F2F2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8F2715EB-202A-E0CE-14AE-C5C1F566B26A}"/>
                    </a:ext>
                  </a:extLst>
                </p:cNvPr>
                <p:cNvSpPr txBox="1"/>
                <p:nvPr/>
              </p:nvSpPr>
              <p:spPr>
                <a:xfrm>
                  <a:off x="1027319" y="3997654"/>
                  <a:ext cx="1024522" cy="214579"/>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sSub>
                          <m:sSubPr>
                            <m:ctrlPr>
                              <a:rPr lang="en-US" sz="1000" b="0" i="1" smtClean="0">
                                <a:solidFill>
                                  <a:schemeClr val="tx2"/>
                                </a:solidFill>
                                <a:latin typeface="Cambria Math" panose="02040503050406030204" pitchFamily="18" charset="0"/>
                              </a:rPr>
                            </m:ctrlPr>
                          </m:sSubPr>
                          <m:e>
                            <m:r>
                              <a:rPr lang="en-US" sz="1000" b="0" i="1" smtClean="0">
                                <a:solidFill>
                                  <a:schemeClr val="tx2"/>
                                </a:solidFill>
                                <a:latin typeface="Cambria Math" panose="02040503050406030204" pitchFamily="18" charset="0"/>
                              </a:rPr>
                              <m:t>𝑡</m:t>
                            </m:r>
                          </m:e>
                          <m:sub>
                            <m:r>
                              <a:rPr lang="en-US" sz="1000" b="0" i="1" smtClean="0">
                                <a:solidFill>
                                  <a:schemeClr val="tx2"/>
                                </a:solidFill>
                                <a:latin typeface="Cambria Math" panose="02040503050406030204" pitchFamily="18" charset="0"/>
                              </a:rPr>
                              <m:t>𝑠𝑡𝑎𝑟𝑡</m:t>
                            </m:r>
                          </m:sub>
                        </m:sSub>
                        <m:r>
                          <a:rPr lang="en-US" sz="1000" b="0" i="1" smtClean="0">
                            <a:solidFill>
                              <a:schemeClr val="tx2"/>
                            </a:solidFill>
                            <a:latin typeface="Cambria Math" panose="02040503050406030204" pitchFamily="18" charset="0"/>
                          </a:rPr>
                          <m:t>=0</m:t>
                        </m:r>
                      </m:oMath>
                    </m:oMathPara>
                  </a14:m>
                  <a:endParaRPr lang="en-GB" sz="1000" i="1" dirty="0">
                    <a:solidFill>
                      <a:schemeClr val="tx2"/>
                    </a:solidFill>
                  </a:endParaRPr>
                </a:p>
              </p:txBody>
            </p:sp>
          </mc:Choice>
          <mc:Fallback xmlns="">
            <p:sp>
              <p:nvSpPr>
                <p:cNvPr id="51" name="TextBox 50">
                  <a:extLst>
                    <a:ext uri="{FF2B5EF4-FFF2-40B4-BE49-F238E27FC236}">
                      <a16:creationId xmlns:a16="http://schemas.microsoft.com/office/drawing/2014/main" id="{8F2715EB-202A-E0CE-14AE-C5C1F566B26A}"/>
                    </a:ext>
                  </a:extLst>
                </p:cNvPr>
                <p:cNvSpPr txBox="1">
                  <a:spLocks noRot="1" noChangeAspect="1" noMove="1" noResize="1" noEditPoints="1" noAdjustHandles="1" noChangeArrowheads="1" noChangeShapeType="1" noTextEdit="1"/>
                </p:cNvSpPr>
                <p:nvPr/>
              </p:nvSpPr>
              <p:spPr>
                <a:xfrm>
                  <a:off x="1027319" y="3997654"/>
                  <a:ext cx="1024522" cy="214579"/>
                </a:xfrm>
                <a:prstGeom prst="rect">
                  <a:avLst/>
                </a:prstGeom>
                <a:blipFill>
                  <a:blip r:embed="rId5"/>
                  <a:stretch>
                    <a:fillRect b="-357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1D58A1E3-2AEF-8E81-431B-272F6261255D}"/>
                    </a:ext>
                  </a:extLst>
                </p:cNvPr>
                <p:cNvSpPr txBox="1"/>
                <p:nvPr/>
              </p:nvSpPr>
              <p:spPr>
                <a:xfrm>
                  <a:off x="4889406" y="3412966"/>
                  <a:ext cx="1072397" cy="214579"/>
                </a:xfrm>
                <a:prstGeom prst="rect">
                  <a:avLst/>
                </a:prstGeom>
                <a:noFill/>
              </p:spPr>
              <p:txBody>
                <a:bodyPr wrap="square" lIns="0" tIns="0" rIns="0" bIns="0" rtlCol="0">
                  <a:spAutoFit/>
                </a:bodyPr>
                <a:lstStyle/>
                <a:p>
                  <a:r>
                    <a:rPr lang="en-US" sz="1000" dirty="0">
                      <a:solidFill>
                        <a:schemeClr val="tx2"/>
                      </a:solidFill>
                    </a:rPr>
                    <a:t>Time at end, </a:t>
                  </a:r>
                  <a14:m>
                    <m:oMath xmlns:m="http://schemas.openxmlformats.org/officeDocument/2006/math">
                      <m:sSub>
                        <m:sSubPr>
                          <m:ctrlPr>
                            <a:rPr lang="en-US" sz="1000" b="0" i="1" smtClean="0">
                              <a:solidFill>
                                <a:schemeClr val="tx2"/>
                              </a:solidFill>
                              <a:latin typeface="Cambria Math" panose="02040503050406030204" pitchFamily="18" charset="0"/>
                            </a:rPr>
                          </m:ctrlPr>
                        </m:sSubPr>
                        <m:e>
                          <m:r>
                            <a:rPr lang="en-US" sz="1000" b="0" i="1" smtClean="0">
                              <a:solidFill>
                                <a:schemeClr val="tx2"/>
                              </a:solidFill>
                              <a:latin typeface="Cambria Math" panose="02040503050406030204" pitchFamily="18" charset="0"/>
                            </a:rPr>
                            <m:t>𝑡</m:t>
                          </m:r>
                        </m:e>
                        <m:sub>
                          <m:r>
                            <a:rPr lang="en-US" sz="1000" b="0" i="1" smtClean="0">
                              <a:solidFill>
                                <a:schemeClr val="tx2"/>
                              </a:solidFill>
                              <a:latin typeface="Cambria Math" panose="02040503050406030204" pitchFamily="18" charset="0"/>
                            </a:rPr>
                            <m:t>𝑒</m:t>
                          </m:r>
                        </m:sub>
                      </m:sSub>
                    </m:oMath>
                  </a14:m>
                  <a:endParaRPr lang="en-GB" sz="1000" i="1" dirty="0">
                    <a:solidFill>
                      <a:schemeClr val="tx2"/>
                    </a:solidFill>
                  </a:endParaRPr>
                </a:p>
              </p:txBody>
            </p:sp>
          </mc:Choice>
          <mc:Fallback xmlns="">
            <p:sp>
              <p:nvSpPr>
                <p:cNvPr id="52" name="TextBox 51">
                  <a:extLst>
                    <a:ext uri="{FF2B5EF4-FFF2-40B4-BE49-F238E27FC236}">
                      <a16:creationId xmlns:a16="http://schemas.microsoft.com/office/drawing/2014/main" id="{1D58A1E3-2AEF-8E81-431B-272F6261255D}"/>
                    </a:ext>
                  </a:extLst>
                </p:cNvPr>
                <p:cNvSpPr txBox="1">
                  <a:spLocks noRot="1" noChangeAspect="1" noMove="1" noResize="1" noEditPoints="1" noAdjustHandles="1" noChangeArrowheads="1" noChangeShapeType="1" noTextEdit="1"/>
                </p:cNvSpPr>
                <p:nvPr/>
              </p:nvSpPr>
              <p:spPr>
                <a:xfrm>
                  <a:off x="4889406" y="3412966"/>
                  <a:ext cx="1072397" cy="214579"/>
                </a:xfrm>
                <a:prstGeom prst="rect">
                  <a:avLst/>
                </a:prstGeom>
                <a:blipFill>
                  <a:blip r:embed="rId6"/>
                  <a:stretch>
                    <a:fillRect l="-9028" t="-28571" b="-32143"/>
                  </a:stretch>
                </a:blipFill>
              </p:spPr>
              <p:txBody>
                <a:bodyPr/>
                <a:lstStyle/>
                <a:p>
                  <a:r>
                    <a:rPr lang="en-GB">
                      <a:noFill/>
                    </a:rPr>
                    <a:t> </a:t>
                  </a:r>
                </a:p>
              </p:txBody>
            </p:sp>
          </mc:Fallback>
        </mc:AlternateContent>
        <p:cxnSp>
          <p:nvCxnSpPr>
            <p:cNvPr id="53" name="Straight Arrow Connector 52">
              <a:extLst>
                <a:ext uri="{FF2B5EF4-FFF2-40B4-BE49-F238E27FC236}">
                  <a16:creationId xmlns:a16="http://schemas.microsoft.com/office/drawing/2014/main" id="{2C8BBD76-89F2-34C5-8CE0-608B655E1A01}"/>
                </a:ext>
              </a:extLst>
            </p:cNvPr>
            <p:cNvCxnSpPr>
              <a:cxnSpLocks/>
            </p:cNvCxnSpPr>
            <p:nvPr/>
          </p:nvCxnSpPr>
          <p:spPr>
            <a:xfrm>
              <a:off x="4803719" y="3628400"/>
              <a:ext cx="1240217" cy="0"/>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sp>
          <p:nvSpPr>
            <p:cNvPr id="55" name="Rectangle: Rounded Corners 54">
              <a:extLst>
                <a:ext uri="{FF2B5EF4-FFF2-40B4-BE49-F238E27FC236}">
                  <a16:creationId xmlns:a16="http://schemas.microsoft.com/office/drawing/2014/main" id="{48D27C6E-D856-FE07-1B52-2A849B3CF9BC}"/>
                </a:ext>
              </a:extLst>
            </p:cNvPr>
            <p:cNvSpPr/>
            <p:nvPr/>
          </p:nvSpPr>
          <p:spPr>
            <a:xfrm>
              <a:off x="3464005" y="3339689"/>
              <a:ext cx="1346185" cy="1149633"/>
            </a:xfrm>
            <a:prstGeom prst="roundRect">
              <a:avLst>
                <a:gd name="adj" fmla="val 12859"/>
              </a:avLst>
            </a:prstGeom>
            <a:solidFill>
              <a:srgbClr val="ACCBEA"/>
            </a:solidFill>
            <a:ln>
              <a:solidFill>
                <a:srgbClr val="0033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TextBox 55">
              <a:extLst>
                <a:ext uri="{FF2B5EF4-FFF2-40B4-BE49-F238E27FC236}">
                  <a16:creationId xmlns:a16="http://schemas.microsoft.com/office/drawing/2014/main" id="{6D31204F-E720-219B-0E1B-97A0DAFEDFAE}"/>
                </a:ext>
              </a:extLst>
            </p:cNvPr>
            <p:cNvSpPr txBox="1"/>
            <p:nvPr/>
          </p:nvSpPr>
          <p:spPr>
            <a:xfrm>
              <a:off x="3464005" y="3687058"/>
              <a:ext cx="1346185" cy="354057"/>
            </a:xfrm>
            <a:prstGeom prst="rect">
              <a:avLst/>
            </a:prstGeom>
            <a:noFill/>
          </p:spPr>
          <p:txBody>
            <a:bodyPr wrap="square">
              <a:spAutoFit/>
            </a:bodyPr>
            <a:lstStyle/>
            <a:p>
              <a:pPr algn="ctr"/>
              <a:r>
                <a:rPr lang="en-US" sz="1050" dirty="0" err="1"/>
                <a:t>TaskTrajectory</a:t>
              </a:r>
              <a:endParaRPr lang="en-GB" sz="1050" dirty="0"/>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E04570D6-C226-D1F6-14B8-496EC7BBF2AD}"/>
                    </a:ext>
                  </a:extLst>
                </p:cNvPr>
                <p:cNvSpPr txBox="1"/>
                <p:nvPr/>
              </p:nvSpPr>
              <p:spPr>
                <a:xfrm>
                  <a:off x="3625303" y="3975818"/>
                  <a:ext cx="1024522" cy="214579"/>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sSub>
                          <m:sSubPr>
                            <m:ctrlPr>
                              <a:rPr lang="en-US" sz="1000" b="0" i="1" smtClean="0">
                                <a:solidFill>
                                  <a:schemeClr val="tx2"/>
                                </a:solidFill>
                                <a:latin typeface="Cambria Math" panose="02040503050406030204" pitchFamily="18" charset="0"/>
                              </a:rPr>
                            </m:ctrlPr>
                          </m:sSubPr>
                          <m:e>
                            <m:r>
                              <a:rPr lang="en-US" sz="1000" b="0" i="1" smtClean="0">
                                <a:solidFill>
                                  <a:schemeClr val="tx2"/>
                                </a:solidFill>
                                <a:latin typeface="Cambria Math" panose="02040503050406030204" pitchFamily="18" charset="0"/>
                              </a:rPr>
                              <m:t>𝑡</m:t>
                            </m:r>
                          </m:e>
                          <m:sub>
                            <m:r>
                              <a:rPr lang="en-US" sz="1000" b="0" i="1" smtClean="0">
                                <a:solidFill>
                                  <a:schemeClr val="tx2"/>
                                </a:solidFill>
                                <a:latin typeface="Cambria Math" panose="02040503050406030204" pitchFamily="18" charset="0"/>
                              </a:rPr>
                              <m:t>𝑠𝑡𝑎𝑟𝑡</m:t>
                            </m:r>
                          </m:sub>
                        </m:sSub>
                      </m:oMath>
                    </m:oMathPara>
                  </a14:m>
                  <a:endParaRPr lang="en-GB" sz="1000" i="1" dirty="0">
                    <a:solidFill>
                      <a:schemeClr val="tx2"/>
                    </a:solidFill>
                  </a:endParaRPr>
                </a:p>
              </p:txBody>
            </p:sp>
          </mc:Choice>
          <mc:Fallback xmlns="">
            <p:sp>
              <p:nvSpPr>
                <p:cNvPr id="57" name="TextBox 56">
                  <a:extLst>
                    <a:ext uri="{FF2B5EF4-FFF2-40B4-BE49-F238E27FC236}">
                      <a16:creationId xmlns:a16="http://schemas.microsoft.com/office/drawing/2014/main" id="{E04570D6-C226-D1F6-14B8-496EC7BBF2AD}"/>
                    </a:ext>
                  </a:extLst>
                </p:cNvPr>
                <p:cNvSpPr txBox="1">
                  <a:spLocks noRot="1" noChangeAspect="1" noMove="1" noResize="1" noEditPoints="1" noAdjustHandles="1" noChangeArrowheads="1" noChangeShapeType="1" noTextEdit="1"/>
                </p:cNvSpPr>
                <p:nvPr/>
              </p:nvSpPr>
              <p:spPr>
                <a:xfrm>
                  <a:off x="3625303" y="3975818"/>
                  <a:ext cx="1024522" cy="214579"/>
                </a:xfrm>
                <a:prstGeom prst="rect">
                  <a:avLst/>
                </a:prstGeom>
                <a:blipFill>
                  <a:blip r:embed="rId7"/>
                  <a:stretch>
                    <a:fillRect b="-3571"/>
                  </a:stretch>
                </a:blipFill>
              </p:spPr>
              <p:txBody>
                <a:bodyPr/>
                <a:lstStyle/>
                <a:p>
                  <a:r>
                    <a:rPr lang="en-GB">
                      <a:noFill/>
                    </a:rPr>
                    <a:t> </a:t>
                  </a:r>
                </a:p>
              </p:txBody>
            </p:sp>
          </mc:Fallback>
        </mc:AlternateContent>
        <p:sp>
          <p:nvSpPr>
            <p:cNvPr id="58" name="Rectangle: Rounded Corners 57">
              <a:extLst>
                <a:ext uri="{FF2B5EF4-FFF2-40B4-BE49-F238E27FC236}">
                  <a16:creationId xmlns:a16="http://schemas.microsoft.com/office/drawing/2014/main" id="{983B4C02-6F3A-8223-BB18-0BE47BB93101}"/>
                </a:ext>
              </a:extLst>
            </p:cNvPr>
            <p:cNvSpPr/>
            <p:nvPr/>
          </p:nvSpPr>
          <p:spPr>
            <a:xfrm>
              <a:off x="6049751" y="3367861"/>
              <a:ext cx="1346185" cy="1149633"/>
            </a:xfrm>
            <a:prstGeom prst="roundRect">
              <a:avLst>
                <a:gd name="adj" fmla="val 12859"/>
              </a:avLst>
            </a:prstGeom>
            <a:solidFill>
              <a:srgbClr val="ACCBEA"/>
            </a:solidFill>
            <a:ln>
              <a:solidFill>
                <a:srgbClr val="0033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59" name="TextBox 58">
              <a:extLst>
                <a:ext uri="{FF2B5EF4-FFF2-40B4-BE49-F238E27FC236}">
                  <a16:creationId xmlns:a16="http://schemas.microsoft.com/office/drawing/2014/main" id="{B7FE9640-B125-EF00-9EAD-57425629EDAB}"/>
                </a:ext>
              </a:extLst>
            </p:cNvPr>
            <p:cNvSpPr txBox="1"/>
            <p:nvPr/>
          </p:nvSpPr>
          <p:spPr>
            <a:xfrm>
              <a:off x="6049751" y="3715230"/>
              <a:ext cx="1346185" cy="354057"/>
            </a:xfrm>
            <a:prstGeom prst="rect">
              <a:avLst/>
            </a:prstGeom>
            <a:noFill/>
          </p:spPr>
          <p:txBody>
            <a:bodyPr wrap="square">
              <a:spAutoFit/>
            </a:bodyPr>
            <a:lstStyle/>
            <a:p>
              <a:pPr algn="ctr"/>
              <a:r>
                <a:rPr lang="en-US" sz="1050" dirty="0" err="1"/>
                <a:t>TaskTrajectory</a:t>
              </a:r>
              <a:endParaRPr lang="en-GB" sz="1050" dirty="0"/>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A5FE0D5-087C-16C2-960A-BB80583E5E01}"/>
                    </a:ext>
                  </a:extLst>
                </p:cNvPr>
                <p:cNvSpPr txBox="1"/>
                <p:nvPr/>
              </p:nvSpPr>
              <p:spPr>
                <a:xfrm>
                  <a:off x="6211049" y="4003991"/>
                  <a:ext cx="1024522" cy="214579"/>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sSub>
                          <m:sSubPr>
                            <m:ctrlPr>
                              <a:rPr lang="en-US" sz="1000" b="0" i="1" smtClean="0">
                                <a:solidFill>
                                  <a:schemeClr val="tx2"/>
                                </a:solidFill>
                                <a:latin typeface="Cambria Math" panose="02040503050406030204" pitchFamily="18" charset="0"/>
                              </a:rPr>
                            </m:ctrlPr>
                          </m:sSubPr>
                          <m:e>
                            <m:r>
                              <a:rPr lang="en-US" sz="1000" b="0" i="1" smtClean="0">
                                <a:solidFill>
                                  <a:schemeClr val="tx2"/>
                                </a:solidFill>
                                <a:latin typeface="Cambria Math" panose="02040503050406030204" pitchFamily="18" charset="0"/>
                              </a:rPr>
                              <m:t>𝑡</m:t>
                            </m:r>
                          </m:e>
                          <m:sub>
                            <m:r>
                              <a:rPr lang="en-US" sz="1000" b="0" i="1" smtClean="0">
                                <a:solidFill>
                                  <a:schemeClr val="tx2"/>
                                </a:solidFill>
                                <a:latin typeface="Cambria Math" panose="02040503050406030204" pitchFamily="18" charset="0"/>
                              </a:rPr>
                              <m:t>𝑠𝑡𝑎𝑟𝑡</m:t>
                            </m:r>
                          </m:sub>
                        </m:sSub>
                        <m:r>
                          <a:rPr lang="en-US" sz="1000" b="0" i="1" smtClean="0">
                            <a:solidFill>
                              <a:schemeClr val="tx2"/>
                            </a:solidFill>
                            <a:latin typeface="Cambria Math" panose="02040503050406030204" pitchFamily="18" charset="0"/>
                          </a:rPr>
                          <m:t>=</m:t>
                        </m:r>
                        <m:sSub>
                          <m:sSubPr>
                            <m:ctrlPr>
                              <a:rPr lang="en-US" sz="1000" b="0" i="1" smtClean="0">
                                <a:solidFill>
                                  <a:schemeClr val="tx2"/>
                                </a:solidFill>
                                <a:latin typeface="Cambria Math" panose="02040503050406030204" pitchFamily="18" charset="0"/>
                              </a:rPr>
                            </m:ctrlPr>
                          </m:sSubPr>
                          <m:e>
                            <m:r>
                              <a:rPr lang="en-US" sz="1000" b="0" i="1" smtClean="0">
                                <a:solidFill>
                                  <a:schemeClr val="tx2"/>
                                </a:solidFill>
                                <a:latin typeface="Cambria Math" panose="02040503050406030204" pitchFamily="18" charset="0"/>
                              </a:rPr>
                              <m:t>𝑡</m:t>
                            </m:r>
                          </m:e>
                          <m:sub>
                            <m:r>
                              <a:rPr lang="en-US" sz="1000" b="0" i="1" smtClean="0">
                                <a:solidFill>
                                  <a:schemeClr val="tx2"/>
                                </a:solidFill>
                                <a:latin typeface="Cambria Math" panose="02040503050406030204" pitchFamily="18" charset="0"/>
                              </a:rPr>
                              <m:t>𝑒</m:t>
                            </m:r>
                          </m:sub>
                        </m:sSub>
                      </m:oMath>
                    </m:oMathPara>
                  </a14:m>
                  <a:endParaRPr lang="en-GB" sz="1000" i="1" dirty="0">
                    <a:solidFill>
                      <a:schemeClr val="tx2"/>
                    </a:solidFill>
                  </a:endParaRPr>
                </a:p>
              </p:txBody>
            </p:sp>
          </mc:Choice>
          <mc:Fallback xmlns="">
            <p:sp>
              <p:nvSpPr>
                <p:cNvPr id="60" name="TextBox 59">
                  <a:extLst>
                    <a:ext uri="{FF2B5EF4-FFF2-40B4-BE49-F238E27FC236}">
                      <a16:creationId xmlns:a16="http://schemas.microsoft.com/office/drawing/2014/main" id="{7A5FE0D5-087C-16C2-960A-BB80583E5E01}"/>
                    </a:ext>
                  </a:extLst>
                </p:cNvPr>
                <p:cNvSpPr txBox="1">
                  <a:spLocks noRot="1" noChangeAspect="1" noMove="1" noResize="1" noEditPoints="1" noAdjustHandles="1" noChangeArrowheads="1" noChangeShapeType="1" noTextEdit="1"/>
                </p:cNvSpPr>
                <p:nvPr/>
              </p:nvSpPr>
              <p:spPr>
                <a:xfrm>
                  <a:off x="6211049" y="4003991"/>
                  <a:ext cx="1024522" cy="214579"/>
                </a:xfrm>
                <a:prstGeom prst="rect">
                  <a:avLst/>
                </a:prstGeom>
                <a:blipFill>
                  <a:blip r:embed="rId8"/>
                  <a:stretch>
                    <a:fillRect b="-7407"/>
                  </a:stretch>
                </a:blipFill>
              </p:spPr>
              <p:txBody>
                <a:bodyPr/>
                <a:lstStyle/>
                <a:p>
                  <a:r>
                    <a:rPr lang="en-GB">
                      <a:noFill/>
                    </a:rPr>
                    <a:t> </a:t>
                  </a:r>
                </a:p>
              </p:txBody>
            </p:sp>
          </mc:Fallback>
        </mc:AlternateContent>
        <p:cxnSp>
          <p:nvCxnSpPr>
            <p:cNvPr id="61" name="Straight Arrow Connector 60">
              <a:extLst>
                <a:ext uri="{FF2B5EF4-FFF2-40B4-BE49-F238E27FC236}">
                  <a16:creationId xmlns:a16="http://schemas.microsoft.com/office/drawing/2014/main" id="{C5A91E75-970E-ACDD-9A45-14261FA7589C}"/>
                </a:ext>
              </a:extLst>
            </p:cNvPr>
            <p:cNvCxnSpPr>
              <a:cxnSpLocks/>
            </p:cNvCxnSpPr>
            <p:nvPr/>
          </p:nvCxnSpPr>
          <p:spPr>
            <a:xfrm>
              <a:off x="4798274" y="3975491"/>
              <a:ext cx="1240217" cy="0"/>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A7CA371E-568B-F531-9EF2-4744E86B2EDA}"/>
                </a:ext>
              </a:extLst>
            </p:cNvPr>
            <p:cNvCxnSpPr>
              <a:cxnSpLocks/>
            </p:cNvCxnSpPr>
            <p:nvPr/>
          </p:nvCxnSpPr>
          <p:spPr>
            <a:xfrm>
              <a:off x="4798274" y="4315764"/>
              <a:ext cx="1240217" cy="0"/>
            </a:xfrm>
            <a:prstGeom prst="straightConnector1">
              <a:avLst/>
            </a:prstGeom>
            <a:ln>
              <a:solidFill>
                <a:srgbClr val="303030"/>
              </a:solidFill>
              <a:tailEnd type="triangle"/>
            </a:ln>
          </p:spPr>
          <p:style>
            <a:lnRef idx="1">
              <a:schemeClr val="accent1"/>
            </a:lnRef>
            <a:fillRef idx="0">
              <a:schemeClr val="accent1"/>
            </a:fillRef>
            <a:effectRef idx="0">
              <a:schemeClr val="accent1"/>
            </a:effectRef>
            <a:fontRef idx="minor">
              <a:schemeClr val="tx1"/>
            </a:fontRef>
          </p:style>
        </p:cxnSp>
      </p:grpSp>
      <p:sp>
        <p:nvSpPr>
          <p:cNvPr id="82" name="Rectangle 81">
            <a:extLst>
              <a:ext uri="{FF2B5EF4-FFF2-40B4-BE49-F238E27FC236}">
                <a16:creationId xmlns:a16="http://schemas.microsoft.com/office/drawing/2014/main" id="{B41E2FFE-ADA6-9C08-237D-8B85B70A3001}"/>
              </a:ext>
            </a:extLst>
          </p:cNvPr>
          <p:cNvSpPr/>
          <p:nvPr/>
        </p:nvSpPr>
        <p:spPr>
          <a:xfrm>
            <a:off x="10814565" y="4427364"/>
            <a:ext cx="89179" cy="2077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F12CA4D-DD60-C4C6-04FA-3F29363AFF27}"/>
                  </a:ext>
                </a:extLst>
              </p:cNvPr>
              <p:cNvSpPr txBox="1"/>
              <p:nvPr/>
            </p:nvSpPr>
            <p:spPr>
              <a:xfrm>
                <a:off x="10793818" y="4540476"/>
                <a:ext cx="123755" cy="92333"/>
              </a:xfrm>
              <a:prstGeom prst="rect">
                <a:avLst/>
              </a:prstGeom>
              <a:noFill/>
            </p:spPr>
            <p:txBody>
              <a:bodyPr wrap="square" lIns="0" tIns="0" rIns="0" bIns="0" rtlCol="0">
                <a:spAutoFit/>
              </a:bodyPr>
              <a:lstStyle/>
              <a:p>
                <a:pPr algn="ctr"/>
                <a14:m>
                  <m:oMath xmlns:m="http://schemas.openxmlformats.org/officeDocument/2006/math">
                    <m:sSub>
                      <m:sSubPr>
                        <m:ctrlPr>
                          <a:rPr lang="en-US" sz="600" b="0" i="1" dirty="0" smtClean="0">
                            <a:solidFill>
                              <a:srgbClr val="2F2F2F"/>
                            </a:solidFill>
                            <a:latin typeface="Cambria Math" panose="02040503050406030204" pitchFamily="18" charset="0"/>
                          </a:rPr>
                        </m:ctrlPr>
                      </m:sSubPr>
                      <m:e>
                        <m:r>
                          <a:rPr lang="en-US" sz="600" b="0" i="1" dirty="0" smtClean="0">
                            <a:solidFill>
                              <a:srgbClr val="2F2F2F"/>
                            </a:solidFill>
                            <a:latin typeface="Cambria Math" panose="02040503050406030204" pitchFamily="18" charset="0"/>
                          </a:rPr>
                          <m:t>𝑎</m:t>
                        </m:r>
                      </m:e>
                      <m:sub>
                        <m:r>
                          <a:rPr lang="en-US" sz="600" b="0" i="1" dirty="0" smtClean="0">
                            <a:solidFill>
                              <a:srgbClr val="2F2F2F"/>
                            </a:solidFill>
                            <a:latin typeface="Cambria Math" panose="02040503050406030204" pitchFamily="18" charset="0"/>
                          </a:rPr>
                          <m:t>𝑧</m:t>
                        </m:r>
                      </m:sub>
                    </m:sSub>
                  </m:oMath>
                </a14:m>
                <a:r>
                  <a:rPr lang="en-US" sz="600" b="0" dirty="0">
                    <a:solidFill>
                      <a:srgbClr val="2F2F2F"/>
                    </a:solidFill>
                  </a:rPr>
                  <a:t> </a:t>
                </a:r>
              </a:p>
            </p:txBody>
          </p:sp>
        </mc:Choice>
        <mc:Fallback xmlns="">
          <p:sp>
            <p:nvSpPr>
              <p:cNvPr id="21" name="TextBox 20">
                <a:extLst>
                  <a:ext uri="{FF2B5EF4-FFF2-40B4-BE49-F238E27FC236}">
                    <a16:creationId xmlns:a16="http://schemas.microsoft.com/office/drawing/2014/main" id="{6F12CA4D-DD60-C4C6-04FA-3F29363AFF27}"/>
                  </a:ext>
                </a:extLst>
              </p:cNvPr>
              <p:cNvSpPr txBox="1">
                <a:spLocks noRot="1" noChangeAspect="1" noMove="1" noResize="1" noEditPoints="1" noAdjustHandles="1" noChangeArrowheads="1" noChangeShapeType="1" noTextEdit="1"/>
              </p:cNvSpPr>
              <p:nvPr/>
            </p:nvSpPr>
            <p:spPr>
              <a:xfrm>
                <a:off x="10793818" y="4540476"/>
                <a:ext cx="123755" cy="92333"/>
              </a:xfrm>
              <a:prstGeom prst="rect">
                <a:avLst/>
              </a:prstGeom>
              <a:blipFill>
                <a:blip r:embed="rId9"/>
                <a:stretch>
                  <a:fillRect l="-5000"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B4EE5F1-C484-BC90-6D80-606C2730F50D}"/>
                  </a:ext>
                </a:extLst>
              </p:cNvPr>
              <p:cNvSpPr txBox="1"/>
              <p:nvPr/>
            </p:nvSpPr>
            <p:spPr>
              <a:xfrm>
                <a:off x="10793817" y="4460901"/>
                <a:ext cx="123755" cy="99579"/>
              </a:xfrm>
              <a:prstGeom prst="rect">
                <a:avLst/>
              </a:prstGeom>
              <a:noFill/>
            </p:spPr>
            <p:txBody>
              <a:bodyPr wrap="square" lIns="0" tIns="0" rIns="0" bIns="0" rtlCol="0">
                <a:spAutoFit/>
              </a:bodyPr>
              <a:lstStyle/>
              <a:p>
                <a:pPr algn="ctr"/>
                <a14:m>
                  <m:oMath xmlns:m="http://schemas.openxmlformats.org/officeDocument/2006/math">
                    <m:sSub>
                      <m:sSubPr>
                        <m:ctrlPr>
                          <a:rPr lang="en-US" sz="600" b="0" i="1" dirty="0" smtClean="0">
                            <a:solidFill>
                              <a:srgbClr val="2F2F2F"/>
                            </a:solidFill>
                            <a:latin typeface="Cambria Math" panose="02040503050406030204" pitchFamily="18" charset="0"/>
                          </a:rPr>
                        </m:ctrlPr>
                      </m:sSubPr>
                      <m:e>
                        <m:r>
                          <a:rPr lang="en-US" sz="600" b="0" i="1" dirty="0" smtClean="0">
                            <a:solidFill>
                              <a:srgbClr val="2F2F2F"/>
                            </a:solidFill>
                            <a:latin typeface="Cambria Math" panose="02040503050406030204" pitchFamily="18" charset="0"/>
                          </a:rPr>
                          <m:t>𝑎</m:t>
                        </m:r>
                      </m:e>
                      <m:sub>
                        <m:r>
                          <a:rPr lang="en-US" sz="600" b="0" i="1" dirty="0" smtClean="0">
                            <a:solidFill>
                              <a:srgbClr val="2F2F2F"/>
                            </a:solidFill>
                            <a:latin typeface="Cambria Math" panose="02040503050406030204" pitchFamily="18" charset="0"/>
                          </a:rPr>
                          <m:t>𝑦</m:t>
                        </m:r>
                      </m:sub>
                    </m:sSub>
                  </m:oMath>
                </a14:m>
                <a:r>
                  <a:rPr lang="en-US" sz="600" b="0" dirty="0">
                    <a:solidFill>
                      <a:srgbClr val="2F2F2F"/>
                    </a:solidFill>
                  </a:rPr>
                  <a:t> </a:t>
                </a:r>
              </a:p>
            </p:txBody>
          </p:sp>
        </mc:Choice>
        <mc:Fallback xmlns="">
          <p:sp>
            <p:nvSpPr>
              <p:cNvPr id="22" name="TextBox 21">
                <a:extLst>
                  <a:ext uri="{FF2B5EF4-FFF2-40B4-BE49-F238E27FC236}">
                    <a16:creationId xmlns:a16="http://schemas.microsoft.com/office/drawing/2014/main" id="{BB4EE5F1-C484-BC90-6D80-606C2730F50D}"/>
                  </a:ext>
                </a:extLst>
              </p:cNvPr>
              <p:cNvSpPr txBox="1">
                <a:spLocks noRot="1" noChangeAspect="1" noMove="1" noResize="1" noEditPoints="1" noAdjustHandles="1" noChangeArrowheads="1" noChangeShapeType="1" noTextEdit="1"/>
              </p:cNvSpPr>
              <p:nvPr/>
            </p:nvSpPr>
            <p:spPr>
              <a:xfrm>
                <a:off x="10793817" y="4460901"/>
                <a:ext cx="123755" cy="99579"/>
              </a:xfrm>
              <a:prstGeom prst="rect">
                <a:avLst/>
              </a:prstGeom>
              <a:blipFill>
                <a:blip r:embed="rId10"/>
                <a:stretch>
                  <a:fillRect l="-5000" r="-5000" b="-3125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9DFAF72C-6B62-EE77-66E4-77B175536CFF}"/>
                  </a:ext>
                </a:extLst>
              </p:cNvPr>
              <p:cNvSpPr txBox="1"/>
              <p:nvPr/>
            </p:nvSpPr>
            <p:spPr>
              <a:xfrm>
                <a:off x="10793816" y="4394774"/>
                <a:ext cx="123755" cy="92333"/>
              </a:xfrm>
              <a:prstGeom prst="rect">
                <a:avLst/>
              </a:prstGeom>
              <a:noFill/>
            </p:spPr>
            <p:txBody>
              <a:bodyPr wrap="square" lIns="0" tIns="0" rIns="0" bIns="0" rtlCol="0">
                <a:spAutoFit/>
              </a:bodyPr>
              <a:lstStyle/>
              <a:p>
                <a:pPr algn="ctr"/>
                <a14:m>
                  <m:oMath xmlns:m="http://schemas.openxmlformats.org/officeDocument/2006/math">
                    <m:sSub>
                      <m:sSubPr>
                        <m:ctrlPr>
                          <a:rPr lang="en-US" sz="600" b="0" i="1" dirty="0" smtClean="0">
                            <a:solidFill>
                              <a:srgbClr val="2F2F2F"/>
                            </a:solidFill>
                            <a:latin typeface="Cambria Math" panose="02040503050406030204" pitchFamily="18" charset="0"/>
                          </a:rPr>
                        </m:ctrlPr>
                      </m:sSubPr>
                      <m:e>
                        <m:r>
                          <a:rPr lang="en-US" sz="600" b="0" i="1" dirty="0" smtClean="0">
                            <a:solidFill>
                              <a:srgbClr val="2F2F2F"/>
                            </a:solidFill>
                            <a:latin typeface="Cambria Math" panose="02040503050406030204" pitchFamily="18" charset="0"/>
                          </a:rPr>
                          <m:t>𝑎</m:t>
                        </m:r>
                      </m:e>
                      <m:sub>
                        <m:r>
                          <a:rPr lang="en-US" sz="600" b="0" i="1" dirty="0" smtClean="0">
                            <a:solidFill>
                              <a:srgbClr val="2F2F2F"/>
                            </a:solidFill>
                            <a:latin typeface="Cambria Math" panose="02040503050406030204" pitchFamily="18" charset="0"/>
                          </a:rPr>
                          <m:t>𝑥</m:t>
                        </m:r>
                      </m:sub>
                    </m:sSub>
                  </m:oMath>
                </a14:m>
                <a:r>
                  <a:rPr lang="en-US" sz="600" b="0" dirty="0">
                    <a:solidFill>
                      <a:srgbClr val="2F2F2F"/>
                    </a:solidFill>
                  </a:rPr>
                  <a:t> </a:t>
                </a:r>
              </a:p>
            </p:txBody>
          </p:sp>
        </mc:Choice>
        <mc:Fallback xmlns="">
          <p:sp>
            <p:nvSpPr>
              <p:cNvPr id="23" name="TextBox 22">
                <a:extLst>
                  <a:ext uri="{FF2B5EF4-FFF2-40B4-BE49-F238E27FC236}">
                    <a16:creationId xmlns:a16="http://schemas.microsoft.com/office/drawing/2014/main" id="{9DFAF72C-6B62-EE77-66E4-77B175536CFF}"/>
                  </a:ext>
                </a:extLst>
              </p:cNvPr>
              <p:cNvSpPr txBox="1">
                <a:spLocks noRot="1" noChangeAspect="1" noMove="1" noResize="1" noEditPoints="1" noAdjustHandles="1" noChangeArrowheads="1" noChangeShapeType="1" noTextEdit="1"/>
              </p:cNvSpPr>
              <p:nvPr/>
            </p:nvSpPr>
            <p:spPr>
              <a:xfrm>
                <a:off x="10793816" y="4394774"/>
                <a:ext cx="123755" cy="92333"/>
              </a:xfrm>
              <a:prstGeom prst="rect">
                <a:avLst/>
              </a:prstGeom>
              <a:blipFill>
                <a:blip r:embed="rId11"/>
                <a:stretch>
                  <a:fillRect l="-5000" b="-20000"/>
                </a:stretch>
              </a:blipFill>
            </p:spPr>
            <p:txBody>
              <a:bodyPr/>
              <a:lstStyle/>
              <a:p>
                <a:r>
                  <a:rPr lang="en-GB">
                    <a:noFill/>
                  </a:rPr>
                  <a:t> </a:t>
                </a:r>
              </a:p>
            </p:txBody>
          </p:sp>
        </mc:Fallback>
      </mc:AlternateContent>
      <p:sp>
        <p:nvSpPr>
          <p:cNvPr id="83" name="Rectangle 82">
            <a:extLst>
              <a:ext uri="{FF2B5EF4-FFF2-40B4-BE49-F238E27FC236}">
                <a16:creationId xmlns:a16="http://schemas.microsoft.com/office/drawing/2014/main" id="{8E03729C-A359-ADEA-9D63-261E6B44C313}"/>
              </a:ext>
            </a:extLst>
          </p:cNvPr>
          <p:cNvSpPr/>
          <p:nvPr/>
        </p:nvSpPr>
        <p:spPr>
          <a:xfrm>
            <a:off x="8383770" y="827474"/>
            <a:ext cx="103006" cy="1940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515798B-8F2D-F0BF-3364-4AB76F22A90A}"/>
                  </a:ext>
                </a:extLst>
              </p:cNvPr>
              <p:cNvSpPr txBox="1"/>
              <p:nvPr/>
            </p:nvSpPr>
            <p:spPr>
              <a:xfrm>
                <a:off x="8368243" y="958780"/>
                <a:ext cx="123755" cy="92333"/>
              </a:xfrm>
              <a:prstGeom prst="rect">
                <a:avLst/>
              </a:prstGeom>
              <a:noFill/>
            </p:spPr>
            <p:txBody>
              <a:bodyPr wrap="square" lIns="0" tIns="0" rIns="0" bIns="0" rtlCol="0">
                <a:spAutoFit/>
              </a:bodyPr>
              <a:lstStyle/>
              <a:p>
                <a:pPr algn="ctr"/>
                <a14:m>
                  <m:oMath xmlns:m="http://schemas.openxmlformats.org/officeDocument/2006/math">
                    <m:r>
                      <a:rPr lang="en-US" sz="600" b="0" i="1" smtClean="0">
                        <a:solidFill>
                          <a:srgbClr val="2F2F2F"/>
                        </a:solidFill>
                        <a:latin typeface="Cambria Math" panose="02040503050406030204" pitchFamily="18" charset="0"/>
                      </a:rPr>
                      <m:t>𝑧</m:t>
                    </m:r>
                  </m:oMath>
                </a14:m>
                <a:r>
                  <a:rPr lang="en-US" sz="600" b="0" dirty="0">
                    <a:solidFill>
                      <a:srgbClr val="2F2F2F"/>
                    </a:solidFill>
                  </a:rPr>
                  <a:t> </a:t>
                </a:r>
              </a:p>
            </p:txBody>
          </p:sp>
        </mc:Choice>
        <mc:Fallback xmlns="">
          <p:sp>
            <p:nvSpPr>
              <p:cNvPr id="16" name="TextBox 15">
                <a:extLst>
                  <a:ext uri="{FF2B5EF4-FFF2-40B4-BE49-F238E27FC236}">
                    <a16:creationId xmlns:a16="http://schemas.microsoft.com/office/drawing/2014/main" id="{5515798B-8F2D-F0BF-3364-4AB76F22A90A}"/>
                  </a:ext>
                </a:extLst>
              </p:cNvPr>
              <p:cNvSpPr txBox="1">
                <a:spLocks noRot="1" noChangeAspect="1" noMove="1" noResize="1" noEditPoints="1" noAdjustHandles="1" noChangeArrowheads="1" noChangeShapeType="1" noTextEdit="1"/>
              </p:cNvSpPr>
              <p:nvPr/>
            </p:nvSpPr>
            <p:spPr>
              <a:xfrm>
                <a:off x="8368243" y="958780"/>
                <a:ext cx="123755" cy="92333"/>
              </a:xfrm>
              <a:prstGeom prst="rect">
                <a:avLst/>
              </a:prstGeom>
              <a:blipFill>
                <a:blip r:embed="rId12"/>
                <a:stretch>
                  <a:fillRect b="-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C3BB4DF-A788-B7A4-4626-02AC72455C62}"/>
                  </a:ext>
                </a:extLst>
              </p:cNvPr>
              <p:cNvSpPr txBox="1"/>
              <p:nvPr/>
            </p:nvSpPr>
            <p:spPr>
              <a:xfrm>
                <a:off x="8370724" y="876881"/>
                <a:ext cx="123755" cy="92333"/>
              </a:xfrm>
              <a:prstGeom prst="rect">
                <a:avLst/>
              </a:prstGeom>
              <a:noFill/>
            </p:spPr>
            <p:txBody>
              <a:bodyPr wrap="square" lIns="0" tIns="0" rIns="0" bIns="0" rtlCol="0">
                <a:spAutoFit/>
              </a:bodyPr>
              <a:lstStyle/>
              <a:p>
                <a:pPr algn="ctr"/>
                <a14:m>
                  <m:oMath xmlns:m="http://schemas.openxmlformats.org/officeDocument/2006/math">
                    <m:r>
                      <a:rPr lang="en-US" sz="600" b="0" i="1" smtClean="0">
                        <a:solidFill>
                          <a:srgbClr val="2F2F2F"/>
                        </a:solidFill>
                        <a:latin typeface="Cambria Math" panose="02040503050406030204" pitchFamily="18" charset="0"/>
                      </a:rPr>
                      <m:t>𝑦</m:t>
                    </m:r>
                  </m:oMath>
                </a14:m>
                <a:r>
                  <a:rPr lang="en-US" sz="600" b="0" dirty="0">
                    <a:solidFill>
                      <a:srgbClr val="2F2F2F"/>
                    </a:solidFill>
                  </a:rPr>
                  <a:t> </a:t>
                </a:r>
              </a:p>
            </p:txBody>
          </p:sp>
        </mc:Choice>
        <mc:Fallback xmlns="">
          <p:sp>
            <p:nvSpPr>
              <p:cNvPr id="15" name="TextBox 14">
                <a:extLst>
                  <a:ext uri="{FF2B5EF4-FFF2-40B4-BE49-F238E27FC236}">
                    <a16:creationId xmlns:a16="http://schemas.microsoft.com/office/drawing/2014/main" id="{3C3BB4DF-A788-B7A4-4626-02AC72455C62}"/>
                  </a:ext>
                </a:extLst>
              </p:cNvPr>
              <p:cNvSpPr txBox="1">
                <a:spLocks noRot="1" noChangeAspect="1" noMove="1" noResize="1" noEditPoints="1" noAdjustHandles="1" noChangeArrowheads="1" noChangeShapeType="1" noTextEdit="1"/>
              </p:cNvSpPr>
              <p:nvPr/>
            </p:nvSpPr>
            <p:spPr>
              <a:xfrm>
                <a:off x="8370724" y="876881"/>
                <a:ext cx="123755" cy="92333"/>
              </a:xfrm>
              <a:prstGeom prst="rect">
                <a:avLst/>
              </a:prstGeom>
              <a:blipFill>
                <a:blip r:embed="rId13"/>
                <a:stretch>
                  <a:fillRect b="-3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40E542E-D201-A53D-51B8-0F566B9B9F7F}"/>
                  </a:ext>
                </a:extLst>
              </p:cNvPr>
              <p:cNvSpPr txBox="1"/>
              <p:nvPr/>
            </p:nvSpPr>
            <p:spPr>
              <a:xfrm>
                <a:off x="8370724" y="804680"/>
                <a:ext cx="123755" cy="92333"/>
              </a:xfrm>
              <a:prstGeom prst="rect">
                <a:avLst/>
              </a:prstGeom>
              <a:noFill/>
            </p:spPr>
            <p:txBody>
              <a:bodyPr wrap="square" lIns="0" tIns="0" rIns="0" bIns="0" rtlCol="0">
                <a:spAutoFit/>
              </a:bodyPr>
              <a:lstStyle/>
              <a:p>
                <a:pPr algn="ctr"/>
                <a14:m>
                  <m:oMath xmlns:m="http://schemas.openxmlformats.org/officeDocument/2006/math">
                    <m:r>
                      <a:rPr lang="en-US" sz="600" b="0" i="1" dirty="0" smtClean="0">
                        <a:solidFill>
                          <a:srgbClr val="2F2F2F"/>
                        </a:solidFill>
                        <a:latin typeface="Cambria Math" panose="02040503050406030204" pitchFamily="18" charset="0"/>
                      </a:rPr>
                      <m:t>𝑥</m:t>
                    </m:r>
                  </m:oMath>
                </a14:m>
                <a:r>
                  <a:rPr lang="en-US" sz="600" b="0" dirty="0">
                    <a:solidFill>
                      <a:srgbClr val="2F2F2F"/>
                    </a:solidFill>
                  </a:rPr>
                  <a:t> </a:t>
                </a:r>
              </a:p>
            </p:txBody>
          </p:sp>
        </mc:Choice>
        <mc:Fallback xmlns="">
          <p:sp>
            <p:nvSpPr>
              <p:cNvPr id="13" name="TextBox 12">
                <a:extLst>
                  <a:ext uri="{FF2B5EF4-FFF2-40B4-BE49-F238E27FC236}">
                    <a16:creationId xmlns:a16="http://schemas.microsoft.com/office/drawing/2014/main" id="{940E542E-D201-A53D-51B8-0F566B9B9F7F}"/>
                  </a:ext>
                </a:extLst>
              </p:cNvPr>
              <p:cNvSpPr txBox="1">
                <a:spLocks noRot="1" noChangeAspect="1" noMove="1" noResize="1" noEditPoints="1" noAdjustHandles="1" noChangeArrowheads="1" noChangeShapeType="1" noTextEdit="1"/>
              </p:cNvSpPr>
              <p:nvPr/>
            </p:nvSpPr>
            <p:spPr>
              <a:xfrm>
                <a:off x="8370724" y="804680"/>
                <a:ext cx="123755" cy="92333"/>
              </a:xfrm>
              <a:prstGeom prst="rect">
                <a:avLst/>
              </a:prstGeom>
              <a:blipFill>
                <a:blip r:embed="rId14"/>
                <a:stretch>
                  <a:fillRect b="-6667"/>
                </a:stretch>
              </a:blipFill>
            </p:spPr>
            <p:txBody>
              <a:bodyPr/>
              <a:lstStyle/>
              <a:p>
                <a:r>
                  <a:rPr lang="en-GB">
                    <a:noFill/>
                  </a:rPr>
                  <a:t> </a:t>
                </a:r>
              </a:p>
            </p:txBody>
          </p:sp>
        </mc:Fallback>
      </mc:AlternateContent>
      <p:sp>
        <p:nvSpPr>
          <p:cNvPr id="2" name="Rectangle 1">
            <a:extLst>
              <a:ext uri="{FF2B5EF4-FFF2-40B4-BE49-F238E27FC236}">
                <a16:creationId xmlns:a16="http://schemas.microsoft.com/office/drawing/2014/main" id="{CB37D2EB-8BDB-75A2-9231-6CED9FA4BFFB}"/>
              </a:ext>
            </a:extLst>
          </p:cNvPr>
          <p:cNvSpPr/>
          <p:nvPr/>
        </p:nvSpPr>
        <p:spPr>
          <a:xfrm>
            <a:off x="8824721" y="4387133"/>
            <a:ext cx="253690" cy="1797188"/>
          </a:xfrm>
          <a:prstGeom prst="rect">
            <a:avLst/>
          </a:prstGeom>
          <a:solidFill>
            <a:srgbClr val="FF0000">
              <a:alpha val="2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846AC7AF-082C-6FB5-BC3E-DD2A02743BD4}"/>
              </a:ext>
            </a:extLst>
          </p:cNvPr>
          <p:cNvSpPr/>
          <p:nvPr/>
        </p:nvSpPr>
        <p:spPr>
          <a:xfrm>
            <a:off x="9904486" y="4362329"/>
            <a:ext cx="253690" cy="1797188"/>
          </a:xfrm>
          <a:prstGeom prst="rect">
            <a:avLst/>
          </a:prstGeom>
          <a:solidFill>
            <a:srgbClr val="FF0000">
              <a:alpha val="2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5" name="Picture 24">
            <a:extLst>
              <a:ext uri="{FF2B5EF4-FFF2-40B4-BE49-F238E27FC236}">
                <a16:creationId xmlns:a16="http://schemas.microsoft.com/office/drawing/2014/main" id="{EE3D6268-51B4-36C3-D5CC-71ACD3D63B34}"/>
              </a:ext>
            </a:extLst>
          </p:cNvPr>
          <p:cNvPicPr>
            <a:picLocks noChangeAspect="1"/>
          </p:cNvPicPr>
          <p:nvPr/>
        </p:nvPicPr>
        <p:blipFill>
          <a:blip r:embed="rId15"/>
          <a:stretch>
            <a:fillRect/>
          </a:stretch>
        </p:blipFill>
        <p:spPr>
          <a:xfrm>
            <a:off x="7839774" y="2465691"/>
            <a:ext cx="3309202" cy="1771077"/>
          </a:xfrm>
          <a:prstGeom prst="rect">
            <a:avLst/>
          </a:prstGeom>
        </p:spPr>
      </p:pic>
      <p:sp>
        <p:nvSpPr>
          <p:cNvPr id="12" name="TextBox 11">
            <a:extLst>
              <a:ext uri="{FF2B5EF4-FFF2-40B4-BE49-F238E27FC236}">
                <a16:creationId xmlns:a16="http://schemas.microsoft.com/office/drawing/2014/main" id="{1E9D1238-8542-EAA9-4A9C-CC272A011210}"/>
              </a:ext>
            </a:extLst>
          </p:cNvPr>
          <p:cNvSpPr txBox="1"/>
          <p:nvPr/>
        </p:nvSpPr>
        <p:spPr>
          <a:xfrm>
            <a:off x="8298091" y="4218902"/>
            <a:ext cx="2508181" cy="161583"/>
          </a:xfrm>
          <a:prstGeom prst="rect">
            <a:avLst/>
          </a:prstGeom>
          <a:solidFill>
            <a:schemeClr val="bg1"/>
          </a:solidFill>
        </p:spPr>
        <p:txBody>
          <a:bodyPr wrap="square" lIns="0" tIns="0" rIns="0" bIns="0" rtlCol="0">
            <a:spAutoFit/>
          </a:bodyPr>
          <a:lstStyle/>
          <a:p>
            <a:pPr algn="ctr"/>
            <a:r>
              <a:rPr lang="en-US" sz="1050" b="1" dirty="0">
                <a:solidFill>
                  <a:srgbClr val="2F2F2F"/>
                </a:solidFill>
              </a:rPr>
              <a:t>Linear acceleration vs time</a:t>
            </a:r>
          </a:p>
        </p:txBody>
      </p:sp>
    </p:spTree>
    <p:extLst>
      <p:ext uri="{BB962C8B-B14F-4D97-AF65-F5344CB8AC3E}">
        <p14:creationId xmlns:p14="http://schemas.microsoft.com/office/powerpoint/2010/main" val="268278752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4"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Future Work – Analytical Convergence Check</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66</a:t>
            </a:fld>
            <a:endParaRPr lang="en-US" dirty="0"/>
          </a:p>
        </p:txBody>
      </p:sp>
      <p:sp>
        <p:nvSpPr>
          <p:cNvPr id="7" name="TextBox 6">
            <a:extLst>
              <a:ext uri="{FF2B5EF4-FFF2-40B4-BE49-F238E27FC236}">
                <a16:creationId xmlns:a16="http://schemas.microsoft.com/office/drawing/2014/main" id="{B4A48ADE-FCE7-CEDC-2233-BF0E65FBCBC3}"/>
              </a:ext>
            </a:extLst>
          </p:cNvPr>
          <p:cNvSpPr txBox="1"/>
          <p:nvPr/>
        </p:nvSpPr>
        <p:spPr>
          <a:xfrm>
            <a:off x="504081" y="1249331"/>
            <a:ext cx="9659094" cy="276999"/>
          </a:xfrm>
          <a:prstGeom prst="rect">
            <a:avLst/>
          </a:prstGeom>
          <a:noFill/>
        </p:spPr>
        <p:txBody>
          <a:bodyPr wrap="square" lIns="0" tIns="0" rIns="0" bIns="0" rtlCol="0">
            <a:spAutoFit/>
          </a:bodyPr>
          <a:lstStyle/>
          <a:p>
            <a:r>
              <a:rPr lang="en-US" dirty="0">
                <a:solidFill>
                  <a:srgbClr val="2F2F2F"/>
                </a:solidFill>
              </a:rPr>
              <a:t>2</a:t>
            </a:r>
            <a:r>
              <a:rPr lang="en-US" b="0" dirty="0">
                <a:solidFill>
                  <a:srgbClr val="2F2F2F"/>
                </a:solidFill>
              </a:rPr>
              <a:t>. Check for convergence issues analytically</a:t>
            </a:r>
          </a:p>
        </p:txBody>
      </p:sp>
      <p:pic>
        <p:nvPicPr>
          <p:cNvPr id="14" name="Picture 13">
            <a:extLst>
              <a:ext uri="{FF2B5EF4-FFF2-40B4-BE49-F238E27FC236}">
                <a16:creationId xmlns:a16="http://schemas.microsoft.com/office/drawing/2014/main" id="{C164EF25-88A7-F3B9-DDD4-B7582F44306E}"/>
              </a:ext>
            </a:extLst>
          </p:cNvPr>
          <p:cNvPicPr>
            <a:picLocks noChangeAspect="1"/>
          </p:cNvPicPr>
          <p:nvPr/>
        </p:nvPicPr>
        <p:blipFill>
          <a:blip r:embed="rId3"/>
          <a:stretch>
            <a:fillRect/>
          </a:stretch>
        </p:blipFill>
        <p:spPr>
          <a:xfrm>
            <a:off x="3185705" y="1794140"/>
            <a:ext cx="5820589" cy="4310901"/>
          </a:xfrm>
          <a:prstGeom prst="rect">
            <a:avLst/>
          </a:prstGeom>
        </p:spPr>
      </p:pic>
    </p:spTree>
    <p:extLst>
      <p:ext uri="{BB962C8B-B14F-4D97-AF65-F5344CB8AC3E}">
        <p14:creationId xmlns:p14="http://schemas.microsoft.com/office/powerpoint/2010/main" val="27307414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Future Work – Analytical Convergence Check</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67</a:t>
            </a:fld>
            <a:endParaRPr lang="en-US" dirty="0"/>
          </a:p>
        </p:txBody>
      </p:sp>
      <p:sp>
        <p:nvSpPr>
          <p:cNvPr id="7" name="TextBox 6">
            <a:extLst>
              <a:ext uri="{FF2B5EF4-FFF2-40B4-BE49-F238E27FC236}">
                <a16:creationId xmlns:a16="http://schemas.microsoft.com/office/drawing/2014/main" id="{B4A48ADE-FCE7-CEDC-2233-BF0E65FBCBC3}"/>
              </a:ext>
            </a:extLst>
          </p:cNvPr>
          <p:cNvSpPr txBox="1"/>
          <p:nvPr/>
        </p:nvSpPr>
        <p:spPr>
          <a:xfrm>
            <a:off x="504081" y="1249331"/>
            <a:ext cx="9659094" cy="276999"/>
          </a:xfrm>
          <a:prstGeom prst="rect">
            <a:avLst/>
          </a:prstGeom>
          <a:noFill/>
        </p:spPr>
        <p:txBody>
          <a:bodyPr wrap="square" lIns="0" tIns="0" rIns="0" bIns="0" rtlCol="0">
            <a:spAutoFit/>
          </a:bodyPr>
          <a:lstStyle/>
          <a:p>
            <a:r>
              <a:rPr lang="en-US" dirty="0">
                <a:solidFill>
                  <a:srgbClr val="2F2F2F"/>
                </a:solidFill>
              </a:rPr>
              <a:t>2</a:t>
            </a:r>
            <a:r>
              <a:rPr lang="en-US" b="0" dirty="0">
                <a:solidFill>
                  <a:srgbClr val="2F2F2F"/>
                </a:solidFill>
              </a:rPr>
              <a:t>. Check for convergence issues analytically</a:t>
            </a:r>
          </a:p>
        </p:txBody>
      </p:sp>
      <p:sp>
        <p:nvSpPr>
          <p:cNvPr id="33" name="TextBox 32">
            <a:extLst>
              <a:ext uri="{FF2B5EF4-FFF2-40B4-BE49-F238E27FC236}">
                <a16:creationId xmlns:a16="http://schemas.microsoft.com/office/drawing/2014/main" id="{AA9E89A9-6BB6-D5F8-938E-B34F14A5AAC4}"/>
              </a:ext>
            </a:extLst>
          </p:cNvPr>
          <p:cNvSpPr txBox="1"/>
          <p:nvPr/>
        </p:nvSpPr>
        <p:spPr>
          <a:xfrm>
            <a:off x="6791579" y="1867118"/>
            <a:ext cx="3505429" cy="364202"/>
          </a:xfrm>
          <a:prstGeom prst="rect">
            <a:avLst/>
          </a:prstGeom>
          <a:noFill/>
        </p:spPr>
        <p:txBody>
          <a:bodyPr wrap="square" lIns="0" tIns="0" rIns="0" bIns="0" rtlCol="0">
            <a:spAutoFit/>
          </a:bodyPr>
          <a:lstStyle/>
          <a:p>
            <a:pPr>
              <a:lnSpc>
                <a:spcPct val="150000"/>
              </a:lnSpc>
            </a:pPr>
            <a:r>
              <a:rPr lang="en-US" b="0" dirty="0">
                <a:solidFill>
                  <a:srgbClr val="2F2F2F"/>
                </a:solidFill>
              </a:rPr>
              <a:t>Time instances too close together</a:t>
            </a:r>
            <a:endParaRPr lang="en-US" dirty="0">
              <a:solidFill>
                <a:srgbClr val="2F2F2F"/>
              </a:solidFill>
            </a:endParaRPr>
          </a:p>
        </p:txBody>
      </p:sp>
      <p:sp>
        <p:nvSpPr>
          <p:cNvPr id="47" name="TextBox 46">
            <a:extLst>
              <a:ext uri="{FF2B5EF4-FFF2-40B4-BE49-F238E27FC236}">
                <a16:creationId xmlns:a16="http://schemas.microsoft.com/office/drawing/2014/main" id="{1E68458F-6FF5-B80A-3E37-A53C63B1D801}"/>
              </a:ext>
            </a:extLst>
          </p:cNvPr>
          <p:cNvSpPr txBox="1"/>
          <p:nvPr/>
        </p:nvSpPr>
        <p:spPr>
          <a:xfrm>
            <a:off x="6813223" y="3007295"/>
            <a:ext cx="4975578" cy="553998"/>
          </a:xfrm>
          <a:prstGeom prst="rect">
            <a:avLst/>
          </a:prstGeom>
          <a:noFill/>
        </p:spPr>
        <p:txBody>
          <a:bodyPr wrap="square" lIns="0" tIns="0" rIns="0" bIns="0" rtlCol="0">
            <a:spAutoFit/>
          </a:bodyPr>
          <a:lstStyle/>
          <a:p>
            <a:r>
              <a:rPr lang="en-US" b="0" dirty="0">
                <a:solidFill>
                  <a:srgbClr val="2F2F2F"/>
                </a:solidFill>
              </a:rPr>
              <a:t>Time instances too far apart for a given endpoint vel</a:t>
            </a:r>
            <a:r>
              <a:rPr lang="en-US" dirty="0">
                <a:solidFill>
                  <a:srgbClr val="2F2F2F"/>
                </a:solidFill>
              </a:rPr>
              <a:t>ocity</a:t>
            </a:r>
            <a:endParaRPr lang="en-US" b="0" dirty="0">
              <a:solidFill>
                <a:srgbClr val="2F2F2F"/>
              </a:solidFill>
            </a:endParaRPr>
          </a:p>
        </p:txBody>
      </p:sp>
      <p:pic>
        <p:nvPicPr>
          <p:cNvPr id="58" name="Picture 57" descr="A graph of different types of graphs&#10;&#10;Description automatically generated with medium confidence">
            <a:extLst>
              <a:ext uri="{FF2B5EF4-FFF2-40B4-BE49-F238E27FC236}">
                <a16:creationId xmlns:a16="http://schemas.microsoft.com/office/drawing/2014/main" id="{7A80E14C-F3C0-D123-2789-7097A3813A14}"/>
              </a:ext>
            </a:extLst>
          </p:cNvPr>
          <p:cNvPicPr>
            <a:picLocks noChangeAspect="1"/>
          </p:cNvPicPr>
          <p:nvPr/>
        </p:nvPicPr>
        <p:blipFill rotWithShape="1">
          <a:blip r:embed="rId3"/>
          <a:srcRect t="5213" b="64313"/>
          <a:stretch/>
        </p:blipFill>
        <p:spPr>
          <a:xfrm>
            <a:off x="6791579" y="3742921"/>
            <a:ext cx="4656594" cy="2459299"/>
          </a:xfrm>
          <a:prstGeom prst="rect">
            <a:avLst/>
          </a:prstGeom>
        </p:spPr>
      </p:pic>
      <p:pic>
        <p:nvPicPr>
          <p:cNvPr id="11" name="Picture 10">
            <a:extLst>
              <a:ext uri="{FF2B5EF4-FFF2-40B4-BE49-F238E27FC236}">
                <a16:creationId xmlns:a16="http://schemas.microsoft.com/office/drawing/2014/main" id="{9A8B4D0D-3FB0-2B2D-61C1-360B8FEF4B75}"/>
              </a:ext>
            </a:extLst>
          </p:cNvPr>
          <p:cNvPicPr>
            <a:picLocks noChangeAspect="1"/>
          </p:cNvPicPr>
          <p:nvPr/>
        </p:nvPicPr>
        <p:blipFill rotWithShape="1">
          <a:blip r:embed="rId4"/>
          <a:srcRect r="1689"/>
          <a:stretch/>
        </p:blipFill>
        <p:spPr>
          <a:xfrm>
            <a:off x="473123" y="1930516"/>
            <a:ext cx="3978199" cy="2996967"/>
          </a:xfrm>
          <a:prstGeom prst="rect">
            <a:avLst/>
          </a:prstGeom>
        </p:spPr>
      </p:pic>
      <p:cxnSp>
        <p:nvCxnSpPr>
          <p:cNvPr id="44" name="Straight Arrow Connector 43">
            <a:extLst>
              <a:ext uri="{FF2B5EF4-FFF2-40B4-BE49-F238E27FC236}">
                <a16:creationId xmlns:a16="http://schemas.microsoft.com/office/drawing/2014/main" id="{F367806E-0A83-E2A7-1F02-A776C0D5B453}"/>
              </a:ext>
            </a:extLst>
          </p:cNvPr>
          <p:cNvCxnSpPr>
            <a:cxnSpLocks/>
          </p:cNvCxnSpPr>
          <p:nvPr/>
        </p:nvCxnSpPr>
        <p:spPr>
          <a:xfrm flipV="1">
            <a:off x="4459288" y="2124075"/>
            <a:ext cx="2107872" cy="113005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C8B5ECA5-CBEC-EAEF-CFA7-A183338B532C}"/>
              </a:ext>
            </a:extLst>
          </p:cNvPr>
          <p:cNvCxnSpPr>
            <a:cxnSpLocks/>
          </p:cNvCxnSpPr>
          <p:nvPr/>
        </p:nvCxnSpPr>
        <p:spPr>
          <a:xfrm>
            <a:off x="4459288" y="3256509"/>
            <a:ext cx="2107872"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536587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26366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Future Work – Analytical convergence check</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69</a:t>
            </a:fld>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4A48ADE-FCE7-CEDC-2233-BF0E65FBCBC3}"/>
                  </a:ext>
                </a:extLst>
              </p:cNvPr>
              <p:cNvSpPr txBox="1"/>
              <p:nvPr/>
            </p:nvSpPr>
            <p:spPr>
              <a:xfrm>
                <a:off x="504081" y="941329"/>
                <a:ext cx="10327402" cy="758413"/>
              </a:xfrm>
              <a:prstGeom prst="rect">
                <a:avLst/>
              </a:prstGeom>
              <a:noFill/>
            </p:spPr>
            <p:txBody>
              <a:bodyPr wrap="square" lIns="0" tIns="0" rIns="0" bIns="0" rtlCol="0">
                <a:spAutoFit/>
              </a:bodyPr>
              <a:lstStyle/>
              <a:p>
                <a:pPr marL="285750" indent="-285750" algn="l">
                  <a:buFont typeface="Arial" panose="020B0604020202020204" pitchFamily="34" charset="0"/>
                  <a:buChar char="•"/>
                </a:pPr>
                <a:r>
                  <a:rPr lang="en-GB" sz="1600" b="0" i="0" dirty="0">
                    <a:solidFill>
                      <a:srgbClr val="172B4D"/>
                    </a:solidFill>
                    <a:effectLst/>
                    <a:highlight>
                      <a:srgbClr val="FFFFFF"/>
                    </a:highlight>
                  </a:rPr>
                  <a:t>Tested example with </a:t>
                </a:r>
                <a14:m>
                  <m:oMath xmlns:m="http://schemas.openxmlformats.org/officeDocument/2006/math">
                    <m:sSub>
                      <m:sSubPr>
                        <m:ctrlPr>
                          <a:rPr lang="en-GB" sz="1600" b="0" i="1" dirty="0" smtClean="0">
                            <a:solidFill>
                              <a:srgbClr val="172B4D"/>
                            </a:solidFill>
                            <a:effectLst/>
                            <a:highlight>
                              <a:srgbClr val="FFFFFF"/>
                            </a:highlight>
                            <a:latin typeface="Cambria Math" panose="02040503050406030204" pitchFamily="18" charset="0"/>
                          </a:rPr>
                        </m:ctrlPr>
                      </m:sSubPr>
                      <m:e>
                        <m:r>
                          <a:rPr lang="en-US" sz="1600" b="0" i="1" dirty="0" smtClean="0">
                            <a:solidFill>
                              <a:srgbClr val="172B4D"/>
                            </a:solidFill>
                            <a:effectLst/>
                            <a:highlight>
                              <a:srgbClr val="FFFFFF"/>
                            </a:highlight>
                            <a:latin typeface="Cambria Math" panose="02040503050406030204" pitchFamily="18" charset="0"/>
                          </a:rPr>
                          <m:t>𝜔</m:t>
                        </m:r>
                      </m:e>
                      <m:sub>
                        <m:r>
                          <a:rPr lang="en-GB" sz="1600" b="0" i="1" dirty="0" smtClean="0">
                            <a:solidFill>
                              <a:srgbClr val="172B4D"/>
                            </a:solidFill>
                            <a:effectLst/>
                            <a:highlight>
                              <a:srgbClr val="FFFFFF"/>
                            </a:highlight>
                            <a:latin typeface="Cambria Math" panose="02040503050406030204" pitchFamily="18" charset="0"/>
                          </a:rPr>
                          <m:t>𝑓</m:t>
                        </m:r>
                      </m:sub>
                    </m:sSub>
                    <m:r>
                      <a:rPr lang="en-GB" sz="1600" b="0" i="1" dirty="0" smtClean="0">
                        <a:solidFill>
                          <a:srgbClr val="172B4D"/>
                        </a:solidFill>
                        <a:effectLst/>
                        <a:highlight>
                          <a:srgbClr val="FFFFFF"/>
                        </a:highlight>
                        <a:latin typeface="Cambria Math" panose="02040503050406030204" pitchFamily="18" charset="0"/>
                      </a:rPr>
                      <m:t>=30</m:t>
                    </m:r>
                    <m:r>
                      <a:rPr lang="en-US" sz="1600" b="0" i="1" dirty="0" smtClean="0">
                        <a:solidFill>
                          <a:srgbClr val="172B4D"/>
                        </a:solidFill>
                        <a:effectLst/>
                        <a:highlight>
                          <a:srgbClr val="FFFFFF"/>
                        </a:highlight>
                        <a:latin typeface="Cambria Math" panose="02040503050406030204" pitchFamily="18" charset="0"/>
                      </a:rPr>
                      <m:t>°</m:t>
                    </m:r>
                  </m:oMath>
                </a14:m>
                <a:r>
                  <a:rPr lang="en-GB" sz="1600" b="0" i="0" dirty="0">
                    <a:solidFill>
                      <a:srgbClr val="172B4D"/>
                    </a:solidFill>
                    <a:effectLst/>
                    <a:highlight>
                      <a:srgbClr val="FFFFFF"/>
                    </a:highlight>
                  </a:rPr>
                  <a:t> and varied the time </a:t>
                </a:r>
              </a:p>
              <a:p>
                <a:pPr marL="742950" lvl="1" indent="-285750">
                  <a:buFont typeface="Arial" panose="020B0604020202020204" pitchFamily="34" charset="0"/>
                  <a:buChar char="•"/>
                </a:pPr>
                <a:r>
                  <a:rPr lang="en-GB" sz="1600" b="0" i="0" dirty="0">
                    <a:solidFill>
                      <a:srgbClr val="172B4D"/>
                    </a:solidFill>
                    <a:effectLst/>
                    <a:highlight>
                      <a:srgbClr val="FFFFFF"/>
                    </a:highlight>
                  </a:rPr>
                  <a:t>If the time interval is decreased, the oscillations stabilize whereas if the time interval is increased, the oscillations become unstable and the velocity and acceleration values surge. </a:t>
                </a:r>
              </a:p>
            </p:txBody>
          </p:sp>
        </mc:Choice>
        <mc:Fallback xmlns="">
          <p:sp>
            <p:nvSpPr>
              <p:cNvPr id="7" name="TextBox 6">
                <a:extLst>
                  <a:ext uri="{FF2B5EF4-FFF2-40B4-BE49-F238E27FC236}">
                    <a16:creationId xmlns:a16="http://schemas.microsoft.com/office/drawing/2014/main" id="{B4A48ADE-FCE7-CEDC-2233-BF0E65FBCBC3}"/>
                  </a:ext>
                </a:extLst>
              </p:cNvPr>
              <p:cNvSpPr txBox="1">
                <a:spLocks noRot="1" noChangeAspect="1" noMove="1" noResize="1" noEditPoints="1" noAdjustHandles="1" noChangeArrowheads="1" noChangeShapeType="1" noTextEdit="1"/>
              </p:cNvSpPr>
              <p:nvPr/>
            </p:nvSpPr>
            <p:spPr>
              <a:xfrm>
                <a:off x="504081" y="941329"/>
                <a:ext cx="10327402" cy="758413"/>
              </a:xfrm>
              <a:prstGeom prst="rect">
                <a:avLst/>
              </a:prstGeom>
              <a:blipFill>
                <a:blip r:embed="rId3"/>
                <a:stretch>
                  <a:fillRect l="-1122" t="-8000" b="-16000"/>
                </a:stretch>
              </a:blipFill>
            </p:spPr>
            <p:txBody>
              <a:bodyPr/>
              <a:lstStyle/>
              <a:p>
                <a:r>
                  <a:rPr lang="en-GB">
                    <a:noFill/>
                  </a:rPr>
                  <a:t> </a:t>
                </a:r>
              </a:p>
            </p:txBody>
          </p:sp>
        </mc:Fallback>
      </mc:AlternateContent>
      <p:pic>
        <p:nvPicPr>
          <p:cNvPr id="10" name="Picture 9">
            <a:extLst>
              <a:ext uri="{FF2B5EF4-FFF2-40B4-BE49-F238E27FC236}">
                <a16:creationId xmlns:a16="http://schemas.microsoft.com/office/drawing/2014/main" id="{A4F39EFF-B804-19E2-4140-5DFC8F787BBD}"/>
              </a:ext>
            </a:extLst>
          </p:cNvPr>
          <p:cNvPicPr>
            <a:picLocks noChangeAspect="1"/>
          </p:cNvPicPr>
          <p:nvPr/>
        </p:nvPicPr>
        <p:blipFill>
          <a:blip r:embed="rId4"/>
          <a:stretch>
            <a:fillRect/>
          </a:stretch>
        </p:blipFill>
        <p:spPr>
          <a:xfrm>
            <a:off x="1295400" y="1768784"/>
            <a:ext cx="9601200" cy="4320540"/>
          </a:xfrm>
          <a:prstGeom prst="rect">
            <a:avLst/>
          </a:prstGeom>
        </p:spPr>
      </p:pic>
    </p:spTree>
    <p:extLst>
      <p:ext uri="{BB962C8B-B14F-4D97-AF65-F5344CB8AC3E}">
        <p14:creationId xmlns:p14="http://schemas.microsoft.com/office/powerpoint/2010/main" val="42368611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Future Work – Analytical convergence check</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70</a:t>
            </a:fld>
            <a:endParaRPr lang="en-US" dirty="0"/>
          </a:p>
        </p:txBody>
      </p:sp>
      <p:sp>
        <p:nvSpPr>
          <p:cNvPr id="7" name="TextBox 6">
            <a:extLst>
              <a:ext uri="{FF2B5EF4-FFF2-40B4-BE49-F238E27FC236}">
                <a16:creationId xmlns:a16="http://schemas.microsoft.com/office/drawing/2014/main" id="{B4A48ADE-FCE7-CEDC-2233-BF0E65FBCBC3}"/>
              </a:ext>
            </a:extLst>
          </p:cNvPr>
          <p:cNvSpPr txBox="1"/>
          <p:nvPr/>
        </p:nvSpPr>
        <p:spPr>
          <a:xfrm>
            <a:off x="504081" y="941329"/>
            <a:ext cx="10327402" cy="738664"/>
          </a:xfrm>
          <a:prstGeom prst="rect">
            <a:avLst/>
          </a:prstGeom>
          <a:noFill/>
        </p:spPr>
        <p:txBody>
          <a:bodyPr wrap="square" lIns="0" tIns="0" rIns="0" bIns="0" rtlCol="0">
            <a:spAutoFit/>
          </a:bodyPr>
          <a:lstStyle/>
          <a:p>
            <a:pPr marL="285750" indent="-285750" algn="l">
              <a:buFont typeface="Arial" panose="020B0604020202020204" pitchFamily="34" charset="0"/>
              <a:buChar char="•"/>
            </a:pPr>
            <a:r>
              <a:rPr lang="en-GB" sz="1600" b="0" i="0" dirty="0">
                <a:solidFill>
                  <a:srgbClr val="172B4D"/>
                </a:solidFill>
                <a:effectLst/>
                <a:highlight>
                  <a:srgbClr val="FFFFFF"/>
                </a:highlight>
              </a:rPr>
              <a:t>Increasing the time had no effect on the shape of the interpolated quaternions, angular velocities, or angular accelerations.</a:t>
            </a:r>
          </a:p>
          <a:p>
            <a:pPr marL="285750" indent="-285750" algn="l">
              <a:buFont typeface="Arial" panose="020B0604020202020204" pitchFamily="34" charset="0"/>
              <a:buChar char="•"/>
            </a:pPr>
            <a:r>
              <a:rPr lang="en-GB" sz="1600" b="0" i="0" dirty="0">
                <a:solidFill>
                  <a:srgbClr val="172B4D"/>
                </a:solidFill>
                <a:effectLst/>
                <a:highlight>
                  <a:srgbClr val="FFFFFF"/>
                </a:highlight>
              </a:rPr>
              <a:t>Increasing the time did change the max velocity and max acceleration (inextricably linked)</a:t>
            </a:r>
          </a:p>
        </p:txBody>
      </p:sp>
      <p:pic>
        <p:nvPicPr>
          <p:cNvPr id="8" name="Picture 7">
            <a:extLst>
              <a:ext uri="{FF2B5EF4-FFF2-40B4-BE49-F238E27FC236}">
                <a16:creationId xmlns:a16="http://schemas.microsoft.com/office/drawing/2014/main" id="{D2026E26-187B-D57C-F3B5-902A3B4D3845}"/>
              </a:ext>
            </a:extLst>
          </p:cNvPr>
          <p:cNvPicPr>
            <a:picLocks noChangeAspect="1"/>
          </p:cNvPicPr>
          <p:nvPr/>
        </p:nvPicPr>
        <p:blipFill>
          <a:blip r:embed="rId3"/>
          <a:stretch>
            <a:fillRect/>
          </a:stretch>
        </p:blipFill>
        <p:spPr>
          <a:xfrm>
            <a:off x="963584" y="1679993"/>
            <a:ext cx="9867899" cy="4440555"/>
          </a:xfrm>
          <a:prstGeom prst="rect">
            <a:avLst/>
          </a:prstGeom>
        </p:spPr>
      </p:pic>
    </p:spTree>
    <p:extLst>
      <p:ext uri="{BB962C8B-B14F-4D97-AF65-F5344CB8AC3E}">
        <p14:creationId xmlns:p14="http://schemas.microsoft.com/office/powerpoint/2010/main" val="258604339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Future Work – Analytical </a:t>
            </a:r>
            <a:r>
              <a:rPr lang="en-US"/>
              <a:t>convergence check</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71</a:t>
            </a:fld>
            <a:endParaRPr lang="en-US" dirty="0"/>
          </a:p>
        </p:txBody>
      </p:sp>
      <p:pic>
        <p:nvPicPr>
          <p:cNvPr id="8" name="Picture 7" descr="A graph of different types of graphs&#10;&#10;Description automatically generated with medium confidence">
            <a:extLst>
              <a:ext uri="{FF2B5EF4-FFF2-40B4-BE49-F238E27FC236}">
                <a16:creationId xmlns:a16="http://schemas.microsoft.com/office/drawing/2014/main" id="{424F69D1-3FE4-1742-3B47-5069AF748110}"/>
              </a:ext>
            </a:extLst>
          </p:cNvPr>
          <p:cNvPicPr>
            <a:picLocks noChangeAspect="1"/>
          </p:cNvPicPr>
          <p:nvPr/>
        </p:nvPicPr>
        <p:blipFill>
          <a:blip r:embed="rId3"/>
          <a:stretch>
            <a:fillRect/>
          </a:stretch>
        </p:blipFill>
        <p:spPr>
          <a:xfrm>
            <a:off x="8369282" y="1679993"/>
            <a:ext cx="2642006" cy="4578751"/>
          </a:xfrm>
          <a:prstGeom prst="rect">
            <a:avLst/>
          </a:prstGeom>
        </p:spPr>
      </p:pic>
      <p:pic>
        <p:nvPicPr>
          <p:cNvPr id="10" name="Picture 9" descr="A graph of different colored lines&#10;&#10;Description automatically generated with medium confidence">
            <a:extLst>
              <a:ext uri="{FF2B5EF4-FFF2-40B4-BE49-F238E27FC236}">
                <a16:creationId xmlns:a16="http://schemas.microsoft.com/office/drawing/2014/main" id="{70979A5B-8C10-1748-9D63-904DD1F4F3D3}"/>
              </a:ext>
            </a:extLst>
          </p:cNvPr>
          <p:cNvPicPr>
            <a:picLocks noChangeAspect="1"/>
          </p:cNvPicPr>
          <p:nvPr/>
        </p:nvPicPr>
        <p:blipFill>
          <a:blip r:embed="rId4"/>
          <a:stretch>
            <a:fillRect/>
          </a:stretch>
        </p:blipFill>
        <p:spPr>
          <a:xfrm>
            <a:off x="1566313" y="1679993"/>
            <a:ext cx="2642007" cy="4578754"/>
          </a:xfrm>
          <a:prstGeom prst="rect">
            <a:avLst/>
          </a:prstGeom>
        </p:spPr>
      </p:pic>
      <p:pic>
        <p:nvPicPr>
          <p:cNvPr id="12" name="Picture 11" descr="A graph of different types of graphs&#10;&#10;Description automatically generated with medium confidence">
            <a:extLst>
              <a:ext uri="{FF2B5EF4-FFF2-40B4-BE49-F238E27FC236}">
                <a16:creationId xmlns:a16="http://schemas.microsoft.com/office/drawing/2014/main" id="{85CE66B7-E4DC-3BF6-FD0F-C3328AA8C9C7}"/>
              </a:ext>
            </a:extLst>
          </p:cNvPr>
          <p:cNvPicPr>
            <a:picLocks noChangeAspect="1"/>
          </p:cNvPicPr>
          <p:nvPr/>
        </p:nvPicPr>
        <p:blipFill>
          <a:blip r:embed="rId5"/>
          <a:stretch>
            <a:fillRect/>
          </a:stretch>
        </p:blipFill>
        <p:spPr>
          <a:xfrm>
            <a:off x="5031865" y="1679993"/>
            <a:ext cx="2642005" cy="4578751"/>
          </a:xfrm>
          <a:prstGeom prst="rect">
            <a:avLst/>
          </a:prstGeom>
        </p:spPr>
      </p:pic>
      <p:sp>
        <p:nvSpPr>
          <p:cNvPr id="13" name="TextBox 12">
            <a:extLst>
              <a:ext uri="{FF2B5EF4-FFF2-40B4-BE49-F238E27FC236}">
                <a16:creationId xmlns:a16="http://schemas.microsoft.com/office/drawing/2014/main" id="{86F34D0E-B2C7-CBD4-21BD-B1C60ACF5698}"/>
              </a:ext>
            </a:extLst>
          </p:cNvPr>
          <p:cNvSpPr txBox="1"/>
          <p:nvPr/>
        </p:nvSpPr>
        <p:spPr>
          <a:xfrm>
            <a:off x="504081" y="941329"/>
            <a:ext cx="10327402" cy="492443"/>
          </a:xfrm>
          <a:prstGeom prst="rect">
            <a:avLst/>
          </a:prstGeom>
          <a:noFill/>
        </p:spPr>
        <p:txBody>
          <a:bodyPr wrap="square" lIns="0" tIns="0" rIns="0" bIns="0" rtlCol="0">
            <a:spAutoFit/>
          </a:bodyPr>
          <a:lstStyle/>
          <a:p>
            <a:pPr marL="285750" indent="-285750" algn="l">
              <a:buFont typeface="Arial" panose="020B0604020202020204" pitchFamily="34" charset="0"/>
              <a:buChar char="•"/>
            </a:pPr>
            <a:r>
              <a:rPr lang="en-GB" sz="1600" b="0" i="0" dirty="0">
                <a:solidFill>
                  <a:srgbClr val="172B4D"/>
                </a:solidFill>
                <a:effectLst/>
                <a:highlight>
                  <a:srgbClr val="FFFFFF"/>
                </a:highlight>
              </a:rPr>
              <a:t>Tested increasing the final angular rate while keeping time instances at 90s intervals </a:t>
            </a:r>
          </a:p>
          <a:p>
            <a:pPr marL="285750" indent="-285750" algn="l">
              <a:buFont typeface="Arial" panose="020B0604020202020204" pitchFamily="34" charset="0"/>
              <a:buChar char="•"/>
            </a:pPr>
            <a:r>
              <a:rPr lang="en-GB" sz="1600" dirty="0">
                <a:solidFill>
                  <a:srgbClr val="172B4D"/>
                </a:solidFill>
                <a:highlight>
                  <a:srgbClr val="FFFFFF"/>
                </a:highlight>
              </a:rPr>
              <a:t>Saw that the less the convergence followed a logarithmic shape, the more oscillations were induced</a:t>
            </a:r>
            <a:endParaRPr lang="en-GB" sz="1600" b="0" i="0" dirty="0">
              <a:solidFill>
                <a:srgbClr val="172B4D"/>
              </a:solidFill>
              <a:effectLst/>
              <a:highlight>
                <a:srgbClr val="FFFFFF"/>
              </a:highlight>
            </a:endParaRPr>
          </a:p>
        </p:txBody>
      </p:sp>
    </p:spTree>
    <p:extLst>
      <p:ext uri="{BB962C8B-B14F-4D97-AF65-F5344CB8AC3E}">
        <p14:creationId xmlns:p14="http://schemas.microsoft.com/office/powerpoint/2010/main" val="64661604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04FB45-91DB-BF78-E606-7EA2B1610471}"/>
              </a:ext>
            </a:extLst>
          </p:cNvPr>
          <p:cNvSpPr>
            <a:spLocks noGrp="1"/>
          </p:cNvSpPr>
          <p:nvPr>
            <p:ph type="title"/>
          </p:nvPr>
        </p:nvSpPr>
        <p:spPr>
          <a:xfrm>
            <a:off x="412776" y="408519"/>
            <a:ext cx="11376025" cy="1065742"/>
          </a:xfrm>
        </p:spPr>
        <p:txBody>
          <a:bodyPr/>
          <a:lstStyle/>
          <a:p>
            <a:r>
              <a:rPr lang="en-US" dirty="0"/>
              <a:t>Task Trajectory Generator Design – Combined Trajectories </a:t>
            </a:r>
            <a:endParaRPr lang="en-GB" dirty="0"/>
          </a:p>
        </p:txBody>
      </p:sp>
      <p:sp>
        <p:nvSpPr>
          <p:cNvPr id="4" name="Date Placeholder 3">
            <a:extLst>
              <a:ext uri="{FF2B5EF4-FFF2-40B4-BE49-F238E27FC236}">
                <a16:creationId xmlns:a16="http://schemas.microsoft.com/office/drawing/2014/main" id="{FBD678B5-C268-7A9E-B501-554AF2436ABD}"/>
              </a:ext>
            </a:extLst>
          </p:cNvPr>
          <p:cNvSpPr>
            <a:spLocks noGrp="1"/>
          </p:cNvSpPr>
          <p:nvPr>
            <p:ph type="dt" sz="half" idx="10"/>
          </p:nvPr>
        </p:nvSpPr>
        <p:spPr/>
        <p:txBody>
          <a:bodyPr/>
          <a:lstStyle/>
          <a:p>
            <a:r>
              <a:rPr lang="en-GB" dirty="0"/>
              <a:t>18/06/2024</a:t>
            </a:r>
            <a:endParaRPr lang="en-US" dirty="0"/>
          </a:p>
        </p:txBody>
      </p:sp>
      <p:sp>
        <p:nvSpPr>
          <p:cNvPr id="5" name="Footer Placeholder 4">
            <a:extLst>
              <a:ext uri="{FF2B5EF4-FFF2-40B4-BE49-F238E27FC236}">
                <a16:creationId xmlns:a16="http://schemas.microsoft.com/office/drawing/2014/main" id="{23214254-3AD3-9283-AC38-2203B3B522B1}"/>
              </a:ext>
            </a:extLst>
          </p:cNvPr>
          <p:cNvSpPr>
            <a:spLocks noGrp="1"/>
          </p:cNvSpPr>
          <p:nvPr>
            <p:ph type="ftr" sz="quarter" idx="11"/>
          </p:nvPr>
        </p:nvSpPr>
        <p:spPr/>
        <p:txBody>
          <a:bodyPr/>
          <a:lstStyle/>
          <a:p>
            <a:r>
              <a:rPr lang="en-GB" sz="1200" i="0" dirty="0">
                <a:effectLst/>
              </a:rPr>
              <a:t>Singularity-free Robotic Task Trajectory Generator based on Cubic Quaternion Splines</a:t>
            </a:r>
            <a:endParaRPr lang="en-US" dirty="0"/>
          </a:p>
        </p:txBody>
      </p:sp>
      <p:sp>
        <p:nvSpPr>
          <p:cNvPr id="6" name="Slide Number Placeholder 5">
            <a:extLst>
              <a:ext uri="{FF2B5EF4-FFF2-40B4-BE49-F238E27FC236}">
                <a16:creationId xmlns:a16="http://schemas.microsoft.com/office/drawing/2014/main" id="{4AEC6DB2-80AC-37E1-1D63-357BEE237AB3}"/>
              </a:ext>
            </a:extLst>
          </p:cNvPr>
          <p:cNvSpPr>
            <a:spLocks noGrp="1"/>
          </p:cNvSpPr>
          <p:nvPr>
            <p:ph type="sldNum" sz="quarter" idx="12"/>
          </p:nvPr>
        </p:nvSpPr>
        <p:spPr/>
        <p:txBody>
          <a:bodyPr/>
          <a:lstStyle/>
          <a:p>
            <a:fld id="{36B5EA5A-BC32-A742-B11B-8E7414D5B535}" type="slidenum">
              <a:rPr lang="en-US" smtClean="0"/>
              <a:pPr/>
              <a:t>72</a:t>
            </a:fld>
            <a:endParaRPr lang="en-US" dirty="0"/>
          </a:p>
        </p:txBody>
      </p:sp>
      <p:pic>
        <p:nvPicPr>
          <p:cNvPr id="7" name="Picture 6">
            <a:extLst>
              <a:ext uri="{FF2B5EF4-FFF2-40B4-BE49-F238E27FC236}">
                <a16:creationId xmlns:a16="http://schemas.microsoft.com/office/drawing/2014/main" id="{E251C60B-C1EF-30D2-8F12-470A5CD1098D}"/>
              </a:ext>
            </a:extLst>
          </p:cNvPr>
          <p:cNvPicPr>
            <a:picLocks noChangeAspect="1"/>
          </p:cNvPicPr>
          <p:nvPr/>
        </p:nvPicPr>
        <p:blipFill>
          <a:blip r:embed="rId3"/>
          <a:stretch>
            <a:fillRect/>
          </a:stretch>
        </p:blipFill>
        <p:spPr>
          <a:xfrm>
            <a:off x="3272631" y="941390"/>
            <a:ext cx="5646738" cy="5082064"/>
          </a:xfrm>
          <a:prstGeom prst="rect">
            <a:avLst/>
          </a:prstGeom>
        </p:spPr>
      </p:pic>
    </p:spTree>
    <p:extLst>
      <p:ext uri="{BB962C8B-B14F-4D97-AF65-F5344CB8AC3E}">
        <p14:creationId xmlns:p14="http://schemas.microsoft.com/office/powerpoint/2010/main" val="217243206"/>
      </p:ext>
    </p:extLst>
  </p:cSld>
  <p:clrMapOvr>
    <a:masterClrMapping/>
  </p:clrMapOvr>
</p:sld>
</file>

<file path=ppt/theme/theme1.xml><?xml version="1.0" encoding="utf-8"?>
<a:theme xmlns:a="http://schemas.openxmlformats.org/drawingml/2006/main" name="Office Theme">
  <a:themeElements>
    <a:clrScheme name="CERN">
      <a:dk1>
        <a:srgbClr val="0033A0"/>
      </a:dk1>
      <a:lt1>
        <a:srgbClr val="FFFFFF"/>
      </a:lt1>
      <a:dk2>
        <a:srgbClr val="2F2F2F"/>
      </a:dk2>
      <a:lt2>
        <a:srgbClr val="F8F8F8"/>
      </a:lt2>
      <a:accent1>
        <a:srgbClr val="0033A0"/>
      </a:accent1>
      <a:accent2>
        <a:srgbClr val="61C4D3"/>
      </a:accent2>
      <a:accent3>
        <a:srgbClr val="E15E32"/>
      </a:accent3>
      <a:accent4>
        <a:srgbClr val="BEBECB"/>
      </a:accent4>
      <a:accent5>
        <a:srgbClr val="6E2466"/>
      </a:accent5>
      <a:accent6>
        <a:srgbClr val="1C446A"/>
      </a:accent6>
      <a:hlink>
        <a:srgbClr val="6D2466"/>
      </a:hlink>
      <a:folHlink>
        <a:srgbClr val="61C4D3"/>
      </a:folHlink>
    </a:clrScheme>
    <a:fontScheme name="CER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spAutoFit/>
      </a:bodyPr>
      <a:lstStyle>
        <a:defPPr algn="l">
          <a:defRPr dirty="0" smtClean="0"/>
        </a:defPPr>
      </a:lstStyle>
    </a:txDef>
  </a:objectDefaults>
  <a:extraClrSchemeLst/>
  <a:extLst>
    <a:ext uri="{05A4C25C-085E-4340-85A3-A5531E510DB2}">
      <thm15:themeFamily xmlns:thm15="http://schemas.microsoft.com/office/thememl/2012/main" name="Welcome to BE - Jan 2021 - template" id="{D7F86FE6-13B5-1742-902D-E033CFAF905E}" vid="{4FADA346-18AE-D546-9D9D-50DAEB7467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4226</TotalTime>
  <Words>7020</Words>
  <Application>Microsoft Office PowerPoint</Application>
  <PresentationFormat>Widescreen</PresentationFormat>
  <Paragraphs>1286</Paragraphs>
  <Slides>72</Slides>
  <Notes>71</Notes>
  <HiddenSlides>0</HiddenSlides>
  <MMClips>9</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72</vt:i4>
      </vt:variant>
    </vt:vector>
  </HeadingPairs>
  <TitlesOfParts>
    <vt:vector size="79" baseType="lpstr">
      <vt:lpstr>-apple-system</vt:lpstr>
      <vt:lpstr>Arial</vt:lpstr>
      <vt:lpstr>Calibri</vt:lpstr>
      <vt:lpstr>Cambria Math</vt:lpstr>
      <vt:lpstr>Cascadia Code</vt:lpstr>
      <vt:lpstr>Roboto</vt:lpstr>
      <vt:lpstr>Office Theme</vt:lpstr>
      <vt:lpstr>Singularity-free Robotic Task Trajectory Generator based on Cubic Quaternion Splines</vt:lpstr>
      <vt:lpstr>Content</vt:lpstr>
      <vt:lpstr>Content</vt:lpstr>
      <vt:lpstr>Problem Context – CERN Robotics Framework</vt:lpstr>
      <vt:lpstr>Problem Context – CERN Robotics Framework</vt:lpstr>
      <vt:lpstr>Problem Context – Motion Control</vt:lpstr>
      <vt:lpstr>Problem Context – Motion Control</vt:lpstr>
      <vt:lpstr>Problem Context – Motion Control</vt:lpstr>
      <vt:lpstr>Problem Context – Motion Control</vt:lpstr>
      <vt:lpstr>Problem Context – Motion Control</vt:lpstr>
      <vt:lpstr>Problem Context – Motion Control</vt:lpstr>
      <vt:lpstr>Problem Context – Motion Control</vt:lpstr>
      <vt:lpstr>Problem Context – Motion Control</vt:lpstr>
      <vt:lpstr>Problem Context – Motion Control</vt:lpstr>
      <vt:lpstr>Problem Context – Motion Control</vt:lpstr>
      <vt:lpstr>Problem Context – Motion Control</vt:lpstr>
      <vt:lpstr>Content</vt:lpstr>
      <vt:lpstr>Task Trajectory Generator Design</vt:lpstr>
      <vt:lpstr>Task Trajectory Generator Design</vt:lpstr>
      <vt:lpstr>Content</vt:lpstr>
      <vt:lpstr>Task Trajectory Generator Design</vt:lpstr>
      <vt:lpstr>Cubic Polynomial Algorithm</vt:lpstr>
      <vt:lpstr>Cubic Polynomial Algorithm</vt:lpstr>
      <vt:lpstr>Cubic Polynomial Algorithm</vt:lpstr>
      <vt:lpstr>Cubic Polynomial Algorithm</vt:lpstr>
      <vt:lpstr>Cubic Polynomial Algorithm</vt:lpstr>
      <vt:lpstr>Cubic Polynomial Algorithm</vt:lpstr>
      <vt:lpstr>Task Trajectory Generator Design</vt:lpstr>
      <vt:lpstr>Task Trajectory Generator Design</vt:lpstr>
      <vt:lpstr>Task Trajectory Generator Design</vt:lpstr>
      <vt:lpstr>Task Trajectory Generator Design</vt:lpstr>
      <vt:lpstr>Task Trajectory Generator Design</vt:lpstr>
      <vt:lpstr>Task Trajectory Generator Design</vt:lpstr>
      <vt:lpstr>Task Trajectory Generator Design</vt:lpstr>
      <vt:lpstr>Task Trajectory Generator Design</vt:lpstr>
      <vt:lpstr>Task Trajectory Generator Design</vt:lpstr>
      <vt:lpstr>Task Trajectory Generator Design</vt:lpstr>
      <vt:lpstr>Task Trajectory Generator Design</vt:lpstr>
      <vt:lpstr>Task Trajectory Generator Design</vt:lpstr>
      <vt:lpstr>Content</vt:lpstr>
      <vt:lpstr>Task Trajectory Generator Design</vt:lpstr>
      <vt:lpstr>Cubic Orientation Spline Algorithm </vt:lpstr>
      <vt:lpstr>Cubic Orientation Spline Algorithm </vt:lpstr>
      <vt:lpstr>Cubic Orientation Spline Algorithm </vt:lpstr>
      <vt:lpstr>Cubic Orientation Spline Algorithm </vt:lpstr>
      <vt:lpstr>Cubic Orientation Spline Algorithm </vt:lpstr>
      <vt:lpstr>Cubic Orientation Spline Algorithm </vt:lpstr>
      <vt:lpstr>Cubic Orientation Spline Algorithm </vt:lpstr>
      <vt:lpstr>Cubic Orientation Spline Algorithm </vt:lpstr>
      <vt:lpstr>Cubic Orientation Spline Algorithm </vt:lpstr>
      <vt:lpstr>Cubic Orientation Spline Algorithm </vt:lpstr>
      <vt:lpstr>Cubic Orientation Spline Algorithm </vt:lpstr>
      <vt:lpstr>Cubic Orientation Spline Algorithm </vt:lpstr>
      <vt:lpstr>Cubic Orientation Spline Algorithm </vt:lpstr>
      <vt:lpstr>Cubic Orientation Spline Algorithm </vt:lpstr>
      <vt:lpstr>Task Trajectory Generator Design</vt:lpstr>
      <vt:lpstr>Task Trajectory Generator Design</vt:lpstr>
      <vt:lpstr>Task Trajectory Generator Design</vt:lpstr>
      <vt:lpstr>Content</vt:lpstr>
      <vt:lpstr>Demonstration – Translation and Rotation</vt:lpstr>
      <vt:lpstr>Demonstration – Combined Movement</vt:lpstr>
      <vt:lpstr>Demonstration – Combined Complex Movement</vt:lpstr>
      <vt:lpstr>Content</vt:lpstr>
      <vt:lpstr>Future Work – Quintic Polynomial </vt:lpstr>
      <vt:lpstr>Future Work – Quintic Polynomial </vt:lpstr>
      <vt:lpstr>Future Work – Analytical Convergence Check</vt:lpstr>
      <vt:lpstr>Future Work – Analytical Convergence Check</vt:lpstr>
      <vt:lpstr>PowerPoint Presentation</vt:lpstr>
      <vt:lpstr>Future Work – Analytical convergence check</vt:lpstr>
      <vt:lpstr>Future Work – Analytical convergence check</vt:lpstr>
      <vt:lpstr>Future Work – Analytical convergence check</vt:lpstr>
      <vt:lpstr>Task Trajectory Generator Design – Combined Trajectories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new-look BEAMS (BE) Department</dc:title>
  <dc:creator>Peter Sollander</dc:creator>
  <cp:lastModifiedBy>Chelsea Davidson</cp:lastModifiedBy>
  <cp:revision>263</cp:revision>
  <cp:lastPrinted>2020-01-30T13:49:18Z</cp:lastPrinted>
  <dcterms:created xsi:type="dcterms:W3CDTF">2021-01-06T15:04:58Z</dcterms:created>
  <dcterms:modified xsi:type="dcterms:W3CDTF">2024-06-21T07:12:13Z</dcterms:modified>
</cp:coreProperties>
</file>